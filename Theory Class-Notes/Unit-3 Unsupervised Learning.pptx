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428" r:id="rId2"/>
    <p:sldId id="846" r:id="rId3"/>
    <p:sldId id="284" r:id="rId4"/>
    <p:sldId id="285" r:id="rId5"/>
    <p:sldId id="286" r:id="rId6"/>
    <p:sldId id="287" r:id="rId7"/>
    <p:sldId id="289" r:id="rId8"/>
    <p:sldId id="290" r:id="rId9"/>
    <p:sldId id="291" r:id="rId10"/>
    <p:sldId id="455" r:id="rId11"/>
    <p:sldId id="456" r:id="rId12"/>
    <p:sldId id="840" r:id="rId13"/>
    <p:sldId id="485" r:id="rId14"/>
    <p:sldId id="459" r:id="rId15"/>
    <p:sldId id="841" r:id="rId16"/>
    <p:sldId id="842" r:id="rId17"/>
    <p:sldId id="843" r:id="rId18"/>
    <p:sldId id="844" r:id="rId19"/>
    <p:sldId id="845" r:id="rId20"/>
    <p:sldId id="848" r:id="rId21"/>
    <p:sldId id="490" r:id="rId22"/>
    <p:sldId id="491" r:id="rId23"/>
    <p:sldId id="849" r:id="rId24"/>
    <p:sldId id="850" r:id="rId25"/>
    <p:sldId id="851" r:id="rId26"/>
    <p:sldId id="492" r:id="rId27"/>
    <p:sldId id="852" r:id="rId28"/>
    <p:sldId id="854" r:id="rId29"/>
    <p:sldId id="855" r:id="rId30"/>
    <p:sldId id="853" r:id="rId31"/>
    <p:sldId id="856" r:id="rId32"/>
    <p:sldId id="858" r:id="rId33"/>
    <p:sldId id="857" r:id="rId34"/>
    <p:sldId id="860" r:id="rId35"/>
    <p:sldId id="861" r:id="rId36"/>
    <p:sldId id="862" r:id="rId37"/>
    <p:sldId id="863" r:id="rId38"/>
    <p:sldId id="864" r:id="rId39"/>
    <p:sldId id="865" r:id="rId40"/>
    <p:sldId id="866" r:id="rId41"/>
    <p:sldId id="867" r:id="rId42"/>
    <p:sldId id="868" r:id="rId43"/>
    <p:sldId id="869" r:id="rId44"/>
    <p:sldId id="870" r:id="rId45"/>
    <p:sldId id="871" r:id="rId46"/>
    <p:sldId id="872" r:id="rId47"/>
    <p:sldId id="873" r:id="rId48"/>
    <p:sldId id="483" r:id="rId49"/>
    <p:sldId id="484" r:id="rId50"/>
    <p:sldId id="859" r:id="rId51"/>
    <p:sldId id="874" r:id="rId52"/>
    <p:sldId id="875" r:id="rId53"/>
    <p:sldId id="876" r:id="rId54"/>
    <p:sldId id="877" r:id="rId55"/>
    <p:sldId id="878" r:id="rId56"/>
    <p:sldId id="879" r:id="rId57"/>
    <p:sldId id="880" r:id="rId58"/>
    <p:sldId id="298" r:id="rId59"/>
    <p:sldId id="881" r:id="rId60"/>
    <p:sldId id="299" r:id="rId61"/>
    <p:sldId id="882" r:id="rId62"/>
    <p:sldId id="883" r:id="rId63"/>
    <p:sldId id="884" r:id="rId64"/>
    <p:sldId id="886" r:id="rId65"/>
    <p:sldId id="885" r:id="rId66"/>
    <p:sldId id="887" r:id="rId67"/>
    <p:sldId id="888" r:id="rId68"/>
    <p:sldId id="889" r:id="rId69"/>
    <p:sldId id="890" r:id="rId70"/>
    <p:sldId id="891" r:id="rId71"/>
    <p:sldId id="892" r:id="rId72"/>
    <p:sldId id="893" r:id="rId73"/>
    <p:sldId id="294" r:id="rId74"/>
    <p:sldId id="898" r:id="rId75"/>
    <p:sldId id="905" r:id="rId76"/>
    <p:sldId id="906" r:id="rId77"/>
    <p:sldId id="907" r:id="rId78"/>
    <p:sldId id="908" r:id="rId79"/>
    <p:sldId id="909" r:id="rId80"/>
    <p:sldId id="910" r:id="rId81"/>
    <p:sldId id="894" r:id="rId82"/>
    <p:sldId id="511" r:id="rId83"/>
    <p:sldId id="895" r:id="rId84"/>
    <p:sldId id="896" r:id="rId85"/>
    <p:sldId id="897" r:id="rId86"/>
    <p:sldId id="512" r:id="rId87"/>
    <p:sldId id="513" r:id="rId88"/>
    <p:sldId id="514" r:id="rId89"/>
    <p:sldId id="515" r:id="rId90"/>
    <p:sldId id="516" r:id="rId91"/>
    <p:sldId id="520" r:id="rId92"/>
    <p:sldId id="847" r:id="rId93"/>
    <p:sldId id="899" r:id="rId94"/>
    <p:sldId id="900" r:id="rId95"/>
    <p:sldId id="901" r:id="rId96"/>
    <p:sldId id="902" r:id="rId97"/>
    <p:sldId id="903" r:id="rId98"/>
    <p:sldId id="904" r:id="rId9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D8496C7-5C44-4372-99BE-D015FA3DC895}" v="116" dt="2025-07-13T18:31:05.53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59" d="100"/>
          <a:sy n="59" d="100"/>
        </p:scale>
        <p:origin x="264"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theme" Target="theme/theme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microsoft.com/office/2016/11/relationships/changesInfo" Target="changesInfos/changesInfo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presProps" Target="presProps.xml"/><Relationship Id="rId105"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ramod Naik" userId="ceb6df04-ef15-4d9b-a141-998a03559d75" providerId="ADAL" clId="{8D8496C7-5C44-4372-99BE-D015FA3DC895}"/>
    <pc:docChg chg="undo redo custSel addSld delSld modSld sldOrd">
      <pc:chgData name="Pramod Naik" userId="ceb6df04-ef15-4d9b-a141-998a03559d75" providerId="ADAL" clId="{8D8496C7-5C44-4372-99BE-D015FA3DC895}" dt="2025-07-13T18:44:45.932" v="1102" actId="404"/>
      <pc:docMkLst>
        <pc:docMk/>
      </pc:docMkLst>
      <pc:sldChg chg="del">
        <pc:chgData name="Pramod Naik" userId="ceb6df04-ef15-4d9b-a141-998a03559d75" providerId="ADAL" clId="{8D8496C7-5C44-4372-99BE-D015FA3DC895}" dt="2025-07-04T17:10:29.302" v="0" actId="47"/>
        <pc:sldMkLst>
          <pc:docMk/>
          <pc:sldMk cId="832684643" sldId="264"/>
        </pc:sldMkLst>
      </pc:sldChg>
      <pc:sldChg chg="del">
        <pc:chgData name="Pramod Naik" userId="ceb6df04-ef15-4d9b-a141-998a03559d75" providerId="ADAL" clId="{8D8496C7-5C44-4372-99BE-D015FA3DC895}" dt="2025-07-04T17:10:29.794" v="1" actId="47"/>
        <pc:sldMkLst>
          <pc:docMk/>
          <pc:sldMk cId="3955975616" sldId="267"/>
        </pc:sldMkLst>
      </pc:sldChg>
      <pc:sldChg chg="del">
        <pc:chgData name="Pramod Naik" userId="ceb6df04-ef15-4d9b-a141-998a03559d75" providerId="ADAL" clId="{8D8496C7-5C44-4372-99BE-D015FA3DC895}" dt="2025-07-04T17:10:29.829" v="2" actId="47"/>
        <pc:sldMkLst>
          <pc:docMk/>
          <pc:sldMk cId="1109626230" sldId="269"/>
        </pc:sldMkLst>
      </pc:sldChg>
      <pc:sldChg chg="del">
        <pc:chgData name="Pramod Naik" userId="ceb6df04-ef15-4d9b-a141-998a03559d75" providerId="ADAL" clId="{8D8496C7-5C44-4372-99BE-D015FA3DC895}" dt="2025-07-04T17:10:29.891" v="4" actId="47"/>
        <pc:sldMkLst>
          <pc:docMk/>
          <pc:sldMk cId="2733430578" sldId="270"/>
        </pc:sldMkLst>
      </pc:sldChg>
      <pc:sldChg chg="del">
        <pc:chgData name="Pramod Naik" userId="ceb6df04-ef15-4d9b-a141-998a03559d75" providerId="ADAL" clId="{8D8496C7-5C44-4372-99BE-D015FA3DC895}" dt="2025-07-04T17:10:29.930" v="5" actId="47"/>
        <pc:sldMkLst>
          <pc:docMk/>
          <pc:sldMk cId="3764129581" sldId="271"/>
        </pc:sldMkLst>
      </pc:sldChg>
      <pc:sldChg chg="del">
        <pc:chgData name="Pramod Naik" userId="ceb6df04-ef15-4d9b-a141-998a03559d75" providerId="ADAL" clId="{8D8496C7-5C44-4372-99BE-D015FA3DC895}" dt="2025-07-04T17:10:29.871" v="3" actId="47"/>
        <pc:sldMkLst>
          <pc:docMk/>
          <pc:sldMk cId="2512855481" sldId="272"/>
        </pc:sldMkLst>
      </pc:sldChg>
      <pc:sldChg chg="del">
        <pc:chgData name="Pramod Naik" userId="ceb6df04-ef15-4d9b-a141-998a03559d75" providerId="ADAL" clId="{8D8496C7-5C44-4372-99BE-D015FA3DC895}" dt="2025-07-04T17:10:29.962" v="6" actId="47"/>
        <pc:sldMkLst>
          <pc:docMk/>
          <pc:sldMk cId="3390883758" sldId="273"/>
        </pc:sldMkLst>
      </pc:sldChg>
      <pc:sldChg chg="del">
        <pc:chgData name="Pramod Naik" userId="ceb6df04-ef15-4d9b-a141-998a03559d75" providerId="ADAL" clId="{8D8496C7-5C44-4372-99BE-D015FA3DC895}" dt="2025-07-04T17:10:30.026" v="7" actId="47"/>
        <pc:sldMkLst>
          <pc:docMk/>
          <pc:sldMk cId="1100455398" sldId="275"/>
        </pc:sldMkLst>
      </pc:sldChg>
      <pc:sldChg chg="del">
        <pc:chgData name="Pramod Naik" userId="ceb6df04-ef15-4d9b-a141-998a03559d75" providerId="ADAL" clId="{8D8496C7-5C44-4372-99BE-D015FA3DC895}" dt="2025-07-04T17:10:30.047" v="8" actId="47"/>
        <pc:sldMkLst>
          <pc:docMk/>
          <pc:sldMk cId="2595684074" sldId="281"/>
        </pc:sldMkLst>
      </pc:sldChg>
      <pc:sldChg chg="del">
        <pc:chgData name="Pramod Naik" userId="ceb6df04-ef15-4d9b-a141-998a03559d75" providerId="ADAL" clId="{8D8496C7-5C44-4372-99BE-D015FA3DC895}" dt="2025-07-04T17:10:30.158" v="11" actId="47"/>
        <pc:sldMkLst>
          <pc:docMk/>
          <pc:sldMk cId="2684928763" sldId="283"/>
        </pc:sldMkLst>
      </pc:sldChg>
      <pc:sldChg chg="modSp add mod">
        <pc:chgData name="Pramod Naik" userId="ceb6df04-ef15-4d9b-a141-998a03559d75" providerId="ADAL" clId="{8D8496C7-5C44-4372-99BE-D015FA3DC895}" dt="2025-07-04T17:25:39.726" v="118" actId="20577"/>
        <pc:sldMkLst>
          <pc:docMk/>
          <pc:sldMk cId="510186397" sldId="284"/>
        </pc:sldMkLst>
        <pc:spChg chg="mod">
          <ac:chgData name="Pramod Naik" userId="ceb6df04-ef15-4d9b-a141-998a03559d75" providerId="ADAL" clId="{8D8496C7-5C44-4372-99BE-D015FA3DC895}" dt="2025-07-04T17:25:39.726" v="118" actId="20577"/>
          <ac:spMkLst>
            <pc:docMk/>
            <pc:sldMk cId="510186397" sldId="284"/>
            <ac:spMk id="5" creationId="{D0E6A6E4-6022-9B36-9160-0CAA23778F36}"/>
          </ac:spMkLst>
        </pc:spChg>
      </pc:sldChg>
      <pc:sldChg chg="modSp add mod">
        <pc:chgData name="Pramod Naik" userId="ceb6df04-ef15-4d9b-a141-998a03559d75" providerId="ADAL" clId="{8D8496C7-5C44-4372-99BE-D015FA3DC895}" dt="2025-07-04T17:25:52.391" v="120" actId="403"/>
        <pc:sldMkLst>
          <pc:docMk/>
          <pc:sldMk cId="1426868896" sldId="285"/>
        </pc:sldMkLst>
        <pc:spChg chg="mod">
          <ac:chgData name="Pramod Naik" userId="ceb6df04-ef15-4d9b-a141-998a03559d75" providerId="ADAL" clId="{8D8496C7-5C44-4372-99BE-D015FA3DC895}" dt="2025-07-04T17:25:52.391" v="120" actId="403"/>
          <ac:spMkLst>
            <pc:docMk/>
            <pc:sldMk cId="1426868896" sldId="285"/>
            <ac:spMk id="3" creationId="{369707A5-2E68-CA04-71D6-68FEE8265E5B}"/>
          </ac:spMkLst>
        </pc:spChg>
      </pc:sldChg>
      <pc:sldChg chg="add">
        <pc:chgData name="Pramod Naik" userId="ceb6df04-ef15-4d9b-a141-998a03559d75" providerId="ADAL" clId="{8D8496C7-5C44-4372-99BE-D015FA3DC895}" dt="2025-07-04T17:19:35.535" v="69"/>
        <pc:sldMkLst>
          <pc:docMk/>
          <pc:sldMk cId="252194420" sldId="286"/>
        </pc:sldMkLst>
      </pc:sldChg>
      <pc:sldChg chg="modSp add mod">
        <pc:chgData name="Pramod Naik" userId="ceb6df04-ef15-4d9b-a141-998a03559d75" providerId="ADAL" clId="{8D8496C7-5C44-4372-99BE-D015FA3DC895}" dt="2025-07-04T17:29:04.485" v="133" actId="207"/>
        <pc:sldMkLst>
          <pc:docMk/>
          <pc:sldMk cId="1588033813" sldId="287"/>
        </pc:sldMkLst>
        <pc:spChg chg="mod">
          <ac:chgData name="Pramod Naik" userId="ceb6df04-ef15-4d9b-a141-998a03559d75" providerId="ADAL" clId="{8D8496C7-5C44-4372-99BE-D015FA3DC895}" dt="2025-07-04T17:29:04.485" v="133" actId="207"/>
          <ac:spMkLst>
            <pc:docMk/>
            <pc:sldMk cId="1588033813" sldId="287"/>
            <ac:spMk id="3" creationId="{DF5FFEAD-848B-E0E6-B115-9B8C6CBB5E7E}"/>
          </ac:spMkLst>
        </pc:spChg>
      </pc:sldChg>
      <pc:sldChg chg="modSp add mod">
        <pc:chgData name="Pramod Naik" userId="ceb6df04-ef15-4d9b-a141-998a03559d75" providerId="ADAL" clId="{8D8496C7-5C44-4372-99BE-D015FA3DC895}" dt="2025-07-04T17:33:02.552" v="145" actId="207"/>
        <pc:sldMkLst>
          <pc:docMk/>
          <pc:sldMk cId="1988997150" sldId="289"/>
        </pc:sldMkLst>
        <pc:spChg chg="mod">
          <ac:chgData name="Pramod Naik" userId="ceb6df04-ef15-4d9b-a141-998a03559d75" providerId="ADAL" clId="{8D8496C7-5C44-4372-99BE-D015FA3DC895}" dt="2025-07-04T17:33:02.552" v="145" actId="207"/>
          <ac:spMkLst>
            <pc:docMk/>
            <pc:sldMk cId="1988997150" sldId="289"/>
            <ac:spMk id="5" creationId="{A6465986-B2E3-9BAB-F08C-A9E187811D28}"/>
          </ac:spMkLst>
        </pc:spChg>
      </pc:sldChg>
      <pc:sldChg chg="add">
        <pc:chgData name="Pramod Naik" userId="ceb6df04-ef15-4d9b-a141-998a03559d75" providerId="ADAL" clId="{8D8496C7-5C44-4372-99BE-D015FA3DC895}" dt="2025-07-04T17:19:35.535" v="69"/>
        <pc:sldMkLst>
          <pc:docMk/>
          <pc:sldMk cId="1496530238" sldId="290"/>
        </pc:sldMkLst>
      </pc:sldChg>
      <pc:sldChg chg="modSp add mod">
        <pc:chgData name="Pramod Naik" userId="ceb6df04-ef15-4d9b-a141-998a03559d75" providerId="ADAL" clId="{8D8496C7-5C44-4372-99BE-D015FA3DC895}" dt="2025-07-04T17:35:02.845" v="164" actId="732"/>
        <pc:sldMkLst>
          <pc:docMk/>
          <pc:sldMk cId="564671573" sldId="291"/>
        </pc:sldMkLst>
        <pc:spChg chg="mod">
          <ac:chgData name="Pramod Naik" userId="ceb6df04-ef15-4d9b-a141-998a03559d75" providerId="ADAL" clId="{8D8496C7-5C44-4372-99BE-D015FA3DC895}" dt="2025-07-04T17:34:32.882" v="160" actId="255"/>
          <ac:spMkLst>
            <pc:docMk/>
            <pc:sldMk cId="564671573" sldId="291"/>
            <ac:spMk id="3" creationId="{9224384F-3F77-9504-3D30-F05F39AA2358}"/>
          </ac:spMkLst>
        </pc:spChg>
        <pc:spChg chg="mod">
          <ac:chgData name="Pramod Naik" userId="ceb6df04-ef15-4d9b-a141-998a03559d75" providerId="ADAL" clId="{8D8496C7-5C44-4372-99BE-D015FA3DC895}" dt="2025-07-04T17:35:02.845" v="164" actId="732"/>
          <ac:spMkLst>
            <pc:docMk/>
            <pc:sldMk cId="564671573" sldId="291"/>
            <ac:spMk id="7" creationId="{77F4F15F-7B17-2ADA-85D2-4689AE03D333}"/>
          </ac:spMkLst>
        </pc:spChg>
        <pc:grpChg chg="mod">
          <ac:chgData name="Pramod Naik" userId="ceb6df04-ef15-4d9b-a141-998a03559d75" providerId="ADAL" clId="{8D8496C7-5C44-4372-99BE-D015FA3DC895}" dt="2025-07-04T17:35:02.845" v="164" actId="732"/>
          <ac:grpSpMkLst>
            <pc:docMk/>
            <pc:sldMk cId="564671573" sldId="291"/>
            <ac:grpSpMk id="8" creationId="{2EAE9C6E-EDFF-4BE2-A08E-1C978537B749}"/>
          </ac:grpSpMkLst>
        </pc:grpChg>
        <pc:picChg chg="mod">
          <ac:chgData name="Pramod Naik" userId="ceb6df04-ef15-4d9b-a141-998a03559d75" providerId="ADAL" clId="{8D8496C7-5C44-4372-99BE-D015FA3DC895}" dt="2025-07-04T17:35:02.845" v="164" actId="732"/>
          <ac:picMkLst>
            <pc:docMk/>
            <pc:sldMk cId="564671573" sldId="291"/>
            <ac:picMk id="6" creationId="{3D5B2E4D-DA19-D405-7FD2-88FDCF85F977}"/>
          </ac:picMkLst>
        </pc:picChg>
        <pc:picChg chg="mod">
          <ac:chgData name="Pramod Naik" userId="ceb6df04-ef15-4d9b-a141-998a03559d75" providerId="ADAL" clId="{8D8496C7-5C44-4372-99BE-D015FA3DC895}" dt="2025-07-04T17:35:02.845" v="164" actId="732"/>
          <ac:picMkLst>
            <pc:docMk/>
            <pc:sldMk cId="564671573" sldId="291"/>
            <ac:picMk id="23556" creationId="{ED901057-A993-C011-2A11-593CE9D4C7E0}"/>
          </ac:picMkLst>
        </pc:picChg>
      </pc:sldChg>
      <pc:sldChg chg="modSp add mod">
        <pc:chgData name="Pramod Naik" userId="ceb6df04-ef15-4d9b-a141-998a03559d75" providerId="ADAL" clId="{8D8496C7-5C44-4372-99BE-D015FA3DC895}" dt="2025-07-13T17:03:18.759" v="649" actId="207"/>
        <pc:sldMkLst>
          <pc:docMk/>
          <pc:sldMk cId="3214950115" sldId="294"/>
        </pc:sldMkLst>
        <pc:spChg chg="mod">
          <ac:chgData name="Pramod Naik" userId="ceb6df04-ef15-4d9b-a141-998a03559d75" providerId="ADAL" clId="{8D8496C7-5C44-4372-99BE-D015FA3DC895}" dt="2025-07-13T17:03:18.759" v="649" actId="207"/>
          <ac:spMkLst>
            <pc:docMk/>
            <pc:sldMk cId="3214950115" sldId="294"/>
            <ac:spMk id="3" creationId="{592D8708-D4C6-2B8D-43BE-C064764A813E}"/>
          </ac:spMkLst>
        </pc:spChg>
      </pc:sldChg>
      <pc:sldChg chg="modSp add mod">
        <pc:chgData name="Pramod Naik" userId="ceb6df04-ef15-4d9b-a141-998a03559d75" providerId="ADAL" clId="{8D8496C7-5C44-4372-99BE-D015FA3DC895}" dt="2025-07-13T15:31:25.819" v="222" actId="1076"/>
        <pc:sldMkLst>
          <pc:docMk/>
          <pc:sldMk cId="1091980898" sldId="298"/>
        </pc:sldMkLst>
        <pc:spChg chg="mod">
          <ac:chgData name="Pramod Naik" userId="ceb6df04-ef15-4d9b-a141-998a03559d75" providerId="ADAL" clId="{8D8496C7-5C44-4372-99BE-D015FA3DC895}" dt="2025-07-13T15:31:25.819" v="222" actId="1076"/>
          <ac:spMkLst>
            <pc:docMk/>
            <pc:sldMk cId="1091980898" sldId="298"/>
            <ac:spMk id="3" creationId="{A6CF8B5F-D865-BA9C-802B-F2C4F705DEB7}"/>
          </ac:spMkLst>
        </pc:spChg>
      </pc:sldChg>
      <pc:sldChg chg="modSp add mod">
        <pc:chgData name="Pramod Naik" userId="ceb6df04-ef15-4d9b-a141-998a03559d75" providerId="ADAL" clId="{8D8496C7-5C44-4372-99BE-D015FA3DC895}" dt="2025-07-13T15:38:22.142" v="337" actId="403"/>
        <pc:sldMkLst>
          <pc:docMk/>
          <pc:sldMk cId="2394116156" sldId="299"/>
        </pc:sldMkLst>
        <pc:spChg chg="mod">
          <ac:chgData name="Pramod Naik" userId="ceb6df04-ef15-4d9b-a141-998a03559d75" providerId="ADAL" clId="{8D8496C7-5C44-4372-99BE-D015FA3DC895}" dt="2025-07-13T15:38:22.142" v="337" actId="403"/>
          <ac:spMkLst>
            <pc:docMk/>
            <pc:sldMk cId="2394116156" sldId="299"/>
            <ac:spMk id="5" creationId="{2E3A97CB-78B4-92FB-7593-D4C467B6E373}"/>
          </ac:spMkLst>
        </pc:spChg>
      </pc:sldChg>
      <pc:sldChg chg="del">
        <pc:chgData name="Pramod Naik" userId="ceb6df04-ef15-4d9b-a141-998a03559d75" providerId="ADAL" clId="{8D8496C7-5C44-4372-99BE-D015FA3DC895}" dt="2025-07-04T17:10:57.694" v="65" actId="47"/>
        <pc:sldMkLst>
          <pc:docMk/>
          <pc:sldMk cId="1148078753" sldId="427"/>
        </pc:sldMkLst>
      </pc:sldChg>
      <pc:sldChg chg="del">
        <pc:chgData name="Pramod Naik" userId="ceb6df04-ef15-4d9b-a141-998a03559d75" providerId="ADAL" clId="{8D8496C7-5C44-4372-99BE-D015FA3DC895}" dt="2025-07-04T17:10:30.202" v="13" actId="47"/>
        <pc:sldMkLst>
          <pc:docMk/>
          <pc:sldMk cId="1986873317" sldId="428"/>
        </pc:sldMkLst>
      </pc:sldChg>
      <pc:sldChg chg="add ord">
        <pc:chgData name="Pramod Naik" userId="ceb6df04-ef15-4d9b-a141-998a03559d75" providerId="ADAL" clId="{8D8496C7-5C44-4372-99BE-D015FA3DC895}" dt="2025-07-04T17:10:59.381" v="68"/>
        <pc:sldMkLst>
          <pc:docMk/>
          <pc:sldMk cId="3664504081" sldId="428"/>
        </pc:sldMkLst>
      </pc:sldChg>
      <pc:sldChg chg="del">
        <pc:chgData name="Pramod Naik" userId="ceb6df04-ef15-4d9b-a141-998a03559d75" providerId="ADAL" clId="{8D8496C7-5C44-4372-99BE-D015FA3DC895}" dt="2025-07-04T17:10:30.177" v="12" actId="47"/>
        <pc:sldMkLst>
          <pc:docMk/>
          <pc:sldMk cId="3073614793" sldId="429"/>
        </pc:sldMkLst>
      </pc:sldChg>
      <pc:sldChg chg="del">
        <pc:chgData name="Pramod Naik" userId="ceb6df04-ef15-4d9b-a141-998a03559d75" providerId="ADAL" clId="{8D8496C7-5C44-4372-99BE-D015FA3DC895}" dt="2025-07-04T17:10:30.228" v="14" actId="47"/>
        <pc:sldMkLst>
          <pc:docMk/>
          <pc:sldMk cId="4029198354" sldId="430"/>
        </pc:sldMkLst>
      </pc:sldChg>
      <pc:sldChg chg="del">
        <pc:chgData name="Pramod Naik" userId="ceb6df04-ef15-4d9b-a141-998a03559d75" providerId="ADAL" clId="{8D8496C7-5C44-4372-99BE-D015FA3DC895}" dt="2025-07-04T17:10:30.278" v="15" actId="47"/>
        <pc:sldMkLst>
          <pc:docMk/>
          <pc:sldMk cId="3668359328" sldId="431"/>
        </pc:sldMkLst>
      </pc:sldChg>
      <pc:sldChg chg="del">
        <pc:chgData name="Pramod Naik" userId="ceb6df04-ef15-4d9b-a141-998a03559d75" providerId="ADAL" clId="{8D8496C7-5C44-4372-99BE-D015FA3DC895}" dt="2025-07-04T17:10:31.793" v="37" actId="47"/>
        <pc:sldMkLst>
          <pc:docMk/>
          <pc:sldMk cId="2812883948" sldId="443"/>
        </pc:sldMkLst>
      </pc:sldChg>
      <pc:sldChg chg="del">
        <pc:chgData name="Pramod Naik" userId="ceb6df04-ef15-4d9b-a141-998a03559d75" providerId="ADAL" clId="{8D8496C7-5C44-4372-99BE-D015FA3DC895}" dt="2025-07-04T17:10:31.834" v="38" actId="47"/>
        <pc:sldMkLst>
          <pc:docMk/>
          <pc:sldMk cId="4238744531" sldId="444"/>
        </pc:sldMkLst>
      </pc:sldChg>
      <pc:sldChg chg="modSp add mod">
        <pc:chgData name="Pramod Naik" userId="ceb6df04-ef15-4d9b-a141-998a03559d75" providerId="ADAL" clId="{8D8496C7-5C44-4372-99BE-D015FA3DC895}" dt="2025-07-13T17:12:23.250" v="721" actId="403"/>
        <pc:sldMkLst>
          <pc:docMk/>
          <pc:sldMk cId="3747241268" sldId="511"/>
        </pc:sldMkLst>
        <pc:spChg chg="mod">
          <ac:chgData name="Pramod Naik" userId="ceb6df04-ef15-4d9b-a141-998a03559d75" providerId="ADAL" clId="{8D8496C7-5C44-4372-99BE-D015FA3DC895}" dt="2025-07-13T17:12:23.250" v="721" actId="403"/>
          <ac:spMkLst>
            <pc:docMk/>
            <pc:sldMk cId="3747241268" sldId="511"/>
            <ac:spMk id="6" creationId="{74F79E85-40B0-3E92-A86A-1E7E2DB17991}"/>
          </ac:spMkLst>
        </pc:spChg>
      </pc:sldChg>
      <pc:sldChg chg="modSp add mod">
        <pc:chgData name="Pramod Naik" userId="ceb6df04-ef15-4d9b-a141-998a03559d75" providerId="ADAL" clId="{8D8496C7-5C44-4372-99BE-D015FA3DC895}" dt="2025-07-13T17:20:35.641" v="850" actId="1076"/>
        <pc:sldMkLst>
          <pc:docMk/>
          <pc:sldMk cId="3139655257" sldId="512"/>
        </pc:sldMkLst>
        <pc:spChg chg="mod">
          <ac:chgData name="Pramod Naik" userId="ceb6df04-ef15-4d9b-a141-998a03559d75" providerId="ADAL" clId="{8D8496C7-5C44-4372-99BE-D015FA3DC895}" dt="2025-07-13T17:20:35.641" v="850" actId="1076"/>
          <ac:spMkLst>
            <pc:docMk/>
            <pc:sldMk cId="3139655257" sldId="512"/>
            <ac:spMk id="9" creationId="{BB243A3C-87FC-DA86-818A-05A9926DDB34}"/>
          </ac:spMkLst>
        </pc:spChg>
      </pc:sldChg>
      <pc:sldChg chg="modSp add mod">
        <pc:chgData name="Pramod Naik" userId="ceb6df04-ef15-4d9b-a141-998a03559d75" providerId="ADAL" clId="{8D8496C7-5C44-4372-99BE-D015FA3DC895}" dt="2025-07-13T17:21:11.470" v="861" actId="12"/>
        <pc:sldMkLst>
          <pc:docMk/>
          <pc:sldMk cId="2001950069" sldId="513"/>
        </pc:sldMkLst>
        <pc:spChg chg="mod">
          <ac:chgData name="Pramod Naik" userId="ceb6df04-ef15-4d9b-a141-998a03559d75" providerId="ADAL" clId="{8D8496C7-5C44-4372-99BE-D015FA3DC895}" dt="2025-07-13T17:21:11.470" v="861" actId="12"/>
          <ac:spMkLst>
            <pc:docMk/>
            <pc:sldMk cId="2001950069" sldId="513"/>
            <ac:spMk id="2" creationId="{737C22C9-51F8-624D-C672-6CA76CCAB318}"/>
          </ac:spMkLst>
        </pc:spChg>
        <pc:spChg chg="mod">
          <ac:chgData name="Pramod Naik" userId="ceb6df04-ef15-4d9b-a141-998a03559d75" providerId="ADAL" clId="{8D8496C7-5C44-4372-99BE-D015FA3DC895}" dt="2025-07-13T17:19:26.874" v="796" actId="14100"/>
          <ac:spMkLst>
            <pc:docMk/>
            <pc:sldMk cId="2001950069" sldId="513"/>
            <ac:spMk id="3" creationId="{0CF465A5-5DE1-5D5D-20DC-378A5CFD8D6A}"/>
          </ac:spMkLst>
        </pc:spChg>
        <pc:spChg chg="mod">
          <ac:chgData name="Pramod Naik" userId="ceb6df04-ef15-4d9b-a141-998a03559d75" providerId="ADAL" clId="{8D8496C7-5C44-4372-99BE-D015FA3DC895}" dt="2025-07-13T17:20:02.666" v="797" actId="403"/>
          <ac:spMkLst>
            <pc:docMk/>
            <pc:sldMk cId="2001950069" sldId="513"/>
            <ac:spMk id="9" creationId="{0CB7146A-4693-913A-B07F-BC347F05AEDF}"/>
          </ac:spMkLst>
        </pc:spChg>
      </pc:sldChg>
      <pc:sldChg chg="modSp add mod">
        <pc:chgData name="Pramod Naik" userId="ceb6df04-ef15-4d9b-a141-998a03559d75" providerId="ADAL" clId="{8D8496C7-5C44-4372-99BE-D015FA3DC895}" dt="2025-07-13T17:22:02.538" v="865" actId="403"/>
        <pc:sldMkLst>
          <pc:docMk/>
          <pc:sldMk cId="2391692991" sldId="514"/>
        </pc:sldMkLst>
        <pc:spChg chg="mod">
          <ac:chgData name="Pramod Naik" userId="ceb6df04-ef15-4d9b-a141-998a03559d75" providerId="ADAL" clId="{8D8496C7-5C44-4372-99BE-D015FA3DC895}" dt="2025-07-13T17:21:41.967" v="864" actId="20577"/>
          <ac:spMkLst>
            <pc:docMk/>
            <pc:sldMk cId="2391692991" sldId="514"/>
            <ac:spMk id="3" creationId="{6D548C7E-75F5-99B8-402D-2A7D7FB6563B}"/>
          </ac:spMkLst>
        </pc:spChg>
        <pc:spChg chg="mod">
          <ac:chgData name="Pramod Naik" userId="ceb6df04-ef15-4d9b-a141-998a03559d75" providerId="ADAL" clId="{8D8496C7-5C44-4372-99BE-D015FA3DC895}" dt="2025-07-13T17:22:02.538" v="865" actId="403"/>
          <ac:spMkLst>
            <pc:docMk/>
            <pc:sldMk cId="2391692991" sldId="514"/>
            <ac:spMk id="12" creationId="{D29E2E72-840F-EF10-09F0-3E91D5035672}"/>
          </ac:spMkLst>
        </pc:spChg>
      </pc:sldChg>
      <pc:sldChg chg="modSp add mod">
        <pc:chgData name="Pramod Naik" userId="ceb6df04-ef15-4d9b-a141-998a03559d75" providerId="ADAL" clId="{8D8496C7-5C44-4372-99BE-D015FA3DC895}" dt="2025-07-13T17:22:25.142" v="872" actId="403"/>
        <pc:sldMkLst>
          <pc:docMk/>
          <pc:sldMk cId="3035610508" sldId="515"/>
        </pc:sldMkLst>
        <pc:spChg chg="mod">
          <ac:chgData name="Pramod Naik" userId="ceb6df04-ef15-4d9b-a141-998a03559d75" providerId="ADAL" clId="{8D8496C7-5C44-4372-99BE-D015FA3DC895}" dt="2025-07-13T17:22:10.845" v="868" actId="14100"/>
          <ac:spMkLst>
            <pc:docMk/>
            <pc:sldMk cId="3035610508" sldId="515"/>
            <ac:spMk id="3" creationId="{D02CA7D3-AD25-F4B3-EE58-E25A44DE1D6A}"/>
          </ac:spMkLst>
        </pc:spChg>
        <pc:spChg chg="mod">
          <ac:chgData name="Pramod Naik" userId="ceb6df04-ef15-4d9b-a141-998a03559d75" providerId="ADAL" clId="{8D8496C7-5C44-4372-99BE-D015FA3DC895}" dt="2025-07-13T17:22:25.142" v="872" actId="403"/>
          <ac:spMkLst>
            <pc:docMk/>
            <pc:sldMk cId="3035610508" sldId="515"/>
            <ac:spMk id="8" creationId="{9F8996EA-D24D-31E9-2DF9-22F86907B30C}"/>
          </ac:spMkLst>
        </pc:spChg>
      </pc:sldChg>
      <pc:sldChg chg="addSp delSp modSp add mod">
        <pc:chgData name="Pramod Naik" userId="ceb6df04-ef15-4d9b-a141-998a03559d75" providerId="ADAL" clId="{8D8496C7-5C44-4372-99BE-D015FA3DC895}" dt="2025-07-13T17:25:11.917" v="896" actId="1076"/>
        <pc:sldMkLst>
          <pc:docMk/>
          <pc:sldMk cId="1807256370" sldId="516"/>
        </pc:sldMkLst>
        <pc:spChg chg="mod">
          <ac:chgData name="Pramod Naik" userId="ceb6df04-ef15-4d9b-a141-998a03559d75" providerId="ADAL" clId="{8D8496C7-5C44-4372-99BE-D015FA3DC895}" dt="2025-07-13T17:24:55.016" v="893" actId="20577"/>
          <ac:spMkLst>
            <pc:docMk/>
            <pc:sldMk cId="1807256370" sldId="516"/>
            <ac:spMk id="5" creationId="{2120E906-A12B-C9CE-B2B1-9C2359FE9EEC}"/>
          </ac:spMkLst>
        </pc:spChg>
        <pc:spChg chg="mod">
          <ac:chgData name="Pramod Naik" userId="ceb6df04-ef15-4d9b-a141-998a03559d75" providerId="ADAL" clId="{8D8496C7-5C44-4372-99BE-D015FA3DC895}" dt="2025-07-13T17:25:11.917" v="896" actId="1076"/>
          <ac:spMkLst>
            <pc:docMk/>
            <pc:sldMk cId="1807256370" sldId="516"/>
            <ac:spMk id="8" creationId="{1DC8AC3C-5FF3-F1DF-592B-7C45951E1083}"/>
          </ac:spMkLst>
        </pc:spChg>
        <pc:graphicFrameChg chg="add mod modGraphic">
          <ac:chgData name="Pramod Naik" userId="ceb6df04-ef15-4d9b-a141-998a03559d75" providerId="ADAL" clId="{8D8496C7-5C44-4372-99BE-D015FA3DC895}" dt="2025-07-13T17:25:01.823" v="894" actId="14734"/>
          <ac:graphicFrameMkLst>
            <pc:docMk/>
            <pc:sldMk cId="1807256370" sldId="516"/>
            <ac:graphicFrameMk id="2" creationId="{A68E7BE2-9C96-FBC0-B5F5-2F6053A3CCD4}"/>
          </ac:graphicFrameMkLst>
        </pc:graphicFrameChg>
        <pc:graphicFrameChg chg="del modGraphic">
          <ac:chgData name="Pramod Naik" userId="ceb6df04-ef15-4d9b-a141-998a03559d75" providerId="ADAL" clId="{8D8496C7-5C44-4372-99BE-D015FA3DC895}" dt="2025-07-13T17:24:23.227" v="875" actId="478"/>
          <ac:graphicFrameMkLst>
            <pc:docMk/>
            <pc:sldMk cId="1807256370" sldId="516"/>
            <ac:graphicFrameMk id="6" creationId="{D3927EDC-A23A-B83A-ACF7-8993E27B4508}"/>
          </ac:graphicFrameMkLst>
        </pc:graphicFrameChg>
      </pc:sldChg>
      <pc:sldChg chg="modSp add mod">
        <pc:chgData name="Pramod Naik" userId="ceb6df04-ef15-4d9b-a141-998a03559d75" providerId="ADAL" clId="{8D8496C7-5C44-4372-99BE-D015FA3DC895}" dt="2025-07-13T17:25:56.996" v="914" actId="1076"/>
        <pc:sldMkLst>
          <pc:docMk/>
          <pc:sldMk cId="1206851201" sldId="520"/>
        </pc:sldMkLst>
        <pc:spChg chg="mod">
          <ac:chgData name="Pramod Naik" userId="ceb6df04-ef15-4d9b-a141-998a03559d75" providerId="ADAL" clId="{8D8496C7-5C44-4372-99BE-D015FA3DC895}" dt="2025-07-13T17:25:56.996" v="914" actId="1076"/>
          <ac:spMkLst>
            <pc:docMk/>
            <pc:sldMk cId="1206851201" sldId="520"/>
            <ac:spMk id="4" creationId="{587DC32E-FCDD-F7F7-4DEE-AE12608E2AEE}"/>
          </ac:spMkLst>
        </pc:spChg>
      </pc:sldChg>
      <pc:sldChg chg="del">
        <pc:chgData name="Pramod Naik" userId="ceb6df04-ef15-4d9b-a141-998a03559d75" providerId="ADAL" clId="{8D8496C7-5C44-4372-99BE-D015FA3DC895}" dt="2025-07-04T17:10:30.075" v="9" actId="47"/>
        <pc:sldMkLst>
          <pc:docMk/>
          <pc:sldMk cId="3758266961" sldId="802"/>
        </pc:sldMkLst>
      </pc:sldChg>
      <pc:sldChg chg="del">
        <pc:chgData name="Pramod Naik" userId="ceb6df04-ef15-4d9b-a141-998a03559d75" providerId="ADAL" clId="{8D8496C7-5C44-4372-99BE-D015FA3DC895}" dt="2025-07-04T17:10:30.126" v="10" actId="47"/>
        <pc:sldMkLst>
          <pc:docMk/>
          <pc:sldMk cId="2389883007" sldId="803"/>
        </pc:sldMkLst>
      </pc:sldChg>
      <pc:sldChg chg="del">
        <pc:chgData name="Pramod Naik" userId="ceb6df04-ef15-4d9b-a141-998a03559d75" providerId="ADAL" clId="{8D8496C7-5C44-4372-99BE-D015FA3DC895}" dt="2025-07-04T17:10:33.449" v="57" actId="47"/>
        <pc:sldMkLst>
          <pc:docMk/>
          <pc:sldMk cId="725509964" sldId="804"/>
        </pc:sldMkLst>
      </pc:sldChg>
      <pc:sldChg chg="del">
        <pc:chgData name="Pramod Naik" userId="ceb6df04-ef15-4d9b-a141-998a03559d75" providerId="ADAL" clId="{8D8496C7-5C44-4372-99BE-D015FA3DC895}" dt="2025-07-04T17:10:30.317" v="17" actId="47"/>
        <pc:sldMkLst>
          <pc:docMk/>
          <pc:sldMk cId="2821186392" sldId="805"/>
        </pc:sldMkLst>
      </pc:sldChg>
      <pc:sldChg chg="del">
        <pc:chgData name="Pramod Naik" userId="ceb6df04-ef15-4d9b-a141-998a03559d75" providerId="ADAL" clId="{8D8496C7-5C44-4372-99BE-D015FA3DC895}" dt="2025-07-04T17:10:30.353" v="18" actId="47"/>
        <pc:sldMkLst>
          <pc:docMk/>
          <pc:sldMk cId="2628583211" sldId="806"/>
        </pc:sldMkLst>
      </pc:sldChg>
      <pc:sldChg chg="del">
        <pc:chgData name="Pramod Naik" userId="ceb6df04-ef15-4d9b-a141-998a03559d75" providerId="ADAL" clId="{8D8496C7-5C44-4372-99BE-D015FA3DC895}" dt="2025-07-04T17:10:30.409" v="19" actId="47"/>
        <pc:sldMkLst>
          <pc:docMk/>
          <pc:sldMk cId="3689612021" sldId="807"/>
        </pc:sldMkLst>
      </pc:sldChg>
      <pc:sldChg chg="del">
        <pc:chgData name="Pramod Naik" userId="ceb6df04-ef15-4d9b-a141-998a03559d75" providerId="ADAL" clId="{8D8496C7-5C44-4372-99BE-D015FA3DC895}" dt="2025-07-04T17:10:30.424" v="20" actId="47"/>
        <pc:sldMkLst>
          <pc:docMk/>
          <pc:sldMk cId="1807050808" sldId="808"/>
        </pc:sldMkLst>
      </pc:sldChg>
      <pc:sldChg chg="del">
        <pc:chgData name="Pramod Naik" userId="ceb6df04-ef15-4d9b-a141-998a03559d75" providerId="ADAL" clId="{8D8496C7-5C44-4372-99BE-D015FA3DC895}" dt="2025-07-04T17:10:30.457" v="21" actId="47"/>
        <pc:sldMkLst>
          <pc:docMk/>
          <pc:sldMk cId="3984954686" sldId="809"/>
        </pc:sldMkLst>
      </pc:sldChg>
      <pc:sldChg chg="del">
        <pc:chgData name="Pramod Naik" userId="ceb6df04-ef15-4d9b-a141-998a03559d75" providerId="ADAL" clId="{8D8496C7-5C44-4372-99BE-D015FA3DC895}" dt="2025-07-04T17:10:30.497" v="22" actId="47"/>
        <pc:sldMkLst>
          <pc:docMk/>
          <pc:sldMk cId="565596243" sldId="810"/>
        </pc:sldMkLst>
      </pc:sldChg>
      <pc:sldChg chg="del">
        <pc:chgData name="Pramod Naik" userId="ceb6df04-ef15-4d9b-a141-998a03559d75" providerId="ADAL" clId="{8D8496C7-5C44-4372-99BE-D015FA3DC895}" dt="2025-07-04T17:10:30.300" v="16" actId="47"/>
        <pc:sldMkLst>
          <pc:docMk/>
          <pc:sldMk cId="3187916009" sldId="811"/>
        </pc:sldMkLst>
      </pc:sldChg>
      <pc:sldChg chg="del">
        <pc:chgData name="Pramod Naik" userId="ceb6df04-ef15-4d9b-a141-998a03559d75" providerId="ADAL" clId="{8D8496C7-5C44-4372-99BE-D015FA3DC895}" dt="2025-07-04T17:10:30.856" v="23" actId="47"/>
        <pc:sldMkLst>
          <pc:docMk/>
          <pc:sldMk cId="2765334203" sldId="812"/>
        </pc:sldMkLst>
      </pc:sldChg>
      <pc:sldChg chg="del">
        <pc:chgData name="Pramod Naik" userId="ceb6df04-ef15-4d9b-a141-998a03559d75" providerId="ADAL" clId="{8D8496C7-5C44-4372-99BE-D015FA3DC895}" dt="2025-07-04T17:10:31.372" v="24" actId="47"/>
        <pc:sldMkLst>
          <pc:docMk/>
          <pc:sldMk cId="1042934319" sldId="813"/>
        </pc:sldMkLst>
      </pc:sldChg>
      <pc:sldChg chg="del">
        <pc:chgData name="Pramod Naik" userId="ceb6df04-ef15-4d9b-a141-998a03559d75" providerId="ADAL" clId="{8D8496C7-5C44-4372-99BE-D015FA3DC895}" dt="2025-07-04T17:10:31.405" v="25" actId="47"/>
        <pc:sldMkLst>
          <pc:docMk/>
          <pc:sldMk cId="1947210015" sldId="814"/>
        </pc:sldMkLst>
      </pc:sldChg>
      <pc:sldChg chg="del">
        <pc:chgData name="Pramod Naik" userId="ceb6df04-ef15-4d9b-a141-998a03559d75" providerId="ADAL" clId="{8D8496C7-5C44-4372-99BE-D015FA3DC895}" dt="2025-07-04T17:10:31.433" v="26" actId="47"/>
        <pc:sldMkLst>
          <pc:docMk/>
          <pc:sldMk cId="3023744639" sldId="815"/>
        </pc:sldMkLst>
      </pc:sldChg>
      <pc:sldChg chg="del">
        <pc:chgData name="Pramod Naik" userId="ceb6df04-ef15-4d9b-a141-998a03559d75" providerId="ADAL" clId="{8D8496C7-5C44-4372-99BE-D015FA3DC895}" dt="2025-07-04T17:10:31.465" v="27" actId="47"/>
        <pc:sldMkLst>
          <pc:docMk/>
          <pc:sldMk cId="2232840958" sldId="816"/>
        </pc:sldMkLst>
      </pc:sldChg>
      <pc:sldChg chg="del">
        <pc:chgData name="Pramod Naik" userId="ceb6df04-ef15-4d9b-a141-998a03559d75" providerId="ADAL" clId="{8D8496C7-5C44-4372-99BE-D015FA3DC895}" dt="2025-07-04T17:10:31.497" v="28" actId="47"/>
        <pc:sldMkLst>
          <pc:docMk/>
          <pc:sldMk cId="1958908736" sldId="817"/>
        </pc:sldMkLst>
      </pc:sldChg>
      <pc:sldChg chg="del">
        <pc:chgData name="Pramod Naik" userId="ceb6df04-ef15-4d9b-a141-998a03559d75" providerId="ADAL" clId="{8D8496C7-5C44-4372-99BE-D015FA3DC895}" dt="2025-07-04T17:10:31.536" v="29" actId="47"/>
        <pc:sldMkLst>
          <pc:docMk/>
          <pc:sldMk cId="2603702130" sldId="818"/>
        </pc:sldMkLst>
      </pc:sldChg>
      <pc:sldChg chg="del">
        <pc:chgData name="Pramod Naik" userId="ceb6df04-ef15-4d9b-a141-998a03559d75" providerId="ADAL" clId="{8D8496C7-5C44-4372-99BE-D015FA3DC895}" dt="2025-07-04T17:10:31.565" v="30" actId="47"/>
        <pc:sldMkLst>
          <pc:docMk/>
          <pc:sldMk cId="1715032640" sldId="819"/>
        </pc:sldMkLst>
      </pc:sldChg>
      <pc:sldChg chg="del">
        <pc:chgData name="Pramod Naik" userId="ceb6df04-ef15-4d9b-a141-998a03559d75" providerId="ADAL" clId="{8D8496C7-5C44-4372-99BE-D015FA3DC895}" dt="2025-07-04T17:10:31.610" v="31" actId="47"/>
        <pc:sldMkLst>
          <pc:docMk/>
          <pc:sldMk cId="792769975" sldId="820"/>
        </pc:sldMkLst>
      </pc:sldChg>
      <pc:sldChg chg="del">
        <pc:chgData name="Pramod Naik" userId="ceb6df04-ef15-4d9b-a141-998a03559d75" providerId="ADAL" clId="{8D8496C7-5C44-4372-99BE-D015FA3DC895}" dt="2025-07-04T17:10:31.639" v="32" actId="47"/>
        <pc:sldMkLst>
          <pc:docMk/>
          <pc:sldMk cId="4279794649" sldId="821"/>
        </pc:sldMkLst>
      </pc:sldChg>
      <pc:sldChg chg="del">
        <pc:chgData name="Pramod Naik" userId="ceb6df04-ef15-4d9b-a141-998a03559d75" providerId="ADAL" clId="{8D8496C7-5C44-4372-99BE-D015FA3DC895}" dt="2025-07-04T17:10:31.674" v="33" actId="47"/>
        <pc:sldMkLst>
          <pc:docMk/>
          <pc:sldMk cId="72100597" sldId="822"/>
        </pc:sldMkLst>
      </pc:sldChg>
      <pc:sldChg chg="del">
        <pc:chgData name="Pramod Naik" userId="ceb6df04-ef15-4d9b-a141-998a03559d75" providerId="ADAL" clId="{8D8496C7-5C44-4372-99BE-D015FA3DC895}" dt="2025-07-04T17:10:31.702" v="34" actId="47"/>
        <pc:sldMkLst>
          <pc:docMk/>
          <pc:sldMk cId="1699470194" sldId="823"/>
        </pc:sldMkLst>
      </pc:sldChg>
      <pc:sldChg chg="del">
        <pc:chgData name="Pramod Naik" userId="ceb6df04-ef15-4d9b-a141-998a03559d75" providerId="ADAL" clId="{8D8496C7-5C44-4372-99BE-D015FA3DC895}" dt="2025-07-04T17:10:31.740" v="35" actId="47"/>
        <pc:sldMkLst>
          <pc:docMk/>
          <pc:sldMk cId="1862185883" sldId="824"/>
        </pc:sldMkLst>
      </pc:sldChg>
      <pc:sldChg chg="del">
        <pc:chgData name="Pramod Naik" userId="ceb6df04-ef15-4d9b-a141-998a03559d75" providerId="ADAL" clId="{8D8496C7-5C44-4372-99BE-D015FA3DC895}" dt="2025-07-04T17:10:31.766" v="36" actId="47"/>
        <pc:sldMkLst>
          <pc:docMk/>
          <pc:sldMk cId="1333217736" sldId="825"/>
        </pc:sldMkLst>
      </pc:sldChg>
      <pc:sldChg chg="del">
        <pc:chgData name="Pramod Naik" userId="ceb6df04-ef15-4d9b-a141-998a03559d75" providerId="ADAL" clId="{8D8496C7-5C44-4372-99BE-D015FA3DC895}" dt="2025-07-04T17:10:31.907" v="40" actId="47"/>
        <pc:sldMkLst>
          <pc:docMk/>
          <pc:sldMk cId="616466261" sldId="826"/>
        </pc:sldMkLst>
      </pc:sldChg>
      <pc:sldChg chg="del">
        <pc:chgData name="Pramod Naik" userId="ceb6df04-ef15-4d9b-a141-998a03559d75" providerId="ADAL" clId="{8D8496C7-5C44-4372-99BE-D015FA3DC895}" dt="2025-07-04T17:10:32.456" v="41" actId="47"/>
        <pc:sldMkLst>
          <pc:docMk/>
          <pc:sldMk cId="2494359165" sldId="827"/>
        </pc:sldMkLst>
      </pc:sldChg>
      <pc:sldChg chg="del">
        <pc:chgData name="Pramod Naik" userId="ceb6df04-ef15-4d9b-a141-998a03559d75" providerId="ADAL" clId="{8D8496C7-5C44-4372-99BE-D015FA3DC895}" dt="2025-07-04T17:10:32.966" v="42" actId="47"/>
        <pc:sldMkLst>
          <pc:docMk/>
          <pc:sldMk cId="3298173137" sldId="828"/>
        </pc:sldMkLst>
      </pc:sldChg>
      <pc:sldChg chg="del">
        <pc:chgData name="Pramod Naik" userId="ceb6df04-ef15-4d9b-a141-998a03559d75" providerId="ADAL" clId="{8D8496C7-5C44-4372-99BE-D015FA3DC895}" dt="2025-07-04T17:10:32.996" v="43" actId="47"/>
        <pc:sldMkLst>
          <pc:docMk/>
          <pc:sldMk cId="342539356" sldId="829"/>
        </pc:sldMkLst>
      </pc:sldChg>
      <pc:sldChg chg="del">
        <pc:chgData name="Pramod Naik" userId="ceb6df04-ef15-4d9b-a141-998a03559d75" providerId="ADAL" clId="{8D8496C7-5C44-4372-99BE-D015FA3DC895}" dt="2025-07-04T17:10:33.029" v="44" actId="47"/>
        <pc:sldMkLst>
          <pc:docMk/>
          <pc:sldMk cId="2668433924" sldId="830"/>
        </pc:sldMkLst>
      </pc:sldChg>
      <pc:sldChg chg="del">
        <pc:chgData name="Pramod Naik" userId="ceb6df04-ef15-4d9b-a141-998a03559d75" providerId="ADAL" clId="{8D8496C7-5C44-4372-99BE-D015FA3DC895}" dt="2025-07-04T17:10:31.863" v="39" actId="47"/>
        <pc:sldMkLst>
          <pc:docMk/>
          <pc:sldMk cId="495546321" sldId="831"/>
        </pc:sldMkLst>
      </pc:sldChg>
      <pc:sldChg chg="del">
        <pc:chgData name="Pramod Naik" userId="ceb6df04-ef15-4d9b-a141-998a03559d75" providerId="ADAL" clId="{8D8496C7-5C44-4372-99BE-D015FA3DC895}" dt="2025-07-04T17:10:33.067" v="45" actId="47"/>
        <pc:sldMkLst>
          <pc:docMk/>
          <pc:sldMk cId="4179786724" sldId="832"/>
        </pc:sldMkLst>
      </pc:sldChg>
      <pc:sldChg chg="del">
        <pc:chgData name="Pramod Naik" userId="ceb6df04-ef15-4d9b-a141-998a03559d75" providerId="ADAL" clId="{8D8496C7-5C44-4372-99BE-D015FA3DC895}" dt="2025-07-04T17:10:33.098" v="46" actId="47"/>
        <pc:sldMkLst>
          <pc:docMk/>
          <pc:sldMk cId="573588146" sldId="833"/>
        </pc:sldMkLst>
      </pc:sldChg>
      <pc:sldChg chg="del">
        <pc:chgData name="Pramod Naik" userId="ceb6df04-ef15-4d9b-a141-998a03559d75" providerId="ADAL" clId="{8D8496C7-5C44-4372-99BE-D015FA3DC895}" dt="2025-07-04T17:10:33.129" v="47" actId="47"/>
        <pc:sldMkLst>
          <pc:docMk/>
          <pc:sldMk cId="533626814" sldId="834"/>
        </pc:sldMkLst>
      </pc:sldChg>
      <pc:sldChg chg="del">
        <pc:chgData name="Pramod Naik" userId="ceb6df04-ef15-4d9b-a141-998a03559d75" providerId="ADAL" clId="{8D8496C7-5C44-4372-99BE-D015FA3DC895}" dt="2025-07-04T17:10:33.157" v="48" actId="47"/>
        <pc:sldMkLst>
          <pc:docMk/>
          <pc:sldMk cId="2408693022" sldId="835"/>
        </pc:sldMkLst>
      </pc:sldChg>
      <pc:sldChg chg="del">
        <pc:chgData name="Pramod Naik" userId="ceb6df04-ef15-4d9b-a141-998a03559d75" providerId="ADAL" clId="{8D8496C7-5C44-4372-99BE-D015FA3DC895}" dt="2025-07-04T17:10:33.192" v="49" actId="47"/>
        <pc:sldMkLst>
          <pc:docMk/>
          <pc:sldMk cId="3482729430" sldId="836"/>
        </pc:sldMkLst>
      </pc:sldChg>
      <pc:sldChg chg="del">
        <pc:chgData name="Pramod Naik" userId="ceb6df04-ef15-4d9b-a141-998a03559d75" providerId="ADAL" clId="{8D8496C7-5C44-4372-99BE-D015FA3DC895}" dt="2025-07-04T17:10:33.228" v="50" actId="47"/>
        <pc:sldMkLst>
          <pc:docMk/>
          <pc:sldMk cId="1425376494" sldId="837"/>
        </pc:sldMkLst>
      </pc:sldChg>
      <pc:sldChg chg="del">
        <pc:chgData name="Pramod Naik" userId="ceb6df04-ef15-4d9b-a141-998a03559d75" providerId="ADAL" clId="{8D8496C7-5C44-4372-99BE-D015FA3DC895}" dt="2025-07-04T17:10:33.253" v="51" actId="47"/>
        <pc:sldMkLst>
          <pc:docMk/>
          <pc:sldMk cId="152909076" sldId="838"/>
        </pc:sldMkLst>
      </pc:sldChg>
      <pc:sldChg chg="del">
        <pc:chgData name="Pramod Naik" userId="ceb6df04-ef15-4d9b-a141-998a03559d75" providerId="ADAL" clId="{8D8496C7-5C44-4372-99BE-D015FA3DC895}" dt="2025-07-04T17:10:33.287" v="52" actId="47"/>
        <pc:sldMkLst>
          <pc:docMk/>
          <pc:sldMk cId="1544694728" sldId="839"/>
        </pc:sldMkLst>
      </pc:sldChg>
      <pc:sldChg chg="add del">
        <pc:chgData name="Pramod Naik" userId="ceb6df04-ef15-4d9b-a141-998a03559d75" providerId="ADAL" clId="{8D8496C7-5C44-4372-99BE-D015FA3DC895}" dt="2025-07-04T17:10:34.984" v="59" actId="47"/>
        <pc:sldMkLst>
          <pc:docMk/>
          <pc:sldMk cId="2018463319" sldId="840"/>
        </pc:sldMkLst>
      </pc:sldChg>
      <pc:sldChg chg="del">
        <pc:chgData name="Pramod Naik" userId="ceb6df04-ef15-4d9b-a141-998a03559d75" providerId="ADAL" clId="{8D8496C7-5C44-4372-99BE-D015FA3DC895}" dt="2025-07-04T17:10:33.321" v="53" actId="47"/>
        <pc:sldMkLst>
          <pc:docMk/>
          <pc:sldMk cId="94651295" sldId="841"/>
        </pc:sldMkLst>
      </pc:sldChg>
      <pc:sldChg chg="add">
        <pc:chgData name="Pramod Naik" userId="ceb6df04-ef15-4d9b-a141-998a03559d75" providerId="ADAL" clId="{8D8496C7-5C44-4372-99BE-D015FA3DC895}" dt="2025-07-04T17:10:38.604" v="60"/>
        <pc:sldMkLst>
          <pc:docMk/>
          <pc:sldMk cId="4033221829" sldId="841"/>
        </pc:sldMkLst>
      </pc:sldChg>
      <pc:sldChg chg="del">
        <pc:chgData name="Pramod Naik" userId="ceb6df04-ef15-4d9b-a141-998a03559d75" providerId="ADAL" clId="{8D8496C7-5C44-4372-99BE-D015FA3DC895}" dt="2025-07-04T17:10:33.350" v="54" actId="47"/>
        <pc:sldMkLst>
          <pc:docMk/>
          <pc:sldMk cId="852940305" sldId="842"/>
        </pc:sldMkLst>
      </pc:sldChg>
      <pc:sldChg chg="add">
        <pc:chgData name="Pramod Naik" userId="ceb6df04-ef15-4d9b-a141-998a03559d75" providerId="ADAL" clId="{8D8496C7-5C44-4372-99BE-D015FA3DC895}" dt="2025-07-04T17:10:38.756" v="61"/>
        <pc:sldMkLst>
          <pc:docMk/>
          <pc:sldMk cId="2613572271" sldId="842"/>
        </pc:sldMkLst>
      </pc:sldChg>
      <pc:sldChg chg="del">
        <pc:chgData name="Pramod Naik" userId="ceb6df04-ef15-4d9b-a141-998a03559d75" providerId="ADAL" clId="{8D8496C7-5C44-4372-99BE-D015FA3DC895}" dt="2025-07-04T17:10:33.383" v="55" actId="47"/>
        <pc:sldMkLst>
          <pc:docMk/>
          <pc:sldMk cId="2870649011" sldId="843"/>
        </pc:sldMkLst>
      </pc:sldChg>
      <pc:sldChg chg="add">
        <pc:chgData name="Pramod Naik" userId="ceb6df04-ef15-4d9b-a141-998a03559d75" providerId="ADAL" clId="{8D8496C7-5C44-4372-99BE-D015FA3DC895}" dt="2025-07-04T17:10:38.908" v="62"/>
        <pc:sldMkLst>
          <pc:docMk/>
          <pc:sldMk cId="3457226269" sldId="843"/>
        </pc:sldMkLst>
      </pc:sldChg>
      <pc:sldChg chg="del">
        <pc:chgData name="Pramod Naik" userId="ceb6df04-ef15-4d9b-a141-998a03559d75" providerId="ADAL" clId="{8D8496C7-5C44-4372-99BE-D015FA3DC895}" dt="2025-07-04T17:10:33.417" v="56" actId="47"/>
        <pc:sldMkLst>
          <pc:docMk/>
          <pc:sldMk cId="2247688424" sldId="844"/>
        </pc:sldMkLst>
      </pc:sldChg>
      <pc:sldChg chg="add">
        <pc:chgData name="Pramod Naik" userId="ceb6df04-ef15-4d9b-a141-998a03559d75" providerId="ADAL" clId="{8D8496C7-5C44-4372-99BE-D015FA3DC895}" dt="2025-07-04T17:10:39.052" v="63"/>
        <pc:sldMkLst>
          <pc:docMk/>
          <pc:sldMk cId="3467366708" sldId="844"/>
        </pc:sldMkLst>
      </pc:sldChg>
      <pc:sldChg chg="add">
        <pc:chgData name="Pramod Naik" userId="ceb6df04-ef15-4d9b-a141-998a03559d75" providerId="ADAL" clId="{8D8496C7-5C44-4372-99BE-D015FA3DC895}" dt="2025-07-04T17:10:39.205" v="64"/>
        <pc:sldMkLst>
          <pc:docMk/>
          <pc:sldMk cId="2989589413" sldId="845"/>
        </pc:sldMkLst>
      </pc:sldChg>
      <pc:sldChg chg="modSp add mod ord">
        <pc:chgData name="Pramod Naik" userId="ceb6df04-ef15-4d9b-a141-998a03559d75" providerId="ADAL" clId="{8D8496C7-5C44-4372-99BE-D015FA3DC895}" dt="2025-07-04T17:23:52.879" v="79" actId="403"/>
        <pc:sldMkLst>
          <pc:docMk/>
          <pc:sldMk cId="1444396400" sldId="846"/>
        </pc:sldMkLst>
        <pc:spChg chg="mod">
          <ac:chgData name="Pramod Naik" userId="ceb6df04-ef15-4d9b-a141-998a03559d75" providerId="ADAL" clId="{8D8496C7-5C44-4372-99BE-D015FA3DC895}" dt="2025-07-04T17:23:52.879" v="79" actId="403"/>
          <ac:spMkLst>
            <pc:docMk/>
            <pc:sldMk cId="1444396400" sldId="846"/>
            <ac:spMk id="5" creationId="{13DCB72E-766B-31EA-0076-3684652D8089}"/>
          </ac:spMkLst>
        </pc:spChg>
      </pc:sldChg>
      <pc:sldChg chg="modSp add mod ord">
        <pc:chgData name="Pramod Naik" userId="ceb6df04-ef15-4d9b-a141-998a03559d75" providerId="ADAL" clId="{8D8496C7-5C44-4372-99BE-D015FA3DC895}" dt="2025-07-13T17:15:14.305" v="774" actId="113"/>
        <pc:sldMkLst>
          <pc:docMk/>
          <pc:sldMk cId="1788168237" sldId="847"/>
        </pc:sldMkLst>
        <pc:spChg chg="mod">
          <ac:chgData name="Pramod Naik" userId="ceb6df04-ef15-4d9b-a141-998a03559d75" providerId="ADAL" clId="{8D8496C7-5C44-4372-99BE-D015FA3DC895}" dt="2025-07-13T17:15:14.305" v="774" actId="113"/>
          <ac:spMkLst>
            <pc:docMk/>
            <pc:sldMk cId="1788168237" sldId="847"/>
            <ac:spMk id="3" creationId="{2A513252-8515-5192-5692-4098998FE324}"/>
          </ac:spMkLst>
        </pc:spChg>
      </pc:sldChg>
      <pc:sldChg chg="modSp mod">
        <pc:chgData name="Pramod Naik" userId="ceb6df04-ef15-4d9b-a141-998a03559d75" providerId="ADAL" clId="{8D8496C7-5C44-4372-99BE-D015FA3DC895}" dt="2025-07-13T15:27:35.114" v="183" actId="20577"/>
        <pc:sldMkLst>
          <pc:docMk/>
          <pc:sldMk cId="971674483" sldId="880"/>
        </pc:sldMkLst>
        <pc:spChg chg="mod">
          <ac:chgData name="Pramod Naik" userId="ceb6df04-ef15-4d9b-a141-998a03559d75" providerId="ADAL" clId="{8D8496C7-5C44-4372-99BE-D015FA3DC895}" dt="2025-07-13T15:27:35.114" v="183" actId="20577"/>
          <ac:spMkLst>
            <pc:docMk/>
            <pc:sldMk cId="971674483" sldId="880"/>
            <ac:spMk id="3" creationId="{34FAB684-9594-9344-F277-9CFB4B5DF2C1}"/>
          </ac:spMkLst>
        </pc:spChg>
      </pc:sldChg>
      <pc:sldChg chg="modSp mod ord">
        <pc:chgData name="Pramod Naik" userId="ceb6df04-ef15-4d9b-a141-998a03559d75" providerId="ADAL" clId="{8D8496C7-5C44-4372-99BE-D015FA3DC895}" dt="2025-07-13T15:34:19.876" v="255" actId="255"/>
        <pc:sldMkLst>
          <pc:docMk/>
          <pc:sldMk cId="1141885452" sldId="881"/>
        </pc:sldMkLst>
        <pc:spChg chg="mod">
          <ac:chgData name="Pramod Naik" userId="ceb6df04-ef15-4d9b-a141-998a03559d75" providerId="ADAL" clId="{8D8496C7-5C44-4372-99BE-D015FA3DC895}" dt="2025-07-13T15:34:19.876" v="255" actId="255"/>
          <ac:spMkLst>
            <pc:docMk/>
            <pc:sldMk cId="1141885452" sldId="881"/>
            <ac:spMk id="3" creationId="{82A95F8D-4110-D599-3870-8A0A07F9A7AD}"/>
          </ac:spMkLst>
        </pc:spChg>
      </pc:sldChg>
      <pc:sldChg chg="modSp mod ord">
        <pc:chgData name="Pramod Naik" userId="ceb6df04-ef15-4d9b-a141-998a03559d75" providerId="ADAL" clId="{8D8496C7-5C44-4372-99BE-D015FA3DC895}" dt="2025-07-13T15:38:14.485" v="335" actId="255"/>
        <pc:sldMkLst>
          <pc:docMk/>
          <pc:sldMk cId="3727450145" sldId="882"/>
        </pc:sldMkLst>
        <pc:spChg chg="mod">
          <ac:chgData name="Pramod Naik" userId="ceb6df04-ef15-4d9b-a141-998a03559d75" providerId="ADAL" clId="{8D8496C7-5C44-4372-99BE-D015FA3DC895}" dt="2025-07-13T15:38:14.485" v="335" actId="255"/>
          <ac:spMkLst>
            <pc:docMk/>
            <pc:sldMk cId="3727450145" sldId="882"/>
            <ac:spMk id="3" creationId="{FAE25D29-6B6F-33B7-9FE9-18535FE12C7A}"/>
          </ac:spMkLst>
        </pc:spChg>
      </pc:sldChg>
      <pc:sldChg chg="addSp modSp mod">
        <pc:chgData name="Pramod Naik" userId="ceb6df04-ef15-4d9b-a141-998a03559d75" providerId="ADAL" clId="{8D8496C7-5C44-4372-99BE-D015FA3DC895}" dt="2025-07-13T15:43:37.451" v="370" actId="113"/>
        <pc:sldMkLst>
          <pc:docMk/>
          <pc:sldMk cId="380204240" sldId="883"/>
        </pc:sldMkLst>
        <pc:spChg chg="add">
          <ac:chgData name="Pramod Naik" userId="ceb6df04-ef15-4d9b-a141-998a03559d75" providerId="ADAL" clId="{8D8496C7-5C44-4372-99BE-D015FA3DC895}" dt="2025-07-13T15:42:56.012" v="345"/>
          <ac:spMkLst>
            <pc:docMk/>
            <pc:sldMk cId="380204240" sldId="883"/>
            <ac:spMk id="2" creationId="{8B219D29-CF38-1A88-EAEE-4BBB130F4EBF}"/>
          </ac:spMkLst>
        </pc:spChg>
        <pc:spChg chg="mod">
          <ac:chgData name="Pramod Naik" userId="ceb6df04-ef15-4d9b-a141-998a03559d75" providerId="ADAL" clId="{8D8496C7-5C44-4372-99BE-D015FA3DC895}" dt="2025-07-13T15:43:37.451" v="370" actId="113"/>
          <ac:spMkLst>
            <pc:docMk/>
            <pc:sldMk cId="380204240" sldId="883"/>
            <ac:spMk id="3" creationId="{D80D5B20-DC5C-1B61-A4C0-C7774F006B1A}"/>
          </ac:spMkLst>
        </pc:spChg>
      </pc:sldChg>
      <pc:sldChg chg="modSp mod">
        <pc:chgData name="Pramod Naik" userId="ceb6df04-ef15-4d9b-a141-998a03559d75" providerId="ADAL" clId="{8D8496C7-5C44-4372-99BE-D015FA3DC895}" dt="2025-07-13T15:44:23.828" v="375" actId="403"/>
        <pc:sldMkLst>
          <pc:docMk/>
          <pc:sldMk cId="3901879110" sldId="884"/>
        </pc:sldMkLst>
        <pc:spChg chg="mod">
          <ac:chgData name="Pramod Naik" userId="ceb6df04-ef15-4d9b-a141-998a03559d75" providerId="ADAL" clId="{8D8496C7-5C44-4372-99BE-D015FA3DC895}" dt="2025-07-13T15:44:23.828" v="375" actId="403"/>
          <ac:spMkLst>
            <pc:docMk/>
            <pc:sldMk cId="3901879110" sldId="884"/>
            <ac:spMk id="3" creationId="{75B236B8-9AB4-D677-8457-4886B14F6DC1}"/>
          </ac:spMkLst>
        </pc:spChg>
      </pc:sldChg>
      <pc:sldChg chg="modSp mod ord">
        <pc:chgData name="Pramod Naik" userId="ceb6df04-ef15-4d9b-a141-998a03559d75" providerId="ADAL" clId="{8D8496C7-5C44-4372-99BE-D015FA3DC895}" dt="2025-07-13T16:49:25.437" v="471" actId="20577"/>
        <pc:sldMkLst>
          <pc:docMk/>
          <pc:sldMk cId="2385198514" sldId="885"/>
        </pc:sldMkLst>
        <pc:spChg chg="mod">
          <ac:chgData name="Pramod Naik" userId="ceb6df04-ef15-4d9b-a141-998a03559d75" providerId="ADAL" clId="{8D8496C7-5C44-4372-99BE-D015FA3DC895}" dt="2025-07-13T16:49:25.437" v="471" actId="20577"/>
          <ac:spMkLst>
            <pc:docMk/>
            <pc:sldMk cId="2385198514" sldId="885"/>
            <ac:spMk id="3" creationId="{D999850B-89D1-B1DD-9CA0-5325B19F5C00}"/>
          </ac:spMkLst>
        </pc:spChg>
      </pc:sldChg>
      <pc:sldChg chg="addSp delSp modSp mod ord">
        <pc:chgData name="Pramod Naik" userId="ceb6df04-ef15-4d9b-a141-998a03559d75" providerId="ADAL" clId="{8D8496C7-5C44-4372-99BE-D015FA3DC895}" dt="2025-07-13T15:49:45.080" v="422" actId="12"/>
        <pc:sldMkLst>
          <pc:docMk/>
          <pc:sldMk cId="2368056313" sldId="886"/>
        </pc:sldMkLst>
        <pc:spChg chg="add del mod">
          <ac:chgData name="Pramod Naik" userId="ceb6df04-ef15-4d9b-a141-998a03559d75" providerId="ADAL" clId="{8D8496C7-5C44-4372-99BE-D015FA3DC895}" dt="2025-07-13T15:49:45.080" v="422" actId="12"/>
          <ac:spMkLst>
            <pc:docMk/>
            <pc:sldMk cId="2368056313" sldId="886"/>
            <ac:spMk id="3" creationId="{5A5439F9-7860-B787-7E26-C1399B3A7F05}"/>
          </ac:spMkLst>
        </pc:spChg>
        <pc:spChg chg="add">
          <ac:chgData name="Pramod Naik" userId="ceb6df04-ef15-4d9b-a141-998a03559d75" providerId="ADAL" clId="{8D8496C7-5C44-4372-99BE-D015FA3DC895}" dt="2025-07-13T15:44:59.860" v="380"/>
          <ac:spMkLst>
            <pc:docMk/>
            <pc:sldMk cId="2368056313" sldId="886"/>
            <ac:spMk id="4" creationId="{A24D0274-78D9-5934-81CA-4F1E50B77508}"/>
          </ac:spMkLst>
        </pc:spChg>
        <pc:spChg chg="add mod">
          <ac:chgData name="Pramod Naik" userId="ceb6df04-ef15-4d9b-a141-998a03559d75" providerId="ADAL" clId="{8D8496C7-5C44-4372-99BE-D015FA3DC895}" dt="2025-07-13T15:45:23.104" v="387"/>
          <ac:spMkLst>
            <pc:docMk/>
            <pc:sldMk cId="2368056313" sldId="886"/>
            <ac:spMk id="6" creationId="{A6E50A05-179E-487F-2D7E-39F9B81DCA92}"/>
          </ac:spMkLst>
        </pc:spChg>
        <pc:graphicFrameChg chg="add mod">
          <ac:chgData name="Pramod Naik" userId="ceb6df04-ef15-4d9b-a141-998a03559d75" providerId="ADAL" clId="{8D8496C7-5C44-4372-99BE-D015FA3DC895}" dt="2025-07-13T15:45:00.827" v="381"/>
          <ac:graphicFrameMkLst>
            <pc:docMk/>
            <pc:sldMk cId="2368056313" sldId="886"/>
            <ac:graphicFrameMk id="2" creationId="{EB7D58F2-601B-7569-66B6-C3CE2C78AC14}"/>
          </ac:graphicFrameMkLst>
        </pc:graphicFrameChg>
        <pc:graphicFrameChg chg="add mod">
          <ac:chgData name="Pramod Naik" userId="ceb6df04-ef15-4d9b-a141-998a03559d75" providerId="ADAL" clId="{8D8496C7-5C44-4372-99BE-D015FA3DC895}" dt="2025-07-13T15:45:21.831" v="386"/>
          <ac:graphicFrameMkLst>
            <pc:docMk/>
            <pc:sldMk cId="2368056313" sldId="886"/>
            <ac:graphicFrameMk id="5" creationId="{8C3852BB-5405-1F31-02DB-5CB4A67B414C}"/>
          </ac:graphicFrameMkLst>
        </pc:graphicFrameChg>
        <pc:graphicFrameChg chg="add mod modGraphic">
          <ac:chgData name="Pramod Naik" userId="ceb6df04-ef15-4d9b-a141-998a03559d75" providerId="ADAL" clId="{8D8496C7-5C44-4372-99BE-D015FA3DC895}" dt="2025-07-13T15:49:39.712" v="420" actId="1076"/>
          <ac:graphicFrameMkLst>
            <pc:docMk/>
            <pc:sldMk cId="2368056313" sldId="886"/>
            <ac:graphicFrameMk id="7" creationId="{6654FAFD-BB01-0657-55A1-A9E2543A7192}"/>
          </ac:graphicFrameMkLst>
        </pc:graphicFrameChg>
      </pc:sldChg>
      <pc:sldChg chg="addSp delSp modSp mod ord">
        <pc:chgData name="Pramod Naik" userId="ceb6df04-ef15-4d9b-a141-998a03559d75" providerId="ADAL" clId="{8D8496C7-5C44-4372-99BE-D015FA3DC895}" dt="2025-07-13T16:53:02.705" v="503" actId="14100"/>
        <pc:sldMkLst>
          <pc:docMk/>
          <pc:sldMk cId="1265237306" sldId="887"/>
        </pc:sldMkLst>
        <pc:spChg chg="mod">
          <ac:chgData name="Pramod Naik" userId="ceb6df04-ef15-4d9b-a141-998a03559d75" providerId="ADAL" clId="{8D8496C7-5C44-4372-99BE-D015FA3DC895}" dt="2025-07-13T16:53:02.705" v="503" actId="14100"/>
          <ac:spMkLst>
            <pc:docMk/>
            <pc:sldMk cId="1265237306" sldId="887"/>
            <ac:spMk id="3" creationId="{762CBF46-EA37-8B6A-392D-229161886391}"/>
          </ac:spMkLst>
        </pc:spChg>
        <pc:picChg chg="add del mod">
          <ac:chgData name="Pramod Naik" userId="ceb6df04-ef15-4d9b-a141-998a03559d75" providerId="ADAL" clId="{8D8496C7-5C44-4372-99BE-D015FA3DC895}" dt="2025-07-13T16:48:56.480" v="464" actId="478"/>
          <ac:picMkLst>
            <pc:docMk/>
            <pc:sldMk cId="1265237306" sldId="887"/>
            <ac:picMk id="4" creationId="{9466ADD9-89F1-6A67-7D72-5DEE4BB97A5F}"/>
          </ac:picMkLst>
        </pc:picChg>
      </pc:sldChg>
      <pc:sldChg chg="addSp delSp modSp mod ord">
        <pc:chgData name="Pramod Naik" userId="ceb6df04-ef15-4d9b-a141-998a03559d75" providerId="ADAL" clId="{8D8496C7-5C44-4372-99BE-D015FA3DC895}" dt="2025-07-13T16:52:54.658" v="501" actId="403"/>
        <pc:sldMkLst>
          <pc:docMk/>
          <pc:sldMk cId="1053734906" sldId="888"/>
        </pc:sldMkLst>
        <pc:spChg chg="add mod">
          <ac:chgData name="Pramod Naik" userId="ceb6df04-ef15-4d9b-a141-998a03559d75" providerId="ADAL" clId="{8D8496C7-5C44-4372-99BE-D015FA3DC895}" dt="2025-07-13T16:52:27.049" v="492"/>
          <ac:spMkLst>
            <pc:docMk/>
            <pc:sldMk cId="1053734906" sldId="888"/>
            <ac:spMk id="2" creationId="{500287A6-9AA2-4B94-190B-97BBC64C8B11}"/>
          </ac:spMkLst>
        </pc:spChg>
        <pc:spChg chg="add del mod">
          <ac:chgData name="Pramod Naik" userId="ceb6df04-ef15-4d9b-a141-998a03559d75" providerId="ADAL" clId="{8D8496C7-5C44-4372-99BE-D015FA3DC895}" dt="2025-07-13T16:52:54.658" v="501" actId="403"/>
          <ac:spMkLst>
            <pc:docMk/>
            <pc:sldMk cId="1053734906" sldId="888"/>
            <ac:spMk id="3" creationId="{C87B1D10-881C-1B16-43B7-F20DB7AC5E2E}"/>
          </ac:spMkLst>
        </pc:spChg>
      </pc:sldChg>
      <pc:sldChg chg="addSp delSp modSp mod ord">
        <pc:chgData name="Pramod Naik" userId="ceb6df04-ef15-4d9b-a141-998a03559d75" providerId="ADAL" clId="{8D8496C7-5C44-4372-99BE-D015FA3DC895}" dt="2025-07-13T16:54:19.273" v="516" actId="1076"/>
        <pc:sldMkLst>
          <pc:docMk/>
          <pc:sldMk cId="2916877025" sldId="889"/>
        </pc:sldMkLst>
        <pc:spChg chg="add del mod">
          <ac:chgData name="Pramod Naik" userId="ceb6df04-ef15-4d9b-a141-998a03559d75" providerId="ADAL" clId="{8D8496C7-5C44-4372-99BE-D015FA3DC895}" dt="2025-07-13T16:54:16.468" v="515" actId="26606"/>
          <ac:spMkLst>
            <pc:docMk/>
            <pc:sldMk cId="2916877025" sldId="889"/>
            <ac:spMk id="3" creationId="{517E18DF-55E6-3A7C-6BCF-9360BF36799E}"/>
          </ac:spMkLst>
        </pc:spChg>
        <pc:spChg chg="add">
          <ac:chgData name="Pramod Naik" userId="ceb6df04-ef15-4d9b-a141-998a03559d75" providerId="ADAL" clId="{8D8496C7-5C44-4372-99BE-D015FA3DC895}" dt="2025-07-13T16:53:49.664" v="507"/>
          <ac:spMkLst>
            <pc:docMk/>
            <pc:sldMk cId="2916877025" sldId="889"/>
            <ac:spMk id="4" creationId="{1A5EC38F-D3AA-008D-6059-434EAF247E40}"/>
          </ac:spMkLst>
        </pc:spChg>
        <pc:graphicFrameChg chg="add mod">
          <ac:chgData name="Pramod Naik" userId="ceb6df04-ef15-4d9b-a141-998a03559d75" providerId="ADAL" clId="{8D8496C7-5C44-4372-99BE-D015FA3DC895}" dt="2025-07-13T16:53:51.987" v="508"/>
          <ac:graphicFrameMkLst>
            <pc:docMk/>
            <pc:sldMk cId="2916877025" sldId="889"/>
            <ac:graphicFrameMk id="2" creationId="{BC4BC0E3-7B50-4D8B-DE94-FE1C82ACDEC7}"/>
          </ac:graphicFrameMkLst>
        </pc:graphicFrameChg>
        <pc:graphicFrameChg chg="add mod modGraphic">
          <ac:chgData name="Pramod Naik" userId="ceb6df04-ef15-4d9b-a141-998a03559d75" providerId="ADAL" clId="{8D8496C7-5C44-4372-99BE-D015FA3DC895}" dt="2025-07-13T16:54:19.273" v="516" actId="1076"/>
          <ac:graphicFrameMkLst>
            <pc:docMk/>
            <pc:sldMk cId="2916877025" sldId="889"/>
            <ac:graphicFrameMk id="5" creationId="{03C7727C-5717-7CCB-3041-D352DC339A69}"/>
          </ac:graphicFrameMkLst>
        </pc:graphicFrameChg>
      </pc:sldChg>
      <pc:sldChg chg="addSp modSp add mod ord">
        <pc:chgData name="Pramod Naik" userId="ceb6df04-ef15-4d9b-a141-998a03559d75" providerId="ADAL" clId="{8D8496C7-5C44-4372-99BE-D015FA3DC895}" dt="2025-07-13T16:56:06.988" v="541" actId="403"/>
        <pc:sldMkLst>
          <pc:docMk/>
          <pc:sldMk cId="3499875619" sldId="890"/>
        </pc:sldMkLst>
        <pc:spChg chg="add">
          <ac:chgData name="Pramod Naik" userId="ceb6df04-ef15-4d9b-a141-998a03559d75" providerId="ADAL" clId="{8D8496C7-5C44-4372-99BE-D015FA3DC895}" dt="2025-07-13T16:55:31.653" v="527"/>
          <ac:spMkLst>
            <pc:docMk/>
            <pc:sldMk cId="3499875619" sldId="890"/>
            <ac:spMk id="2" creationId="{3B5D278A-1202-65FA-1BDD-D0FDD93468A4}"/>
          </ac:spMkLst>
        </pc:spChg>
        <pc:spChg chg="mod">
          <ac:chgData name="Pramod Naik" userId="ceb6df04-ef15-4d9b-a141-998a03559d75" providerId="ADAL" clId="{8D8496C7-5C44-4372-99BE-D015FA3DC895}" dt="2025-07-13T16:56:06.988" v="541" actId="403"/>
          <ac:spMkLst>
            <pc:docMk/>
            <pc:sldMk cId="3499875619" sldId="890"/>
            <ac:spMk id="3" creationId="{3A531C76-D36D-2867-AAFB-64B8E65CB87B}"/>
          </ac:spMkLst>
        </pc:spChg>
      </pc:sldChg>
      <pc:sldChg chg="modSp add mod ord">
        <pc:chgData name="Pramod Naik" userId="ceb6df04-ef15-4d9b-a141-998a03559d75" providerId="ADAL" clId="{8D8496C7-5C44-4372-99BE-D015FA3DC895}" dt="2025-07-13T16:57:31.617" v="565" actId="14100"/>
        <pc:sldMkLst>
          <pc:docMk/>
          <pc:sldMk cId="2948404484" sldId="891"/>
        </pc:sldMkLst>
        <pc:spChg chg="mod">
          <ac:chgData name="Pramod Naik" userId="ceb6df04-ef15-4d9b-a141-998a03559d75" providerId="ADAL" clId="{8D8496C7-5C44-4372-99BE-D015FA3DC895}" dt="2025-07-13T16:57:31.617" v="565" actId="14100"/>
          <ac:spMkLst>
            <pc:docMk/>
            <pc:sldMk cId="2948404484" sldId="891"/>
            <ac:spMk id="3" creationId="{1E249630-F845-3CEA-A3C2-F2905B761698}"/>
          </ac:spMkLst>
        </pc:spChg>
      </pc:sldChg>
      <pc:sldChg chg="addSp modSp add mod ord">
        <pc:chgData name="Pramod Naik" userId="ceb6df04-ef15-4d9b-a141-998a03559d75" providerId="ADAL" clId="{8D8496C7-5C44-4372-99BE-D015FA3DC895}" dt="2025-07-13T16:58:50.292" v="584" actId="1076"/>
        <pc:sldMkLst>
          <pc:docMk/>
          <pc:sldMk cId="543932172" sldId="892"/>
        </pc:sldMkLst>
        <pc:spChg chg="mod">
          <ac:chgData name="Pramod Naik" userId="ceb6df04-ef15-4d9b-a141-998a03559d75" providerId="ADAL" clId="{8D8496C7-5C44-4372-99BE-D015FA3DC895}" dt="2025-07-13T16:58:32.785" v="573" actId="113"/>
          <ac:spMkLst>
            <pc:docMk/>
            <pc:sldMk cId="543932172" sldId="892"/>
            <ac:spMk id="3" creationId="{3F076A21-32B4-02E3-E6F8-7480E9ED943C}"/>
          </ac:spMkLst>
        </pc:spChg>
        <pc:graphicFrameChg chg="add mod modGraphic">
          <ac:chgData name="Pramod Naik" userId="ceb6df04-ef15-4d9b-a141-998a03559d75" providerId="ADAL" clId="{8D8496C7-5C44-4372-99BE-D015FA3DC895}" dt="2025-07-13T16:58:50.292" v="584" actId="1076"/>
          <ac:graphicFrameMkLst>
            <pc:docMk/>
            <pc:sldMk cId="543932172" sldId="892"/>
            <ac:graphicFrameMk id="2" creationId="{2A32D211-265E-941C-CBF8-991C5C50A4EA}"/>
          </ac:graphicFrameMkLst>
        </pc:graphicFrameChg>
      </pc:sldChg>
      <pc:sldChg chg="modSp add mod ord">
        <pc:chgData name="Pramod Naik" userId="ceb6df04-ef15-4d9b-a141-998a03559d75" providerId="ADAL" clId="{8D8496C7-5C44-4372-99BE-D015FA3DC895}" dt="2025-07-13T17:02:46.998" v="639" actId="20577"/>
        <pc:sldMkLst>
          <pc:docMk/>
          <pc:sldMk cId="2346743714" sldId="893"/>
        </pc:sldMkLst>
        <pc:spChg chg="mod">
          <ac:chgData name="Pramod Naik" userId="ceb6df04-ef15-4d9b-a141-998a03559d75" providerId="ADAL" clId="{8D8496C7-5C44-4372-99BE-D015FA3DC895}" dt="2025-07-13T17:02:46.998" v="639" actId="20577"/>
          <ac:spMkLst>
            <pc:docMk/>
            <pc:sldMk cId="2346743714" sldId="893"/>
            <ac:spMk id="3" creationId="{C3455B90-D1A8-A3B5-7484-0FACBF89CCD0}"/>
          </ac:spMkLst>
        </pc:spChg>
      </pc:sldChg>
      <pc:sldChg chg="addSp modSp add mod ord">
        <pc:chgData name="Pramod Naik" userId="ceb6df04-ef15-4d9b-a141-998a03559d75" providerId="ADAL" clId="{8D8496C7-5C44-4372-99BE-D015FA3DC895}" dt="2025-07-13T18:44:45.932" v="1102" actId="404"/>
        <pc:sldMkLst>
          <pc:docMk/>
          <pc:sldMk cId="3470635879" sldId="894"/>
        </pc:sldMkLst>
        <pc:spChg chg="add">
          <ac:chgData name="Pramod Naik" userId="ceb6df04-ef15-4d9b-a141-998a03559d75" providerId="ADAL" clId="{8D8496C7-5C44-4372-99BE-D015FA3DC895}" dt="2025-07-13T17:04:20.903" v="653"/>
          <ac:spMkLst>
            <pc:docMk/>
            <pc:sldMk cId="3470635879" sldId="894"/>
            <ac:spMk id="2" creationId="{D3E26C5B-27A5-2468-EC17-86C28A9496E0}"/>
          </ac:spMkLst>
        </pc:spChg>
        <pc:spChg chg="mod">
          <ac:chgData name="Pramod Naik" userId="ceb6df04-ef15-4d9b-a141-998a03559d75" providerId="ADAL" clId="{8D8496C7-5C44-4372-99BE-D015FA3DC895}" dt="2025-07-13T18:44:45.932" v="1102" actId="404"/>
          <ac:spMkLst>
            <pc:docMk/>
            <pc:sldMk cId="3470635879" sldId="894"/>
            <ac:spMk id="3" creationId="{E2522F04-6478-7595-C583-0822621CAF22}"/>
          </ac:spMkLst>
        </pc:spChg>
      </pc:sldChg>
      <pc:sldChg chg="addSp modSp add mod">
        <pc:chgData name="Pramod Naik" userId="ceb6df04-ef15-4d9b-a141-998a03559d75" providerId="ADAL" clId="{8D8496C7-5C44-4372-99BE-D015FA3DC895}" dt="2025-07-13T17:14:13.869" v="737" actId="20577"/>
        <pc:sldMkLst>
          <pc:docMk/>
          <pc:sldMk cId="1190414194" sldId="895"/>
        </pc:sldMkLst>
        <pc:spChg chg="mod">
          <ac:chgData name="Pramod Naik" userId="ceb6df04-ef15-4d9b-a141-998a03559d75" providerId="ADAL" clId="{8D8496C7-5C44-4372-99BE-D015FA3DC895}" dt="2025-07-13T17:14:13.869" v="737" actId="20577"/>
          <ac:spMkLst>
            <pc:docMk/>
            <pc:sldMk cId="1190414194" sldId="895"/>
            <ac:spMk id="3" creationId="{1215E217-4BC9-5F67-54E4-447E7F1828D7}"/>
          </ac:spMkLst>
        </pc:spChg>
        <pc:picChg chg="add mod">
          <ac:chgData name="Pramod Naik" userId="ceb6df04-ef15-4d9b-a141-998a03559d75" providerId="ADAL" clId="{8D8496C7-5C44-4372-99BE-D015FA3DC895}" dt="2025-07-13T17:13:40.932" v="731" actId="1076"/>
          <ac:picMkLst>
            <pc:docMk/>
            <pc:sldMk cId="1190414194" sldId="895"/>
            <ac:picMk id="4" creationId="{338AFAEB-857A-0AA4-52F9-012AE02145C4}"/>
          </ac:picMkLst>
        </pc:picChg>
      </pc:sldChg>
      <pc:sldChg chg="addSp modSp add mod ord">
        <pc:chgData name="Pramod Naik" userId="ceb6df04-ef15-4d9b-a141-998a03559d75" providerId="ADAL" clId="{8D8496C7-5C44-4372-99BE-D015FA3DC895}" dt="2025-07-13T17:15:00.948" v="766" actId="403"/>
        <pc:sldMkLst>
          <pc:docMk/>
          <pc:sldMk cId="4214892090" sldId="896"/>
        </pc:sldMkLst>
        <pc:spChg chg="mod">
          <ac:chgData name="Pramod Naik" userId="ceb6df04-ef15-4d9b-a141-998a03559d75" providerId="ADAL" clId="{8D8496C7-5C44-4372-99BE-D015FA3DC895}" dt="2025-07-13T17:15:00.948" v="766" actId="403"/>
          <ac:spMkLst>
            <pc:docMk/>
            <pc:sldMk cId="4214892090" sldId="896"/>
            <ac:spMk id="3" creationId="{5F3CFCE9-3859-61CE-C6F4-E66536939C30}"/>
          </ac:spMkLst>
        </pc:spChg>
        <pc:graphicFrameChg chg="add mod modGraphic">
          <ac:chgData name="Pramod Naik" userId="ceb6df04-ef15-4d9b-a141-998a03559d75" providerId="ADAL" clId="{8D8496C7-5C44-4372-99BE-D015FA3DC895}" dt="2025-07-13T17:14:47.456" v="756" actId="404"/>
          <ac:graphicFrameMkLst>
            <pc:docMk/>
            <pc:sldMk cId="4214892090" sldId="896"/>
            <ac:graphicFrameMk id="2" creationId="{4CC7328B-3069-91EF-00E8-D0E8AC6EE010}"/>
          </ac:graphicFrameMkLst>
        </pc:graphicFrameChg>
      </pc:sldChg>
      <pc:sldChg chg="modSp add mod ord">
        <pc:chgData name="Pramod Naik" userId="ceb6df04-ef15-4d9b-a141-998a03559d75" providerId="ADAL" clId="{8D8496C7-5C44-4372-99BE-D015FA3DC895}" dt="2025-07-13T17:16:55.588" v="790" actId="207"/>
        <pc:sldMkLst>
          <pc:docMk/>
          <pc:sldMk cId="222204287" sldId="897"/>
        </pc:sldMkLst>
        <pc:spChg chg="mod">
          <ac:chgData name="Pramod Naik" userId="ceb6df04-ef15-4d9b-a141-998a03559d75" providerId="ADAL" clId="{8D8496C7-5C44-4372-99BE-D015FA3DC895}" dt="2025-07-13T17:16:55.588" v="790" actId="207"/>
          <ac:spMkLst>
            <pc:docMk/>
            <pc:sldMk cId="222204287" sldId="897"/>
            <ac:spMk id="3" creationId="{78AC39DC-DA38-F60D-2CA3-F89897E433E4}"/>
          </ac:spMkLst>
        </pc:spChg>
      </pc:sldChg>
      <pc:sldChg chg="addSp modSp add mod">
        <pc:chgData name="Pramod Naik" userId="ceb6df04-ef15-4d9b-a141-998a03559d75" providerId="ADAL" clId="{8D8496C7-5C44-4372-99BE-D015FA3DC895}" dt="2025-07-13T17:55:54.656" v="938" actId="14100"/>
        <pc:sldMkLst>
          <pc:docMk/>
          <pc:sldMk cId="854932922" sldId="898"/>
        </pc:sldMkLst>
        <pc:spChg chg="add">
          <ac:chgData name="Pramod Naik" userId="ceb6df04-ef15-4d9b-a141-998a03559d75" providerId="ADAL" clId="{8D8496C7-5C44-4372-99BE-D015FA3DC895}" dt="2025-07-13T17:53:47.721" v="920"/>
          <ac:spMkLst>
            <pc:docMk/>
            <pc:sldMk cId="854932922" sldId="898"/>
            <ac:spMk id="2" creationId="{5EB70DE6-E71A-67A4-7135-20BB14F2F138}"/>
          </ac:spMkLst>
        </pc:spChg>
        <pc:spChg chg="mod">
          <ac:chgData name="Pramod Naik" userId="ceb6df04-ef15-4d9b-a141-998a03559d75" providerId="ADAL" clId="{8D8496C7-5C44-4372-99BE-D015FA3DC895}" dt="2025-07-13T17:55:54.656" v="938" actId="14100"/>
          <ac:spMkLst>
            <pc:docMk/>
            <pc:sldMk cId="854932922" sldId="898"/>
            <ac:spMk id="3" creationId="{DA0B2AD2-5232-10AF-6E18-7F7FD64F2094}"/>
          </ac:spMkLst>
        </pc:spChg>
      </pc:sldChg>
      <pc:sldChg chg="modSp add del mod ord">
        <pc:chgData name="Pramod Naik" userId="ceb6df04-ef15-4d9b-a141-998a03559d75" providerId="ADAL" clId="{8D8496C7-5C44-4372-99BE-D015FA3DC895}" dt="2025-07-13T17:28:24.062" v="918" actId="2696"/>
        <pc:sldMkLst>
          <pc:docMk/>
          <pc:sldMk cId="2644376933" sldId="898"/>
        </pc:sldMkLst>
        <pc:spChg chg="mod">
          <ac:chgData name="Pramod Naik" userId="ceb6df04-ef15-4d9b-a141-998a03559d75" providerId="ADAL" clId="{8D8496C7-5C44-4372-99BE-D015FA3DC895}" dt="2025-07-13T17:28:22.591" v="917" actId="20577"/>
          <ac:spMkLst>
            <pc:docMk/>
            <pc:sldMk cId="2644376933" sldId="898"/>
            <ac:spMk id="3" creationId="{DA0B2AD2-5232-10AF-6E18-7F7FD64F2094}"/>
          </ac:spMkLst>
        </pc:spChg>
      </pc:sldChg>
      <pc:sldChg chg="add">
        <pc:chgData name="Pramod Naik" userId="ceb6df04-ef15-4d9b-a141-998a03559d75" providerId="ADAL" clId="{8D8496C7-5C44-4372-99BE-D015FA3DC895}" dt="2025-07-13T15:51:17.562" v="452"/>
        <pc:sldMkLst>
          <pc:docMk/>
          <pc:sldMk cId="1000350292" sldId="899"/>
        </pc:sldMkLst>
      </pc:sldChg>
      <pc:sldChg chg="add">
        <pc:chgData name="Pramod Naik" userId="ceb6df04-ef15-4d9b-a141-998a03559d75" providerId="ADAL" clId="{8D8496C7-5C44-4372-99BE-D015FA3DC895}" dt="2025-07-13T17:15:09.781" v="769"/>
        <pc:sldMkLst>
          <pc:docMk/>
          <pc:sldMk cId="2198157093" sldId="900"/>
        </pc:sldMkLst>
      </pc:sldChg>
      <pc:sldChg chg="add">
        <pc:chgData name="Pramod Naik" userId="ceb6df04-ef15-4d9b-a141-998a03559d75" providerId="ADAL" clId="{8D8496C7-5C44-4372-99BE-D015FA3DC895}" dt="2025-07-13T17:15:09.946" v="770"/>
        <pc:sldMkLst>
          <pc:docMk/>
          <pc:sldMk cId="91788410" sldId="901"/>
        </pc:sldMkLst>
      </pc:sldChg>
      <pc:sldChg chg="add">
        <pc:chgData name="Pramod Naik" userId="ceb6df04-ef15-4d9b-a141-998a03559d75" providerId="ADAL" clId="{8D8496C7-5C44-4372-99BE-D015FA3DC895}" dt="2025-07-13T17:15:10.110" v="771"/>
        <pc:sldMkLst>
          <pc:docMk/>
          <pc:sldMk cId="3134277368" sldId="902"/>
        </pc:sldMkLst>
      </pc:sldChg>
      <pc:sldChg chg="add">
        <pc:chgData name="Pramod Naik" userId="ceb6df04-ef15-4d9b-a141-998a03559d75" providerId="ADAL" clId="{8D8496C7-5C44-4372-99BE-D015FA3DC895}" dt="2025-07-13T17:15:10.255" v="772"/>
        <pc:sldMkLst>
          <pc:docMk/>
          <pc:sldMk cId="1213493839" sldId="903"/>
        </pc:sldMkLst>
      </pc:sldChg>
      <pc:sldChg chg="add">
        <pc:chgData name="Pramod Naik" userId="ceb6df04-ef15-4d9b-a141-998a03559d75" providerId="ADAL" clId="{8D8496C7-5C44-4372-99BE-D015FA3DC895}" dt="2025-07-13T17:15:10.395" v="773"/>
        <pc:sldMkLst>
          <pc:docMk/>
          <pc:sldMk cId="3928362473" sldId="904"/>
        </pc:sldMkLst>
      </pc:sldChg>
      <pc:sldChg chg="addSp modSp add mod">
        <pc:chgData name="Pramod Naik" userId="ceb6df04-ef15-4d9b-a141-998a03559d75" providerId="ADAL" clId="{8D8496C7-5C44-4372-99BE-D015FA3DC895}" dt="2025-07-13T18:25:35.983" v="999" actId="313"/>
        <pc:sldMkLst>
          <pc:docMk/>
          <pc:sldMk cId="3151660467" sldId="905"/>
        </pc:sldMkLst>
        <pc:spChg chg="mod">
          <ac:chgData name="Pramod Naik" userId="ceb6df04-ef15-4d9b-a141-998a03559d75" providerId="ADAL" clId="{8D8496C7-5C44-4372-99BE-D015FA3DC895}" dt="2025-07-13T17:58:34.177" v="951" actId="403"/>
          <ac:spMkLst>
            <pc:docMk/>
            <pc:sldMk cId="3151660467" sldId="905"/>
            <ac:spMk id="3" creationId="{3B216382-05B1-1C4C-C43A-634ADB8BBA90}"/>
          </ac:spMkLst>
        </pc:spChg>
        <pc:graphicFrameChg chg="add mod modGraphic">
          <ac:chgData name="Pramod Naik" userId="ceb6df04-ef15-4d9b-a141-998a03559d75" providerId="ADAL" clId="{8D8496C7-5C44-4372-99BE-D015FA3DC895}" dt="2025-07-13T18:25:35.983" v="999" actId="313"/>
          <ac:graphicFrameMkLst>
            <pc:docMk/>
            <pc:sldMk cId="3151660467" sldId="905"/>
            <ac:graphicFrameMk id="2" creationId="{C6554662-5AE0-D4C1-1B94-A1F7B9DAD466}"/>
          </ac:graphicFrameMkLst>
        </pc:graphicFrameChg>
      </pc:sldChg>
      <pc:sldChg chg="modSp add mod">
        <pc:chgData name="Pramod Naik" userId="ceb6df04-ef15-4d9b-a141-998a03559d75" providerId="ADAL" clId="{8D8496C7-5C44-4372-99BE-D015FA3DC895}" dt="2025-07-13T18:27:06.171" v="1003" actId="20577"/>
        <pc:sldMkLst>
          <pc:docMk/>
          <pc:sldMk cId="2721235014" sldId="906"/>
        </pc:sldMkLst>
        <pc:spChg chg="mod">
          <ac:chgData name="Pramod Naik" userId="ceb6df04-ef15-4d9b-a141-998a03559d75" providerId="ADAL" clId="{8D8496C7-5C44-4372-99BE-D015FA3DC895}" dt="2025-07-13T18:27:06.171" v="1003" actId="20577"/>
          <ac:spMkLst>
            <pc:docMk/>
            <pc:sldMk cId="2721235014" sldId="906"/>
            <ac:spMk id="3" creationId="{679060EB-682A-D3EE-F7A4-02216EE54687}"/>
          </ac:spMkLst>
        </pc:spChg>
      </pc:sldChg>
      <pc:sldChg chg="addSp modSp add mod">
        <pc:chgData name="Pramod Naik" userId="ceb6df04-ef15-4d9b-a141-998a03559d75" providerId="ADAL" clId="{8D8496C7-5C44-4372-99BE-D015FA3DC895}" dt="2025-07-13T18:23:51.906" v="988" actId="14734"/>
        <pc:sldMkLst>
          <pc:docMk/>
          <pc:sldMk cId="841880404" sldId="907"/>
        </pc:sldMkLst>
        <pc:spChg chg="mod">
          <ac:chgData name="Pramod Naik" userId="ceb6df04-ef15-4d9b-a141-998a03559d75" providerId="ADAL" clId="{8D8496C7-5C44-4372-99BE-D015FA3DC895}" dt="2025-07-13T18:23:38.529" v="979" actId="5793"/>
          <ac:spMkLst>
            <pc:docMk/>
            <pc:sldMk cId="841880404" sldId="907"/>
            <ac:spMk id="3" creationId="{0A795D0A-1AE1-F500-F0FE-4C7823D962F3}"/>
          </ac:spMkLst>
        </pc:spChg>
        <pc:graphicFrameChg chg="add mod modGraphic">
          <ac:chgData name="Pramod Naik" userId="ceb6df04-ef15-4d9b-a141-998a03559d75" providerId="ADAL" clId="{8D8496C7-5C44-4372-99BE-D015FA3DC895}" dt="2025-07-13T18:23:51.906" v="988" actId="14734"/>
          <ac:graphicFrameMkLst>
            <pc:docMk/>
            <pc:sldMk cId="841880404" sldId="907"/>
            <ac:graphicFrameMk id="2" creationId="{190B3BE7-4D5C-123A-4FC7-DA9EB06B2A94}"/>
          </ac:graphicFrameMkLst>
        </pc:graphicFrameChg>
      </pc:sldChg>
      <pc:sldChg chg="modSp add mod">
        <pc:chgData name="Pramod Naik" userId="ceb6df04-ef15-4d9b-a141-998a03559d75" providerId="ADAL" clId="{8D8496C7-5C44-4372-99BE-D015FA3DC895}" dt="2025-07-13T18:27:56.158" v="1035" actId="20577"/>
        <pc:sldMkLst>
          <pc:docMk/>
          <pc:sldMk cId="2247106831" sldId="908"/>
        </pc:sldMkLst>
        <pc:spChg chg="mod">
          <ac:chgData name="Pramod Naik" userId="ceb6df04-ef15-4d9b-a141-998a03559d75" providerId="ADAL" clId="{8D8496C7-5C44-4372-99BE-D015FA3DC895}" dt="2025-07-13T18:27:56.158" v="1035" actId="20577"/>
          <ac:spMkLst>
            <pc:docMk/>
            <pc:sldMk cId="2247106831" sldId="908"/>
            <ac:spMk id="3" creationId="{8C24D3AD-F621-75A3-AF7B-E7979E7F1B11}"/>
          </ac:spMkLst>
        </pc:spChg>
      </pc:sldChg>
      <pc:sldChg chg="modSp add mod">
        <pc:chgData name="Pramod Naik" userId="ceb6df04-ef15-4d9b-a141-998a03559d75" providerId="ADAL" clId="{8D8496C7-5C44-4372-99BE-D015FA3DC895}" dt="2025-07-13T18:30:08.421" v="1068" actId="207"/>
        <pc:sldMkLst>
          <pc:docMk/>
          <pc:sldMk cId="2195872947" sldId="909"/>
        </pc:sldMkLst>
        <pc:spChg chg="mod">
          <ac:chgData name="Pramod Naik" userId="ceb6df04-ef15-4d9b-a141-998a03559d75" providerId="ADAL" clId="{8D8496C7-5C44-4372-99BE-D015FA3DC895}" dt="2025-07-13T18:30:08.421" v="1068" actId="207"/>
          <ac:spMkLst>
            <pc:docMk/>
            <pc:sldMk cId="2195872947" sldId="909"/>
            <ac:spMk id="3" creationId="{580BEAC5-A94E-9BED-7238-D92582D165F0}"/>
          </ac:spMkLst>
        </pc:spChg>
      </pc:sldChg>
      <pc:sldChg chg="addSp modSp add mod">
        <pc:chgData name="Pramod Naik" userId="ceb6df04-ef15-4d9b-a141-998a03559d75" providerId="ADAL" clId="{8D8496C7-5C44-4372-99BE-D015FA3DC895}" dt="2025-07-13T18:35:12.353" v="1090" actId="403"/>
        <pc:sldMkLst>
          <pc:docMk/>
          <pc:sldMk cId="1278631954" sldId="910"/>
        </pc:sldMkLst>
        <pc:spChg chg="mod">
          <ac:chgData name="Pramod Naik" userId="ceb6df04-ef15-4d9b-a141-998a03559d75" providerId="ADAL" clId="{8D8496C7-5C44-4372-99BE-D015FA3DC895}" dt="2025-07-13T18:35:12.353" v="1090" actId="403"/>
          <ac:spMkLst>
            <pc:docMk/>
            <pc:sldMk cId="1278631954" sldId="910"/>
            <ac:spMk id="3" creationId="{123C7D65-EB9F-3957-9428-57A858884EAD}"/>
          </ac:spMkLst>
        </pc:spChg>
        <pc:graphicFrameChg chg="add mod">
          <ac:chgData name="Pramod Naik" userId="ceb6df04-ef15-4d9b-a141-998a03559d75" providerId="ADAL" clId="{8D8496C7-5C44-4372-99BE-D015FA3DC895}" dt="2025-07-13T18:30:53.396" v="1070"/>
          <ac:graphicFrameMkLst>
            <pc:docMk/>
            <pc:sldMk cId="1278631954" sldId="910"/>
            <ac:graphicFrameMk id="2" creationId="{050EC438-C30A-3E8C-FE7C-E3140DA35EF9}"/>
          </ac:graphicFrameMkLst>
        </pc:graphicFrameChg>
        <pc:graphicFrameChg chg="add mod modGraphic">
          <ac:chgData name="Pramod Naik" userId="ceb6df04-ef15-4d9b-a141-998a03559d75" providerId="ADAL" clId="{8D8496C7-5C44-4372-99BE-D015FA3DC895}" dt="2025-07-13T18:34:59.467" v="1089" actId="14734"/>
          <ac:graphicFrameMkLst>
            <pc:docMk/>
            <pc:sldMk cId="1278631954" sldId="910"/>
            <ac:graphicFrameMk id="4" creationId="{561F74AF-5CC1-BAEB-C328-0C2DD2DB2777}"/>
          </ac:graphicFrameMkLst>
        </pc:graphicFrame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058BF-C5E1-4B52-BD8A-FD1AD5779347}"/>
              </a:ext>
            </a:extLst>
          </p:cNvPr>
          <p:cNvSpPr>
            <a:spLocks noGrp="1"/>
          </p:cNvSpPr>
          <p:nvPr>
            <p:ph type="ctrTitle"/>
          </p:nvPr>
        </p:nvSpPr>
        <p:spPr>
          <a:xfrm>
            <a:off x="1524000" y="1122363"/>
            <a:ext cx="9144000" cy="2387600"/>
          </a:xfrm>
        </p:spPr>
        <p:txBody>
          <a:bodyPr anchor="b"/>
          <a:lstStyle>
            <a:lvl1pPr algn="ctr">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DFCD51F7-3CC3-4BB7-8291-B1789482E86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FD320447-D6C7-43E1-AE88-1FB66CC9C55E}"/>
              </a:ext>
            </a:extLst>
          </p:cNvPr>
          <p:cNvSpPr>
            <a:spLocks noGrp="1"/>
          </p:cNvSpPr>
          <p:nvPr>
            <p:ph type="dt" sz="half" idx="10"/>
          </p:nvPr>
        </p:nvSpPr>
        <p:spPr/>
        <p:txBody>
          <a:bodyPr/>
          <a:lstStyle/>
          <a:p>
            <a:fld id="{050FF069-687C-4110-9C8F-B52BF36C2535}" type="datetimeFigureOut">
              <a:rPr lang="en-IN" smtClean="0"/>
              <a:t>13-07-2025</a:t>
            </a:fld>
            <a:endParaRPr lang="en-IN"/>
          </a:p>
        </p:txBody>
      </p:sp>
      <p:sp>
        <p:nvSpPr>
          <p:cNvPr id="5" name="Footer Placeholder 4">
            <a:extLst>
              <a:ext uri="{FF2B5EF4-FFF2-40B4-BE49-F238E27FC236}">
                <a16:creationId xmlns:a16="http://schemas.microsoft.com/office/drawing/2014/main" id="{6F5E17B6-E7FC-473A-8D5F-0E6B838EA75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64AF4E0-FDDB-42B9-862C-7BBC501CDAC5}"/>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7152999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1736C8-0B4F-4655-A630-0B1D2540B7D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378B888-85E0-4D92-903E-C3FE7E870DE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C648916-250B-4232-BD7D-571FDE79F5E7}"/>
              </a:ext>
            </a:extLst>
          </p:cNvPr>
          <p:cNvSpPr>
            <a:spLocks noGrp="1"/>
          </p:cNvSpPr>
          <p:nvPr>
            <p:ph type="dt" sz="half" idx="10"/>
          </p:nvPr>
        </p:nvSpPr>
        <p:spPr/>
        <p:txBody>
          <a:bodyPr/>
          <a:lstStyle/>
          <a:p>
            <a:fld id="{050FF069-687C-4110-9C8F-B52BF36C2535}" type="datetimeFigureOut">
              <a:rPr lang="en-IN" smtClean="0"/>
              <a:t>13-07-2025</a:t>
            </a:fld>
            <a:endParaRPr lang="en-IN"/>
          </a:p>
        </p:txBody>
      </p:sp>
      <p:sp>
        <p:nvSpPr>
          <p:cNvPr id="5" name="Footer Placeholder 4">
            <a:extLst>
              <a:ext uri="{FF2B5EF4-FFF2-40B4-BE49-F238E27FC236}">
                <a16:creationId xmlns:a16="http://schemas.microsoft.com/office/drawing/2014/main" id="{B6A8BFB4-647C-4104-B6D4-3346051C36D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E0FA73F-2BE8-4370-AE90-58F4CE51FC51}"/>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9207054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B1446D-9FAC-4157-A41A-51675C8BE929}"/>
              </a:ext>
            </a:extLst>
          </p:cNvPr>
          <p:cNvSpPr>
            <a:spLocks noGrp="1"/>
          </p:cNvSpPr>
          <p:nvPr>
            <p:ph type="title"/>
          </p:nvPr>
        </p:nvSpPr>
        <p:spPr>
          <a:xfrm>
            <a:off x="777240" y="1709738"/>
            <a:ext cx="10570210" cy="2758895"/>
          </a:xfrm>
        </p:spPr>
        <p:txBody>
          <a:bodyPr anchor="b">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2AF8D4A-8F93-4399-9546-64F286400D24}"/>
              </a:ext>
            </a:extLst>
          </p:cNvPr>
          <p:cNvSpPr>
            <a:spLocks noGrp="1"/>
          </p:cNvSpPr>
          <p:nvPr>
            <p:ph type="body" idx="1"/>
          </p:nvPr>
        </p:nvSpPr>
        <p:spPr>
          <a:xfrm>
            <a:off x="777240" y="4589463"/>
            <a:ext cx="10570210" cy="1500187"/>
          </a:xfrm>
        </p:spPr>
        <p:txBody>
          <a:bodyPr/>
          <a:lstStyle>
            <a:lvl1pPr marL="0" indent="0">
              <a:buNone/>
              <a:defRPr sz="2400">
                <a:solidFill>
                  <a:schemeClr val="tx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19C2FD4-BF96-470C-8247-20DFAE1CF870}"/>
              </a:ext>
            </a:extLst>
          </p:cNvPr>
          <p:cNvSpPr>
            <a:spLocks noGrp="1"/>
          </p:cNvSpPr>
          <p:nvPr>
            <p:ph type="dt" sz="half" idx="10"/>
          </p:nvPr>
        </p:nvSpPr>
        <p:spPr/>
        <p:txBody>
          <a:bodyPr/>
          <a:lstStyle/>
          <a:p>
            <a:fld id="{050FF069-687C-4110-9C8F-B52BF36C2535}" type="datetimeFigureOut">
              <a:rPr lang="en-IN" smtClean="0"/>
              <a:t>13-07-2025</a:t>
            </a:fld>
            <a:endParaRPr lang="en-IN"/>
          </a:p>
        </p:txBody>
      </p:sp>
      <p:sp>
        <p:nvSpPr>
          <p:cNvPr id="5" name="Footer Placeholder 4">
            <a:extLst>
              <a:ext uri="{FF2B5EF4-FFF2-40B4-BE49-F238E27FC236}">
                <a16:creationId xmlns:a16="http://schemas.microsoft.com/office/drawing/2014/main" id="{27175A2D-86C4-4467-BAB8-E9ED004D2C8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E442A4D-D9B2-4C82-95E4-B86F9F5F3802}"/>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3957738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6B3AA-8C30-429E-B934-AF12204387B9}"/>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915834E-691F-4728-88F5-A0C4696695EB}"/>
              </a:ext>
            </a:extLst>
          </p:cNvPr>
          <p:cNvSpPr>
            <a:spLocks noGrp="1"/>
          </p:cNvSpPr>
          <p:nvPr>
            <p:ph sz="half" idx="1"/>
          </p:nvPr>
        </p:nvSpPr>
        <p:spPr>
          <a:xfrm>
            <a:off x="777240" y="1825625"/>
            <a:ext cx="524256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13876374-880F-4E25-9F88-79E3C1AB1F9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119BD69-B509-4FCE-95A8-ED03FFC8CC3C}"/>
              </a:ext>
            </a:extLst>
          </p:cNvPr>
          <p:cNvSpPr>
            <a:spLocks noGrp="1"/>
          </p:cNvSpPr>
          <p:nvPr>
            <p:ph type="dt" sz="half" idx="10"/>
          </p:nvPr>
        </p:nvSpPr>
        <p:spPr/>
        <p:txBody>
          <a:bodyPr/>
          <a:lstStyle/>
          <a:p>
            <a:fld id="{050FF069-687C-4110-9C8F-B52BF36C2535}" type="datetimeFigureOut">
              <a:rPr lang="en-IN" smtClean="0"/>
              <a:t>13-07-2025</a:t>
            </a:fld>
            <a:endParaRPr lang="en-IN"/>
          </a:p>
        </p:txBody>
      </p:sp>
      <p:sp>
        <p:nvSpPr>
          <p:cNvPr id="6" name="Footer Placeholder 5">
            <a:extLst>
              <a:ext uri="{FF2B5EF4-FFF2-40B4-BE49-F238E27FC236}">
                <a16:creationId xmlns:a16="http://schemas.microsoft.com/office/drawing/2014/main" id="{DB7C287B-AE5B-490B-BF81-A50D7A2E872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B43C2246-303C-4A29-B6EA-E62CEDE6C2A1}"/>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42239832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42FE79-D5BE-43E8-B6C5-2675B7F4D818}"/>
              </a:ext>
            </a:extLst>
          </p:cNvPr>
          <p:cNvSpPr>
            <a:spLocks noGrp="1"/>
          </p:cNvSpPr>
          <p:nvPr>
            <p:ph type="title"/>
          </p:nvPr>
        </p:nvSpPr>
        <p:spPr>
          <a:xfrm>
            <a:off x="777240" y="365125"/>
            <a:ext cx="10578148" cy="1325563"/>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F69D3A07-BA51-4113-902E-830A887D2394}"/>
              </a:ext>
            </a:extLst>
          </p:cNvPr>
          <p:cNvSpPr>
            <a:spLocks noGrp="1"/>
          </p:cNvSpPr>
          <p:nvPr>
            <p:ph type="body" idx="1"/>
          </p:nvPr>
        </p:nvSpPr>
        <p:spPr>
          <a:xfrm>
            <a:off x="777240" y="1801812"/>
            <a:ext cx="5220335" cy="935037"/>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8E320A9-E274-4E1B-B02D-9A3F510A1F22}"/>
              </a:ext>
            </a:extLst>
          </p:cNvPr>
          <p:cNvSpPr>
            <a:spLocks noGrp="1"/>
          </p:cNvSpPr>
          <p:nvPr>
            <p:ph sz="half" idx="2"/>
          </p:nvPr>
        </p:nvSpPr>
        <p:spPr>
          <a:xfrm>
            <a:off x="777240" y="2825749"/>
            <a:ext cx="5220335" cy="33639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DBE80D3A-C2A8-4B78-B7E2-4908C74B1C43}"/>
              </a:ext>
            </a:extLst>
          </p:cNvPr>
          <p:cNvSpPr>
            <a:spLocks noGrp="1"/>
          </p:cNvSpPr>
          <p:nvPr>
            <p:ph type="body" sz="quarter" idx="3"/>
          </p:nvPr>
        </p:nvSpPr>
        <p:spPr>
          <a:xfrm>
            <a:off x="6172200" y="1801812"/>
            <a:ext cx="5183188" cy="935037"/>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C5D84DD-9460-4B08-86AD-27486A940047}"/>
              </a:ext>
            </a:extLst>
          </p:cNvPr>
          <p:cNvSpPr>
            <a:spLocks noGrp="1"/>
          </p:cNvSpPr>
          <p:nvPr>
            <p:ph sz="quarter" idx="4"/>
          </p:nvPr>
        </p:nvSpPr>
        <p:spPr>
          <a:xfrm>
            <a:off x="6172200" y="2825749"/>
            <a:ext cx="5183188" cy="33639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4B0B7F8-282C-4210-AE7D-F35228BAC803}"/>
              </a:ext>
            </a:extLst>
          </p:cNvPr>
          <p:cNvSpPr>
            <a:spLocks noGrp="1"/>
          </p:cNvSpPr>
          <p:nvPr>
            <p:ph type="dt" sz="half" idx="10"/>
          </p:nvPr>
        </p:nvSpPr>
        <p:spPr/>
        <p:txBody>
          <a:bodyPr/>
          <a:lstStyle/>
          <a:p>
            <a:fld id="{050FF069-687C-4110-9C8F-B52BF36C2535}" type="datetimeFigureOut">
              <a:rPr lang="en-IN" smtClean="0"/>
              <a:t>13-07-2025</a:t>
            </a:fld>
            <a:endParaRPr lang="en-IN"/>
          </a:p>
        </p:txBody>
      </p:sp>
      <p:sp>
        <p:nvSpPr>
          <p:cNvPr id="8" name="Footer Placeholder 7">
            <a:extLst>
              <a:ext uri="{FF2B5EF4-FFF2-40B4-BE49-F238E27FC236}">
                <a16:creationId xmlns:a16="http://schemas.microsoft.com/office/drawing/2014/main" id="{FAE343A9-1067-4DCF-BACC-1F7F38050226}"/>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0F84E471-04DB-4DB5-8CC5-16B3FC88509D}"/>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20244753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6D87C0-272E-4E50-A316-78079B2B923E}"/>
              </a:ext>
            </a:extLst>
          </p:cNvPr>
          <p:cNvSpPr>
            <a:spLocks noGrp="1"/>
          </p:cNvSpPr>
          <p:nvPr>
            <p:ph type="title"/>
          </p:nvPr>
        </p:nvSpPr>
        <p:spPr>
          <a:xfrm>
            <a:off x="777240" y="365125"/>
            <a:ext cx="10659110" cy="1325563"/>
          </a:xfrm>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F906C1C9-1F69-432A-858C-D828B56E1659}"/>
              </a:ext>
            </a:extLst>
          </p:cNvPr>
          <p:cNvSpPr>
            <a:spLocks noGrp="1"/>
          </p:cNvSpPr>
          <p:nvPr>
            <p:ph type="dt" sz="half" idx="10"/>
          </p:nvPr>
        </p:nvSpPr>
        <p:spPr/>
        <p:txBody>
          <a:bodyPr/>
          <a:lstStyle/>
          <a:p>
            <a:fld id="{050FF069-687C-4110-9C8F-B52BF36C2535}" type="datetimeFigureOut">
              <a:rPr lang="en-IN" smtClean="0"/>
              <a:t>13-07-2025</a:t>
            </a:fld>
            <a:endParaRPr lang="en-IN"/>
          </a:p>
        </p:txBody>
      </p:sp>
      <p:sp>
        <p:nvSpPr>
          <p:cNvPr id="4" name="Footer Placeholder 3">
            <a:extLst>
              <a:ext uri="{FF2B5EF4-FFF2-40B4-BE49-F238E27FC236}">
                <a16:creationId xmlns:a16="http://schemas.microsoft.com/office/drawing/2014/main" id="{BD6D9A1B-D149-4B97-B161-3D7C9ADBCF78}"/>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7AB3722F-8C88-4E54-8CD6-12D31A05F813}"/>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36472946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0E1B4EE-6DFC-45F3-9174-D913EB57CB9D}"/>
              </a:ext>
            </a:extLst>
          </p:cNvPr>
          <p:cNvSpPr>
            <a:spLocks noGrp="1"/>
          </p:cNvSpPr>
          <p:nvPr>
            <p:ph type="dt" sz="half" idx="10"/>
          </p:nvPr>
        </p:nvSpPr>
        <p:spPr/>
        <p:txBody>
          <a:bodyPr/>
          <a:lstStyle/>
          <a:p>
            <a:fld id="{050FF069-687C-4110-9C8F-B52BF36C2535}" type="datetimeFigureOut">
              <a:rPr lang="en-IN" smtClean="0"/>
              <a:t>13-07-2025</a:t>
            </a:fld>
            <a:endParaRPr lang="en-IN"/>
          </a:p>
        </p:txBody>
      </p:sp>
      <p:sp>
        <p:nvSpPr>
          <p:cNvPr id="3" name="Footer Placeholder 2">
            <a:extLst>
              <a:ext uri="{FF2B5EF4-FFF2-40B4-BE49-F238E27FC236}">
                <a16:creationId xmlns:a16="http://schemas.microsoft.com/office/drawing/2014/main" id="{0BF7F7DC-6DDE-4337-AD27-BBE7D5422483}"/>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CCC58EA9-3AC4-421E-B133-1FA7757DF8BA}"/>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26766520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E035BB-74CC-43E9-B71F-A5C05D17EB78}"/>
              </a:ext>
            </a:extLst>
          </p:cNvPr>
          <p:cNvSpPr>
            <a:spLocks noGrp="1"/>
          </p:cNvSpPr>
          <p:nvPr>
            <p:ph type="title"/>
          </p:nvPr>
        </p:nvSpPr>
        <p:spPr>
          <a:xfrm>
            <a:off x="777240" y="457200"/>
            <a:ext cx="3994785" cy="2501900"/>
          </a:xfrm>
        </p:spPr>
        <p:txBody>
          <a:bodyPr anchor="b">
            <a:normAutofit/>
          </a:bodyPr>
          <a:lstStyle>
            <a:lvl1pPr>
              <a:defRPr sz="40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CAADC9E-7845-4DB1-87E3-6FBFB2B03B8A}"/>
              </a:ext>
            </a:extLst>
          </p:cNvPr>
          <p:cNvSpPr>
            <a:spLocks noGrp="1"/>
          </p:cNvSpPr>
          <p:nvPr>
            <p:ph idx="1"/>
          </p:nvPr>
        </p:nvSpPr>
        <p:spPr>
          <a:xfrm>
            <a:off x="5183188" y="457201"/>
            <a:ext cx="6172200" cy="5403850"/>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75C925A8-2A07-43B9-B549-061F3684986B}"/>
              </a:ext>
            </a:extLst>
          </p:cNvPr>
          <p:cNvSpPr>
            <a:spLocks noGrp="1"/>
          </p:cNvSpPr>
          <p:nvPr>
            <p:ph type="body" sz="half" idx="2"/>
          </p:nvPr>
        </p:nvSpPr>
        <p:spPr>
          <a:xfrm>
            <a:off x="777240" y="3092450"/>
            <a:ext cx="3994785" cy="2776537"/>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31A9037-0564-43A1-8156-1D9932E1F85F}"/>
              </a:ext>
            </a:extLst>
          </p:cNvPr>
          <p:cNvSpPr>
            <a:spLocks noGrp="1"/>
          </p:cNvSpPr>
          <p:nvPr>
            <p:ph type="dt" sz="half" idx="10"/>
          </p:nvPr>
        </p:nvSpPr>
        <p:spPr/>
        <p:txBody>
          <a:bodyPr/>
          <a:lstStyle/>
          <a:p>
            <a:fld id="{050FF069-687C-4110-9C8F-B52BF36C2535}" type="datetimeFigureOut">
              <a:rPr lang="en-IN" smtClean="0"/>
              <a:t>13-07-2025</a:t>
            </a:fld>
            <a:endParaRPr lang="en-IN"/>
          </a:p>
        </p:txBody>
      </p:sp>
      <p:sp>
        <p:nvSpPr>
          <p:cNvPr id="6" name="Footer Placeholder 5">
            <a:extLst>
              <a:ext uri="{FF2B5EF4-FFF2-40B4-BE49-F238E27FC236}">
                <a16:creationId xmlns:a16="http://schemas.microsoft.com/office/drawing/2014/main" id="{CBFF0D40-D0E1-49C9-BE47-91BBC50AB2BE}"/>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C4D129BD-890D-412E-9805-D29F4A0D3622}"/>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13754752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78ADB4-BA7B-42C2-9C6C-58B2763F8617}"/>
              </a:ext>
            </a:extLst>
          </p:cNvPr>
          <p:cNvSpPr>
            <a:spLocks noGrp="1"/>
          </p:cNvSpPr>
          <p:nvPr>
            <p:ph type="title"/>
          </p:nvPr>
        </p:nvSpPr>
        <p:spPr>
          <a:xfrm>
            <a:off x="777240" y="457200"/>
            <a:ext cx="3994785" cy="2505456"/>
          </a:xfrm>
        </p:spPr>
        <p:txBody>
          <a:bodyPr anchor="b"/>
          <a:lstStyle>
            <a:lvl1pPr>
              <a:defRPr sz="40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E9519B58-B546-4E6B-BE00-3D1D64DA8699}"/>
              </a:ext>
            </a:extLst>
          </p:cNvPr>
          <p:cNvSpPr>
            <a:spLocks noGrp="1"/>
          </p:cNvSpPr>
          <p:nvPr>
            <p:ph type="pic" idx="1"/>
          </p:nvPr>
        </p:nvSpPr>
        <p:spPr>
          <a:xfrm>
            <a:off x="5183188" y="457201"/>
            <a:ext cx="6172200" cy="54038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3FAA0AB8-41A9-4548-9B83-3EFF79A00793}"/>
              </a:ext>
            </a:extLst>
          </p:cNvPr>
          <p:cNvSpPr>
            <a:spLocks noGrp="1"/>
          </p:cNvSpPr>
          <p:nvPr>
            <p:ph type="body" sz="half" idx="2"/>
          </p:nvPr>
        </p:nvSpPr>
        <p:spPr>
          <a:xfrm>
            <a:off x="777240" y="3081275"/>
            <a:ext cx="3994785" cy="2779776"/>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3BB33ED-A015-4992-A004-33D41CFFADA1}"/>
              </a:ext>
            </a:extLst>
          </p:cNvPr>
          <p:cNvSpPr>
            <a:spLocks noGrp="1"/>
          </p:cNvSpPr>
          <p:nvPr>
            <p:ph type="dt" sz="half" idx="10"/>
          </p:nvPr>
        </p:nvSpPr>
        <p:spPr/>
        <p:txBody>
          <a:bodyPr/>
          <a:lstStyle/>
          <a:p>
            <a:fld id="{050FF069-687C-4110-9C8F-B52BF36C2535}" type="datetimeFigureOut">
              <a:rPr lang="en-IN" smtClean="0"/>
              <a:t>13-07-2025</a:t>
            </a:fld>
            <a:endParaRPr lang="en-IN"/>
          </a:p>
        </p:txBody>
      </p:sp>
      <p:sp>
        <p:nvSpPr>
          <p:cNvPr id="6" name="Footer Placeholder 5">
            <a:extLst>
              <a:ext uri="{FF2B5EF4-FFF2-40B4-BE49-F238E27FC236}">
                <a16:creationId xmlns:a16="http://schemas.microsoft.com/office/drawing/2014/main" id="{D3C29CDA-E85F-47D1-83B7-02A50DEBFD3F}"/>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1749625F-5352-4136-8AC4-F8899D00A1A9}"/>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20122654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8E922F-6166-4009-A42D-027DC718071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F7791CF-167D-446D-9F99-6976C986E2F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83CA422-E040-4DE1-9DA5-C8D37C116A7B}"/>
              </a:ext>
            </a:extLst>
          </p:cNvPr>
          <p:cNvSpPr>
            <a:spLocks noGrp="1"/>
          </p:cNvSpPr>
          <p:nvPr>
            <p:ph type="dt" sz="half" idx="10"/>
          </p:nvPr>
        </p:nvSpPr>
        <p:spPr/>
        <p:txBody>
          <a:bodyPr/>
          <a:lstStyle/>
          <a:p>
            <a:fld id="{050FF069-687C-4110-9C8F-B52BF36C2535}" type="datetimeFigureOut">
              <a:rPr lang="en-IN" smtClean="0"/>
              <a:t>13-07-2025</a:t>
            </a:fld>
            <a:endParaRPr lang="en-IN"/>
          </a:p>
        </p:txBody>
      </p:sp>
      <p:sp>
        <p:nvSpPr>
          <p:cNvPr id="5" name="Footer Placeholder 4">
            <a:extLst>
              <a:ext uri="{FF2B5EF4-FFF2-40B4-BE49-F238E27FC236}">
                <a16:creationId xmlns:a16="http://schemas.microsoft.com/office/drawing/2014/main" id="{6C813B0B-60E7-494E-91CB-055BC26906B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B48C554-7C1B-4D8F-9B6B-04492656904B}"/>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26175643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EC66EF0-6ED8-49A7-BDAD-E20A143FAEA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0FCE9CD-90A9-44BA-B293-0662E077DD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857DAE0-05C4-460B-B96D-BD183ED030C4}"/>
              </a:ext>
            </a:extLst>
          </p:cNvPr>
          <p:cNvSpPr>
            <a:spLocks noGrp="1"/>
          </p:cNvSpPr>
          <p:nvPr>
            <p:ph type="dt" sz="half" idx="10"/>
          </p:nvPr>
        </p:nvSpPr>
        <p:spPr/>
        <p:txBody>
          <a:bodyPr/>
          <a:lstStyle/>
          <a:p>
            <a:fld id="{050FF069-687C-4110-9C8F-B52BF36C2535}" type="datetimeFigureOut">
              <a:rPr lang="en-IN" smtClean="0"/>
              <a:t>13-07-2025</a:t>
            </a:fld>
            <a:endParaRPr lang="en-IN"/>
          </a:p>
        </p:txBody>
      </p:sp>
      <p:sp>
        <p:nvSpPr>
          <p:cNvPr id="5" name="Footer Placeholder 4">
            <a:extLst>
              <a:ext uri="{FF2B5EF4-FFF2-40B4-BE49-F238E27FC236}">
                <a16:creationId xmlns:a16="http://schemas.microsoft.com/office/drawing/2014/main" id="{33B3CA93-55C9-4AA3-89A0-55490F745B1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6BFD820-FF26-4325-816F-310C30F80ACC}"/>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34480499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useBgFill="1">
        <p:nvSpPr>
          <p:cNvPr id="39" name="Rectangle 38">
            <a:extLst>
              <a:ext uri="{FF2B5EF4-FFF2-40B4-BE49-F238E27FC236}">
                <a16:creationId xmlns:a16="http://schemas.microsoft.com/office/drawing/2014/main" id="{99B5B3C5-A599-465B-B2B9-866E8B2087CE}"/>
              </a:ext>
            </a:extLst>
          </p:cNvPr>
          <p:cNvSpPr/>
          <p:nvPr/>
        </p:nvSpPr>
        <p:spPr>
          <a:xfrm>
            <a:off x="-1" y="-1"/>
            <a:ext cx="12192001"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ectangle 40">
            <a:extLst>
              <a:ext uri="{FF2B5EF4-FFF2-40B4-BE49-F238E27FC236}">
                <a16:creationId xmlns:a16="http://schemas.microsoft.com/office/drawing/2014/main" id="{25C84982-7DD0-43B1-8A2D-BFA4DF1B4E60}"/>
              </a:ext>
            </a:extLst>
          </p:cNvPr>
          <p:cNvSpPr/>
          <p:nvPr/>
        </p:nvSpPr>
        <p:spPr>
          <a:xfrm>
            <a:off x="-1" y="-1"/>
            <a:ext cx="12192001" cy="685800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solidFill>
                <a:schemeClr val="bg1"/>
              </a:solidFill>
              <a:latin typeface="+mj-lt"/>
            </a:endParaRPr>
          </a:p>
        </p:txBody>
      </p:sp>
      <p:grpSp>
        <p:nvGrpSpPr>
          <p:cNvPr id="8" name="Decorative Circles">
            <a:extLst>
              <a:ext uri="{FF2B5EF4-FFF2-40B4-BE49-F238E27FC236}">
                <a16:creationId xmlns:a16="http://schemas.microsoft.com/office/drawing/2014/main" id="{1D912E1C-3BBA-42F0-A3EE-FEC382E7230A}"/>
              </a:ext>
            </a:extLst>
          </p:cNvPr>
          <p:cNvGrpSpPr/>
          <p:nvPr/>
        </p:nvGrpSpPr>
        <p:grpSpPr>
          <a:xfrm>
            <a:off x="-1" y="-1"/>
            <a:ext cx="12192001" cy="6858001"/>
            <a:chOff x="-1" y="-1"/>
            <a:chExt cx="12192001" cy="6858001"/>
          </a:xfrm>
        </p:grpSpPr>
        <p:sp>
          <p:nvSpPr>
            <p:cNvPr id="21" name="Oval 20">
              <a:extLst>
                <a:ext uri="{FF2B5EF4-FFF2-40B4-BE49-F238E27FC236}">
                  <a16:creationId xmlns:a16="http://schemas.microsoft.com/office/drawing/2014/main" id="{2FEEAC76-E273-46A8-8F8E-CE59860FE70D}"/>
                </a:ext>
              </a:extLst>
            </p:cNvPr>
            <p:cNvSpPr/>
            <p:nvPr/>
          </p:nvSpPr>
          <p:spPr>
            <a:xfrm>
              <a:off x="209098" y="727602"/>
              <a:ext cx="172408" cy="172408"/>
            </a:xfrm>
            <a:prstGeom prst="ellipse">
              <a:avLst/>
            </a:prstGeom>
            <a:solidFill>
              <a:schemeClr val="accent2">
                <a:lumMod val="40000"/>
                <a:lumOff val="6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76594A0E-9400-45AD-A431-1DA1C0B28966}"/>
                </a:ext>
              </a:extLst>
            </p:cNvPr>
            <p:cNvSpPr/>
            <p:nvPr/>
          </p:nvSpPr>
          <p:spPr>
            <a:xfrm>
              <a:off x="949947" y="136523"/>
              <a:ext cx="113367" cy="113367"/>
            </a:xfrm>
            <a:prstGeom prst="ellipse">
              <a:avLst/>
            </a:prstGeom>
            <a:solidFill>
              <a:srgbClr val="F39E29">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a:extLst>
                <a:ext uri="{FF2B5EF4-FFF2-40B4-BE49-F238E27FC236}">
                  <a16:creationId xmlns:a16="http://schemas.microsoft.com/office/drawing/2014/main" id="{20916D6C-D32F-42B6-8512-CD5EDB8F2B9B}"/>
                </a:ext>
              </a:extLst>
            </p:cNvPr>
            <p:cNvSpPr/>
            <p:nvPr/>
          </p:nvSpPr>
          <p:spPr>
            <a:xfrm>
              <a:off x="11575290" y="5859047"/>
              <a:ext cx="305780" cy="305780"/>
            </a:xfrm>
            <a:prstGeom prst="ellipse">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3834846D-59C6-40F4-907C-F1A4689B58F1}"/>
                </a:ext>
              </a:extLst>
            </p:cNvPr>
            <p:cNvSpPr/>
            <p:nvPr/>
          </p:nvSpPr>
          <p:spPr>
            <a:xfrm>
              <a:off x="95730" y="1133938"/>
              <a:ext cx="226735" cy="226735"/>
            </a:xfrm>
            <a:prstGeom prst="ellipse">
              <a:avLst/>
            </a:prstGeom>
            <a:solidFill>
              <a:schemeClr val="accent3">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5A257CDF-2E36-4DC7-8EE4-5CD8F8ECAC87}"/>
                </a:ext>
              </a:extLst>
            </p:cNvPr>
            <p:cNvSpPr/>
            <p:nvPr/>
          </p:nvSpPr>
          <p:spPr>
            <a:xfrm>
              <a:off x="11536830" y="554419"/>
              <a:ext cx="382700" cy="382700"/>
            </a:xfrm>
            <a:prstGeom prst="ellipse">
              <a:avLst/>
            </a:prstGeom>
            <a:solidFill>
              <a:schemeClr val="accent2">
                <a:lumMod val="60000"/>
                <a:lumOff val="40000"/>
                <a:alpha val="7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Oval 47">
              <a:extLst>
                <a:ext uri="{FF2B5EF4-FFF2-40B4-BE49-F238E27FC236}">
                  <a16:creationId xmlns:a16="http://schemas.microsoft.com/office/drawing/2014/main" id="{D5B26E0E-A115-4AE2-82D8-76BB93CC494F}"/>
                </a:ext>
              </a:extLst>
            </p:cNvPr>
            <p:cNvSpPr/>
            <p:nvPr/>
          </p:nvSpPr>
          <p:spPr>
            <a:xfrm>
              <a:off x="11224303" y="299808"/>
              <a:ext cx="113367" cy="113367"/>
            </a:xfrm>
            <a:prstGeom prst="ellipse">
              <a:avLst/>
            </a:prstGeom>
            <a:solidFill>
              <a:srgbClr val="F39E2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755058DB-7E01-4E95-BF59-983AA1BBB38E}"/>
                </a:ext>
              </a:extLst>
            </p:cNvPr>
            <p:cNvSpPr/>
            <p:nvPr/>
          </p:nvSpPr>
          <p:spPr>
            <a:xfrm>
              <a:off x="11629630" y="5482355"/>
              <a:ext cx="94160" cy="94160"/>
            </a:xfrm>
            <a:prstGeom prst="ellipse">
              <a:avLst/>
            </a:prstGeom>
            <a:solidFill>
              <a:srgbClr val="E3BEBE">
                <a:alpha val="2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A810F7E2-23F3-44D6-B09E-71E556536052}"/>
                </a:ext>
              </a:extLst>
            </p:cNvPr>
            <p:cNvSpPr/>
            <p:nvPr/>
          </p:nvSpPr>
          <p:spPr>
            <a:xfrm>
              <a:off x="10415328" y="6124958"/>
              <a:ext cx="113367" cy="113367"/>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59D5C391-E1DB-410A-A78C-ED3BBDFF0758}"/>
                </a:ext>
              </a:extLst>
            </p:cNvPr>
            <p:cNvSpPr/>
            <p:nvPr/>
          </p:nvSpPr>
          <p:spPr>
            <a:xfrm>
              <a:off x="10120382" y="6255986"/>
              <a:ext cx="305780" cy="305780"/>
            </a:xfrm>
            <a:prstGeom prst="ellips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3" name="Oval 52">
              <a:extLst>
                <a:ext uri="{FF2B5EF4-FFF2-40B4-BE49-F238E27FC236}">
                  <a16:creationId xmlns:a16="http://schemas.microsoft.com/office/drawing/2014/main" id="{77C4944D-9373-4283-BCAA-927A0316659E}"/>
                </a:ext>
              </a:extLst>
            </p:cNvPr>
            <p:cNvSpPr/>
            <p:nvPr/>
          </p:nvSpPr>
          <p:spPr>
            <a:xfrm>
              <a:off x="9934343" y="6204350"/>
              <a:ext cx="113367" cy="113367"/>
            </a:xfrm>
            <a:prstGeom prst="ellips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Freeform: Shape 53">
              <a:extLst>
                <a:ext uri="{FF2B5EF4-FFF2-40B4-BE49-F238E27FC236}">
                  <a16:creationId xmlns:a16="http://schemas.microsoft.com/office/drawing/2014/main" id="{6804C521-2D9F-4CE4-AFD3-D4F1551FEC6A}"/>
                </a:ext>
              </a:extLst>
            </p:cNvPr>
            <p:cNvSpPr/>
            <p:nvPr/>
          </p:nvSpPr>
          <p:spPr>
            <a:xfrm>
              <a:off x="11642244" y="6317718"/>
              <a:ext cx="549756" cy="540282"/>
            </a:xfrm>
            <a:custGeom>
              <a:avLst/>
              <a:gdLst>
                <a:gd name="connsiteX0" fmla="*/ 1224540 w 2115556"/>
                <a:gd name="connsiteY0" fmla="*/ 0 h 2079100"/>
                <a:gd name="connsiteX1" fmla="*/ 2090421 w 2115556"/>
                <a:gd name="connsiteY1" fmla="*/ 358660 h 2079100"/>
                <a:gd name="connsiteX2" fmla="*/ 2115556 w 2115556"/>
                <a:gd name="connsiteY2" fmla="*/ 386315 h 2079100"/>
                <a:gd name="connsiteX3" fmla="*/ 2115556 w 2115556"/>
                <a:gd name="connsiteY3" fmla="*/ 2062765 h 2079100"/>
                <a:gd name="connsiteX4" fmla="*/ 2100710 w 2115556"/>
                <a:gd name="connsiteY4" fmla="*/ 2079100 h 2079100"/>
                <a:gd name="connsiteX5" fmla="*/ 348370 w 2115556"/>
                <a:gd name="connsiteY5" fmla="*/ 2079100 h 2079100"/>
                <a:gd name="connsiteX6" fmla="*/ 279625 w 2115556"/>
                <a:gd name="connsiteY6" fmla="*/ 2003461 h 2079100"/>
                <a:gd name="connsiteX7" fmla="*/ 0 w 2115556"/>
                <a:gd name="connsiteY7" fmla="*/ 1224540 h 2079100"/>
                <a:gd name="connsiteX8" fmla="*/ 1224540 w 2115556"/>
                <a:gd name="connsiteY8" fmla="*/ 0 h 2079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15556" h="2079100">
                  <a:moveTo>
                    <a:pt x="1224540" y="0"/>
                  </a:moveTo>
                  <a:cubicBezTo>
                    <a:pt x="1562687" y="0"/>
                    <a:pt x="1868823" y="137062"/>
                    <a:pt x="2090421" y="358660"/>
                  </a:cubicBezTo>
                  <a:lnTo>
                    <a:pt x="2115556" y="386315"/>
                  </a:lnTo>
                  <a:lnTo>
                    <a:pt x="2115556" y="2062765"/>
                  </a:lnTo>
                  <a:lnTo>
                    <a:pt x="2100710" y="2079100"/>
                  </a:lnTo>
                  <a:lnTo>
                    <a:pt x="348370" y="2079100"/>
                  </a:lnTo>
                  <a:lnTo>
                    <a:pt x="279625" y="2003461"/>
                  </a:lnTo>
                  <a:cubicBezTo>
                    <a:pt x="104938" y="1791789"/>
                    <a:pt x="0" y="1520419"/>
                    <a:pt x="0" y="1224540"/>
                  </a:cubicBezTo>
                  <a:cubicBezTo>
                    <a:pt x="0" y="548245"/>
                    <a:pt x="548245" y="0"/>
                    <a:pt x="1224540" y="0"/>
                  </a:cubicBezTo>
                  <a:close/>
                </a:path>
              </a:pathLst>
            </a:cu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sp>
          <p:nvSpPr>
            <p:cNvPr id="56" name="Freeform: Shape 55">
              <a:extLst>
                <a:ext uri="{FF2B5EF4-FFF2-40B4-BE49-F238E27FC236}">
                  <a16:creationId xmlns:a16="http://schemas.microsoft.com/office/drawing/2014/main" id="{755AC65C-13EF-4182-AA3C-62BE165CC033}"/>
                </a:ext>
              </a:extLst>
            </p:cNvPr>
            <p:cNvSpPr/>
            <p:nvPr/>
          </p:nvSpPr>
          <p:spPr>
            <a:xfrm>
              <a:off x="-1" y="-1"/>
              <a:ext cx="510196" cy="538336"/>
            </a:xfrm>
            <a:custGeom>
              <a:avLst/>
              <a:gdLst>
                <a:gd name="connsiteX0" fmla="*/ 0 w 510196"/>
                <a:gd name="connsiteY0" fmla="*/ 0 h 538336"/>
                <a:gd name="connsiteX1" fmla="*/ 459276 w 510196"/>
                <a:gd name="connsiteY1" fmla="*/ 0 h 538336"/>
                <a:gd name="connsiteX2" fmla="*/ 482126 w 510196"/>
                <a:gd name="connsiteY2" fmla="*/ 42098 h 538336"/>
                <a:gd name="connsiteX3" fmla="*/ 510196 w 510196"/>
                <a:gd name="connsiteY3" fmla="*/ 181136 h 538336"/>
                <a:gd name="connsiteX4" fmla="*/ 152996 w 510196"/>
                <a:gd name="connsiteY4" fmla="*/ 538336 h 538336"/>
                <a:gd name="connsiteX5" fmla="*/ 13958 w 510196"/>
                <a:gd name="connsiteY5" fmla="*/ 510266 h 538336"/>
                <a:gd name="connsiteX6" fmla="*/ 0 w 510196"/>
                <a:gd name="connsiteY6" fmla="*/ 502690 h 5383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10196" h="538336">
                  <a:moveTo>
                    <a:pt x="0" y="0"/>
                  </a:moveTo>
                  <a:lnTo>
                    <a:pt x="459276" y="0"/>
                  </a:lnTo>
                  <a:lnTo>
                    <a:pt x="482126" y="42098"/>
                  </a:lnTo>
                  <a:cubicBezTo>
                    <a:pt x="500201" y="84833"/>
                    <a:pt x="510196" y="131817"/>
                    <a:pt x="510196" y="181136"/>
                  </a:cubicBezTo>
                  <a:cubicBezTo>
                    <a:pt x="510196" y="378412"/>
                    <a:pt x="350272" y="538336"/>
                    <a:pt x="152996" y="538336"/>
                  </a:cubicBezTo>
                  <a:cubicBezTo>
                    <a:pt x="103677" y="538336"/>
                    <a:pt x="56693" y="528341"/>
                    <a:pt x="13958" y="510266"/>
                  </a:cubicBezTo>
                  <a:lnTo>
                    <a:pt x="0" y="502690"/>
                  </a:ln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sp>
          <p:nvSpPr>
            <p:cNvPr id="58" name="Freeform: Shape 57">
              <a:extLst>
                <a:ext uri="{FF2B5EF4-FFF2-40B4-BE49-F238E27FC236}">
                  <a16:creationId xmlns:a16="http://schemas.microsoft.com/office/drawing/2014/main" id="{E40DA8D2-FA4B-4282-9D44-48C27B63A153}"/>
                </a:ext>
              </a:extLst>
            </p:cNvPr>
            <p:cNvSpPr/>
            <p:nvPr/>
          </p:nvSpPr>
          <p:spPr>
            <a:xfrm>
              <a:off x="10528695" y="1"/>
              <a:ext cx="554074" cy="282754"/>
            </a:xfrm>
            <a:custGeom>
              <a:avLst/>
              <a:gdLst>
                <a:gd name="connsiteX0" fmla="*/ 644 w 309162"/>
                <a:gd name="connsiteY0" fmla="*/ 0 h 157771"/>
                <a:gd name="connsiteX1" fmla="*/ 308518 w 309162"/>
                <a:gd name="connsiteY1" fmla="*/ 0 h 157771"/>
                <a:gd name="connsiteX2" fmla="*/ 309162 w 309162"/>
                <a:gd name="connsiteY2" fmla="*/ 3190 h 157771"/>
                <a:gd name="connsiteX3" fmla="*/ 154581 w 309162"/>
                <a:gd name="connsiteY3" fmla="*/ 157771 h 157771"/>
                <a:gd name="connsiteX4" fmla="*/ 0 w 309162"/>
                <a:gd name="connsiteY4" fmla="*/ 3190 h 1577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162" h="157771">
                  <a:moveTo>
                    <a:pt x="644" y="0"/>
                  </a:moveTo>
                  <a:lnTo>
                    <a:pt x="308518" y="0"/>
                  </a:lnTo>
                  <a:lnTo>
                    <a:pt x="309162" y="3190"/>
                  </a:lnTo>
                  <a:cubicBezTo>
                    <a:pt x="309162" y="88563"/>
                    <a:pt x="239954" y="157771"/>
                    <a:pt x="154581" y="157771"/>
                  </a:cubicBezTo>
                  <a:cubicBezTo>
                    <a:pt x="69208" y="157771"/>
                    <a:pt x="0" y="88563"/>
                    <a:pt x="0" y="3190"/>
                  </a:cubicBezTo>
                  <a:close/>
                </a:path>
              </a:pathLst>
            </a:cu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sp>
          <p:nvSpPr>
            <p:cNvPr id="10" name="Oval 9">
              <a:extLst>
                <a:ext uri="{FF2B5EF4-FFF2-40B4-BE49-F238E27FC236}">
                  <a16:creationId xmlns:a16="http://schemas.microsoft.com/office/drawing/2014/main" id="{99065014-CB18-414D-A527-31ECC45700AB}"/>
                </a:ext>
              </a:extLst>
            </p:cNvPr>
            <p:cNvSpPr/>
            <p:nvPr/>
          </p:nvSpPr>
          <p:spPr>
            <a:xfrm>
              <a:off x="504140" y="1132500"/>
              <a:ext cx="84680" cy="8468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61" name="Freeform: Shape 60">
              <a:extLst>
                <a:ext uri="{FF2B5EF4-FFF2-40B4-BE49-F238E27FC236}">
                  <a16:creationId xmlns:a16="http://schemas.microsoft.com/office/drawing/2014/main" id="{8F39E27A-56C1-4328-8DF1-2DA147C78483}"/>
                </a:ext>
              </a:extLst>
            </p:cNvPr>
            <p:cNvSpPr/>
            <p:nvPr/>
          </p:nvSpPr>
          <p:spPr>
            <a:xfrm>
              <a:off x="12051348" y="5576515"/>
              <a:ext cx="137603" cy="210490"/>
            </a:xfrm>
            <a:custGeom>
              <a:avLst/>
              <a:gdLst>
                <a:gd name="connsiteX0" fmla="*/ 105245 w 137603"/>
                <a:gd name="connsiteY0" fmla="*/ 0 h 210490"/>
                <a:gd name="connsiteX1" fmla="*/ 137603 w 137603"/>
                <a:gd name="connsiteY1" fmla="*/ 6533 h 210490"/>
                <a:gd name="connsiteX2" fmla="*/ 137603 w 137603"/>
                <a:gd name="connsiteY2" fmla="*/ 203957 h 210490"/>
                <a:gd name="connsiteX3" fmla="*/ 105245 w 137603"/>
                <a:gd name="connsiteY3" fmla="*/ 210490 h 210490"/>
                <a:gd name="connsiteX4" fmla="*/ 0 w 137603"/>
                <a:gd name="connsiteY4" fmla="*/ 105245 h 210490"/>
                <a:gd name="connsiteX5" fmla="*/ 105245 w 137603"/>
                <a:gd name="connsiteY5" fmla="*/ 0 h 2104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7603" h="210490">
                  <a:moveTo>
                    <a:pt x="105245" y="0"/>
                  </a:moveTo>
                  <a:lnTo>
                    <a:pt x="137603" y="6533"/>
                  </a:lnTo>
                  <a:lnTo>
                    <a:pt x="137603" y="203957"/>
                  </a:lnTo>
                  <a:lnTo>
                    <a:pt x="105245" y="210490"/>
                  </a:lnTo>
                  <a:cubicBezTo>
                    <a:pt x="47120" y="210490"/>
                    <a:pt x="0" y="163370"/>
                    <a:pt x="0" y="105245"/>
                  </a:cubicBezTo>
                  <a:cubicBezTo>
                    <a:pt x="0" y="47120"/>
                    <a:pt x="47120" y="0"/>
                    <a:pt x="105245" y="0"/>
                  </a:cubicBezTo>
                  <a:close/>
                </a:path>
              </a:pathLst>
            </a:cu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grpSp>
      <p:sp>
        <p:nvSpPr>
          <p:cNvPr id="4" name="Date Placeholder 3">
            <a:extLst>
              <a:ext uri="{FF2B5EF4-FFF2-40B4-BE49-F238E27FC236}">
                <a16:creationId xmlns:a16="http://schemas.microsoft.com/office/drawing/2014/main" id="{442C5EC6-E331-4312-AC12-56D55F7D2B15}"/>
              </a:ext>
            </a:extLst>
          </p:cNvPr>
          <p:cNvSpPr>
            <a:spLocks noGrp="1"/>
          </p:cNvSpPr>
          <p:nvPr>
            <p:ph type="dt" sz="half" idx="2"/>
          </p:nvPr>
        </p:nvSpPr>
        <p:spPr>
          <a:xfrm>
            <a:off x="777240" y="6488268"/>
            <a:ext cx="2743200" cy="233209"/>
          </a:xfrm>
          <a:prstGeom prst="rect">
            <a:avLst/>
          </a:prstGeom>
        </p:spPr>
        <p:txBody>
          <a:bodyPr vert="horz" lIns="91440" tIns="45720" rIns="91440" bIns="45720" rtlCol="0" anchor="ctr"/>
          <a:lstStyle>
            <a:lvl1pPr algn="l">
              <a:defRPr sz="1000">
                <a:solidFill>
                  <a:schemeClr val="tx1">
                    <a:tint val="75000"/>
                  </a:schemeClr>
                </a:solidFill>
              </a:defRPr>
            </a:lvl1pPr>
          </a:lstStyle>
          <a:p>
            <a:fld id="{050FF069-687C-4110-9C8F-B52BF36C2535}" type="datetimeFigureOut">
              <a:rPr lang="en-IN" smtClean="0"/>
              <a:t>13-07-2025</a:t>
            </a:fld>
            <a:endParaRPr lang="en-IN"/>
          </a:p>
        </p:txBody>
      </p:sp>
      <p:sp>
        <p:nvSpPr>
          <p:cNvPr id="5" name="Footer Placeholder 4">
            <a:extLst>
              <a:ext uri="{FF2B5EF4-FFF2-40B4-BE49-F238E27FC236}">
                <a16:creationId xmlns:a16="http://schemas.microsoft.com/office/drawing/2014/main" id="{3337FC5D-92B2-4B4D-8111-6EDEF280692A}"/>
              </a:ext>
            </a:extLst>
          </p:cNvPr>
          <p:cNvSpPr>
            <a:spLocks noGrp="1"/>
          </p:cNvSpPr>
          <p:nvPr>
            <p:ph type="ftr" sz="quarter" idx="3"/>
          </p:nvPr>
        </p:nvSpPr>
        <p:spPr>
          <a:xfrm>
            <a:off x="4038600" y="6488268"/>
            <a:ext cx="4114800" cy="233209"/>
          </a:xfrm>
          <a:prstGeom prst="rect">
            <a:avLst/>
          </a:prstGeom>
        </p:spPr>
        <p:txBody>
          <a:bodyPr vert="horz" lIns="91440" tIns="45720" rIns="91440" bIns="45720" rtlCol="0" anchor="ctr"/>
          <a:lstStyle>
            <a:lvl1pPr algn="ctr">
              <a:defRPr sz="10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723A104D-C777-4A6E-8A43-F94028E5E311}"/>
              </a:ext>
            </a:extLst>
          </p:cNvPr>
          <p:cNvSpPr>
            <a:spLocks noGrp="1"/>
          </p:cNvSpPr>
          <p:nvPr>
            <p:ph type="sldNum" sz="quarter" idx="4"/>
          </p:nvPr>
        </p:nvSpPr>
        <p:spPr>
          <a:xfrm>
            <a:off x="8693150" y="6488268"/>
            <a:ext cx="2743200" cy="233209"/>
          </a:xfrm>
          <a:prstGeom prst="rect">
            <a:avLst/>
          </a:prstGeom>
        </p:spPr>
        <p:txBody>
          <a:bodyPr vert="horz" lIns="91440" tIns="45720" rIns="91440" bIns="45720" rtlCol="0" anchor="ctr"/>
          <a:lstStyle>
            <a:lvl1pPr algn="r">
              <a:defRPr sz="1000">
                <a:solidFill>
                  <a:schemeClr val="tx1">
                    <a:tint val="75000"/>
                  </a:schemeClr>
                </a:solidFill>
              </a:defRPr>
            </a:lvl1pPr>
          </a:lstStyle>
          <a:p>
            <a:fld id="{3F012B93-754B-40E2-B673-F3825D75AA44}" type="slidenum">
              <a:rPr lang="en-IN" smtClean="0"/>
              <a:t>‹#›</a:t>
            </a:fld>
            <a:endParaRPr lang="en-IN"/>
          </a:p>
        </p:txBody>
      </p:sp>
      <p:sp>
        <p:nvSpPr>
          <p:cNvPr id="2" name="Title Placeholder 1">
            <a:extLst>
              <a:ext uri="{FF2B5EF4-FFF2-40B4-BE49-F238E27FC236}">
                <a16:creationId xmlns:a16="http://schemas.microsoft.com/office/drawing/2014/main" id="{12D3A74F-6169-4D30-A245-B46D738BEA81}"/>
              </a:ext>
            </a:extLst>
          </p:cNvPr>
          <p:cNvSpPr>
            <a:spLocks noGrp="1"/>
          </p:cNvSpPr>
          <p:nvPr>
            <p:ph type="title"/>
          </p:nvPr>
        </p:nvSpPr>
        <p:spPr>
          <a:xfrm>
            <a:off x="777240" y="365125"/>
            <a:ext cx="1065911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3877E64-7A05-44DA-81FA-6EF4806BBF0E}"/>
              </a:ext>
            </a:extLst>
          </p:cNvPr>
          <p:cNvSpPr>
            <a:spLocks noGrp="1"/>
          </p:cNvSpPr>
          <p:nvPr>
            <p:ph type="body" idx="1"/>
          </p:nvPr>
        </p:nvSpPr>
        <p:spPr>
          <a:xfrm>
            <a:off x="777240" y="1825625"/>
            <a:ext cx="1065911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grpSp>
        <p:nvGrpSpPr>
          <p:cNvPr id="9" name="Group 8">
            <a:extLst>
              <a:ext uri="{FF2B5EF4-FFF2-40B4-BE49-F238E27FC236}">
                <a16:creationId xmlns:a16="http://schemas.microsoft.com/office/drawing/2014/main" id="{3281849D-54CA-C13E-3D84-DB247AB9A268}"/>
              </a:ext>
            </a:extLst>
          </p:cNvPr>
          <p:cNvGrpSpPr/>
          <p:nvPr/>
        </p:nvGrpSpPr>
        <p:grpSpPr>
          <a:xfrm>
            <a:off x="130629" y="6291189"/>
            <a:ext cx="2743201" cy="495445"/>
            <a:chOff x="195943" y="6091967"/>
            <a:chExt cx="3506755" cy="629508"/>
          </a:xfrm>
        </p:grpSpPr>
        <p:sp>
          <p:nvSpPr>
            <p:cNvPr id="11" name="Oval 10">
              <a:extLst>
                <a:ext uri="{FF2B5EF4-FFF2-40B4-BE49-F238E27FC236}">
                  <a16:creationId xmlns:a16="http://schemas.microsoft.com/office/drawing/2014/main" id="{6401CC4C-E0EC-38D2-F7AA-61FC22E4D90D}"/>
                </a:ext>
              </a:extLst>
            </p:cNvPr>
            <p:cNvSpPr/>
            <p:nvPr/>
          </p:nvSpPr>
          <p:spPr>
            <a:xfrm>
              <a:off x="195943" y="6091967"/>
              <a:ext cx="642257" cy="629508"/>
            </a:xfrm>
            <a:prstGeom prst="ellipse">
              <a:avLst/>
            </a:prstGeom>
            <a:blipFill dpi="0" rotWithShape="1">
              <a:blip r:embed="rId13">
                <a:extLst>
                  <a:ext uri="{28A0092B-C50C-407E-A947-70E740481C1C}">
                    <a14:useLocalDpi xmlns:a14="http://schemas.microsoft.com/office/drawing/2010/main" val="0"/>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0875BEBF-DA68-8945-6205-DE7DE602B3BD}"/>
                </a:ext>
              </a:extLst>
            </p:cNvPr>
            <p:cNvSpPr txBox="1"/>
            <p:nvPr/>
          </p:nvSpPr>
          <p:spPr>
            <a:xfrm>
              <a:off x="838200" y="6163561"/>
              <a:ext cx="2864498" cy="369332"/>
            </a:xfrm>
            <a:prstGeom prst="rect">
              <a:avLst/>
            </a:prstGeom>
            <a:noFill/>
          </p:spPr>
          <p:txBody>
            <a:bodyPr wrap="square" rtlCol="0">
              <a:spAutoFit/>
            </a:bodyPr>
            <a:lstStyle/>
            <a:p>
              <a:r>
                <a:rPr lang="en-US" b="1" dirty="0"/>
                <a:t>PRAMOD NAIK</a:t>
              </a:r>
            </a:p>
          </p:txBody>
        </p:sp>
      </p:grpSp>
    </p:spTree>
    <p:extLst>
      <p:ext uri="{BB962C8B-B14F-4D97-AF65-F5344CB8AC3E}">
        <p14:creationId xmlns:p14="http://schemas.microsoft.com/office/powerpoint/2010/main" val="9279975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5400" kern="120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tx2">
            <a:lumMod val="75000"/>
            <a:lumOff val="25000"/>
          </a:schemeClr>
        </a:buClr>
        <a:buFont typeface="Arial" panose="020B0604020202020204" pitchFamily="34" charset="0"/>
        <a:buChar char="•"/>
        <a:defRPr sz="2000"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Clr>
          <a:schemeClr val="tx2">
            <a:lumMod val="75000"/>
            <a:lumOff val="25000"/>
          </a:schemeClr>
        </a:buClr>
        <a:buFont typeface="Arial" panose="020B0604020202020204" pitchFamily="34" charset="0"/>
        <a:buChar char="•"/>
        <a:defRPr sz="1800" kern="1200">
          <a:solidFill>
            <a:schemeClr val="tx2"/>
          </a:solidFill>
          <a:latin typeface="+mn-lt"/>
          <a:ea typeface="+mn-ea"/>
          <a:cs typeface="+mn-cs"/>
        </a:defRPr>
      </a:lvl2pPr>
      <a:lvl3pPr marL="1143000" indent="-228600" algn="l" defTabSz="914400" rtl="0" eaLnBrk="1" latinLnBrk="0" hangingPunct="1">
        <a:lnSpc>
          <a:spcPct val="90000"/>
        </a:lnSpc>
        <a:spcBef>
          <a:spcPts val="500"/>
        </a:spcBef>
        <a:buClr>
          <a:schemeClr val="tx2">
            <a:lumMod val="75000"/>
            <a:lumOff val="25000"/>
          </a:schemeClr>
        </a:buClr>
        <a:buFont typeface="Arial" panose="020B0604020202020204" pitchFamily="34" charset="0"/>
        <a:buChar char="•"/>
        <a:defRPr sz="1600" kern="1200">
          <a:solidFill>
            <a:schemeClr val="tx2"/>
          </a:solidFill>
          <a:latin typeface="+mn-lt"/>
          <a:ea typeface="+mn-ea"/>
          <a:cs typeface="+mn-cs"/>
        </a:defRPr>
      </a:lvl3pPr>
      <a:lvl4pPr marL="1600200" indent="-228600" algn="l" defTabSz="914400" rtl="0" eaLnBrk="1" latinLnBrk="0" hangingPunct="1">
        <a:lnSpc>
          <a:spcPct val="90000"/>
        </a:lnSpc>
        <a:spcBef>
          <a:spcPts val="500"/>
        </a:spcBef>
        <a:buClr>
          <a:schemeClr val="tx2">
            <a:lumMod val="75000"/>
            <a:lumOff val="25000"/>
          </a:schemeClr>
        </a:buClr>
        <a:buFont typeface="Arial" panose="020B0604020202020204" pitchFamily="34" charset="0"/>
        <a:buChar char="•"/>
        <a:defRPr sz="1400" kern="1200">
          <a:solidFill>
            <a:schemeClr val="tx2"/>
          </a:solidFill>
          <a:latin typeface="+mn-lt"/>
          <a:ea typeface="+mn-ea"/>
          <a:cs typeface="+mn-cs"/>
        </a:defRPr>
      </a:lvl4pPr>
      <a:lvl5pPr marL="2057400" indent="-228600" algn="l" defTabSz="914400" rtl="0" eaLnBrk="1" latinLnBrk="0" hangingPunct="1">
        <a:lnSpc>
          <a:spcPct val="90000"/>
        </a:lnSpc>
        <a:spcBef>
          <a:spcPts val="500"/>
        </a:spcBef>
        <a:buClr>
          <a:schemeClr val="tx2">
            <a:lumMod val="75000"/>
            <a:lumOff val="25000"/>
          </a:schemeClr>
        </a:buClr>
        <a:buFont typeface="Arial" panose="020B060402020202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www.datacamp.com/blog/supervised-machine-learning" TargetMode="External"/><Relationship Id="rId2" Type="http://schemas.openxmlformats.org/officeDocument/2006/relationships/hyperlink" Target="https://www.datacamp.com/blog/clustering-in-machine-learning-5-essential-clustering-algorithms" TargetMode="Externa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s://www.geeksforgeeks.org/clustering-in-machine-learning/"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3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56BFA8-DC09-0939-AAEC-E1F79339EF7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F6E923D-6429-9053-3B97-160F0D73FDCB}"/>
              </a:ext>
            </a:extLst>
          </p:cNvPr>
          <p:cNvSpPr>
            <a:spLocks noGrp="1"/>
          </p:cNvSpPr>
          <p:nvPr>
            <p:ph idx="1"/>
          </p:nvPr>
        </p:nvSpPr>
        <p:spPr>
          <a:xfrm>
            <a:off x="743688" y="1088572"/>
            <a:ext cx="10900568" cy="4354286"/>
          </a:xfrm>
        </p:spPr>
        <p:txBody>
          <a:bodyPr>
            <a:normAutofit/>
          </a:bodyPr>
          <a:lstStyle/>
          <a:p>
            <a:pPr marL="0" indent="0">
              <a:buNone/>
            </a:pPr>
            <a:r>
              <a:rPr lang="en-US" sz="3200" b="1" dirty="0">
                <a:solidFill>
                  <a:srgbClr val="C00000"/>
                </a:solidFill>
              </a:rPr>
              <a:t>Module-3: </a:t>
            </a:r>
            <a:r>
              <a:rPr lang="en-US" sz="3200" b="1" dirty="0">
                <a:solidFill>
                  <a:schemeClr val="accent3">
                    <a:lumMod val="50000"/>
                  </a:schemeClr>
                </a:solidFill>
              </a:rPr>
              <a:t>Unsupervised Learning: </a:t>
            </a:r>
          </a:p>
          <a:p>
            <a:pPr marL="0" indent="0">
              <a:buNone/>
            </a:pPr>
            <a:r>
              <a:rPr lang="en-US" sz="3200" b="1" dirty="0"/>
              <a:t>Clustering: </a:t>
            </a:r>
            <a:r>
              <a:rPr lang="en-US" sz="3200" dirty="0"/>
              <a:t>K-Means clustering, Hierarchical clustering, Evaluation of clustering results. </a:t>
            </a:r>
          </a:p>
          <a:p>
            <a:pPr marL="0" indent="0">
              <a:buNone/>
            </a:pPr>
            <a:r>
              <a:rPr lang="en-US" sz="3200" b="1" dirty="0"/>
              <a:t>Dimensionality Reduction: </a:t>
            </a:r>
            <a:r>
              <a:rPr lang="en-US" sz="3200" dirty="0"/>
              <a:t>Principal Component Analysis (PCA), Linear Discriminant Analysis (LDA) t-Distributed Stochastic Neighbor Embedding (t-SNE).  </a:t>
            </a:r>
          </a:p>
          <a:p>
            <a:pPr marL="0" indent="0">
              <a:buNone/>
            </a:pPr>
            <a:r>
              <a:rPr lang="en-US" sz="3200" b="1" dirty="0"/>
              <a:t>Association Rule Learning: </a:t>
            </a:r>
            <a:r>
              <a:rPr lang="en-US" sz="3200" dirty="0" err="1"/>
              <a:t>Apriori</a:t>
            </a:r>
            <a:r>
              <a:rPr lang="en-US" sz="3200" dirty="0"/>
              <a:t> algorithm, Market Basket Analysis, Evaluation metrics for association rules </a:t>
            </a:r>
            <a:endParaRPr lang="en-IN" sz="3200" dirty="0"/>
          </a:p>
        </p:txBody>
      </p:sp>
    </p:spTree>
    <p:extLst>
      <p:ext uri="{BB962C8B-B14F-4D97-AF65-F5344CB8AC3E}">
        <p14:creationId xmlns:p14="http://schemas.microsoft.com/office/powerpoint/2010/main" val="36645040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06FC8-0FBC-5281-7AAA-E2FA7D5BE39C}"/>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13DCB72E-766B-31EA-0076-3684652D8089}"/>
              </a:ext>
            </a:extLst>
          </p:cNvPr>
          <p:cNvSpPr txBox="1"/>
          <p:nvPr/>
        </p:nvSpPr>
        <p:spPr>
          <a:xfrm>
            <a:off x="739302" y="394129"/>
            <a:ext cx="10924162" cy="6340197"/>
          </a:xfrm>
          <a:prstGeom prst="rect">
            <a:avLst/>
          </a:prstGeom>
          <a:noFill/>
        </p:spPr>
        <p:txBody>
          <a:bodyPr wrap="square">
            <a:spAutoFit/>
          </a:bodyPr>
          <a:lstStyle/>
          <a:p>
            <a:r>
              <a:rPr lang="en-US" sz="3200" b="1" dirty="0"/>
              <a:t>Unsupervised Learning:</a:t>
            </a:r>
          </a:p>
          <a:p>
            <a:r>
              <a:rPr lang="en-US" b="0" i="0" dirty="0">
                <a:solidFill>
                  <a:srgbClr val="374151"/>
                </a:solidFill>
                <a:effectLst/>
                <a:latin typeface="Söhne"/>
              </a:rPr>
              <a:t>	</a:t>
            </a:r>
            <a:r>
              <a:rPr lang="en-US" sz="2400" b="0" i="0" dirty="0">
                <a:solidFill>
                  <a:srgbClr val="374151"/>
                </a:solidFill>
                <a:effectLst/>
                <a:latin typeface="Söhne"/>
              </a:rPr>
              <a:t>Unsupervised Machine learning is a type of machine learning where the algorithm is trained on </a:t>
            </a:r>
            <a:r>
              <a:rPr lang="en-US" sz="2400" b="1" i="0" dirty="0">
                <a:solidFill>
                  <a:srgbClr val="374151"/>
                </a:solidFill>
                <a:effectLst/>
                <a:latin typeface="Söhne"/>
              </a:rPr>
              <a:t>unlabeled data</a:t>
            </a:r>
            <a:r>
              <a:rPr lang="en-US" sz="2400" b="0" i="0" dirty="0">
                <a:solidFill>
                  <a:srgbClr val="374151"/>
                </a:solidFill>
                <a:effectLst/>
                <a:latin typeface="Söhne"/>
              </a:rPr>
              <a:t>, and the </a:t>
            </a:r>
            <a:r>
              <a:rPr lang="en-US" sz="2400" b="1" i="0" dirty="0">
                <a:solidFill>
                  <a:srgbClr val="374151"/>
                </a:solidFill>
                <a:effectLst/>
                <a:latin typeface="Söhne"/>
              </a:rPr>
              <a:t>objective is to find patterns, relationships, or structures within the data</a:t>
            </a:r>
            <a:r>
              <a:rPr lang="en-US" sz="2400" b="0" i="0" dirty="0">
                <a:solidFill>
                  <a:srgbClr val="374151"/>
                </a:solidFill>
                <a:effectLst/>
                <a:latin typeface="Söhne"/>
              </a:rPr>
              <a:t> without explicit guidance or labeled outcomes. </a:t>
            </a:r>
            <a:r>
              <a:rPr lang="en-US" sz="2400" b="0" i="0" dirty="0" err="1">
                <a:solidFill>
                  <a:srgbClr val="374151"/>
                </a:solidFill>
                <a:effectLst/>
                <a:latin typeface="Söhne"/>
              </a:rPr>
              <a:t>i.e</a:t>
            </a:r>
            <a:r>
              <a:rPr lang="en-US" sz="2400" b="0" i="0" dirty="0">
                <a:solidFill>
                  <a:srgbClr val="374151"/>
                </a:solidFill>
                <a:effectLst/>
                <a:latin typeface="Söhne"/>
              </a:rPr>
              <a:t> </a:t>
            </a:r>
            <a:r>
              <a:rPr lang="en-US" sz="2400" dirty="0">
                <a:solidFill>
                  <a:srgbClr val="05192D"/>
                </a:solidFill>
                <a:latin typeface="Studio-Feixen-Sans"/>
              </a:rPr>
              <a:t>U</a:t>
            </a:r>
            <a:r>
              <a:rPr lang="en-US" sz="2400" b="0" i="0" dirty="0">
                <a:solidFill>
                  <a:srgbClr val="05192D"/>
                </a:solidFill>
                <a:effectLst/>
                <a:latin typeface="Studio-Feixen-Sans"/>
              </a:rPr>
              <a:t>nsupervised learning is a method we use to </a:t>
            </a:r>
            <a:r>
              <a:rPr lang="en-US" sz="2400" b="1" i="0" dirty="0">
                <a:solidFill>
                  <a:srgbClr val="05192D"/>
                </a:solidFill>
                <a:effectLst/>
                <a:latin typeface="Studio-Feixen-Sans"/>
              </a:rPr>
              <a:t>group</a:t>
            </a:r>
            <a:r>
              <a:rPr lang="en-US" sz="2400" b="0" i="0" dirty="0">
                <a:solidFill>
                  <a:srgbClr val="05192D"/>
                </a:solidFill>
                <a:effectLst/>
                <a:latin typeface="Studio-Feixen-Sans"/>
              </a:rPr>
              <a:t> </a:t>
            </a:r>
            <a:r>
              <a:rPr lang="en-US" sz="2400" b="1" i="0" dirty="0">
                <a:solidFill>
                  <a:srgbClr val="05192D"/>
                </a:solidFill>
                <a:effectLst/>
                <a:latin typeface="Studio-Feixen-Sans"/>
              </a:rPr>
              <a:t>data</a:t>
            </a:r>
            <a:r>
              <a:rPr lang="en-US" sz="2400" b="0" i="0" dirty="0">
                <a:solidFill>
                  <a:srgbClr val="05192D"/>
                </a:solidFill>
                <a:effectLst/>
                <a:latin typeface="Studio-Feixen-Sans"/>
              </a:rPr>
              <a:t> when no </a:t>
            </a:r>
            <a:r>
              <a:rPr lang="en-US" sz="2400" b="1" i="0" dirty="0">
                <a:solidFill>
                  <a:srgbClr val="05192D"/>
                </a:solidFill>
                <a:effectLst/>
                <a:latin typeface="Studio-Feixen-Sans"/>
              </a:rPr>
              <a:t>labels are present</a:t>
            </a:r>
            <a:r>
              <a:rPr lang="en-US" sz="2400" b="0" i="0" dirty="0">
                <a:solidFill>
                  <a:srgbClr val="05192D"/>
                </a:solidFill>
                <a:effectLst/>
                <a:latin typeface="Studio-Feixen-Sans"/>
              </a:rPr>
              <a:t>.</a:t>
            </a:r>
            <a:endParaRPr lang="en-US" sz="2400" b="1" dirty="0"/>
          </a:p>
          <a:p>
            <a:r>
              <a:rPr lang="en-US" sz="2400" dirty="0"/>
              <a:t>	As the </a:t>
            </a:r>
            <a:r>
              <a:rPr lang="en-US" sz="2400" b="1" dirty="0"/>
              <a:t>name suggests</a:t>
            </a:r>
            <a:r>
              <a:rPr lang="en-US" sz="2400" dirty="0"/>
              <a:t>, unsupervised learning is a machine learning technique in which models are </a:t>
            </a:r>
            <a:r>
              <a:rPr lang="en-US" sz="2400" b="1" dirty="0">
                <a:solidFill>
                  <a:srgbClr val="C00000"/>
                </a:solidFill>
              </a:rPr>
              <a:t>not</a:t>
            </a:r>
            <a:r>
              <a:rPr lang="en-US" sz="2400" dirty="0">
                <a:solidFill>
                  <a:srgbClr val="C00000"/>
                </a:solidFill>
              </a:rPr>
              <a:t> </a:t>
            </a:r>
            <a:r>
              <a:rPr lang="en-US" sz="2400" b="1" dirty="0">
                <a:solidFill>
                  <a:srgbClr val="C00000"/>
                </a:solidFill>
              </a:rPr>
              <a:t>supervised using training dataset</a:t>
            </a:r>
            <a:r>
              <a:rPr lang="en-US" sz="2400" dirty="0"/>
              <a:t>. Instead, </a:t>
            </a:r>
            <a:r>
              <a:rPr lang="en-US" sz="2400" b="1" dirty="0"/>
              <a:t>models itself find </a:t>
            </a:r>
            <a:r>
              <a:rPr lang="en-US" sz="2400" dirty="0"/>
              <a:t>the hidden patterns and insights from the given data. It can be compared to </a:t>
            </a:r>
            <a:r>
              <a:rPr lang="en-US" sz="2400" b="1" dirty="0"/>
              <a:t>learning which takes place in the human brain while learning new things</a:t>
            </a:r>
            <a:r>
              <a:rPr lang="en-US" sz="2400" dirty="0"/>
              <a:t>. </a:t>
            </a:r>
          </a:p>
          <a:p>
            <a:r>
              <a:rPr lang="en-US" sz="2400" dirty="0"/>
              <a:t>	It can be defined as: </a:t>
            </a:r>
            <a:r>
              <a:rPr lang="en-US" sz="2400" b="1" dirty="0"/>
              <a:t>“</a:t>
            </a:r>
            <a:r>
              <a:rPr lang="en-US" sz="2400" dirty="0"/>
              <a:t>Unsupervised learning is a type of machine learning in which models are trained using unlabeled dataset and are allowed to act on that data without any supervision.</a:t>
            </a:r>
            <a:r>
              <a:rPr lang="en-US" sz="2400" b="1" dirty="0"/>
              <a:t>”</a:t>
            </a:r>
            <a:r>
              <a:rPr lang="en-US" sz="2400" dirty="0"/>
              <a:t> </a:t>
            </a:r>
          </a:p>
          <a:p>
            <a:r>
              <a:rPr lang="en-US" sz="2400" dirty="0"/>
              <a:t>	Unsupervised learning cannot be directly applied to a regression or classification problem because unlike supervised learning, we have the input data but no corresponding output data.</a:t>
            </a:r>
          </a:p>
          <a:p>
            <a:endParaRPr lang="en-US" b="1" dirty="0"/>
          </a:p>
        </p:txBody>
      </p:sp>
    </p:spTree>
    <p:extLst>
      <p:ext uri="{BB962C8B-B14F-4D97-AF65-F5344CB8AC3E}">
        <p14:creationId xmlns:p14="http://schemas.microsoft.com/office/powerpoint/2010/main" val="14443964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0E6A6E4-6022-9B36-9160-0CAA23778F36}"/>
              </a:ext>
            </a:extLst>
          </p:cNvPr>
          <p:cNvSpPr txBox="1"/>
          <p:nvPr/>
        </p:nvSpPr>
        <p:spPr>
          <a:xfrm>
            <a:off x="739302" y="394129"/>
            <a:ext cx="10924162" cy="6063198"/>
          </a:xfrm>
          <a:prstGeom prst="rect">
            <a:avLst/>
          </a:prstGeom>
          <a:noFill/>
        </p:spPr>
        <p:txBody>
          <a:bodyPr wrap="square">
            <a:spAutoFit/>
          </a:bodyPr>
          <a:lstStyle/>
          <a:p>
            <a:r>
              <a:rPr lang="en-US" sz="2800" b="1" dirty="0"/>
              <a:t>Example: </a:t>
            </a:r>
            <a:r>
              <a:rPr lang="en-US" sz="2800" b="0" i="0" dirty="0">
                <a:solidFill>
                  <a:srgbClr val="333333"/>
                </a:solidFill>
                <a:effectLst/>
                <a:latin typeface="inter-regular"/>
              </a:rPr>
              <a:t>Suppose the unsupervised learning algorithm is given an input dataset containing </a:t>
            </a:r>
            <a:r>
              <a:rPr lang="en-US" sz="2800" b="1" i="0" dirty="0">
                <a:solidFill>
                  <a:srgbClr val="333333"/>
                </a:solidFill>
                <a:effectLst/>
                <a:latin typeface="inter-regular"/>
              </a:rPr>
              <a:t>images of different types of cats and dogs</a:t>
            </a:r>
            <a:r>
              <a:rPr lang="en-US" sz="2800" b="0" i="0" dirty="0">
                <a:solidFill>
                  <a:srgbClr val="333333"/>
                </a:solidFill>
                <a:effectLst/>
                <a:latin typeface="inter-regular"/>
              </a:rPr>
              <a:t>. The algorithm is never trained upon the given dataset, which means it does not have any idea about the features of the dataset. The task of the unsupervised learning algorithm is to identify the image features on their own. Unsupervised learning algorithm will perform this task </a:t>
            </a:r>
            <a:r>
              <a:rPr lang="en-US" sz="2800" b="1" i="0" dirty="0">
                <a:solidFill>
                  <a:srgbClr val="333333"/>
                </a:solidFill>
                <a:effectLst/>
                <a:latin typeface="inter-regular"/>
              </a:rPr>
              <a:t>by clustering the image dataset into the groups according to similarities between images</a:t>
            </a:r>
            <a:r>
              <a:rPr lang="en-US" sz="2800" b="0" i="0" dirty="0">
                <a:solidFill>
                  <a:srgbClr val="333333"/>
                </a:solidFill>
                <a:effectLst/>
                <a:latin typeface="inter-regular"/>
              </a:rPr>
              <a:t>.</a:t>
            </a:r>
          </a:p>
          <a:p>
            <a:pPr algn="just">
              <a:lnSpc>
                <a:spcPct val="150000"/>
              </a:lnSpc>
            </a:pPr>
            <a:endParaRPr lang="en-US" sz="1600" dirty="0">
              <a:solidFill>
                <a:srgbClr val="000000"/>
              </a:solidFill>
              <a:latin typeface="inter-regular"/>
            </a:endParaRPr>
          </a:p>
          <a:p>
            <a:pPr algn="just"/>
            <a:r>
              <a:rPr lang="en-US" sz="2800" b="1" dirty="0">
                <a:solidFill>
                  <a:srgbClr val="C00000"/>
                </a:solidFill>
                <a:latin typeface="Söhne"/>
              </a:rPr>
              <a:t>Note: </a:t>
            </a:r>
            <a:r>
              <a:rPr lang="en-US" sz="2800" dirty="0">
                <a:solidFill>
                  <a:srgbClr val="000000"/>
                </a:solidFill>
                <a:latin typeface="inter-regular"/>
              </a:rPr>
              <a:t>Unsupervised machine learning (ML) works differently from supervised ML because it doesn't rely on labeled data to learn patterns or make predictions. Instead, unsupervised ML algorithms focus on finding hidden structure or patterns within the data without explicit guidance from predefined labels.</a:t>
            </a:r>
          </a:p>
        </p:txBody>
      </p:sp>
    </p:spTree>
    <p:extLst>
      <p:ext uri="{BB962C8B-B14F-4D97-AF65-F5344CB8AC3E}">
        <p14:creationId xmlns:p14="http://schemas.microsoft.com/office/powerpoint/2010/main" val="5101863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69707A5-2E68-CA04-71D6-68FEE8265E5B}"/>
              </a:ext>
            </a:extLst>
          </p:cNvPr>
          <p:cNvSpPr txBox="1"/>
          <p:nvPr/>
        </p:nvSpPr>
        <p:spPr>
          <a:xfrm>
            <a:off x="671393" y="531404"/>
            <a:ext cx="11167266" cy="5909310"/>
          </a:xfrm>
          <a:prstGeom prst="rect">
            <a:avLst/>
          </a:prstGeom>
          <a:noFill/>
        </p:spPr>
        <p:txBody>
          <a:bodyPr wrap="square">
            <a:spAutoFit/>
          </a:bodyPr>
          <a:lstStyle/>
          <a:p>
            <a:pPr algn="just">
              <a:lnSpc>
                <a:spcPct val="150000"/>
              </a:lnSpc>
            </a:pPr>
            <a:r>
              <a:rPr lang="en-US" sz="2800" b="1" i="0" dirty="0">
                <a:solidFill>
                  <a:srgbClr val="000000"/>
                </a:solidFill>
                <a:effectLst/>
                <a:latin typeface="inter-regular"/>
              </a:rPr>
              <a:t>Why </a:t>
            </a:r>
            <a:r>
              <a:rPr lang="en-US" sz="2800" b="1" i="0" dirty="0">
                <a:solidFill>
                  <a:srgbClr val="610B38"/>
                </a:solidFill>
                <a:effectLst/>
                <a:latin typeface="erdana"/>
              </a:rPr>
              <a:t>use Unsupervised Learning?</a:t>
            </a:r>
            <a:endParaRPr lang="en-US" sz="2800" b="1" i="0" dirty="0">
              <a:solidFill>
                <a:srgbClr val="000000"/>
              </a:solidFill>
              <a:effectLst/>
              <a:latin typeface="inter-regular"/>
            </a:endParaRPr>
          </a:p>
          <a:p>
            <a:pPr marL="342900" indent="-342900" algn="just">
              <a:buAutoNum type="arabicPeriod"/>
            </a:pPr>
            <a:r>
              <a:rPr lang="en-US" sz="2800" b="0" i="0" dirty="0">
                <a:solidFill>
                  <a:srgbClr val="000000"/>
                </a:solidFill>
                <a:effectLst/>
                <a:latin typeface="inter-regular"/>
              </a:rPr>
              <a:t>Unsupervised learning is helpful for finding useful insights from the data.</a:t>
            </a:r>
          </a:p>
          <a:p>
            <a:pPr marL="342900" indent="-342900" algn="just">
              <a:buFontTx/>
              <a:buAutoNum type="arabicPeriod"/>
            </a:pPr>
            <a:r>
              <a:rPr lang="en-US" sz="2800" b="0" i="0" dirty="0">
                <a:solidFill>
                  <a:srgbClr val="000000"/>
                </a:solidFill>
                <a:effectLst/>
                <a:latin typeface="inter-regular"/>
              </a:rPr>
              <a:t>Unsupervised learning is much similar as a </a:t>
            </a:r>
            <a:r>
              <a:rPr lang="en-US" sz="2800" b="1" i="0" dirty="0">
                <a:solidFill>
                  <a:srgbClr val="000000"/>
                </a:solidFill>
                <a:effectLst/>
                <a:latin typeface="inter-regular"/>
              </a:rPr>
              <a:t>human learns to think by their own experiences</a:t>
            </a:r>
            <a:r>
              <a:rPr lang="en-US" sz="2800" b="0" i="0" dirty="0">
                <a:solidFill>
                  <a:srgbClr val="000000"/>
                </a:solidFill>
                <a:effectLst/>
                <a:latin typeface="inter-regular"/>
              </a:rPr>
              <a:t>, which makes it closer to the real AI.</a:t>
            </a:r>
          </a:p>
          <a:p>
            <a:pPr marL="342900" indent="-342900" algn="just">
              <a:buFontTx/>
              <a:buAutoNum type="arabicPeriod"/>
            </a:pPr>
            <a:r>
              <a:rPr lang="en-US" sz="2800" b="0" i="0" dirty="0">
                <a:solidFill>
                  <a:srgbClr val="000000"/>
                </a:solidFill>
                <a:effectLst/>
                <a:latin typeface="inter-regular"/>
              </a:rPr>
              <a:t>Unsupervised learning works on unlabeled and uncategorized data which make unsupervised learning more important.</a:t>
            </a:r>
          </a:p>
          <a:p>
            <a:pPr marL="342900" indent="-342900" algn="just">
              <a:buFontTx/>
              <a:buAutoNum type="arabicPeriod"/>
            </a:pPr>
            <a:r>
              <a:rPr lang="en-US" sz="2800" b="0" i="0" dirty="0">
                <a:solidFill>
                  <a:srgbClr val="000000"/>
                </a:solidFill>
                <a:effectLst/>
                <a:latin typeface="inter-regular"/>
              </a:rPr>
              <a:t>In real-world, we do not always have input data with the corresponding output so to solve such cases, we need unsupervised learning.</a:t>
            </a:r>
          </a:p>
          <a:p>
            <a:pPr marL="342900" indent="-342900" algn="just">
              <a:buFontTx/>
              <a:buAutoNum type="arabicPeriod"/>
            </a:pPr>
            <a:r>
              <a:rPr lang="en-US" sz="2800" b="1" i="0" dirty="0">
                <a:solidFill>
                  <a:srgbClr val="C00000"/>
                </a:solidFill>
                <a:effectLst/>
                <a:latin typeface="Söhne"/>
              </a:rPr>
              <a:t>Semi-supervised Learning:</a:t>
            </a:r>
            <a:r>
              <a:rPr lang="en-US" sz="2800" b="0" i="0" dirty="0">
                <a:solidFill>
                  <a:srgbClr val="C00000"/>
                </a:solidFill>
                <a:effectLst/>
                <a:latin typeface="Söhne"/>
              </a:rPr>
              <a:t> </a:t>
            </a:r>
            <a:r>
              <a:rPr lang="en-US" sz="2800" b="0" i="0" dirty="0">
                <a:solidFill>
                  <a:srgbClr val="0D0D0D"/>
                </a:solidFill>
                <a:effectLst/>
                <a:latin typeface="Söhne"/>
              </a:rPr>
              <a:t>Unsupervised ML techniques can also be combined with supervised ML in semi-supervised learning approaches. In this paradigm, a small amount of labeled data is augmented with a larger amount of unlabeled data to improve the performance of supervised models.</a:t>
            </a:r>
            <a:endParaRPr lang="en-US" sz="2800" b="0" i="0" dirty="0">
              <a:solidFill>
                <a:srgbClr val="000000"/>
              </a:solidFill>
              <a:effectLst/>
              <a:latin typeface="inter-regular"/>
            </a:endParaRPr>
          </a:p>
        </p:txBody>
      </p:sp>
    </p:spTree>
    <p:extLst>
      <p:ext uri="{BB962C8B-B14F-4D97-AF65-F5344CB8AC3E}">
        <p14:creationId xmlns:p14="http://schemas.microsoft.com/office/powerpoint/2010/main" val="14268688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D38A2C3-D257-4E20-3003-95675D9C845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5394" y="904038"/>
            <a:ext cx="11081211" cy="5049924"/>
          </a:xfrm>
          <a:prstGeom prst="rect">
            <a:avLst/>
          </a:prstGeom>
        </p:spPr>
      </p:pic>
    </p:spTree>
    <p:extLst>
      <p:ext uri="{BB962C8B-B14F-4D97-AF65-F5344CB8AC3E}">
        <p14:creationId xmlns:p14="http://schemas.microsoft.com/office/powerpoint/2010/main" val="2521944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F5FFEAD-848B-E0E6-B115-9B8C6CBB5E7E}"/>
              </a:ext>
            </a:extLst>
          </p:cNvPr>
          <p:cNvSpPr txBox="1"/>
          <p:nvPr/>
        </p:nvSpPr>
        <p:spPr>
          <a:xfrm>
            <a:off x="587982" y="341199"/>
            <a:ext cx="11299218" cy="6370975"/>
          </a:xfrm>
          <a:prstGeom prst="rect">
            <a:avLst/>
          </a:prstGeom>
          <a:noFill/>
        </p:spPr>
        <p:txBody>
          <a:bodyPr wrap="square">
            <a:spAutoFit/>
          </a:bodyPr>
          <a:lstStyle/>
          <a:p>
            <a:r>
              <a:rPr lang="en-US" sz="2400" dirty="0"/>
              <a:t>	</a:t>
            </a:r>
            <a:r>
              <a:rPr lang="en-US" sz="2800" dirty="0"/>
              <a:t>Here, we have taken an </a:t>
            </a:r>
            <a:r>
              <a:rPr lang="en-US" sz="2800" b="1" dirty="0">
                <a:solidFill>
                  <a:srgbClr val="C00000"/>
                </a:solidFill>
              </a:rPr>
              <a:t>unlabeled input data</a:t>
            </a:r>
            <a:r>
              <a:rPr lang="en-US" sz="2800" dirty="0"/>
              <a:t>, which means it is not categorized, and corresponding outputs are also not given. Now, this unlabeled input data is </a:t>
            </a:r>
            <a:r>
              <a:rPr lang="en-US" sz="2800" b="1" dirty="0">
                <a:solidFill>
                  <a:srgbClr val="C00000"/>
                </a:solidFill>
              </a:rPr>
              <a:t>fed to the machine learning</a:t>
            </a:r>
            <a:r>
              <a:rPr lang="en-US" sz="2800" b="1" dirty="0"/>
              <a:t> </a:t>
            </a:r>
            <a:r>
              <a:rPr lang="en-US" sz="2800" b="1" dirty="0">
                <a:solidFill>
                  <a:srgbClr val="C00000"/>
                </a:solidFill>
              </a:rPr>
              <a:t>model</a:t>
            </a:r>
            <a:r>
              <a:rPr lang="en-US" sz="2800" dirty="0"/>
              <a:t> in order to train it. Firstly, it will interpret the raw data to find the hidden patterns from the data and then will apply suitable algorithms such as </a:t>
            </a:r>
            <a:r>
              <a:rPr lang="en-US" sz="2800" b="1" dirty="0">
                <a:solidFill>
                  <a:srgbClr val="C00000"/>
                </a:solidFill>
              </a:rPr>
              <a:t>k-means clustering</a:t>
            </a:r>
            <a:r>
              <a:rPr lang="en-US" sz="2800" dirty="0"/>
              <a:t>, Decision tree, etc. Once it applies the suitable algorithm, the algorithm divides the data objects into groups according to the similarities and dissimilarities between the objects. </a:t>
            </a:r>
          </a:p>
          <a:p>
            <a:endParaRPr lang="en-US" sz="2400" dirty="0"/>
          </a:p>
          <a:p>
            <a:r>
              <a:rPr lang="en-US" sz="2800" b="1" dirty="0"/>
              <a:t>Working of Unsupervised learning models:</a:t>
            </a:r>
          </a:p>
          <a:p>
            <a:pPr marL="457200" indent="-457200">
              <a:buFont typeface="+mj-lt"/>
              <a:buAutoNum type="arabicPeriod"/>
            </a:pPr>
            <a:r>
              <a:rPr lang="en-US" sz="2800" dirty="0"/>
              <a:t>We feed the model data with no categories or outputs for training</a:t>
            </a:r>
          </a:p>
          <a:p>
            <a:pPr marL="457200" indent="-457200">
              <a:buFont typeface="+mj-lt"/>
              <a:buAutoNum type="arabicPeriod"/>
            </a:pPr>
            <a:r>
              <a:rPr lang="en-US" sz="2800" dirty="0"/>
              <a:t>Model interprets raw data to identify </a:t>
            </a:r>
            <a:r>
              <a:rPr lang="en-US" sz="2800" b="1" dirty="0">
                <a:solidFill>
                  <a:srgbClr val="C00000"/>
                </a:solidFill>
              </a:rPr>
              <a:t>hidden patterns</a:t>
            </a:r>
          </a:p>
          <a:p>
            <a:pPr marL="457200" indent="-457200">
              <a:buFont typeface="+mj-lt"/>
              <a:buAutoNum type="arabicPeriod"/>
            </a:pPr>
            <a:r>
              <a:rPr lang="en-US" sz="2800" dirty="0"/>
              <a:t>Depending on data, we use suitable algorithms</a:t>
            </a:r>
          </a:p>
          <a:p>
            <a:pPr marL="457200" indent="-457200">
              <a:buFont typeface="+mj-lt"/>
              <a:buAutoNum type="arabicPeriod"/>
            </a:pPr>
            <a:r>
              <a:rPr lang="en-US" sz="2800" dirty="0"/>
              <a:t>Algorithm groups data</a:t>
            </a:r>
          </a:p>
          <a:p>
            <a:endParaRPr lang="en-US" sz="2400" dirty="0"/>
          </a:p>
        </p:txBody>
      </p:sp>
    </p:spTree>
    <p:extLst>
      <p:ext uri="{BB962C8B-B14F-4D97-AF65-F5344CB8AC3E}">
        <p14:creationId xmlns:p14="http://schemas.microsoft.com/office/powerpoint/2010/main" val="15880338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6465986-B2E3-9BAB-F08C-A9E187811D28}"/>
              </a:ext>
            </a:extLst>
          </p:cNvPr>
          <p:cNvSpPr txBox="1"/>
          <p:nvPr/>
        </p:nvSpPr>
        <p:spPr>
          <a:xfrm>
            <a:off x="684213" y="616453"/>
            <a:ext cx="11145466" cy="5755422"/>
          </a:xfrm>
          <a:prstGeom prst="rect">
            <a:avLst/>
          </a:prstGeom>
          <a:noFill/>
        </p:spPr>
        <p:txBody>
          <a:bodyPr wrap="square">
            <a:spAutoFit/>
          </a:bodyPr>
          <a:lstStyle/>
          <a:p>
            <a:r>
              <a:rPr lang="en-US" sz="2400" b="1" dirty="0"/>
              <a:t>Disadvantages of Unsupervised Learning:</a:t>
            </a:r>
          </a:p>
          <a:p>
            <a:r>
              <a:rPr lang="en-US" sz="2200" dirty="0"/>
              <a:t>1. Unsupervised learning is fundamentally </a:t>
            </a:r>
            <a:r>
              <a:rPr lang="en-US" sz="2200" b="1" dirty="0">
                <a:solidFill>
                  <a:srgbClr val="C00000"/>
                </a:solidFill>
              </a:rPr>
              <a:t>more difficult </a:t>
            </a:r>
            <a:r>
              <a:rPr lang="en-US" sz="2200" dirty="0"/>
              <a:t>than supervised learning since </a:t>
            </a:r>
            <a:r>
              <a:rPr lang="en-US" sz="2200" b="1" dirty="0">
                <a:solidFill>
                  <a:srgbClr val="C00000"/>
                </a:solidFill>
              </a:rPr>
              <a:t>it lacks comparable results.</a:t>
            </a:r>
          </a:p>
          <a:p>
            <a:r>
              <a:rPr lang="en-US" sz="2200" dirty="0"/>
              <a:t>2. The outcome of an unsupervised learning approach may be </a:t>
            </a:r>
            <a:r>
              <a:rPr lang="en-US" sz="2200" b="1" dirty="0">
                <a:solidFill>
                  <a:srgbClr val="C00000"/>
                </a:solidFill>
              </a:rPr>
              <a:t>less accurate </a:t>
            </a:r>
            <a:r>
              <a:rPr lang="en-US" sz="2200" dirty="0"/>
              <a:t>since the input data does not have labels and algorithms do not know the precise output in advance.</a:t>
            </a:r>
          </a:p>
          <a:p>
            <a:r>
              <a:rPr lang="en-US" sz="2200" dirty="0"/>
              <a:t>3. We </a:t>
            </a:r>
            <a:r>
              <a:rPr lang="en-US" sz="2200" b="1" dirty="0"/>
              <a:t>need humans to validate the results </a:t>
            </a:r>
            <a:r>
              <a:rPr lang="en-US" sz="2200" dirty="0"/>
              <a:t>of unsupervised learning models which convolutes the process.</a:t>
            </a:r>
          </a:p>
          <a:p>
            <a:r>
              <a:rPr lang="en-US" sz="2200" dirty="0"/>
              <a:t>4. The operations involved </a:t>
            </a:r>
            <a:r>
              <a:rPr lang="en-US" sz="2200" b="1" dirty="0"/>
              <a:t>require a high level of </a:t>
            </a:r>
            <a:r>
              <a:rPr lang="en-US" sz="2200" b="1" dirty="0">
                <a:solidFill>
                  <a:srgbClr val="C00000"/>
                </a:solidFill>
              </a:rPr>
              <a:t>computational power </a:t>
            </a:r>
            <a:r>
              <a:rPr lang="en-US" sz="2200" b="1" dirty="0"/>
              <a:t>and also take up a </a:t>
            </a:r>
            <a:r>
              <a:rPr lang="en-US" sz="2200" b="1" dirty="0">
                <a:solidFill>
                  <a:srgbClr val="C00000"/>
                </a:solidFill>
              </a:rPr>
              <a:t>lot of time</a:t>
            </a:r>
            <a:r>
              <a:rPr lang="en-US" sz="2200" dirty="0">
                <a:solidFill>
                  <a:srgbClr val="C00000"/>
                </a:solidFill>
              </a:rPr>
              <a:t>.</a:t>
            </a:r>
          </a:p>
          <a:p>
            <a:endParaRPr lang="en-US" sz="2000" b="1" dirty="0"/>
          </a:p>
          <a:p>
            <a:r>
              <a:rPr lang="en-US" sz="2400" b="1" dirty="0"/>
              <a:t>Alternative to Unsupervised Learning:</a:t>
            </a:r>
          </a:p>
          <a:p>
            <a:r>
              <a:rPr lang="en-US" sz="2000" b="1" dirty="0"/>
              <a:t>	</a:t>
            </a:r>
            <a:r>
              <a:rPr lang="en-US" sz="2400" b="1" dirty="0">
                <a:solidFill>
                  <a:srgbClr val="0070C0"/>
                </a:solidFill>
              </a:rPr>
              <a:t>Semi-supervised learning </a:t>
            </a:r>
            <a:r>
              <a:rPr lang="en-US" sz="2000" dirty="0"/>
              <a:t>may be a viable alternative to unsupervised learning. It is a combination or even a min-and-match of both unsupervised and supervised learning methods. The primary benefit of this sort of training would be that it lowers errors.</a:t>
            </a:r>
          </a:p>
          <a:p>
            <a:endParaRPr lang="en-US" sz="2000" dirty="0"/>
          </a:p>
          <a:p>
            <a:r>
              <a:rPr lang="en-US" sz="2000" b="1" dirty="0"/>
              <a:t>For example, </a:t>
            </a:r>
            <a:r>
              <a:rPr lang="en-US" sz="2000" dirty="0"/>
              <a:t>it will only cluster the unlabeled data that fits the clustering criteria, and it will categorize the output automatically once it has labels. This uses less computer power and takes less time.</a:t>
            </a:r>
          </a:p>
        </p:txBody>
      </p:sp>
    </p:spTree>
    <p:extLst>
      <p:ext uri="{BB962C8B-B14F-4D97-AF65-F5344CB8AC3E}">
        <p14:creationId xmlns:p14="http://schemas.microsoft.com/office/powerpoint/2010/main" val="19889971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8EDB2D3E-89B3-D776-D9E0-C493FB829472}"/>
              </a:ext>
            </a:extLst>
          </p:cNvPr>
          <p:cNvSpPr txBox="1"/>
          <p:nvPr/>
        </p:nvSpPr>
        <p:spPr>
          <a:xfrm>
            <a:off x="926558" y="2613392"/>
            <a:ext cx="6094378" cy="1938992"/>
          </a:xfrm>
          <a:prstGeom prst="rect">
            <a:avLst/>
          </a:prstGeom>
          <a:noFill/>
        </p:spPr>
        <p:txBody>
          <a:bodyPr wrap="square">
            <a:spAutoFit/>
          </a:bodyPr>
          <a:lstStyle/>
          <a:p>
            <a:r>
              <a:rPr lang="en-US" sz="2400" b="1" dirty="0"/>
              <a:t>Types of Unsupervised Learning:</a:t>
            </a:r>
          </a:p>
          <a:p>
            <a:pPr algn="l"/>
            <a:r>
              <a:rPr lang="en-US" sz="2400" b="0" i="0" dirty="0">
                <a:solidFill>
                  <a:srgbClr val="05192D"/>
                </a:solidFill>
                <a:effectLst/>
                <a:latin typeface="Studio-Feixen-Sans"/>
              </a:rPr>
              <a:t>1. Clustering</a:t>
            </a:r>
          </a:p>
          <a:p>
            <a:pPr algn="l"/>
            <a:r>
              <a:rPr lang="en-US" sz="2400" b="0" i="0" dirty="0">
                <a:solidFill>
                  <a:srgbClr val="05192D"/>
                </a:solidFill>
                <a:effectLst/>
                <a:latin typeface="Studio-Feixen-Sans"/>
              </a:rPr>
              <a:t>2. Association rules</a:t>
            </a:r>
          </a:p>
          <a:p>
            <a:pPr algn="l"/>
            <a:r>
              <a:rPr lang="en-US" sz="2400" b="0" i="0" dirty="0">
                <a:solidFill>
                  <a:srgbClr val="05192D"/>
                </a:solidFill>
                <a:effectLst/>
                <a:latin typeface="Studio-Feixen-Sans"/>
              </a:rPr>
              <a:t>3. Dimensionality reduction.  </a:t>
            </a:r>
          </a:p>
          <a:p>
            <a:endParaRPr lang="en-US" sz="2400" b="1" dirty="0"/>
          </a:p>
        </p:txBody>
      </p:sp>
      <p:pic>
        <p:nvPicPr>
          <p:cNvPr id="25602" name="Picture 2" descr="Unsupervised Machine learning - Javatpoint">
            <a:extLst>
              <a:ext uri="{FF2B5EF4-FFF2-40B4-BE49-F238E27FC236}">
                <a16:creationId xmlns:a16="http://schemas.microsoft.com/office/drawing/2014/main" id="{5CC8B27E-F62B-559D-3A52-3EBBF475944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94570" y="910471"/>
            <a:ext cx="5851187" cy="43883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65302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224384F-3F77-9504-3D30-F05F39AA2358}"/>
              </a:ext>
            </a:extLst>
          </p:cNvPr>
          <p:cNvSpPr txBox="1"/>
          <p:nvPr/>
        </p:nvSpPr>
        <p:spPr>
          <a:xfrm>
            <a:off x="517997" y="554875"/>
            <a:ext cx="11223287" cy="3447098"/>
          </a:xfrm>
          <a:prstGeom prst="rect">
            <a:avLst/>
          </a:prstGeom>
          <a:noFill/>
        </p:spPr>
        <p:txBody>
          <a:bodyPr wrap="square">
            <a:spAutoFit/>
          </a:bodyPr>
          <a:lstStyle/>
          <a:p>
            <a:r>
              <a:rPr lang="en-US" sz="2400" b="1" dirty="0"/>
              <a:t>Clustering:</a:t>
            </a:r>
          </a:p>
          <a:p>
            <a:r>
              <a:rPr lang="en-US" sz="2200" b="1" i="0" u="none" strike="noStrike" dirty="0">
                <a:solidFill>
                  <a:srgbClr val="0075AD"/>
                </a:solidFill>
                <a:effectLst/>
                <a:latin typeface="Studio-Feixen-Sans"/>
                <a:hlinkClick r:id="rId2"/>
              </a:rPr>
              <a:t>Clustering methods</a:t>
            </a:r>
            <a:r>
              <a:rPr lang="en-US" sz="2200" b="0" i="0" dirty="0">
                <a:solidFill>
                  <a:srgbClr val="05192D"/>
                </a:solidFill>
                <a:effectLst/>
                <a:latin typeface="Studio-Feixen-Sans"/>
              </a:rPr>
              <a:t> involve </a:t>
            </a:r>
            <a:r>
              <a:rPr lang="en-US" sz="2200" b="1" i="0" dirty="0">
                <a:solidFill>
                  <a:srgbClr val="C00000"/>
                </a:solidFill>
                <a:effectLst/>
                <a:latin typeface="Studio-Feixen-Sans"/>
              </a:rPr>
              <a:t>grouping</a:t>
            </a:r>
            <a:r>
              <a:rPr lang="en-US" sz="2200" b="1" i="0" dirty="0">
                <a:solidFill>
                  <a:srgbClr val="0070C0"/>
                </a:solidFill>
                <a:effectLst/>
                <a:latin typeface="Studio-Feixen-Sans"/>
              </a:rPr>
              <a:t> untagged data </a:t>
            </a:r>
            <a:r>
              <a:rPr lang="en-US" sz="2200" b="1" i="0" dirty="0">
                <a:solidFill>
                  <a:srgbClr val="05192D"/>
                </a:solidFill>
                <a:effectLst/>
                <a:latin typeface="Studio-Feixen-Sans"/>
              </a:rPr>
              <a:t>based on </a:t>
            </a:r>
            <a:r>
              <a:rPr lang="en-US" sz="2200" b="0" i="0" dirty="0">
                <a:solidFill>
                  <a:srgbClr val="05192D"/>
                </a:solidFill>
                <a:effectLst/>
                <a:latin typeface="Studio-Feixen-Sans"/>
              </a:rPr>
              <a:t>their </a:t>
            </a:r>
            <a:r>
              <a:rPr lang="en-US" sz="2200" b="1" i="0" dirty="0">
                <a:solidFill>
                  <a:schemeClr val="tx2">
                    <a:lumMod val="75000"/>
                    <a:lumOff val="25000"/>
                  </a:schemeClr>
                </a:solidFill>
                <a:effectLst/>
                <a:latin typeface="Studio-Feixen-Sans"/>
              </a:rPr>
              <a:t>similarities</a:t>
            </a:r>
            <a:r>
              <a:rPr lang="en-US" sz="2200" b="0" i="0" dirty="0">
                <a:solidFill>
                  <a:srgbClr val="05192D"/>
                </a:solidFill>
                <a:effectLst/>
                <a:latin typeface="Studio-Feixen-Sans"/>
              </a:rPr>
              <a:t> and </a:t>
            </a:r>
            <a:r>
              <a:rPr lang="en-US" sz="2200" b="1" i="0" dirty="0">
                <a:solidFill>
                  <a:schemeClr val="tx2">
                    <a:lumMod val="75000"/>
                    <a:lumOff val="25000"/>
                  </a:schemeClr>
                </a:solidFill>
                <a:effectLst/>
                <a:latin typeface="Studio-Feixen-Sans"/>
              </a:rPr>
              <a:t>differences</a:t>
            </a:r>
            <a:r>
              <a:rPr lang="en-US" sz="2200" b="0" i="0" dirty="0">
                <a:solidFill>
                  <a:srgbClr val="05192D"/>
                </a:solidFill>
                <a:effectLst/>
                <a:latin typeface="Studio-Feixen-Sans"/>
              </a:rPr>
              <a:t>. When two instances appear in different groups, we can infer they have </a:t>
            </a:r>
            <a:r>
              <a:rPr lang="en-US" sz="2200" b="1" i="0" dirty="0">
                <a:solidFill>
                  <a:srgbClr val="05192D"/>
                </a:solidFill>
                <a:effectLst/>
                <a:latin typeface="Studio-Feixen-Sans"/>
              </a:rPr>
              <a:t>dissimilar properties</a:t>
            </a:r>
            <a:r>
              <a:rPr lang="en-US" sz="2200" b="0" i="0" dirty="0">
                <a:solidFill>
                  <a:srgbClr val="05192D"/>
                </a:solidFill>
                <a:effectLst/>
                <a:latin typeface="Studio-Feixen-Sans"/>
              </a:rPr>
              <a:t>.</a:t>
            </a:r>
          </a:p>
          <a:p>
            <a:r>
              <a:rPr lang="en-US" sz="2200" b="1" dirty="0"/>
              <a:t>	Clustering</a:t>
            </a:r>
            <a:r>
              <a:rPr lang="en-US" sz="2200" b="0" i="0" dirty="0">
                <a:solidFill>
                  <a:srgbClr val="05192D"/>
                </a:solidFill>
                <a:effectLst/>
                <a:latin typeface="Studio-Feixen-Sans"/>
              </a:rPr>
              <a:t> is a type of unsupervised learning, meaning that we do not need labeled data for clustering algorithms; this is one of the biggest advantages of clustering over other </a:t>
            </a:r>
            <a:r>
              <a:rPr lang="en-US" sz="2200" b="1" i="0" u="none" strike="noStrike" dirty="0">
                <a:solidFill>
                  <a:srgbClr val="0075AD"/>
                </a:solidFill>
                <a:effectLst/>
                <a:latin typeface="Studio-Feixen-Sans"/>
                <a:hlinkClick r:id="rId3"/>
              </a:rPr>
              <a:t>supervised learning</a:t>
            </a:r>
            <a:r>
              <a:rPr lang="en-US" sz="2200" b="0" i="0" dirty="0">
                <a:solidFill>
                  <a:srgbClr val="05192D"/>
                </a:solidFill>
                <a:effectLst/>
                <a:latin typeface="Studio-Feixen-Sans"/>
              </a:rPr>
              <a:t> like Classification.</a:t>
            </a:r>
            <a:endParaRPr lang="en-US" sz="2200" dirty="0">
              <a:solidFill>
                <a:srgbClr val="05192D"/>
              </a:solidFill>
              <a:latin typeface="Studio-Feixen-Sans"/>
            </a:endParaRPr>
          </a:p>
          <a:p>
            <a:r>
              <a:rPr lang="en-US" sz="2200" b="0" i="0" dirty="0">
                <a:solidFill>
                  <a:srgbClr val="05192D"/>
                </a:solidFill>
                <a:effectLst/>
                <a:latin typeface="Studio-Feixen-Sans"/>
              </a:rPr>
              <a:t>	Clustering is the process of </a:t>
            </a:r>
            <a:r>
              <a:rPr lang="en-US" sz="2200" b="1" i="0" dirty="0">
                <a:solidFill>
                  <a:srgbClr val="05192D"/>
                </a:solidFill>
                <a:effectLst/>
                <a:latin typeface="Studio-Feixen-Sans"/>
              </a:rPr>
              <a:t>arranging</a:t>
            </a:r>
            <a:r>
              <a:rPr lang="en-US" sz="2200" b="0" i="0" dirty="0">
                <a:solidFill>
                  <a:srgbClr val="05192D"/>
                </a:solidFill>
                <a:effectLst/>
                <a:latin typeface="Studio-Feixen-Sans"/>
              </a:rPr>
              <a:t> a group of objects in such a manner that the objects in the same group (which is referred to as a cluster) are more </a:t>
            </a:r>
            <a:r>
              <a:rPr lang="en-US" sz="2200" b="1" i="0" dirty="0">
                <a:solidFill>
                  <a:schemeClr val="tx2">
                    <a:lumMod val="75000"/>
                    <a:lumOff val="25000"/>
                  </a:schemeClr>
                </a:solidFill>
                <a:effectLst/>
                <a:latin typeface="Studio-Feixen-Sans"/>
              </a:rPr>
              <a:t>similar</a:t>
            </a:r>
            <a:r>
              <a:rPr lang="en-US" sz="2200" b="0" i="0" dirty="0">
                <a:solidFill>
                  <a:srgbClr val="05192D"/>
                </a:solidFill>
                <a:effectLst/>
                <a:latin typeface="Studio-Feixen-Sans"/>
              </a:rPr>
              <a:t> </a:t>
            </a:r>
            <a:r>
              <a:rPr lang="en-US" sz="2200" b="1" i="0" dirty="0">
                <a:solidFill>
                  <a:schemeClr val="tx2">
                    <a:lumMod val="75000"/>
                    <a:lumOff val="25000"/>
                  </a:schemeClr>
                </a:solidFill>
                <a:effectLst/>
                <a:latin typeface="Studio-Feixen-Sans"/>
              </a:rPr>
              <a:t>to</a:t>
            </a:r>
            <a:r>
              <a:rPr lang="en-US" sz="2200" b="0" i="0" dirty="0">
                <a:solidFill>
                  <a:srgbClr val="05192D"/>
                </a:solidFill>
                <a:effectLst/>
                <a:latin typeface="Studio-Feixen-Sans"/>
              </a:rPr>
              <a:t> </a:t>
            </a:r>
            <a:r>
              <a:rPr lang="en-US" sz="2200" b="1" i="0" dirty="0">
                <a:solidFill>
                  <a:schemeClr val="tx2">
                    <a:lumMod val="75000"/>
                    <a:lumOff val="25000"/>
                  </a:schemeClr>
                </a:solidFill>
                <a:effectLst/>
                <a:latin typeface="Studio-Feixen-Sans"/>
              </a:rPr>
              <a:t>each</a:t>
            </a:r>
            <a:r>
              <a:rPr lang="en-US" sz="2200" b="0" i="0" dirty="0">
                <a:solidFill>
                  <a:srgbClr val="05192D"/>
                </a:solidFill>
                <a:effectLst/>
                <a:latin typeface="Studio-Feixen-Sans"/>
              </a:rPr>
              <a:t> </a:t>
            </a:r>
            <a:r>
              <a:rPr lang="en-US" sz="2200" b="1" i="0" dirty="0">
                <a:solidFill>
                  <a:schemeClr val="tx2">
                    <a:lumMod val="75000"/>
                    <a:lumOff val="25000"/>
                  </a:schemeClr>
                </a:solidFill>
                <a:effectLst/>
                <a:latin typeface="Studio-Feixen-Sans"/>
              </a:rPr>
              <a:t>other</a:t>
            </a:r>
            <a:r>
              <a:rPr lang="en-US" sz="2200" b="0" i="0" dirty="0">
                <a:solidFill>
                  <a:srgbClr val="05192D"/>
                </a:solidFill>
                <a:effectLst/>
                <a:latin typeface="Studio-Feixen-Sans"/>
              </a:rPr>
              <a:t> than to the objects in any </a:t>
            </a:r>
            <a:r>
              <a:rPr lang="en-US" sz="2200" b="1" i="0" dirty="0">
                <a:solidFill>
                  <a:srgbClr val="05192D"/>
                </a:solidFill>
                <a:effectLst/>
                <a:latin typeface="Studio-Feixen-Sans"/>
              </a:rPr>
              <a:t>other group</a:t>
            </a:r>
            <a:r>
              <a:rPr lang="en-US" sz="2200" b="0" i="0" dirty="0">
                <a:solidFill>
                  <a:srgbClr val="05192D"/>
                </a:solidFill>
                <a:effectLst/>
                <a:latin typeface="Studio-Feixen-Sans"/>
              </a:rPr>
              <a:t>. </a:t>
            </a:r>
            <a:endParaRPr lang="en-US" sz="2200" dirty="0"/>
          </a:p>
          <a:p>
            <a:endParaRPr lang="en-US" dirty="0"/>
          </a:p>
        </p:txBody>
      </p:sp>
      <p:grpSp>
        <p:nvGrpSpPr>
          <p:cNvPr id="8" name="Group 7">
            <a:extLst>
              <a:ext uri="{FF2B5EF4-FFF2-40B4-BE49-F238E27FC236}">
                <a16:creationId xmlns:a16="http://schemas.microsoft.com/office/drawing/2014/main" id="{2EAE9C6E-EDFF-4BE2-A08E-1C978537B749}"/>
              </a:ext>
            </a:extLst>
          </p:cNvPr>
          <p:cNvGrpSpPr/>
          <p:nvPr/>
        </p:nvGrpSpPr>
        <p:grpSpPr>
          <a:xfrm>
            <a:off x="517997" y="4001973"/>
            <a:ext cx="10931464" cy="1985170"/>
            <a:chOff x="313711" y="3709081"/>
            <a:chExt cx="10931464" cy="1985170"/>
          </a:xfrm>
        </p:grpSpPr>
        <p:pic>
          <p:nvPicPr>
            <p:cNvPr id="23556" name="Picture 4" descr="Introduction to Unsupervised Learning: Overview and applications">
              <a:extLst>
                <a:ext uri="{FF2B5EF4-FFF2-40B4-BE49-F238E27FC236}">
                  <a16:creationId xmlns:a16="http://schemas.microsoft.com/office/drawing/2014/main" id="{ED901057-A993-C011-2A11-593CE9D4C7E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6241" b="11501"/>
            <a:stretch>
              <a:fillRect/>
            </a:stretch>
          </p:blipFill>
          <p:spPr bwMode="auto">
            <a:xfrm>
              <a:off x="313711" y="3709081"/>
              <a:ext cx="6340004" cy="198517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3D5B2E4D-DA19-D405-7FD2-88FDCF85F97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383294" y="3820969"/>
              <a:ext cx="3861881" cy="1631192"/>
            </a:xfrm>
            <a:prstGeom prst="rect">
              <a:avLst/>
            </a:prstGeom>
          </p:spPr>
        </p:pic>
        <p:sp>
          <p:nvSpPr>
            <p:cNvPr id="7" name="TextBox 6">
              <a:extLst>
                <a:ext uri="{FF2B5EF4-FFF2-40B4-BE49-F238E27FC236}">
                  <a16:creationId xmlns:a16="http://schemas.microsoft.com/office/drawing/2014/main" id="{77F4F15F-7B17-2ADA-85D2-4689AE03D333}"/>
                </a:ext>
              </a:extLst>
            </p:cNvPr>
            <p:cNvSpPr txBox="1"/>
            <p:nvPr/>
          </p:nvSpPr>
          <p:spPr>
            <a:xfrm>
              <a:off x="6468894" y="4451899"/>
              <a:ext cx="914400" cy="369332"/>
            </a:xfrm>
            <a:prstGeom prst="rect">
              <a:avLst/>
            </a:prstGeom>
            <a:noFill/>
          </p:spPr>
          <p:txBody>
            <a:bodyPr wrap="square" rtlCol="0">
              <a:spAutoFit/>
            </a:bodyPr>
            <a:lstStyle/>
            <a:p>
              <a:r>
                <a:rPr lang="en-US" b="1" dirty="0"/>
                <a:t>OR</a:t>
              </a:r>
            </a:p>
          </p:txBody>
        </p:sp>
      </p:grpSp>
    </p:spTree>
    <p:extLst>
      <p:ext uri="{BB962C8B-B14F-4D97-AF65-F5344CB8AC3E}">
        <p14:creationId xmlns:p14="http://schemas.microsoft.com/office/powerpoint/2010/main" val="5646715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D7A7F9-0D0C-329D-25DC-8DBDD4A563A9}"/>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E93DFBB5-F703-60DB-6DCD-FAA31092D776}"/>
              </a:ext>
            </a:extLst>
          </p:cNvPr>
          <p:cNvSpPr txBox="1"/>
          <p:nvPr/>
        </p:nvSpPr>
        <p:spPr>
          <a:xfrm>
            <a:off x="1349829" y="997566"/>
            <a:ext cx="8389857" cy="5509200"/>
          </a:xfrm>
          <a:prstGeom prst="rect">
            <a:avLst/>
          </a:prstGeom>
          <a:noFill/>
        </p:spPr>
        <p:txBody>
          <a:bodyPr wrap="square">
            <a:spAutoFit/>
          </a:bodyPr>
          <a:lstStyle/>
          <a:p>
            <a:r>
              <a:rPr lang="en-US" sz="3200" dirty="0"/>
              <a:t>The major clustering techniques are </a:t>
            </a:r>
          </a:p>
          <a:p>
            <a:pPr marL="342900" indent="-342900">
              <a:buAutoNum type="arabicPeriod"/>
            </a:pPr>
            <a:r>
              <a:rPr lang="en-US" sz="3200" b="1" dirty="0"/>
              <a:t>Partitioning methods</a:t>
            </a:r>
          </a:p>
          <a:p>
            <a:pPr marL="800100" lvl="1" indent="-342900">
              <a:buAutoNum type="arabicPeriod"/>
            </a:pPr>
            <a:r>
              <a:rPr lang="en-US" sz="3200" b="1" dirty="0">
                <a:solidFill>
                  <a:schemeClr val="tx2">
                    <a:lumMod val="75000"/>
                    <a:lumOff val="25000"/>
                  </a:schemeClr>
                </a:solidFill>
                <a:latin typeface="Söhne"/>
              </a:rPr>
              <a:t>K-Means </a:t>
            </a:r>
          </a:p>
          <a:p>
            <a:pPr marL="800100" lvl="1" indent="-342900">
              <a:buAutoNum type="arabicPeriod"/>
            </a:pPr>
            <a:r>
              <a:rPr lang="en-US" sz="3200" dirty="0" err="1"/>
              <a:t>kmedoid</a:t>
            </a:r>
            <a:r>
              <a:rPr lang="en-US" sz="3200" dirty="0"/>
              <a:t>.</a:t>
            </a:r>
          </a:p>
          <a:p>
            <a:pPr marL="800100" lvl="1" indent="-342900">
              <a:buAutoNum type="arabicPeriod"/>
            </a:pPr>
            <a:endParaRPr lang="en-US" sz="3200" dirty="0"/>
          </a:p>
          <a:p>
            <a:pPr marL="342900" indent="-342900">
              <a:buAutoNum type="arabicPeriod"/>
            </a:pPr>
            <a:r>
              <a:rPr lang="en-US" sz="3200" b="1" dirty="0"/>
              <a:t>Hierarchical methods </a:t>
            </a:r>
          </a:p>
          <a:p>
            <a:pPr marL="800100" lvl="1" indent="-342900">
              <a:buAutoNum type="arabicPeriod"/>
            </a:pPr>
            <a:r>
              <a:rPr lang="en-US" sz="3200" b="1" i="0" dirty="0">
                <a:solidFill>
                  <a:schemeClr val="tx2">
                    <a:lumMod val="75000"/>
                    <a:lumOff val="25000"/>
                  </a:schemeClr>
                </a:solidFill>
                <a:effectLst/>
                <a:latin typeface="Söhne"/>
              </a:rPr>
              <a:t>Agglomerative Hierarchical Clustering</a:t>
            </a:r>
          </a:p>
          <a:p>
            <a:pPr marL="800100" lvl="1" indent="-342900">
              <a:buFontTx/>
              <a:buAutoNum type="arabicPeriod"/>
            </a:pPr>
            <a:r>
              <a:rPr lang="en-US" sz="3200" i="0" dirty="0">
                <a:solidFill>
                  <a:srgbClr val="0D0D0D"/>
                </a:solidFill>
                <a:effectLst/>
                <a:latin typeface="Söhne"/>
              </a:rPr>
              <a:t>Divisive Hierarchical Clustering</a:t>
            </a:r>
          </a:p>
          <a:p>
            <a:pPr marL="800100" lvl="1" indent="-342900">
              <a:buFontTx/>
              <a:buAutoNum type="arabicPeriod"/>
            </a:pPr>
            <a:endParaRPr lang="en-US" sz="3200" dirty="0"/>
          </a:p>
          <a:p>
            <a:pPr marL="342900" indent="-342900">
              <a:buAutoNum type="arabicPeriod"/>
            </a:pPr>
            <a:r>
              <a:rPr lang="en-US" sz="3200" b="1" dirty="0"/>
              <a:t>Density-based methods</a:t>
            </a:r>
          </a:p>
          <a:p>
            <a:pPr marL="800100" lvl="1" indent="-342900">
              <a:buAutoNum type="arabicPeriod"/>
            </a:pPr>
            <a:r>
              <a:rPr lang="en-US" sz="3200" dirty="0"/>
              <a:t>DBSCAN</a:t>
            </a:r>
          </a:p>
        </p:txBody>
      </p:sp>
      <p:sp>
        <p:nvSpPr>
          <p:cNvPr id="3" name="TextBox 2">
            <a:extLst>
              <a:ext uri="{FF2B5EF4-FFF2-40B4-BE49-F238E27FC236}">
                <a16:creationId xmlns:a16="http://schemas.microsoft.com/office/drawing/2014/main" id="{BA4B06C4-92A7-DC82-64D5-95000A6AD6D0}"/>
              </a:ext>
            </a:extLst>
          </p:cNvPr>
          <p:cNvSpPr txBox="1"/>
          <p:nvPr/>
        </p:nvSpPr>
        <p:spPr>
          <a:xfrm>
            <a:off x="1219200" y="351234"/>
            <a:ext cx="8112816" cy="646331"/>
          </a:xfrm>
          <a:prstGeom prst="rect">
            <a:avLst/>
          </a:prstGeom>
          <a:noFill/>
        </p:spPr>
        <p:txBody>
          <a:bodyPr wrap="square">
            <a:spAutoFit/>
          </a:bodyPr>
          <a:lstStyle/>
          <a:p>
            <a:r>
              <a:rPr lang="en-US" sz="3600" b="1" dirty="0">
                <a:solidFill>
                  <a:srgbClr val="002060"/>
                </a:solidFill>
              </a:rPr>
              <a:t>Different Types of Clustering Techniques</a:t>
            </a:r>
            <a:r>
              <a:rPr lang="en-US" sz="3600" dirty="0">
                <a:solidFill>
                  <a:srgbClr val="002060"/>
                </a:solidFill>
              </a:rPr>
              <a:t> </a:t>
            </a:r>
          </a:p>
        </p:txBody>
      </p:sp>
    </p:spTree>
    <p:extLst>
      <p:ext uri="{BB962C8B-B14F-4D97-AF65-F5344CB8AC3E}">
        <p14:creationId xmlns:p14="http://schemas.microsoft.com/office/powerpoint/2010/main" val="34385847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1CE02B-BEEF-95F7-ACB7-8B9D38B476E3}"/>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D7F0F61B-B69E-2BED-E271-6FAF3AC420CE}"/>
              </a:ext>
            </a:extLst>
          </p:cNvPr>
          <p:cNvSpPr txBox="1"/>
          <p:nvPr/>
        </p:nvSpPr>
        <p:spPr>
          <a:xfrm>
            <a:off x="564045" y="530951"/>
            <a:ext cx="11064738" cy="5324535"/>
          </a:xfrm>
          <a:prstGeom prst="rect">
            <a:avLst/>
          </a:prstGeom>
          <a:noFill/>
        </p:spPr>
        <p:txBody>
          <a:bodyPr wrap="square">
            <a:spAutoFit/>
          </a:bodyPr>
          <a:lstStyle/>
          <a:p>
            <a:r>
              <a:rPr lang="en-US" sz="2800" b="1" dirty="0">
                <a:solidFill>
                  <a:srgbClr val="C00000"/>
                </a:solidFill>
              </a:rPr>
              <a:t>Partitioning Methods:</a:t>
            </a:r>
          </a:p>
          <a:p>
            <a:r>
              <a:rPr lang="en-US" sz="2400" b="0" i="0" dirty="0">
                <a:solidFill>
                  <a:srgbClr val="0D0D0D"/>
                </a:solidFill>
                <a:effectLst/>
                <a:latin typeface="Söhne"/>
              </a:rPr>
              <a:t>	Partitioning methods aim to </a:t>
            </a:r>
            <a:r>
              <a:rPr lang="en-US" sz="2400" b="1" i="0" dirty="0">
                <a:solidFill>
                  <a:srgbClr val="0D0D0D"/>
                </a:solidFill>
                <a:effectLst/>
                <a:latin typeface="Söhne"/>
              </a:rPr>
              <a:t>divide the data points into </a:t>
            </a:r>
            <a:r>
              <a:rPr lang="en-US" sz="2400" b="1" i="0" dirty="0">
                <a:solidFill>
                  <a:srgbClr val="C00000"/>
                </a:solidFill>
                <a:effectLst/>
                <a:latin typeface="Söhne"/>
              </a:rPr>
              <a:t>distinct</a:t>
            </a:r>
            <a:r>
              <a:rPr lang="en-US" sz="2400" b="1" i="0" dirty="0">
                <a:solidFill>
                  <a:srgbClr val="0D0D0D"/>
                </a:solidFill>
                <a:effectLst/>
                <a:latin typeface="Söhne"/>
              </a:rPr>
              <a:t> </a:t>
            </a:r>
            <a:r>
              <a:rPr lang="en-US" sz="2400" b="1" i="0" dirty="0">
                <a:solidFill>
                  <a:srgbClr val="C00000"/>
                </a:solidFill>
                <a:effectLst/>
                <a:latin typeface="Söhne"/>
              </a:rPr>
              <a:t>non-overlapping </a:t>
            </a:r>
            <a:r>
              <a:rPr lang="en-US" sz="2400" b="1" i="0" dirty="0">
                <a:solidFill>
                  <a:srgbClr val="0D0D0D"/>
                </a:solidFill>
                <a:effectLst/>
                <a:latin typeface="Söhne"/>
              </a:rPr>
              <a:t>subgroups or clusters. </a:t>
            </a:r>
            <a:r>
              <a:rPr lang="en-US" sz="2400" b="1" i="0" dirty="0">
                <a:solidFill>
                  <a:srgbClr val="C00000"/>
                </a:solidFill>
                <a:effectLst/>
                <a:latin typeface="Söhne"/>
              </a:rPr>
              <a:t>Each data point belongs to exactly one cluster. </a:t>
            </a:r>
          </a:p>
          <a:p>
            <a:r>
              <a:rPr lang="en-US" sz="2400" dirty="0"/>
              <a:t>	</a:t>
            </a:r>
          </a:p>
          <a:p>
            <a:r>
              <a:rPr lang="en-US" sz="2400" dirty="0"/>
              <a:t>Two of the most important algorithms for partitioning-based clustering are:</a:t>
            </a:r>
          </a:p>
          <a:p>
            <a:pPr marL="342900" indent="-342900">
              <a:buAutoNum type="arabicPeriod"/>
            </a:pPr>
            <a:r>
              <a:rPr lang="en-US" sz="2400" b="1" dirty="0"/>
              <a:t>k-means (</a:t>
            </a:r>
            <a:r>
              <a:rPr lang="en-US" sz="2400" b="1" dirty="0">
                <a:solidFill>
                  <a:srgbClr val="C00000"/>
                </a:solidFill>
              </a:rPr>
              <a:t>A centroid-based technique)</a:t>
            </a:r>
            <a:endParaRPr lang="en-US" sz="2400" b="1" dirty="0"/>
          </a:p>
          <a:p>
            <a:pPr marL="342900" indent="-342900">
              <a:buAutoNum type="arabicPeriod"/>
            </a:pPr>
            <a:r>
              <a:rPr lang="en-US" sz="2400" b="1" dirty="0" err="1"/>
              <a:t>kmedoid</a:t>
            </a:r>
            <a:endParaRPr lang="en-US" sz="2400" b="1" dirty="0"/>
          </a:p>
          <a:p>
            <a:pPr marL="342900" indent="-342900">
              <a:buAutoNum type="arabicPeriod"/>
            </a:pPr>
            <a:endParaRPr lang="en-US" sz="2400" b="1" dirty="0">
              <a:solidFill>
                <a:srgbClr val="C00000"/>
              </a:solidFill>
            </a:endParaRPr>
          </a:p>
          <a:p>
            <a:pPr marL="342900" indent="-342900">
              <a:buAutoNum type="arabicPeriod"/>
            </a:pPr>
            <a:endParaRPr lang="en-US" sz="2400" b="1" dirty="0">
              <a:solidFill>
                <a:srgbClr val="C00000"/>
              </a:solidFill>
            </a:endParaRPr>
          </a:p>
          <a:p>
            <a:r>
              <a:rPr lang="en-US" sz="2400" dirty="0"/>
              <a:t>	In the k-means algorithm, the </a:t>
            </a:r>
            <a:r>
              <a:rPr lang="en-US" sz="2400" b="1" dirty="0">
                <a:solidFill>
                  <a:schemeClr val="tx2">
                    <a:lumMod val="75000"/>
                    <a:lumOff val="25000"/>
                  </a:schemeClr>
                </a:solidFill>
              </a:rPr>
              <a:t>centroid</a:t>
            </a:r>
            <a:r>
              <a:rPr lang="en-US" sz="2400" dirty="0"/>
              <a:t> of the prototype is identified for clustering, which is normally the </a:t>
            </a:r>
            <a:r>
              <a:rPr lang="en-US" sz="2400" b="1" dirty="0">
                <a:solidFill>
                  <a:schemeClr val="tx2">
                    <a:lumMod val="75000"/>
                    <a:lumOff val="25000"/>
                  </a:schemeClr>
                </a:solidFill>
              </a:rPr>
              <a:t>mean of a group of points</a:t>
            </a:r>
            <a:r>
              <a:rPr lang="en-US" sz="2400" dirty="0"/>
              <a:t>. Similarly, the k-medoid algorithm identifies the </a:t>
            </a:r>
            <a:r>
              <a:rPr lang="en-US" sz="2400" b="1" dirty="0">
                <a:solidFill>
                  <a:srgbClr val="C00000"/>
                </a:solidFill>
              </a:rPr>
              <a:t>medoid</a:t>
            </a:r>
            <a:r>
              <a:rPr lang="en-US" sz="2400" dirty="0"/>
              <a:t> which is the </a:t>
            </a:r>
            <a:r>
              <a:rPr lang="en-US" sz="2400" b="1" dirty="0">
                <a:solidFill>
                  <a:srgbClr val="C00000"/>
                </a:solidFill>
              </a:rPr>
              <a:t>most representative point</a:t>
            </a:r>
            <a:r>
              <a:rPr lang="en-US" sz="2400" dirty="0"/>
              <a:t> for a group of points. We can also infer that in most cases, the centroid does not correspond to an actual data point, whereas medoid is always an actual data point.</a:t>
            </a:r>
            <a:endParaRPr lang="en-US" sz="2400" b="1" dirty="0">
              <a:solidFill>
                <a:srgbClr val="C00000"/>
              </a:solidFill>
            </a:endParaRPr>
          </a:p>
        </p:txBody>
      </p:sp>
    </p:spTree>
    <p:extLst>
      <p:ext uri="{BB962C8B-B14F-4D97-AF65-F5344CB8AC3E}">
        <p14:creationId xmlns:p14="http://schemas.microsoft.com/office/powerpoint/2010/main" val="39782333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2A66C-C4A7-C7B7-6FAE-BB60108C070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979E964-629C-67B9-6A1B-3568A2697233}"/>
              </a:ext>
            </a:extLst>
          </p:cNvPr>
          <p:cNvSpPr>
            <a:spLocks noGrp="1"/>
          </p:cNvSpPr>
          <p:nvPr>
            <p:ph idx="1"/>
          </p:nvPr>
        </p:nvSpPr>
        <p:spPr>
          <a:xfrm>
            <a:off x="702853" y="968829"/>
            <a:ext cx="10900568" cy="4931228"/>
          </a:xfrm>
        </p:spPr>
        <p:txBody>
          <a:bodyPr>
            <a:normAutofit lnSpcReduction="10000"/>
          </a:bodyPr>
          <a:lstStyle/>
          <a:p>
            <a:pPr marL="0" indent="0">
              <a:buNone/>
            </a:pPr>
            <a:r>
              <a:rPr lang="en-US" sz="2800" b="1" dirty="0"/>
              <a:t>K-Means Clustering:</a:t>
            </a:r>
          </a:p>
          <a:p>
            <a:pPr marL="0" indent="0">
              <a:buNone/>
            </a:pPr>
            <a:r>
              <a:rPr lang="en-US" sz="2400" dirty="0"/>
              <a:t>K-Means is an unsupervised learning algorithm used to </a:t>
            </a:r>
            <a:r>
              <a:rPr lang="en-US" sz="2400" b="1" dirty="0">
                <a:solidFill>
                  <a:schemeClr val="tx2">
                    <a:lumMod val="50000"/>
                    <a:lumOff val="50000"/>
                  </a:schemeClr>
                </a:solidFill>
              </a:rPr>
              <a:t>group similar data points into K clusters</a:t>
            </a:r>
            <a:r>
              <a:rPr lang="en-US" sz="2400" dirty="0"/>
              <a:t>. Each cluster has a centroid (center point), and each data point belongs to the cluster with the nearest </a:t>
            </a:r>
            <a:r>
              <a:rPr lang="en-US" sz="2400" b="1" dirty="0">
                <a:solidFill>
                  <a:srgbClr val="C00000"/>
                </a:solidFill>
                <a:latin typeface="Söhne"/>
              </a:rPr>
              <a:t>mean </a:t>
            </a:r>
            <a:r>
              <a:rPr lang="en-US" sz="2400" dirty="0"/>
              <a:t>or </a:t>
            </a:r>
            <a:r>
              <a:rPr lang="en-US" sz="2400" b="1" dirty="0">
                <a:solidFill>
                  <a:srgbClr val="C00000"/>
                </a:solidFill>
                <a:latin typeface="Söhne"/>
              </a:rPr>
              <a:t>centroid</a:t>
            </a:r>
            <a:r>
              <a:rPr lang="en-US" sz="2400" dirty="0"/>
              <a:t>.</a:t>
            </a:r>
          </a:p>
          <a:p>
            <a:r>
              <a:rPr lang="en-US" sz="2400" dirty="0">
                <a:solidFill>
                  <a:srgbClr val="273239"/>
                </a:solidFill>
                <a:latin typeface="Calibri (Body)"/>
              </a:rPr>
              <a:t>The goal of </a:t>
            </a:r>
            <a:r>
              <a:rPr lang="en-US" sz="2400" u="sng" dirty="0">
                <a:latin typeface="Calibri (Body)"/>
                <a:hlinkClick r:id="rId2"/>
              </a:rPr>
              <a:t>clustering</a:t>
            </a:r>
            <a:r>
              <a:rPr lang="en-US" sz="2400" dirty="0">
                <a:solidFill>
                  <a:srgbClr val="273239"/>
                </a:solidFill>
                <a:latin typeface="Calibri (Body)"/>
              </a:rPr>
              <a:t> is to divide the </a:t>
            </a:r>
            <a:r>
              <a:rPr lang="en-US" sz="2400" b="1" dirty="0">
                <a:solidFill>
                  <a:srgbClr val="C00000"/>
                </a:solidFill>
                <a:latin typeface="Calibri (Body)"/>
              </a:rPr>
              <a:t>population</a:t>
            </a:r>
            <a:r>
              <a:rPr lang="en-US" sz="2400" dirty="0">
                <a:solidFill>
                  <a:srgbClr val="273239"/>
                </a:solidFill>
                <a:latin typeface="Calibri (Body)"/>
              </a:rPr>
              <a:t> or set of data points into a number of groups </a:t>
            </a:r>
            <a:r>
              <a:rPr lang="en-US" sz="2400" b="1" dirty="0">
                <a:solidFill>
                  <a:srgbClr val="273239"/>
                </a:solidFill>
                <a:latin typeface="Calibri (Body)"/>
              </a:rPr>
              <a:t>so that the data points within each group are more comparable to one another and different from the data points within the other groups</a:t>
            </a:r>
            <a:r>
              <a:rPr lang="en-US" sz="2400" dirty="0">
                <a:solidFill>
                  <a:srgbClr val="273239"/>
                </a:solidFill>
                <a:latin typeface="Calibri (Body)"/>
              </a:rPr>
              <a:t>.</a:t>
            </a:r>
            <a:r>
              <a:rPr lang="en-US" sz="2400" dirty="0">
                <a:solidFill>
                  <a:srgbClr val="C00000"/>
                </a:solidFill>
                <a:latin typeface="Calibri (Body)"/>
              </a:rPr>
              <a:t> It is essentially a grouping of things based on how similar and different they are to one another. </a:t>
            </a:r>
          </a:p>
          <a:p>
            <a:r>
              <a:rPr lang="en-US" sz="2400" dirty="0">
                <a:solidFill>
                  <a:srgbClr val="273239"/>
                </a:solidFill>
                <a:latin typeface="Calibri (Body)"/>
              </a:rPr>
              <a:t>	</a:t>
            </a:r>
            <a:r>
              <a:rPr lang="en-US" sz="2400" dirty="0">
                <a:solidFill>
                  <a:schemeClr val="accent6"/>
                </a:solidFill>
              </a:rPr>
              <a:t>The principle of the k-means algorithm is to assign each of the ‘n’ data points to one of the K clusters where ‘K’ is a </a:t>
            </a:r>
            <a:r>
              <a:rPr lang="en-US" sz="2400" b="1" dirty="0">
                <a:solidFill>
                  <a:schemeClr val="accent6"/>
                </a:solidFill>
              </a:rPr>
              <a:t>user-defined parameter </a:t>
            </a:r>
            <a:r>
              <a:rPr lang="en-US" sz="2400" dirty="0">
                <a:solidFill>
                  <a:schemeClr val="accent6"/>
                </a:solidFill>
              </a:rPr>
              <a:t>as the number of clusters desired</a:t>
            </a:r>
            <a:r>
              <a:rPr lang="en-US" sz="2400" dirty="0"/>
              <a:t>. The objective is to maximize the </a:t>
            </a:r>
            <a:r>
              <a:rPr lang="en-US" sz="2400" b="1" dirty="0">
                <a:solidFill>
                  <a:srgbClr val="C00000"/>
                </a:solidFill>
              </a:rPr>
              <a:t>Homogeneity</a:t>
            </a:r>
            <a:r>
              <a:rPr lang="en-US" sz="2400" dirty="0"/>
              <a:t> within the clusters and also to maximize the differences between the clusters. The homogeneity and differences are measured in terms of the distance between the objects or points in the data set. </a:t>
            </a:r>
            <a:endParaRPr lang="en-US" sz="2400" dirty="0">
              <a:solidFill>
                <a:srgbClr val="273239"/>
              </a:solidFill>
              <a:latin typeface="Calibri (Body)"/>
            </a:endParaRPr>
          </a:p>
          <a:p>
            <a:pPr marL="0" indent="0">
              <a:buNone/>
            </a:pPr>
            <a:endParaRPr lang="en-US" sz="2400" dirty="0"/>
          </a:p>
          <a:p>
            <a:pPr marL="0" indent="0">
              <a:buNone/>
            </a:pPr>
            <a:endParaRPr lang="en-IN" sz="2400" dirty="0"/>
          </a:p>
        </p:txBody>
      </p:sp>
    </p:spTree>
    <p:extLst>
      <p:ext uri="{BB962C8B-B14F-4D97-AF65-F5344CB8AC3E}">
        <p14:creationId xmlns:p14="http://schemas.microsoft.com/office/powerpoint/2010/main" val="20184633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1D124-782C-FBE6-B006-71A8E9F3202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6FBA7F6-DA95-75DB-9DB6-00380EAF2C6D}"/>
              </a:ext>
            </a:extLst>
          </p:cNvPr>
          <p:cNvSpPr txBox="1"/>
          <p:nvPr/>
        </p:nvSpPr>
        <p:spPr>
          <a:xfrm>
            <a:off x="604935" y="305068"/>
            <a:ext cx="11383345" cy="6247864"/>
          </a:xfrm>
          <a:prstGeom prst="rect">
            <a:avLst/>
          </a:prstGeom>
          <a:noFill/>
        </p:spPr>
        <p:txBody>
          <a:bodyPr wrap="square">
            <a:spAutoFit/>
          </a:bodyPr>
          <a:lstStyle/>
          <a:p>
            <a:pPr algn="l"/>
            <a:r>
              <a:rPr lang="en-US" sz="2000" b="1" i="0" dirty="0">
                <a:solidFill>
                  <a:srgbClr val="002060"/>
                </a:solidFill>
                <a:effectLst/>
                <a:latin typeface="Söhne"/>
              </a:rPr>
              <a:t>What the “Means” indicates in the Name K-Means:</a:t>
            </a:r>
            <a:endParaRPr lang="en-US" sz="2000" b="0" i="0" dirty="0">
              <a:solidFill>
                <a:srgbClr val="002060"/>
              </a:solidFill>
              <a:effectLst/>
              <a:latin typeface="Söhne"/>
            </a:endParaRPr>
          </a:p>
          <a:p>
            <a:pPr algn="l"/>
            <a:r>
              <a:rPr lang="en-US" sz="2000" b="0" i="0" dirty="0">
                <a:solidFill>
                  <a:srgbClr val="0D0D0D"/>
                </a:solidFill>
                <a:effectLst/>
                <a:latin typeface="Söhne"/>
              </a:rPr>
              <a:t>	In the context of the k-Means algorithm, "</a:t>
            </a:r>
            <a:r>
              <a:rPr lang="en-US" sz="2000" b="1" i="0" dirty="0">
                <a:solidFill>
                  <a:srgbClr val="0D0D0D"/>
                </a:solidFill>
                <a:effectLst/>
                <a:latin typeface="Söhne"/>
              </a:rPr>
              <a:t>Means</a:t>
            </a:r>
            <a:r>
              <a:rPr lang="en-US" sz="2000" b="0" i="0" dirty="0">
                <a:solidFill>
                  <a:srgbClr val="0D0D0D"/>
                </a:solidFill>
                <a:effectLst/>
                <a:latin typeface="Söhne"/>
              </a:rPr>
              <a:t>" refers to the </a:t>
            </a:r>
            <a:r>
              <a:rPr lang="en-US" sz="2000" b="1" i="0" dirty="0">
                <a:solidFill>
                  <a:srgbClr val="C00000"/>
                </a:solidFill>
                <a:effectLst/>
                <a:latin typeface="Söhne"/>
              </a:rPr>
              <a:t>centroids</a:t>
            </a:r>
            <a:r>
              <a:rPr lang="en-US" sz="2000" b="0" i="0" dirty="0">
                <a:solidFill>
                  <a:srgbClr val="0D0D0D"/>
                </a:solidFill>
                <a:effectLst/>
                <a:latin typeface="Söhne"/>
              </a:rPr>
              <a:t> </a:t>
            </a:r>
            <a:r>
              <a:rPr lang="en-US" sz="2000" b="1" i="0" dirty="0">
                <a:solidFill>
                  <a:srgbClr val="0D0D0D"/>
                </a:solidFill>
                <a:effectLst/>
                <a:latin typeface="Söhne"/>
              </a:rPr>
              <a:t>of the clusters</a:t>
            </a:r>
            <a:r>
              <a:rPr lang="en-US" sz="2000" b="0" i="0" dirty="0">
                <a:solidFill>
                  <a:srgbClr val="0D0D0D"/>
                </a:solidFill>
                <a:effectLst/>
                <a:latin typeface="Söhne"/>
              </a:rPr>
              <a:t>.</a:t>
            </a:r>
          </a:p>
          <a:p>
            <a:pPr algn="l"/>
            <a:r>
              <a:rPr lang="en-US" sz="2000" b="0" i="0" dirty="0">
                <a:solidFill>
                  <a:srgbClr val="0D0D0D"/>
                </a:solidFill>
                <a:effectLst/>
                <a:latin typeface="Söhne"/>
              </a:rPr>
              <a:t>	The word "Means" comes from the fact that in the k-Means algorithm, each cluster is represented by the </a:t>
            </a:r>
            <a:r>
              <a:rPr lang="en-US" sz="2000" b="1" i="0" dirty="0">
                <a:solidFill>
                  <a:srgbClr val="C00000"/>
                </a:solidFill>
                <a:effectLst/>
                <a:latin typeface="Söhne"/>
              </a:rPr>
              <a:t>mean</a:t>
            </a:r>
            <a:r>
              <a:rPr lang="en-US" sz="2000" b="0" i="0" dirty="0">
                <a:solidFill>
                  <a:srgbClr val="0D0D0D"/>
                </a:solidFill>
                <a:effectLst/>
                <a:latin typeface="Söhne"/>
              </a:rPr>
              <a:t> or </a:t>
            </a:r>
            <a:r>
              <a:rPr lang="en-US" sz="2000" b="1" i="0" dirty="0">
                <a:solidFill>
                  <a:srgbClr val="C00000"/>
                </a:solidFill>
                <a:effectLst/>
                <a:latin typeface="Söhne"/>
              </a:rPr>
              <a:t>average</a:t>
            </a:r>
            <a:r>
              <a:rPr lang="en-US" sz="2000" b="0" i="0" dirty="0">
                <a:solidFill>
                  <a:srgbClr val="0D0D0D"/>
                </a:solidFill>
                <a:effectLst/>
                <a:latin typeface="Söhne"/>
              </a:rPr>
              <a:t>  of all the data points assigned to that cluster. These means are also called centroids.</a:t>
            </a:r>
          </a:p>
          <a:p>
            <a:pPr algn="l"/>
            <a:r>
              <a:rPr lang="en-US" sz="2000" b="0" i="0" dirty="0">
                <a:solidFill>
                  <a:srgbClr val="0D0D0D"/>
                </a:solidFill>
                <a:effectLst/>
                <a:latin typeface="Söhne"/>
              </a:rPr>
              <a:t>	During each iteration of the algorithm, the centroids are recalculated to update their positions based on the current assignment of data points to clusters. The centroids are computed as the average of the data points belonging to each cluster.</a:t>
            </a:r>
          </a:p>
          <a:p>
            <a:pPr algn="l"/>
            <a:endParaRPr lang="en-US" sz="2000" dirty="0">
              <a:solidFill>
                <a:srgbClr val="0D0D0D"/>
              </a:solidFill>
              <a:latin typeface="Söhne"/>
            </a:endParaRPr>
          </a:p>
          <a:p>
            <a:pPr algn="l"/>
            <a:r>
              <a:rPr lang="en-US" sz="2000" b="1" i="0" dirty="0">
                <a:solidFill>
                  <a:srgbClr val="C00000"/>
                </a:solidFill>
                <a:effectLst/>
                <a:latin typeface="Söhne"/>
              </a:rPr>
              <a:t>For example, </a:t>
            </a:r>
            <a:r>
              <a:rPr lang="en-US" sz="2000" b="0" i="0" dirty="0">
                <a:solidFill>
                  <a:srgbClr val="0D0D0D"/>
                </a:solidFill>
                <a:effectLst/>
                <a:latin typeface="Söhne"/>
              </a:rPr>
              <a:t>suppose you have a cluster of two-dimensional points with the following coordinates:</a:t>
            </a:r>
          </a:p>
          <a:p>
            <a:pPr algn="l"/>
            <a:endParaRPr lang="en-US" sz="2000" dirty="0">
              <a:solidFill>
                <a:srgbClr val="0D0D0D"/>
              </a:solidFill>
              <a:latin typeface="Söhne"/>
            </a:endParaRPr>
          </a:p>
          <a:p>
            <a:pPr algn="l"/>
            <a:r>
              <a:rPr lang="en-US" sz="2000" b="0" i="0" dirty="0">
                <a:solidFill>
                  <a:srgbClr val="0D0D0D"/>
                </a:solidFill>
                <a:effectLst/>
                <a:latin typeface="Söhne"/>
              </a:rPr>
              <a:t>	(1, 3), (2, 4), (3, 5)</a:t>
            </a:r>
          </a:p>
          <a:p>
            <a:pPr algn="l"/>
            <a:endParaRPr lang="en-US" sz="2000" b="0" i="0" dirty="0">
              <a:solidFill>
                <a:srgbClr val="0D0D0D"/>
              </a:solidFill>
              <a:effectLst/>
              <a:latin typeface="Söhne"/>
            </a:endParaRPr>
          </a:p>
          <a:p>
            <a:pPr algn="l"/>
            <a:r>
              <a:rPr lang="en-US" sz="2000" b="0" i="0" dirty="0">
                <a:solidFill>
                  <a:srgbClr val="0D0D0D"/>
                </a:solidFill>
                <a:effectLst/>
                <a:latin typeface="Söhne"/>
              </a:rPr>
              <a:t>	</a:t>
            </a:r>
            <a:r>
              <a:rPr lang="en-US" sz="2000" b="1" i="0" dirty="0">
                <a:solidFill>
                  <a:schemeClr val="accent6"/>
                </a:solidFill>
                <a:effectLst/>
                <a:latin typeface="Söhne"/>
              </a:rPr>
              <a:t>To find the centroid of this cluster, you would calculate the mean of the x-coordinates and the mean of the y-coordinates separately:</a:t>
            </a:r>
          </a:p>
          <a:p>
            <a:pPr algn="l"/>
            <a:r>
              <a:rPr lang="en-US" sz="2000" b="0" i="0" dirty="0">
                <a:solidFill>
                  <a:srgbClr val="0D0D0D"/>
                </a:solidFill>
                <a:effectLst/>
                <a:latin typeface="Söhne"/>
              </a:rPr>
              <a:t>Mean x-coordinate = (1 + 2 + 3) / 3 = 2</a:t>
            </a:r>
          </a:p>
          <a:p>
            <a:pPr algn="l"/>
            <a:r>
              <a:rPr lang="en-US" sz="2000" b="0" i="0" dirty="0">
                <a:solidFill>
                  <a:srgbClr val="0D0D0D"/>
                </a:solidFill>
                <a:effectLst/>
                <a:latin typeface="Söhne"/>
              </a:rPr>
              <a:t>Mean y-coordinate = (3 + 4 + 5) / 3 = 4</a:t>
            </a:r>
          </a:p>
          <a:p>
            <a:pPr algn="l"/>
            <a:endParaRPr lang="en-US" sz="2000" dirty="0">
              <a:solidFill>
                <a:srgbClr val="0D0D0D"/>
              </a:solidFill>
              <a:latin typeface="Söhne"/>
            </a:endParaRPr>
          </a:p>
          <a:p>
            <a:pPr algn="l"/>
            <a:r>
              <a:rPr lang="en-US" sz="2000" b="0" i="0" dirty="0">
                <a:solidFill>
                  <a:srgbClr val="0D0D0D"/>
                </a:solidFill>
                <a:effectLst/>
                <a:latin typeface="Söhne"/>
              </a:rPr>
              <a:t>	So, the centroid of this cluster would be the point (2, 4). This point represents the "</a:t>
            </a:r>
            <a:r>
              <a:rPr lang="en-US" sz="2000" b="1" i="0" dirty="0">
                <a:solidFill>
                  <a:srgbClr val="C00000"/>
                </a:solidFill>
                <a:effectLst/>
                <a:latin typeface="Söhne"/>
              </a:rPr>
              <a:t>mean</a:t>
            </a:r>
            <a:r>
              <a:rPr lang="en-US" sz="2000" b="0" i="0" dirty="0">
                <a:solidFill>
                  <a:srgbClr val="0D0D0D"/>
                </a:solidFill>
                <a:effectLst/>
                <a:latin typeface="Söhne"/>
              </a:rPr>
              <a:t>" or "</a:t>
            </a:r>
            <a:r>
              <a:rPr lang="en-US" sz="2000" b="1" i="0" dirty="0">
                <a:solidFill>
                  <a:srgbClr val="C00000"/>
                </a:solidFill>
                <a:effectLst/>
                <a:latin typeface="Söhne"/>
              </a:rPr>
              <a:t>average</a:t>
            </a:r>
            <a:r>
              <a:rPr lang="en-US" sz="2000" b="0" i="0" dirty="0">
                <a:solidFill>
                  <a:srgbClr val="0D0D0D"/>
                </a:solidFill>
                <a:effectLst/>
                <a:latin typeface="Söhne"/>
              </a:rPr>
              <a:t>" location of the data points in that cluster.</a:t>
            </a:r>
          </a:p>
        </p:txBody>
      </p:sp>
    </p:spTree>
    <p:extLst>
      <p:ext uri="{BB962C8B-B14F-4D97-AF65-F5344CB8AC3E}">
        <p14:creationId xmlns:p14="http://schemas.microsoft.com/office/powerpoint/2010/main" val="1190908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F36FAF-0AD9-20D3-9B96-B76D5C6C8E3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32B92FB-B42E-05FD-05DE-641312D69F43}"/>
              </a:ext>
            </a:extLst>
          </p:cNvPr>
          <p:cNvSpPr txBox="1"/>
          <p:nvPr/>
        </p:nvSpPr>
        <p:spPr>
          <a:xfrm>
            <a:off x="500269" y="426030"/>
            <a:ext cx="11923644" cy="6005940"/>
          </a:xfrm>
          <a:prstGeom prst="rect">
            <a:avLst/>
          </a:prstGeom>
          <a:noFill/>
        </p:spPr>
        <p:txBody>
          <a:bodyPr wrap="square">
            <a:spAutoFit/>
          </a:bodyPr>
          <a:lstStyle/>
          <a:p>
            <a:r>
              <a:rPr lang="en-US" sz="2800" b="1" dirty="0"/>
              <a:t>Simple algorithm of K-means:</a:t>
            </a:r>
            <a:r>
              <a:rPr lang="en-US" sz="2400" b="1" dirty="0"/>
              <a:t> </a:t>
            </a:r>
          </a:p>
          <a:p>
            <a:pPr algn="l"/>
            <a:r>
              <a:rPr lang="en-US" sz="2400" b="1" dirty="0"/>
              <a:t>Step 1: </a:t>
            </a:r>
          </a:p>
          <a:p>
            <a:pPr algn="l"/>
            <a:r>
              <a:rPr lang="en-US" sz="2400" b="1" i="0" dirty="0">
                <a:solidFill>
                  <a:srgbClr val="0D0D0D"/>
                </a:solidFill>
                <a:effectLst/>
                <a:latin typeface="Söhne"/>
              </a:rPr>
              <a:t>	</a:t>
            </a:r>
            <a:r>
              <a:rPr lang="en-US" sz="2400" b="0" i="0" dirty="0">
                <a:solidFill>
                  <a:srgbClr val="0D0D0D"/>
                </a:solidFill>
                <a:effectLst/>
                <a:latin typeface="Söhne"/>
              </a:rPr>
              <a:t>Choose the number of clusters, 'k', that you want to identify.</a:t>
            </a:r>
          </a:p>
          <a:p>
            <a:pPr algn="l"/>
            <a:r>
              <a:rPr lang="en-US" sz="2400" b="0" i="0" dirty="0">
                <a:solidFill>
                  <a:srgbClr val="0D0D0D"/>
                </a:solidFill>
                <a:effectLst/>
                <a:latin typeface="Söhne"/>
              </a:rPr>
              <a:t>	Randomly initialize 'k' cluster centroids. </a:t>
            </a:r>
            <a:endParaRPr lang="en-US" sz="2400" dirty="0"/>
          </a:p>
          <a:p>
            <a:pPr>
              <a:lnSpc>
                <a:spcPct val="150000"/>
              </a:lnSpc>
            </a:pPr>
            <a:r>
              <a:rPr lang="en-US" sz="2400" b="1" dirty="0">
                <a:solidFill>
                  <a:srgbClr val="C00000"/>
                </a:solidFill>
              </a:rPr>
              <a:t>Loop </a:t>
            </a:r>
          </a:p>
          <a:p>
            <a:pPr lvl="1">
              <a:lnSpc>
                <a:spcPct val="150000"/>
              </a:lnSpc>
            </a:pPr>
            <a:r>
              <a:rPr lang="en-US" sz="2400" b="1" dirty="0"/>
              <a:t>Step 2: </a:t>
            </a:r>
            <a:r>
              <a:rPr lang="en-US" sz="2400" dirty="0"/>
              <a:t>Assign each point in the data space to the nearest centroid to form K clusters </a:t>
            </a:r>
          </a:p>
          <a:p>
            <a:pPr lvl="1">
              <a:lnSpc>
                <a:spcPct val="150000"/>
              </a:lnSpc>
            </a:pPr>
            <a:r>
              <a:rPr lang="en-US" sz="2400" b="1" dirty="0"/>
              <a:t>Step 3: </a:t>
            </a:r>
            <a:r>
              <a:rPr lang="en-US" sz="2400" dirty="0"/>
              <a:t>Measure the distance of each point in the cluster from the centroid </a:t>
            </a:r>
          </a:p>
          <a:p>
            <a:pPr lvl="1">
              <a:lnSpc>
                <a:spcPct val="150000"/>
              </a:lnSpc>
            </a:pPr>
            <a:r>
              <a:rPr lang="en-US" sz="2400" b="1" dirty="0"/>
              <a:t>Step 4: </a:t>
            </a:r>
            <a:r>
              <a:rPr lang="en-US" sz="2400" dirty="0"/>
              <a:t>Calculate the Sum of Squared Error (SSE) to measure the quality of the clusters. </a:t>
            </a:r>
          </a:p>
          <a:p>
            <a:pPr lvl="1">
              <a:lnSpc>
                <a:spcPct val="150000"/>
              </a:lnSpc>
            </a:pPr>
            <a:r>
              <a:rPr lang="en-US" sz="2400" dirty="0"/>
              <a:t>		This is to measure whether the K value is good or bad.</a:t>
            </a:r>
          </a:p>
          <a:p>
            <a:pPr lvl="1">
              <a:lnSpc>
                <a:spcPct val="150000"/>
              </a:lnSpc>
            </a:pPr>
            <a:r>
              <a:rPr lang="en-US" sz="2400" b="1" dirty="0"/>
              <a:t>Step 5: </a:t>
            </a:r>
            <a:r>
              <a:rPr lang="en-US" sz="2400" dirty="0"/>
              <a:t>Identify the new centroid of each cluster on the basis of distance between points </a:t>
            </a:r>
            <a:r>
              <a:rPr lang="en-US" sz="2400" b="1" dirty="0"/>
              <a:t>Step 6: </a:t>
            </a:r>
            <a:r>
              <a:rPr lang="en-US" sz="2400" dirty="0"/>
              <a:t>Repeat Steps 2 to 5 to refine until centroids do not change.</a:t>
            </a:r>
          </a:p>
          <a:p>
            <a:pPr>
              <a:lnSpc>
                <a:spcPct val="150000"/>
              </a:lnSpc>
            </a:pPr>
            <a:r>
              <a:rPr lang="en-US" sz="2400" b="1" dirty="0">
                <a:solidFill>
                  <a:srgbClr val="C00000"/>
                </a:solidFill>
              </a:rPr>
              <a:t>End Loop.</a:t>
            </a:r>
          </a:p>
        </p:txBody>
      </p:sp>
    </p:spTree>
    <p:extLst>
      <p:ext uri="{BB962C8B-B14F-4D97-AF65-F5344CB8AC3E}">
        <p14:creationId xmlns:p14="http://schemas.microsoft.com/office/powerpoint/2010/main" val="35010627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4DE7E9-AEBC-7B84-7F13-B279A1307DC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4F4C7E6-767F-05EE-D23A-6DF828688D23}"/>
              </a:ext>
            </a:extLst>
          </p:cNvPr>
          <p:cNvSpPr>
            <a:spLocks noGrp="1"/>
          </p:cNvSpPr>
          <p:nvPr>
            <p:ph idx="1"/>
          </p:nvPr>
        </p:nvSpPr>
        <p:spPr>
          <a:xfrm>
            <a:off x="702853" y="968829"/>
            <a:ext cx="10900568" cy="4931228"/>
          </a:xfrm>
        </p:spPr>
        <p:txBody>
          <a:bodyPr>
            <a:normAutofit/>
          </a:bodyPr>
          <a:lstStyle/>
          <a:p>
            <a:pPr marL="0" indent="0">
              <a:buNone/>
            </a:pPr>
            <a:r>
              <a:rPr lang="en-US" sz="2800" b="1" dirty="0"/>
              <a:t>🔷 Real-Life Example:</a:t>
            </a:r>
          </a:p>
          <a:p>
            <a:pPr marL="0" indent="0">
              <a:buNone/>
            </a:pPr>
            <a:r>
              <a:rPr lang="en-US" sz="2400" dirty="0"/>
              <a:t>Let’s say you own a </a:t>
            </a:r>
            <a:r>
              <a:rPr lang="en-US" sz="2400" b="1" dirty="0"/>
              <a:t>shopping mall</a:t>
            </a:r>
            <a:r>
              <a:rPr lang="en-US" sz="2400" dirty="0"/>
              <a:t>, and you want to understand customer segments based on:</a:t>
            </a:r>
          </a:p>
          <a:p>
            <a:r>
              <a:rPr lang="en-US" sz="2400" dirty="0"/>
              <a:t>Age</a:t>
            </a:r>
          </a:p>
          <a:p>
            <a:r>
              <a:rPr lang="en-US" sz="2400" dirty="0"/>
              <a:t>Spending Score (1–100)</a:t>
            </a:r>
          </a:p>
          <a:p>
            <a:pPr marL="0" indent="0">
              <a:buNone/>
            </a:pPr>
            <a:r>
              <a:rPr lang="en-US" sz="2400" dirty="0"/>
              <a:t>You have no labels like “</a:t>
            </a:r>
            <a:r>
              <a:rPr lang="en-US" sz="2400" b="1" dirty="0">
                <a:solidFill>
                  <a:srgbClr val="002060"/>
                </a:solidFill>
              </a:rPr>
              <a:t>Student</a:t>
            </a:r>
            <a:r>
              <a:rPr lang="en-US" sz="2400" dirty="0"/>
              <a:t>”, “</a:t>
            </a:r>
            <a:r>
              <a:rPr lang="en-US" sz="2400" b="1" dirty="0">
                <a:solidFill>
                  <a:srgbClr val="002060"/>
                </a:solidFill>
              </a:rPr>
              <a:t>Worker</a:t>
            </a:r>
            <a:r>
              <a:rPr lang="en-US" sz="2400" dirty="0"/>
              <a:t>”, etc., but you want to </a:t>
            </a:r>
            <a:r>
              <a:rPr lang="en-US" sz="2400" b="1" dirty="0"/>
              <a:t>group similar customers together</a:t>
            </a:r>
            <a:r>
              <a:rPr lang="en-US" sz="2400" dirty="0"/>
              <a:t> — that's where </a:t>
            </a:r>
            <a:r>
              <a:rPr lang="en-US" sz="2400" b="1" dirty="0"/>
              <a:t>K-Means</a:t>
            </a:r>
            <a:r>
              <a:rPr lang="en-US" sz="2400" dirty="0"/>
              <a:t> helps.</a:t>
            </a:r>
          </a:p>
          <a:p>
            <a:pPr marL="0" indent="0">
              <a:buNone/>
            </a:pPr>
            <a:endParaRPr lang="en-IN" sz="2400" dirty="0"/>
          </a:p>
        </p:txBody>
      </p:sp>
    </p:spTree>
    <p:extLst>
      <p:ext uri="{BB962C8B-B14F-4D97-AF65-F5344CB8AC3E}">
        <p14:creationId xmlns:p14="http://schemas.microsoft.com/office/powerpoint/2010/main" val="40332218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9AE3EE-20F9-B8B6-7CCB-D6C9E0FB6AA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410EA96-5D62-3E6A-779D-3717C480AF71}"/>
              </a:ext>
            </a:extLst>
          </p:cNvPr>
          <p:cNvSpPr>
            <a:spLocks noGrp="1"/>
          </p:cNvSpPr>
          <p:nvPr>
            <p:ph idx="1"/>
          </p:nvPr>
        </p:nvSpPr>
        <p:spPr>
          <a:xfrm>
            <a:off x="702853" y="391886"/>
            <a:ext cx="10900568" cy="5965371"/>
          </a:xfrm>
        </p:spPr>
        <p:txBody>
          <a:bodyPr>
            <a:normAutofit fontScale="92500" lnSpcReduction="10000"/>
          </a:bodyPr>
          <a:lstStyle/>
          <a:p>
            <a:pPr marL="0" indent="0">
              <a:buNone/>
            </a:pPr>
            <a:r>
              <a:rPr lang="en-US" sz="3000" b="1" dirty="0"/>
              <a:t>🔷 Step-by-Step K-Means Algorithm:</a:t>
            </a:r>
          </a:p>
          <a:p>
            <a:pPr marL="0" indent="0">
              <a:buNone/>
            </a:pPr>
            <a:r>
              <a:rPr lang="en-US" sz="2400" dirty="0"/>
              <a:t>Let’s assume we want to divide the customers into K = 2 clusters.</a:t>
            </a:r>
          </a:p>
          <a:p>
            <a:pPr marL="0" indent="0">
              <a:buNone/>
            </a:pPr>
            <a:r>
              <a:rPr lang="en-US" sz="2400" b="1" dirty="0"/>
              <a:t>Step 1: </a:t>
            </a:r>
            <a:r>
              <a:rPr lang="en-US" sz="2400" dirty="0"/>
              <a:t>Choose the number of clusters K</a:t>
            </a:r>
          </a:p>
          <a:p>
            <a:pPr lvl="1"/>
            <a:r>
              <a:rPr lang="en-US" sz="2200" dirty="0"/>
              <a:t>Let’s choose </a:t>
            </a:r>
            <a:r>
              <a:rPr lang="en-US" sz="2200" b="1" dirty="0">
                <a:solidFill>
                  <a:schemeClr val="tx2">
                    <a:lumMod val="75000"/>
                    <a:lumOff val="25000"/>
                  </a:schemeClr>
                </a:solidFill>
              </a:rPr>
              <a:t>K = 2 </a:t>
            </a:r>
            <a:r>
              <a:rPr lang="en-US" sz="2200" dirty="0"/>
              <a:t>for now.</a:t>
            </a:r>
          </a:p>
          <a:p>
            <a:pPr marL="0" indent="0">
              <a:buNone/>
            </a:pPr>
            <a:r>
              <a:rPr lang="en-US" sz="2400" b="1" dirty="0"/>
              <a:t>Step 2: </a:t>
            </a:r>
            <a:r>
              <a:rPr lang="en-US" sz="2400" dirty="0"/>
              <a:t>Initialize Centroids</a:t>
            </a:r>
          </a:p>
          <a:p>
            <a:pPr lvl="1"/>
            <a:r>
              <a:rPr lang="en-US" sz="2200" b="1" dirty="0">
                <a:solidFill>
                  <a:schemeClr val="tx2">
                    <a:lumMod val="75000"/>
                    <a:lumOff val="25000"/>
                  </a:schemeClr>
                </a:solidFill>
              </a:rPr>
              <a:t>Randomly pick </a:t>
            </a:r>
            <a:r>
              <a:rPr lang="en-US" sz="2200" dirty="0"/>
              <a:t>2 points as initial centroids (cluster centers).</a:t>
            </a:r>
          </a:p>
          <a:p>
            <a:pPr marL="0" indent="0">
              <a:buNone/>
            </a:pPr>
            <a:r>
              <a:rPr lang="en-US" sz="2400" b="1" dirty="0"/>
              <a:t> Step 3: </a:t>
            </a:r>
            <a:r>
              <a:rPr lang="en-US" sz="2400" dirty="0"/>
              <a:t>Assign Each Data Point to the Closest Centroid</a:t>
            </a:r>
          </a:p>
          <a:p>
            <a:pPr lvl="1"/>
            <a:r>
              <a:rPr lang="en-US" sz="2200" dirty="0"/>
              <a:t>For each customer (data point), calculate the </a:t>
            </a:r>
            <a:r>
              <a:rPr lang="en-US" sz="2200" b="1" dirty="0"/>
              <a:t>distance</a:t>
            </a:r>
            <a:r>
              <a:rPr lang="en-US" sz="2200" dirty="0"/>
              <a:t> (typically </a:t>
            </a:r>
            <a:r>
              <a:rPr lang="en-US" sz="2200" b="1" dirty="0">
                <a:solidFill>
                  <a:schemeClr val="tx2">
                    <a:lumMod val="75000"/>
                    <a:lumOff val="25000"/>
                  </a:schemeClr>
                </a:solidFill>
              </a:rPr>
              <a:t>Euclidean distance</a:t>
            </a:r>
            <a:r>
              <a:rPr lang="en-US" sz="2200" dirty="0"/>
              <a:t>) to each centroid.</a:t>
            </a:r>
          </a:p>
          <a:p>
            <a:pPr lvl="1"/>
            <a:r>
              <a:rPr lang="en-US" sz="2200" dirty="0"/>
              <a:t>Assign it to the cluster of the </a:t>
            </a:r>
            <a:r>
              <a:rPr lang="en-US" sz="2200" b="1" dirty="0">
                <a:solidFill>
                  <a:schemeClr val="tx2">
                    <a:lumMod val="75000"/>
                    <a:lumOff val="25000"/>
                  </a:schemeClr>
                </a:solidFill>
              </a:rPr>
              <a:t>nearest centroid</a:t>
            </a:r>
            <a:r>
              <a:rPr lang="en-US" sz="2200" dirty="0"/>
              <a:t>.</a:t>
            </a:r>
          </a:p>
          <a:p>
            <a:pPr marL="0" indent="0">
              <a:buNone/>
            </a:pPr>
            <a:r>
              <a:rPr lang="en-US" sz="2400" b="1" dirty="0"/>
              <a:t>Step 4: </a:t>
            </a:r>
            <a:r>
              <a:rPr lang="en-US" sz="2400" dirty="0"/>
              <a:t>Update Centroids</a:t>
            </a:r>
          </a:p>
          <a:p>
            <a:pPr lvl="1"/>
            <a:r>
              <a:rPr lang="en-US" sz="2200" dirty="0"/>
              <a:t>For each cluster, calculate the mean of all points in the cluster.</a:t>
            </a:r>
          </a:p>
          <a:p>
            <a:pPr lvl="1"/>
            <a:r>
              <a:rPr lang="en-US" sz="2200" dirty="0"/>
              <a:t>This becomes the new centroid.</a:t>
            </a:r>
          </a:p>
          <a:p>
            <a:pPr marL="0" indent="0">
              <a:buNone/>
            </a:pPr>
            <a:r>
              <a:rPr lang="en-US" sz="2400" b="1" dirty="0"/>
              <a:t>Step 5: </a:t>
            </a:r>
            <a:r>
              <a:rPr lang="en-US" sz="2400" dirty="0"/>
              <a:t>Repeat</a:t>
            </a:r>
          </a:p>
          <a:p>
            <a:pPr lvl="1"/>
            <a:r>
              <a:rPr lang="en-US" sz="2200" dirty="0"/>
              <a:t>Repeat Steps 3 and 4 until:</a:t>
            </a:r>
          </a:p>
          <a:p>
            <a:pPr lvl="2"/>
            <a:r>
              <a:rPr lang="en-US" sz="2000" dirty="0"/>
              <a:t>Centroids do not change significantly (convergence)</a:t>
            </a:r>
          </a:p>
          <a:p>
            <a:pPr lvl="2"/>
            <a:r>
              <a:rPr lang="en-US" sz="2000" dirty="0"/>
              <a:t>OR after a fixed number of iterations</a:t>
            </a:r>
            <a:endParaRPr lang="en-IN" sz="2000" dirty="0"/>
          </a:p>
        </p:txBody>
      </p:sp>
    </p:spTree>
    <p:extLst>
      <p:ext uri="{BB962C8B-B14F-4D97-AF65-F5344CB8AC3E}">
        <p14:creationId xmlns:p14="http://schemas.microsoft.com/office/powerpoint/2010/main" val="26135722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C47CCF-B62C-38C7-A0AB-CB64E2EFE3B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5190202-4263-61E2-69AB-2BAC253C2360}"/>
              </a:ext>
            </a:extLst>
          </p:cNvPr>
          <p:cNvSpPr>
            <a:spLocks noGrp="1"/>
          </p:cNvSpPr>
          <p:nvPr>
            <p:ph idx="1"/>
          </p:nvPr>
        </p:nvSpPr>
        <p:spPr>
          <a:xfrm>
            <a:off x="702853" y="968829"/>
            <a:ext cx="10900568" cy="4931228"/>
          </a:xfrm>
        </p:spPr>
        <p:txBody>
          <a:bodyPr>
            <a:normAutofit/>
          </a:bodyPr>
          <a:lstStyle/>
          <a:p>
            <a:pPr marL="0" indent="0">
              <a:buNone/>
            </a:pPr>
            <a:r>
              <a:rPr lang="en-US" sz="2400" b="1" dirty="0"/>
              <a:t>Problem Statement:</a:t>
            </a:r>
          </a:p>
          <a:p>
            <a:pPr marL="0" indent="0">
              <a:buNone/>
            </a:pPr>
            <a:endParaRPr lang="en-IN" sz="2400" dirty="0"/>
          </a:p>
        </p:txBody>
      </p:sp>
      <p:graphicFrame>
        <p:nvGraphicFramePr>
          <p:cNvPr id="2" name="Table 1">
            <a:extLst>
              <a:ext uri="{FF2B5EF4-FFF2-40B4-BE49-F238E27FC236}">
                <a16:creationId xmlns:a16="http://schemas.microsoft.com/office/drawing/2014/main" id="{7BF820A9-AEAB-1CBE-E799-3C28ABE831E2}"/>
              </a:ext>
            </a:extLst>
          </p:cNvPr>
          <p:cNvGraphicFramePr>
            <a:graphicFrameLocks noGrp="1"/>
          </p:cNvGraphicFramePr>
          <p:nvPr>
            <p:extLst>
              <p:ext uri="{D42A27DB-BD31-4B8C-83A1-F6EECF244321}">
                <p14:modId xmlns:p14="http://schemas.microsoft.com/office/powerpoint/2010/main" val="3893678237"/>
              </p:ext>
            </p:extLst>
          </p:nvPr>
        </p:nvGraphicFramePr>
        <p:xfrm>
          <a:off x="1165360" y="1783437"/>
          <a:ext cx="7456124" cy="2679708"/>
        </p:xfrm>
        <a:graphic>
          <a:graphicData uri="http://schemas.openxmlformats.org/drawingml/2006/table">
            <a:tbl>
              <a:tblPr firstRow="1" firstCol="1" bandRow="1">
                <a:tableStyleId>{5C22544A-7EE6-4342-B048-85BDC9FD1C3A}</a:tableStyleId>
              </a:tblPr>
              <a:tblGrid>
                <a:gridCol w="2485099">
                  <a:extLst>
                    <a:ext uri="{9D8B030D-6E8A-4147-A177-3AD203B41FA5}">
                      <a16:colId xmlns:a16="http://schemas.microsoft.com/office/drawing/2014/main" val="4250616701"/>
                    </a:ext>
                  </a:extLst>
                </a:gridCol>
                <a:gridCol w="2485099">
                  <a:extLst>
                    <a:ext uri="{9D8B030D-6E8A-4147-A177-3AD203B41FA5}">
                      <a16:colId xmlns:a16="http://schemas.microsoft.com/office/drawing/2014/main" val="408921545"/>
                    </a:ext>
                  </a:extLst>
                </a:gridCol>
                <a:gridCol w="2485926">
                  <a:extLst>
                    <a:ext uri="{9D8B030D-6E8A-4147-A177-3AD203B41FA5}">
                      <a16:colId xmlns:a16="http://schemas.microsoft.com/office/drawing/2014/main" val="4122893870"/>
                    </a:ext>
                  </a:extLst>
                </a:gridCol>
              </a:tblGrid>
              <a:tr h="446618">
                <a:tc>
                  <a:txBody>
                    <a:bodyPr/>
                    <a:lstStyle/>
                    <a:p>
                      <a:pPr>
                        <a:lnSpc>
                          <a:spcPct val="107000"/>
                        </a:lnSpc>
                        <a:spcAft>
                          <a:spcPts val="800"/>
                        </a:spcAft>
                        <a:buNone/>
                      </a:pPr>
                      <a:r>
                        <a:rPr lang="en-IN" sz="2000" kern="100">
                          <a:effectLst/>
                        </a:rPr>
                        <a:t>Customer ID</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Age</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Spending Score</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1022009319"/>
                  </a:ext>
                </a:extLst>
              </a:tr>
              <a:tr h="446618">
                <a:tc>
                  <a:txBody>
                    <a:bodyPr/>
                    <a:lstStyle/>
                    <a:p>
                      <a:pPr>
                        <a:lnSpc>
                          <a:spcPct val="107000"/>
                        </a:lnSpc>
                        <a:spcAft>
                          <a:spcPts val="800"/>
                        </a:spcAft>
                        <a:buNone/>
                      </a:pPr>
                      <a:r>
                        <a:rPr lang="en-IN" sz="2000" kern="100">
                          <a:effectLst/>
                        </a:rPr>
                        <a:t>1</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25</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80</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3597455401"/>
                  </a:ext>
                </a:extLst>
              </a:tr>
              <a:tr h="446618">
                <a:tc>
                  <a:txBody>
                    <a:bodyPr/>
                    <a:lstStyle/>
                    <a:p>
                      <a:pPr>
                        <a:lnSpc>
                          <a:spcPct val="107000"/>
                        </a:lnSpc>
                        <a:spcAft>
                          <a:spcPts val="800"/>
                        </a:spcAft>
                        <a:buNone/>
                      </a:pPr>
                      <a:r>
                        <a:rPr lang="en-IN" sz="2000" kern="100">
                          <a:effectLst/>
                        </a:rPr>
                        <a:t>2</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dirty="0">
                          <a:effectLst/>
                        </a:rPr>
                        <a:t>34</a:t>
                      </a:r>
                      <a:endParaRPr lang="en-IN" sz="20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65</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548598037"/>
                  </a:ext>
                </a:extLst>
              </a:tr>
              <a:tr h="446618">
                <a:tc>
                  <a:txBody>
                    <a:bodyPr/>
                    <a:lstStyle/>
                    <a:p>
                      <a:pPr>
                        <a:lnSpc>
                          <a:spcPct val="107000"/>
                        </a:lnSpc>
                        <a:spcAft>
                          <a:spcPts val="800"/>
                        </a:spcAft>
                        <a:buNone/>
                      </a:pPr>
                      <a:r>
                        <a:rPr lang="en-IN" sz="2000" kern="100">
                          <a:effectLst/>
                        </a:rPr>
                        <a:t>3</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40</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20</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991682541"/>
                  </a:ext>
                </a:extLst>
              </a:tr>
              <a:tr h="446618">
                <a:tc>
                  <a:txBody>
                    <a:bodyPr/>
                    <a:lstStyle/>
                    <a:p>
                      <a:pPr>
                        <a:lnSpc>
                          <a:spcPct val="107000"/>
                        </a:lnSpc>
                        <a:spcAft>
                          <a:spcPts val="800"/>
                        </a:spcAft>
                        <a:buNone/>
                      </a:pPr>
                      <a:r>
                        <a:rPr lang="en-IN" sz="2000" kern="100">
                          <a:effectLst/>
                        </a:rPr>
                        <a:t>4</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22</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85</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3220788093"/>
                  </a:ext>
                </a:extLst>
              </a:tr>
              <a:tr h="446618">
                <a:tc>
                  <a:txBody>
                    <a:bodyPr/>
                    <a:lstStyle/>
                    <a:p>
                      <a:pPr>
                        <a:lnSpc>
                          <a:spcPct val="107000"/>
                        </a:lnSpc>
                        <a:spcAft>
                          <a:spcPts val="800"/>
                        </a:spcAft>
                        <a:buNone/>
                      </a:pPr>
                      <a:r>
                        <a:rPr lang="en-IN" sz="2000" kern="100" dirty="0">
                          <a:effectLst/>
                        </a:rPr>
                        <a:t>5</a:t>
                      </a:r>
                      <a:endParaRPr lang="en-IN" sz="20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49</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dirty="0">
                          <a:effectLst/>
                        </a:rPr>
                        <a:t>10</a:t>
                      </a:r>
                      <a:endParaRPr lang="en-IN" sz="20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572278594"/>
                  </a:ext>
                </a:extLst>
              </a:tr>
            </a:tbl>
          </a:graphicData>
        </a:graphic>
      </p:graphicFrame>
    </p:spTree>
    <p:extLst>
      <p:ext uri="{BB962C8B-B14F-4D97-AF65-F5344CB8AC3E}">
        <p14:creationId xmlns:p14="http://schemas.microsoft.com/office/powerpoint/2010/main" val="34572262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F16CFB-62B5-06D5-8A7A-59B46D7FA26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850FB92-4205-B258-6B8D-4E6E44E8CD15}"/>
              </a:ext>
            </a:extLst>
          </p:cNvPr>
          <p:cNvSpPr>
            <a:spLocks noGrp="1"/>
          </p:cNvSpPr>
          <p:nvPr>
            <p:ph idx="1"/>
          </p:nvPr>
        </p:nvSpPr>
        <p:spPr>
          <a:xfrm>
            <a:off x="702853" y="566057"/>
            <a:ext cx="10900568" cy="5736772"/>
          </a:xfrm>
        </p:spPr>
        <p:txBody>
          <a:bodyPr>
            <a:normAutofit/>
          </a:bodyPr>
          <a:lstStyle/>
          <a:p>
            <a:pPr marL="0" indent="0">
              <a:buNone/>
            </a:pPr>
            <a:r>
              <a:rPr lang="en-IN" sz="2800" b="1" dirty="0"/>
              <a:t>Solution: Apply K-Means Algorithm</a:t>
            </a:r>
          </a:p>
          <a:p>
            <a:pPr marL="0" indent="0">
              <a:buNone/>
            </a:pPr>
            <a:r>
              <a:rPr lang="en-IN" sz="2400" dirty="0"/>
              <a:t>Let’s assume </a:t>
            </a:r>
            <a:r>
              <a:rPr lang="en-IN" sz="2400" b="1" dirty="0">
                <a:solidFill>
                  <a:schemeClr val="tx2">
                    <a:lumMod val="75000"/>
                    <a:lumOff val="25000"/>
                  </a:schemeClr>
                </a:solidFill>
              </a:rPr>
              <a:t>K = 2</a:t>
            </a:r>
            <a:r>
              <a:rPr lang="en-IN" sz="2400" dirty="0"/>
              <a:t>.</a:t>
            </a:r>
          </a:p>
          <a:p>
            <a:pPr marL="457200" indent="-457200">
              <a:buFont typeface="+mj-lt"/>
              <a:buAutoNum type="arabicPeriod"/>
            </a:pPr>
            <a:r>
              <a:rPr lang="en-IN" sz="2800" b="1" dirty="0"/>
              <a:t>Initial centroids:</a:t>
            </a:r>
          </a:p>
          <a:p>
            <a:pPr lvl="1"/>
            <a:r>
              <a:rPr lang="en-IN" sz="2400" dirty="0"/>
              <a:t>Centroid A: (25, 80)</a:t>
            </a:r>
          </a:p>
          <a:p>
            <a:pPr lvl="1"/>
            <a:r>
              <a:rPr lang="en-IN" sz="2400" dirty="0"/>
              <a:t>Centroid B: (40, 20)</a:t>
            </a:r>
          </a:p>
          <a:p>
            <a:pPr marL="457200" indent="-457200">
              <a:buFont typeface="+mj-lt"/>
              <a:buAutoNum type="arabicPeriod"/>
            </a:pPr>
            <a:r>
              <a:rPr lang="en-IN" sz="2800" b="1" dirty="0"/>
              <a:t>Assign points to the closest centroid:</a:t>
            </a:r>
          </a:p>
          <a:p>
            <a:pPr lvl="1"/>
            <a:r>
              <a:rPr lang="en-IN" sz="2400" dirty="0"/>
              <a:t>Points 1, 2, 4 closer to Centroid A (Cluster 1)</a:t>
            </a:r>
          </a:p>
          <a:p>
            <a:pPr lvl="1"/>
            <a:r>
              <a:rPr lang="en-IN" sz="2400" dirty="0"/>
              <a:t>Points 3, 5 closer to Centroid B (Cluster 2)</a:t>
            </a:r>
          </a:p>
          <a:p>
            <a:pPr marL="457200" indent="-457200">
              <a:buFont typeface="+mj-lt"/>
              <a:buAutoNum type="arabicPeriod"/>
            </a:pPr>
            <a:r>
              <a:rPr lang="en-IN" sz="2800" b="1" dirty="0"/>
              <a:t>Recalculate centroids:</a:t>
            </a:r>
          </a:p>
          <a:p>
            <a:pPr lvl="1"/>
            <a:r>
              <a:rPr lang="en-IN" sz="2400" dirty="0"/>
              <a:t>Cluster 1 mean = </a:t>
            </a:r>
            <a:r>
              <a:rPr lang="en-IN" sz="2400" dirty="0" err="1"/>
              <a:t>avg</a:t>
            </a:r>
            <a:r>
              <a:rPr lang="en-IN" sz="2400" dirty="0"/>
              <a:t> of (25, 80), (34, 65), (22, 85)</a:t>
            </a:r>
          </a:p>
          <a:p>
            <a:pPr lvl="1"/>
            <a:r>
              <a:rPr lang="en-IN" sz="2400" dirty="0"/>
              <a:t>Cluster 2 mean = </a:t>
            </a:r>
            <a:r>
              <a:rPr lang="en-IN" sz="2400" dirty="0" err="1"/>
              <a:t>avg</a:t>
            </a:r>
            <a:r>
              <a:rPr lang="en-IN" sz="2400" dirty="0"/>
              <a:t> of (40, 20), (49, 10)</a:t>
            </a:r>
          </a:p>
          <a:p>
            <a:pPr marL="457200" indent="-457200">
              <a:buFont typeface="+mj-lt"/>
              <a:buAutoNum type="arabicPeriod"/>
            </a:pPr>
            <a:r>
              <a:rPr lang="en-IN" sz="2800" b="1" dirty="0"/>
              <a:t>Repeat</a:t>
            </a:r>
            <a:r>
              <a:rPr lang="en-IN" sz="2800" dirty="0"/>
              <a:t> this process until centroids don’t change.</a:t>
            </a:r>
          </a:p>
        </p:txBody>
      </p:sp>
    </p:spTree>
    <p:extLst>
      <p:ext uri="{BB962C8B-B14F-4D97-AF65-F5344CB8AC3E}">
        <p14:creationId xmlns:p14="http://schemas.microsoft.com/office/powerpoint/2010/main" val="34673667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67C17-8287-A5E3-79F6-05B1EF26653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079E398-F654-7B1B-3429-EC020A87BC5A}"/>
              </a:ext>
            </a:extLst>
          </p:cNvPr>
          <p:cNvSpPr>
            <a:spLocks noGrp="1"/>
          </p:cNvSpPr>
          <p:nvPr>
            <p:ph idx="1"/>
          </p:nvPr>
        </p:nvSpPr>
        <p:spPr>
          <a:xfrm>
            <a:off x="702853" y="707571"/>
            <a:ext cx="10900568" cy="5486400"/>
          </a:xfrm>
        </p:spPr>
        <p:txBody>
          <a:bodyPr>
            <a:normAutofit/>
          </a:bodyPr>
          <a:lstStyle/>
          <a:p>
            <a:pPr marL="0" indent="0">
              <a:buNone/>
            </a:pPr>
            <a:r>
              <a:rPr lang="en-US" sz="2400" b="1" dirty="0"/>
              <a:t>🔷 How to Choose K?</a:t>
            </a:r>
          </a:p>
          <a:p>
            <a:pPr marL="0" indent="0">
              <a:buNone/>
            </a:pPr>
            <a:r>
              <a:rPr lang="en-US" sz="2400" dirty="0"/>
              <a:t>Use the </a:t>
            </a:r>
            <a:r>
              <a:rPr lang="en-US" sz="2400" b="1" dirty="0">
                <a:solidFill>
                  <a:schemeClr val="tx2">
                    <a:lumMod val="75000"/>
                    <a:lumOff val="25000"/>
                  </a:schemeClr>
                </a:solidFill>
              </a:rPr>
              <a:t>Elbow</a:t>
            </a:r>
            <a:r>
              <a:rPr lang="en-US" sz="2400" dirty="0"/>
              <a:t> Method:</a:t>
            </a:r>
          </a:p>
          <a:p>
            <a:r>
              <a:rPr lang="en-US" sz="2400" dirty="0"/>
              <a:t>Run K-means for different values of K (e.g., 1 to 10)</a:t>
            </a:r>
          </a:p>
          <a:p>
            <a:r>
              <a:rPr lang="en-US" sz="2400" dirty="0"/>
              <a:t>Plot Within-Cluster Sum of Squares (WCSS)</a:t>
            </a:r>
          </a:p>
          <a:p>
            <a:r>
              <a:rPr lang="en-US" sz="2400" dirty="0"/>
              <a:t>The "</a:t>
            </a:r>
            <a:r>
              <a:rPr lang="en-US" sz="2400" b="1" dirty="0">
                <a:solidFill>
                  <a:schemeClr val="tx2">
                    <a:lumMod val="75000"/>
                    <a:lumOff val="25000"/>
                  </a:schemeClr>
                </a:solidFill>
              </a:rPr>
              <a:t>elbow point</a:t>
            </a:r>
            <a:r>
              <a:rPr lang="en-US" sz="2400" dirty="0"/>
              <a:t>" is where the decrease slows down</a:t>
            </a:r>
            <a:endParaRPr lang="en-IN" sz="2400" dirty="0"/>
          </a:p>
        </p:txBody>
      </p:sp>
      <p:grpSp>
        <p:nvGrpSpPr>
          <p:cNvPr id="2" name="Group 1">
            <a:extLst>
              <a:ext uri="{FF2B5EF4-FFF2-40B4-BE49-F238E27FC236}">
                <a16:creationId xmlns:a16="http://schemas.microsoft.com/office/drawing/2014/main" id="{85FE391D-3E5D-E891-A1C0-9BFE22400279}"/>
              </a:ext>
            </a:extLst>
          </p:cNvPr>
          <p:cNvGrpSpPr/>
          <p:nvPr/>
        </p:nvGrpSpPr>
        <p:grpSpPr>
          <a:xfrm>
            <a:off x="2447379" y="3253491"/>
            <a:ext cx="5978164" cy="3419452"/>
            <a:chOff x="858065" y="1032805"/>
            <a:chExt cx="9849080" cy="5568375"/>
          </a:xfrm>
        </p:grpSpPr>
        <p:pic>
          <p:nvPicPr>
            <p:cNvPr id="4" name="Picture 3">
              <a:extLst>
                <a:ext uri="{FF2B5EF4-FFF2-40B4-BE49-F238E27FC236}">
                  <a16:creationId xmlns:a16="http://schemas.microsoft.com/office/drawing/2014/main" id="{489EA389-3665-615F-6818-53D1158071B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58065" y="1032805"/>
              <a:ext cx="9458753" cy="5498014"/>
            </a:xfrm>
            <a:prstGeom prst="rect">
              <a:avLst/>
            </a:prstGeom>
          </p:spPr>
        </p:pic>
        <p:sp>
          <p:nvSpPr>
            <p:cNvPr id="5" name="Rectangle 4">
              <a:extLst>
                <a:ext uri="{FF2B5EF4-FFF2-40B4-BE49-F238E27FC236}">
                  <a16:creationId xmlns:a16="http://schemas.microsoft.com/office/drawing/2014/main" id="{2F634B45-D11A-33C7-B734-E33B6DCF4408}"/>
                </a:ext>
              </a:extLst>
            </p:cNvPr>
            <p:cNvSpPr/>
            <p:nvPr/>
          </p:nvSpPr>
          <p:spPr>
            <a:xfrm>
              <a:off x="8672662" y="5693065"/>
              <a:ext cx="2034483" cy="9081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chemeClr val="bg1"/>
                  </a:solidFill>
                </a:ln>
              </a:endParaRPr>
            </a:p>
          </p:txBody>
        </p:sp>
      </p:grpSp>
    </p:spTree>
    <p:extLst>
      <p:ext uri="{BB962C8B-B14F-4D97-AF65-F5344CB8AC3E}">
        <p14:creationId xmlns:p14="http://schemas.microsoft.com/office/powerpoint/2010/main" val="29895894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53A3B2-5A92-1F6A-0C42-FF050142EA0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27929EA-180E-906F-5813-74FDC8341BFA}"/>
              </a:ext>
            </a:extLst>
          </p:cNvPr>
          <p:cNvSpPr>
            <a:spLocks noGrp="1"/>
          </p:cNvSpPr>
          <p:nvPr>
            <p:ph idx="1"/>
          </p:nvPr>
        </p:nvSpPr>
        <p:spPr>
          <a:xfrm>
            <a:off x="702853" y="707571"/>
            <a:ext cx="10900568" cy="5486400"/>
          </a:xfrm>
        </p:spPr>
        <p:txBody>
          <a:bodyPr>
            <a:normAutofit/>
          </a:bodyPr>
          <a:lstStyle/>
          <a:p>
            <a:pPr marL="0" indent="0">
              <a:buNone/>
            </a:pPr>
            <a:r>
              <a:rPr lang="en-US" sz="2800" b="1" dirty="0"/>
              <a:t>🔷 Applications of K-Means</a:t>
            </a:r>
          </a:p>
          <a:p>
            <a:r>
              <a:rPr lang="en-US" sz="2400" dirty="0"/>
              <a:t>Customer Segmentation</a:t>
            </a:r>
          </a:p>
          <a:p>
            <a:r>
              <a:rPr lang="en-US" sz="2400" dirty="0"/>
              <a:t>Document or News Clustering</a:t>
            </a:r>
          </a:p>
          <a:p>
            <a:r>
              <a:rPr lang="en-US" sz="2400" dirty="0"/>
              <a:t>Image Compression</a:t>
            </a:r>
          </a:p>
          <a:p>
            <a:r>
              <a:rPr lang="en-US" sz="2400" dirty="0"/>
              <a:t>Market Basket Analysis</a:t>
            </a:r>
          </a:p>
          <a:p>
            <a:pPr marL="0" indent="0">
              <a:buNone/>
            </a:pPr>
            <a:endParaRPr lang="en-IN" sz="2400" dirty="0"/>
          </a:p>
        </p:txBody>
      </p:sp>
    </p:spTree>
    <p:extLst>
      <p:ext uri="{BB962C8B-B14F-4D97-AF65-F5344CB8AC3E}">
        <p14:creationId xmlns:p14="http://schemas.microsoft.com/office/powerpoint/2010/main" val="96586679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11DEED-810B-A299-51D9-210E7F59D73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0161B35-C5D2-BACC-FA5B-46C36C09D720}"/>
              </a:ext>
            </a:extLst>
          </p:cNvPr>
          <p:cNvSpPr txBox="1"/>
          <p:nvPr/>
        </p:nvSpPr>
        <p:spPr>
          <a:xfrm>
            <a:off x="603768" y="650424"/>
            <a:ext cx="10984463" cy="5386090"/>
          </a:xfrm>
          <a:prstGeom prst="rect">
            <a:avLst/>
          </a:prstGeom>
          <a:noFill/>
        </p:spPr>
        <p:txBody>
          <a:bodyPr wrap="square">
            <a:spAutoFit/>
          </a:bodyPr>
          <a:lstStyle/>
          <a:p>
            <a:r>
              <a:rPr lang="en-US" sz="2400" b="1" dirty="0">
                <a:solidFill>
                  <a:srgbClr val="C00000"/>
                </a:solidFill>
              </a:rPr>
              <a:t>2. Hierarchical clustering:</a:t>
            </a:r>
          </a:p>
          <a:p>
            <a:r>
              <a:rPr lang="en-US" sz="2000" b="0" i="0" dirty="0">
                <a:solidFill>
                  <a:srgbClr val="0D0D0D"/>
                </a:solidFill>
                <a:effectLst/>
                <a:latin typeface="Söhne"/>
              </a:rPr>
              <a:t>	Hierarchical clustering is a clustering technique used in unsupervised machine learning to </a:t>
            </a:r>
            <a:r>
              <a:rPr lang="en-US" sz="2000" b="1" i="0" dirty="0">
                <a:solidFill>
                  <a:srgbClr val="C00000"/>
                </a:solidFill>
                <a:effectLst/>
                <a:latin typeface="Söhne"/>
              </a:rPr>
              <a:t>group similar data points into </a:t>
            </a:r>
            <a:r>
              <a:rPr lang="en-US" sz="2000" b="1" i="0" dirty="0">
                <a:solidFill>
                  <a:srgbClr val="0D0D0D"/>
                </a:solidFill>
                <a:effectLst/>
                <a:latin typeface="Söhne"/>
              </a:rPr>
              <a:t>clusters </a:t>
            </a:r>
            <a:r>
              <a:rPr lang="en-US" sz="2000" b="1" i="0" dirty="0">
                <a:solidFill>
                  <a:srgbClr val="C00000"/>
                </a:solidFill>
                <a:effectLst/>
                <a:latin typeface="Söhne"/>
              </a:rPr>
              <a:t>that form a hierarchy</a:t>
            </a:r>
            <a:r>
              <a:rPr lang="en-US" sz="2000" b="0" i="0" dirty="0">
                <a:solidFill>
                  <a:srgbClr val="0D0D0D"/>
                </a:solidFill>
                <a:effectLst/>
                <a:latin typeface="Söhne"/>
              </a:rPr>
              <a:t>. Unlike k-Means, which requires the number of clusters to be specified </a:t>
            </a:r>
            <a:r>
              <a:rPr lang="en-US" sz="2000" b="1" i="0" dirty="0">
                <a:solidFill>
                  <a:srgbClr val="C00000"/>
                </a:solidFill>
                <a:effectLst/>
                <a:latin typeface="Söhne"/>
              </a:rPr>
              <a:t>beforehand</a:t>
            </a:r>
            <a:r>
              <a:rPr lang="en-US" sz="2000" b="0" i="0" dirty="0">
                <a:solidFill>
                  <a:srgbClr val="0D0D0D"/>
                </a:solidFill>
                <a:effectLst/>
                <a:latin typeface="Söhne"/>
              </a:rPr>
              <a:t>, hierarchical clustering </a:t>
            </a:r>
            <a:r>
              <a:rPr lang="en-US" sz="2000" b="1" i="0" dirty="0">
                <a:solidFill>
                  <a:srgbClr val="C00000"/>
                </a:solidFill>
                <a:effectLst/>
                <a:latin typeface="Söhne"/>
              </a:rPr>
              <a:t>does not require the number of clusters to be predefined</a:t>
            </a:r>
            <a:r>
              <a:rPr lang="en-US" sz="2000" b="0" i="0" dirty="0">
                <a:solidFill>
                  <a:srgbClr val="0D0D0D"/>
                </a:solidFill>
                <a:effectLst/>
                <a:latin typeface="Söhne"/>
              </a:rPr>
              <a:t>. Instead, it organizes the data points into a </a:t>
            </a:r>
            <a:r>
              <a:rPr lang="en-US" sz="2000" b="1" i="0" dirty="0">
                <a:solidFill>
                  <a:srgbClr val="0D0D0D"/>
                </a:solidFill>
                <a:effectLst/>
                <a:latin typeface="Söhne"/>
              </a:rPr>
              <a:t>tree-like structure</a:t>
            </a:r>
            <a:r>
              <a:rPr lang="en-US" sz="2000" b="0" i="0" dirty="0">
                <a:solidFill>
                  <a:srgbClr val="0D0D0D"/>
                </a:solidFill>
                <a:effectLst/>
                <a:latin typeface="Söhne"/>
              </a:rPr>
              <a:t>, called a </a:t>
            </a:r>
            <a:r>
              <a:rPr lang="en-US" sz="2000" b="1" i="0" dirty="0">
                <a:solidFill>
                  <a:srgbClr val="C00000"/>
                </a:solidFill>
                <a:effectLst/>
                <a:latin typeface="Söhne"/>
              </a:rPr>
              <a:t>dendrogram</a:t>
            </a:r>
            <a:r>
              <a:rPr lang="en-US" sz="2000" b="0" i="0" dirty="0">
                <a:solidFill>
                  <a:srgbClr val="0D0D0D"/>
                </a:solidFill>
                <a:effectLst/>
                <a:latin typeface="Söhne"/>
              </a:rPr>
              <a:t>, based on their similarities.</a:t>
            </a:r>
          </a:p>
          <a:p>
            <a:r>
              <a:rPr lang="en-US" sz="2000" dirty="0">
                <a:solidFill>
                  <a:srgbClr val="0D0D0D"/>
                </a:solidFill>
                <a:latin typeface="Söhne"/>
              </a:rPr>
              <a:t>	</a:t>
            </a:r>
            <a:r>
              <a:rPr lang="en-US" sz="2000" dirty="0"/>
              <a:t>The hierarchical clustering methods are used to group the data into hierarchy or tree-like structure. </a:t>
            </a:r>
          </a:p>
          <a:p>
            <a:r>
              <a:rPr lang="en-US" sz="2000" b="1" dirty="0"/>
              <a:t>For example, </a:t>
            </a:r>
            <a:r>
              <a:rPr lang="en-US" sz="2000" dirty="0"/>
              <a:t>in a machine learning problem of </a:t>
            </a:r>
            <a:r>
              <a:rPr lang="en-US" sz="2000" b="1" dirty="0">
                <a:solidFill>
                  <a:srgbClr val="C00000"/>
                </a:solidFill>
              </a:rPr>
              <a:t>organizing employees </a:t>
            </a:r>
            <a:r>
              <a:rPr lang="en-US" sz="2000" dirty="0"/>
              <a:t>of a university in different departments, first the employees are grouped under the </a:t>
            </a:r>
            <a:r>
              <a:rPr lang="en-US" sz="2000" b="1" dirty="0"/>
              <a:t>different departments </a:t>
            </a:r>
            <a:r>
              <a:rPr lang="en-US" sz="2000" dirty="0"/>
              <a:t>in the university, and then within each department, the employees can be grouped according to </a:t>
            </a:r>
            <a:r>
              <a:rPr lang="en-US" sz="2000" b="1" dirty="0"/>
              <a:t>their roles</a:t>
            </a:r>
            <a:r>
              <a:rPr lang="en-US" sz="2000" dirty="0"/>
              <a:t> such as professors, assistant professors, supervisors, lab assistants, etc. This creates a hierarchical structure of the employee data and eases visualization and analysis. Similarly, there may be a data set which has an underlying hierarchy structure that we want to discover and we can use the hierarchical clustering methods to achieve that.</a:t>
            </a:r>
          </a:p>
          <a:p>
            <a:endParaRPr lang="en-US" sz="2000" dirty="0"/>
          </a:p>
          <a:p>
            <a:endParaRPr lang="en-US" sz="2000" dirty="0"/>
          </a:p>
        </p:txBody>
      </p:sp>
    </p:spTree>
    <p:extLst>
      <p:ext uri="{BB962C8B-B14F-4D97-AF65-F5344CB8AC3E}">
        <p14:creationId xmlns:p14="http://schemas.microsoft.com/office/powerpoint/2010/main" val="34357322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C8CCD8-F160-6B99-2C5C-A31ECE018BF4}"/>
            </a:ext>
          </a:extLst>
        </p:cNvPr>
        <p:cNvGrpSpPr/>
        <p:nvPr/>
      </p:nvGrpSpPr>
      <p:grpSpPr>
        <a:xfrm>
          <a:off x="0" y="0"/>
          <a:ext cx="0" cy="0"/>
          <a:chOff x="0" y="0"/>
          <a:chExt cx="0" cy="0"/>
        </a:xfrm>
      </p:grpSpPr>
      <p:pic>
        <p:nvPicPr>
          <p:cNvPr id="4098" name="Picture 2" descr="The Most Important Things You Need To Know About Agglomerative Clustering">
            <a:extLst>
              <a:ext uri="{FF2B5EF4-FFF2-40B4-BE49-F238E27FC236}">
                <a16:creationId xmlns:a16="http://schemas.microsoft.com/office/drawing/2014/main" id="{FAD738D5-A8BB-2EEA-7DA2-5F8B3BAAE6AD}"/>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2373" t="21912" r="21541" b="14437"/>
          <a:stretch>
            <a:fillRect/>
          </a:stretch>
        </p:blipFill>
        <p:spPr bwMode="auto">
          <a:xfrm>
            <a:off x="6749143" y="1634785"/>
            <a:ext cx="5442857" cy="4632847"/>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2C6D5F4E-893B-AF2F-B59C-8B5004B68759}"/>
              </a:ext>
            </a:extLst>
          </p:cNvPr>
          <p:cNvSpPr txBox="1"/>
          <p:nvPr/>
        </p:nvSpPr>
        <p:spPr>
          <a:xfrm>
            <a:off x="650810" y="1634785"/>
            <a:ext cx="6449786" cy="4832092"/>
          </a:xfrm>
          <a:prstGeom prst="rect">
            <a:avLst/>
          </a:prstGeom>
          <a:noFill/>
        </p:spPr>
        <p:txBody>
          <a:bodyPr wrap="square">
            <a:spAutoFit/>
          </a:bodyPr>
          <a:lstStyle/>
          <a:p>
            <a:pPr algn="l">
              <a:buFont typeface="+mj-lt"/>
              <a:buAutoNum type="arabicPeriod"/>
            </a:pPr>
            <a:r>
              <a:rPr lang="en-US" sz="2400" b="1" i="0" dirty="0">
                <a:solidFill>
                  <a:srgbClr val="0D0D0D"/>
                </a:solidFill>
                <a:effectLst/>
                <a:latin typeface="Söhne"/>
              </a:rPr>
              <a:t>Agglomerative Hierarchical Clustering:</a:t>
            </a:r>
            <a:r>
              <a:rPr lang="en-US" sz="2400" b="0" i="0" dirty="0">
                <a:solidFill>
                  <a:srgbClr val="0D0D0D"/>
                </a:solidFill>
                <a:effectLst/>
                <a:latin typeface="Söhne"/>
              </a:rPr>
              <a:t>  </a:t>
            </a:r>
            <a:r>
              <a:rPr lang="en-US" sz="2400" b="1" i="0" dirty="0">
                <a:solidFill>
                  <a:srgbClr val="C00000"/>
                </a:solidFill>
                <a:effectLst/>
                <a:latin typeface="Söhne"/>
              </a:rPr>
              <a:t>(Bottom-Up)</a:t>
            </a:r>
          </a:p>
          <a:p>
            <a:pPr algn="l"/>
            <a:r>
              <a:rPr lang="en-US" sz="2000" dirty="0">
                <a:solidFill>
                  <a:srgbClr val="0D0D0D"/>
                </a:solidFill>
                <a:latin typeface="Söhne"/>
              </a:rPr>
              <a:t>	</a:t>
            </a:r>
            <a:r>
              <a:rPr lang="en-US" sz="2000" dirty="0"/>
              <a:t>The agglomerative hierarchical clustering method uses the </a:t>
            </a:r>
            <a:r>
              <a:rPr lang="en-US" sz="2000" b="1" dirty="0">
                <a:solidFill>
                  <a:srgbClr val="C00000"/>
                </a:solidFill>
              </a:rPr>
              <a:t>bottom-up strategy</a:t>
            </a:r>
            <a:r>
              <a:rPr lang="en-US" sz="2000" dirty="0"/>
              <a:t>. It starts with each object forming its </a:t>
            </a:r>
            <a:r>
              <a:rPr lang="en-US" sz="2000" b="1" dirty="0"/>
              <a:t>own cluster </a:t>
            </a:r>
            <a:r>
              <a:rPr lang="en-US" sz="2000" dirty="0"/>
              <a:t>and then iteratively merges the clusters </a:t>
            </a:r>
            <a:r>
              <a:rPr lang="en-US" sz="2000" b="1" dirty="0">
                <a:solidFill>
                  <a:srgbClr val="C00000"/>
                </a:solidFill>
              </a:rPr>
              <a:t>according to their similarity to form larger clusters.</a:t>
            </a:r>
            <a:r>
              <a:rPr lang="en-US" sz="2000" dirty="0"/>
              <a:t> It terminates either when a certain clustering condition imposed by the user is achieved or all the clusters merge into a single cluster.</a:t>
            </a:r>
          </a:p>
          <a:p>
            <a:pPr algn="l"/>
            <a:r>
              <a:rPr lang="en-US" sz="2000" b="0" i="0" dirty="0">
                <a:solidFill>
                  <a:srgbClr val="0D0D0D"/>
                </a:solidFill>
                <a:effectLst/>
                <a:latin typeface="Söhne"/>
              </a:rPr>
              <a:t>	This approach starts by considering </a:t>
            </a:r>
            <a:r>
              <a:rPr lang="en-US" sz="2000" b="1" i="0" dirty="0">
                <a:solidFill>
                  <a:srgbClr val="C00000"/>
                </a:solidFill>
                <a:effectLst/>
                <a:latin typeface="Söhne"/>
              </a:rPr>
              <a:t>each data point as a single-cluster.</a:t>
            </a:r>
            <a:r>
              <a:rPr lang="en-US" sz="2000" b="0" i="0" dirty="0">
                <a:solidFill>
                  <a:srgbClr val="0D0D0D"/>
                </a:solidFill>
                <a:effectLst/>
                <a:latin typeface="Söhne"/>
              </a:rPr>
              <a:t> Then, at each step, it merges the two closest clusters until all data points belong to a single cluster or until a stopping </a:t>
            </a:r>
            <a:r>
              <a:rPr lang="en-US" sz="2000" b="1" i="0" dirty="0">
                <a:solidFill>
                  <a:srgbClr val="C00000"/>
                </a:solidFill>
                <a:effectLst/>
                <a:latin typeface="Söhne"/>
              </a:rPr>
              <a:t>criterion is met</a:t>
            </a:r>
            <a:r>
              <a:rPr lang="en-US" sz="2000" b="0" i="0" dirty="0">
                <a:solidFill>
                  <a:srgbClr val="0D0D0D"/>
                </a:solidFill>
                <a:effectLst/>
                <a:latin typeface="Söhne"/>
              </a:rPr>
              <a:t>. The result is a </a:t>
            </a:r>
            <a:r>
              <a:rPr lang="en-US" sz="2000" b="1" i="0" dirty="0">
                <a:solidFill>
                  <a:schemeClr val="accent6"/>
                </a:solidFill>
                <a:effectLst/>
                <a:latin typeface="Söhne"/>
              </a:rPr>
              <a:t>dendrogram</a:t>
            </a:r>
            <a:r>
              <a:rPr lang="en-US" sz="2000" b="0" i="0" dirty="0">
                <a:solidFill>
                  <a:srgbClr val="0D0D0D"/>
                </a:solidFill>
                <a:effectLst/>
                <a:latin typeface="Söhne"/>
              </a:rPr>
              <a:t> that shows the merging process and allows us to identify clusters at different levels of granularity.</a:t>
            </a:r>
          </a:p>
        </p:txBody>
      </p:sp>
      <p:sp>
        <p:nvSpPr>
          <p:cNvPr id="5" name="TextBox 4">
            <a:extLst>
              <a:ext uri="{FF2B5EF4-FFF2-40B4-BE49-F238E27FC236}">
                <a16:creationId xmlns:a16="http://schemas.microsoft.com/office/drawing/2014/main" id="{F050A830-8C43-0CB1-48EA-3A845965F16D}"/>
              </a:ext>
            </a:extLst>
          </p:cNvPr>
          <p:cNvSpPr txBox="1"/>
          <p:nvPr/>
        </p:nvSpPr>
        <p:spPr>
          <a:xfrm>
            <a:off x="650810" y="434456"/>
            <a:ext cx="7793393" cy="1200329"/>
          </a:xfrm>
          <a:prstGeom prst="rect">
            <a:avLst/>
          </a:prstGeom>
          <a:noFill/>
        </p:spPr>
        <p:txBody>
          <a:bodyPr wrap="square">
            <a:spAutoFit/>
          </a:bodyPr>
          <a:lstStyle/>
          <a:p>
            <a:pPr algn="l"/>
            <a:r>
              <a:rPr lang="en-US" sz="2400" b="1" i="0" dirty="0">
                <a:solidFill>
                  <a:srgbClr val="0D0D0D"/>
                </a:solidFill>
                <a:effectLst/>
                <a:latin typeface="Söhne"/>
              </a:rPr>
              <a:t>There are two main approaches to hierarchical clustering:</a:t>
            </a:r>
          </a:p>
          <a:p>
            <a:pPr marL="342900" indent="-342900">
              <a:buAutoNum type="arabicPeriod"/>
            </a:pPr>
            <a:r>
              <a:rPr lang="en-US" sz="2400" b="1" i="0" dirty="0">
                <a:solidFill>
                  <a:schemeClr val="tx2">
                    <a:lumMod val="75000"/>
                    <a:lumOff val="25000"/>
                  </a:schemeClr>
                </a:solidFill>
                <a:effectLst/>
                <a:latin typeface="Söhne"/>
              </a:rPr>
              <a:t>Agglomerative</a:t>
            </a:r>
            <a:r>
              <a:rPr lang="en-US" sz="2400" b="1" i="0" dirty="0">
                <a:solidFill>
                  <a:srgbClr val="0D0D0D"/>
                </a:solidFill>
                <a:effectLst/>
                <a:latin typeface="Söhne"/>
              </a:rPr>
              <a:t> Hierarchical Clustering</a:t>
            </a:r>
          </a:p>
          <a:p>
            <a:pPr marL="342900" indent="-342900">
              <a:buFontTx/>
              <a:buAutoNum type="arabicPeriod"/>
            </a:pPr>
            <a:r>
              <a:rPr lang="en-US" sz="2400" b="1" i="0" dirty="0">
                <a:solidFill>
                  <a:schemeClr val="tx2">
                    <a:lumMod val="75000"/>
                    <a:lumOff val="25000"/>
                  </a:schemeClr>
                </a:solidFill>
                <a:effectLst/>
                <a:latin typeface="Söhne"/>
              </a:rPr>
              <a:t>Divisive</a:t>
            </a:r>
            <a:r>
              <a:rPr lang="en-US" sz="2400" b="1" i="0" dirty="0">
                <a:solidFill>
                  <a:srgbClr val="0D0D0D"/>
                </a:solidFill>
                <a:effectLst/>
                <a:latin typeface="Söhne"/>
              </a:rPr>
              <a:t> Hierarchical Clustering</a:t>
            </a:r>
            <a:endParaRPr lang="en-US" sz="2400" b="0" i="0" dirty="0">
              <a:solidFill>
                <a:srgbClr val="0D0D0D"/>
              </a:solidFill>
              <a:effectLst/>
              <a:latin typeface="Söhne"/>
            </a:endParaRPr>
          </a:p>
        </p:txBody>
      </p:sp>
    </p:spTree>
    <p:extLst>
      <p:ext uri="{BB962C8B-B14F-4D97-AF65-F5344CB8AC3E}">
        <p14:creationId xmlns:p14="http://schemas.microsoft.com/office/powerpoint/2010/main" val="36670934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CBB6F8-D6AB-E98F-BDF2-0213C258BB7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F9B135F-7FDE-DA25-088D-998E309B42DD}"/>
              </a:ext>
            </a:extLst>
          </p:cNvPr>
          <p:cNvSpPr>
            <a:spLocks noGrp="1"/>
          </p:cNvSpPr>
          <p:nvPr>
            <p:ph idx="1"/>
          </p:nvPr>
        </p:nvSpPr>
        <p:spPr>
          <a:xfrm>
            <a:off x="702853" y="598714"/>
            <a:ext cx="10900568" cy="5595257"/>
          </a:xfrm>
        </p:spPr>
        <p:txBody>
          <a:bodyPr>
            <a:normAutofit fontScale="92500" lnSpcReduction="20000"/>
          </a:bodyPr>
          <a:lstStyle/>
          <a:p>
            <a:pPr marL="0" indent="0">
              <a:buNone/>
            </a:pPr>
            <a:r>
              <a:rPr lang="en-US" sz="3000" b="1" dirty="0"/>
              <a:t> Step-by-Step: Agglomerative Hierarchical Clustering</a:t>
            </a:r>
          </a:p>
          <a:p>
            <a:pPr marL="0" indent="0">
              <a:buNone/>
            </a:pPr>
            <a:r>
              <a:rPr lang="en-US" sz="2600" b="1" dirty="0"/>
              <a:t>Step 1: </a:t>
            </a:r>
            <a:r>
              <a:rPr lang="en-US" sz="2600" b="1" dirty="0">
                <a:solidFill>
                  <a:srgbClr val="002060"/>
                </a:solidFill>
              </a:rPr>
              <a:t>Treat</a:t>
            </a:r>
            <a:r>
              <a:rPr lang="en-US" sz="2600" dirty="0"/>
              <a:t> </a:t>
            </a:r>
            <a:r>
              <a:rPr lang="en-US" sz="2600" b="1" dirty="0">
                <a:solidFill>
                  <a:srgbClr val="002060"/>
                </a:solidFill>
              </a:rPr>
              <a:t>each point as its own cluster</a:t>
            </a:r>
          </a:p>
          <a:p>
            <a:pPr lvl="1"/>
            <a:r>
              <a:rPr lang="en-US" sz="2600" dirty="0"/>
              <a:t>A, B, C, D, E → 5 separate clusters</a:t>
            </a:r>
          </a:p>
          <a:p>
            <a:pPr marL="0" indent="0">
              <a:buNone/>
            </a:pPr>
            <a:endParaRPr lang="en-US" sz="2600" dirty="0"/>
          </a:p>
          <a:p>
            <a:pPr marL="0" indent="0">
              <a:buNone/>
            </a:pPr>
            <a:r>
              <a:rPr lang="en-US" sz="2600" b="1" dirty="0"/>
              <a:t>Step 2: </a:t>
            </a:r>
            <a:r>
              <a:rPr lang="en-US" sz="2600" b="1" dirty="0">
                <a:solidFill>
                  <a:srgbClr val="002060"/>
                </a:solidFill>
              </a:rPr>
              <a:t>Calculate distances between all clusters</a:t>
            </a:r>
          </a:p>
          <a:p>
            <a:pPr lvl="1"/>
            <a:r>
              <a:rPr lang="en-US" sz="2600" dirty="0"/>
              <a:t>Use a distance metric (usually Euclidean distance)</a:t>
            </a:r>
          </a:p>
          <a:p>
            <a:pPr marL="0" indent="0">
              <a:buNone/>
            </a:pPr>
            <a:endParaRPr lang="en-US" sz="2600" dirty="0"/>
          </a:p>
          <a:p>
            <a:pPr marL="0" indent="0">
              <a:buNone/>
            </a:pPr>
            <a:r>
              <a:rPr lang="en-US" sz="2600" b="1" dirty="0"/>
              <a:t>Step 3:</a:t>
            </a:r>
            <a:r>
              <a:rPr lang="en-US" sz="2600" dirty="0"/>
              <a:t> </a:t>
            </a:r>
            <a:r>
              <a:rPr lang="en-US" sz="2600" b="1" dirty="0">
                <a:solidFill>
                  <a:srgbClr val="002060"/>
                </a:solidFill>
              </a:rPr>
              <a:t>Merge the closest clusters</a:t>
            </a:r>
          </a:p>
          <a:p>
            <a:pPr lvl="1"/>
            <a:r>
              <a:rPr lang="en-US" sz="2600" dirty="0"/>
              <a:t>Merge the pair with the least distance</a:t>
            </a:r>
          </a:p>
          <a:p>
            <a:pPr marL="0" indent="0">
              <a:buNone/>
            </a:pPr>
            <a:endParaRPr lang="en-US" sz="2600" dirty="0"/>
          </a:p>
          <a:p>
            <a:pPr marL="0" indent="0">
              <a:buNone/>
            </a:pPr>
            <a:r>
              <a:rPr lang="en-US" sz="2600" b="1" dirty="0"/>
              <a:t>Step 4: </a:t>
            </a:r>
            <a:r>
              <a:rPr lang="en-US" sz="2600" b="1" dirty="0">
                <a:solidFill>
                  <a:srgbClr val="002060"/>
                </a:solidFill>
              </a:rPr>
              <a:t>Recalculate distances between the new cluster and all other clusters</a:t>
            </a:r>
          </a:p>
          <a:p>
            <a:pPr lvl="1"/>
            <a:r>
              <a:rPr lang="en-US" sz="2600" dirty="0"/>
              <a:t>Depends on </a:t>
            </a:r>
            <a:r>
              <a:rPr lang="en-US" sz="2600" b="1" dirty="0">
                <a:solidFill>
                  <a:schemeClr val="tx2">
                    <a:lumMod val="75000"/>
                    <a:lumOff val="25000"/>
                  </a:schemeClr>
                </a:solidFill>
              </a:rPr>
              <a:t>linkage method </a:t>
            </a:r>
            <a:r>
              <a:rPr lang="en-US" sz="2600" dirty="0"/>
              <a:t>(next slide)</a:t>
            </a:r>
          </a:p>
          <a:p>
            <a:pPr marL="0" indent="0">
              <a:buNone/>
            </a:pPr>
            <a:endParaRPr lang="en-US" sz="2600" dirty="0"/>
          </a:p>
          <a:p>
            <a:pPr marL="0" indent="0">
              <a:buNone/>
            </a:pPr>
            <a:r>
              <a:rPr lang="en-US" sz="2600" b="1" dirty="0"/>
              <a:t>Step 5: </a:t>
            </a:r>
            <a:r>
              <a:rPr lang="en-US" sz="2600" b="1" dirty="0">
                <a:solidFill>
                  <a:srgbClr val="002060"/>
                </a:solidFill>
              </a:rPr>
              <a:t>Repeat Steps 3–4 </a:t>
            </a:r>
            <a:r>
              <a:rPr lang="en-US" sz="2600" b="1" dirty="0">
                <a:solidFill>
                  <a:schemeClr val="tx2">
                    <a:lumMod val="75000"/>
                    <a:lumOff val="25000"/>
                  </a:schemeClr>
                </a:solidFill>
              </a:rPr>
              <a:t>until only one cluster remains</a:t>
            </a:r>
            <a:endParaRPr lang="en-IN" sz="2600" b="1" dirty="0">
              <a:solidFill>
                <a:schemeClr val="tx2">
                  <a:lumMod val="75000"/>
                  <a:lumOff val="25000"/>
                </a:schemeClr>
              </a:solidFill>
            </a:endParaRPr>
          </a:p>
        </p:txBody>
      </p:sp>
    </p:spTree>
    <p:extLst>
      <p:ext uri="{BB962C8B-B14F-4D97-AF65-F5344CB8AC3E}">
        <p14:creationId xmlns:p14="http://schemas.microsoft.com/office/powerpoint/2010/main" val="9284238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64473A-B4A6-5F70-F0CC-86269743D1E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E9B8BBA-2857-79C8-3F5D-7F5FEC76B3BE}"/>
              </a:ext>
            </a:extLst>
          </p:cNvPr>
          <p:cNvSpPr>
            <a:spLocks noGrp="1"/>
          </p:cNvSpPr>
          <p:nvPr>
            <p:ph type="title"/>
          </p:nvPr>
        </p:nvSpPr>
        <p:spPr>
          <a:xfrm>
            <a:off x="777240" y="365125"/>
            <a:ext cx="11186160" cy="1325563"/>
          </a:xfrm>
        </p:spPr>
        <p:txBody>
          <a:bodyPr anchor="ctr">
            <a:noAutofit/>
          </a:bodyPr>
          <a:lstStyle/>
          <a:p>
            <a:r>
              <a:rPr lang="en-US" sz="2800" b="1" dirty="0"/>
              <a:t>🔷 Linkage Methods </a:t>
            </a:r>
            <a:r>
              <a:rPr lang="en-US" sz="2400" b="1" dirty="0"/>
              <a:t>(How to measure distance between clusters):</a:t>
            </a:r>
            <a:endParaRPr lang="en-US" sz="2800" b="1" dirty="0"/>
          </a:p>
        </p:txBody>
      </p:sp>
      <p:graphicFrame>
        <p:nvGraphicFramePr>
          <p:cNvPr id="5" name="Table 4">
            <a:extLst>
              <a:ext uri="{FF2B5EF4-FFF2-40B4-BE49-F238E27FC236}">
                <a16:creationId xmlns:a16="http://schemas.microsoft.com/office/drawing/2014/main" id="{A86CF2E0-0C2D-0218-B392-80D0E051D58B}"/>
              </a:ext>
            </a:extLst>
          </p:cNvPr>
          <p:cNvGraphicFramePr>
            <a:graphicFrameLocks noGrp="1"/>
          </p:cNvGraphicFramePr>
          <p:nvPr>
            <p:extLst>
              <p:ext uri="{D42A27DB-BD31-4B8C-83A1-F6EECF244321}">
                <p14:modId xmlns:p14="http://schemas.microsoft.com/office/powerpoint/2010/main" val="1775155407"/>
              </p:ext>
            </p:extLst>
          </p:nvPr>
        </p:nvGraphicFramePr>
        <p:xfrm>
          <a:off x="777240" y="2119269"/>
          <a:ext cx="10659108" cy="3764053"/>
        </p:xfrm>
        <a:graphic>
          <a:graphicData uri="http://schemas.openxmlformats.org/drawingml/2006/table">
            <a:tbl>
              <a:tblPr firstRow="1" firstCol="1" bandRow="1">
                <a:tableStyleId>{5C22544A-7EE6-4342-B048-85BDC9FD1C3A}</a:tableStyleId>
              </a:tblPr>
              <a:tblGrid>
                <a:gridCol w="3775329">
                  <a:extLst>
                    <a:ext uri="{9D8B030D-6E8A-4147-A177-3AD203B41FA5}">
                      <a16:colId xmlns:a16="http://schemas.microsoft.com/office/drawing/2014/main" val="679707189"/>
                    </a:ext>
                  </a:extLst>
                </a:gridCol>
                <a:gridCol w="6883779">
                  <a:extLst>
                    <a:ext uri="{9D8B030D-6E8A-4147-A177-3AD203B41FA5}">
                      <a16:colId xmlns:a16="http://schemas.microsoft.com/office/drawing/2014/main" val="2593696760"/>
                    </a:ext>
                  </a:extLst>
                </a:gridCol>
              </a:tblGrid>
              <a:tr h="496325">
                <a:tc>
                  <a:txBody>
                    <a:bodyPr/>
                    <a:lstStyle/>
                    <a:p>
                      <a:pPr>
                        <a:lnSpc>
                          <a:spcPct val="107000"/>
                        </a:lnSpc>
                        <a:spcAft>
                          <a:spcPts val="800"/>
                        </a:spcAft>
                        <a:buNone/>
                      </a:pPr>
                      <a:r>
                        <a:rPr lang="en-IN" sz="2600" kern="100">
                          <a:effectLst/>
                        </a:rPr>
                        <a:t>Linkage Type</a:t>
                      </a:r>
                      <a:endParaRPr lang="en-IN" sz="2600" kern="100">
                        <a:effectLst/>
                        <a:latin typeface="Aptos" panose="020B0004020202020204" pitchFamily="34" charset="0"/>
                        <a:ea typeface="Aptos" panose="020B0004020202020204" pitchFamily="34" charset="0"/>
                        <a:cs typeface="Tunga" panose="020B0502040204020203" pitchFamily="34" charset="0"/>
                      </a:endParaRPr>
                    </a:p>
                  </a:txBody>
                  <a:tcPr marL="163424" marR="163424" marT="0" marB="0"/>
                </a:tc>
                <a:tc>
                  <a:txBody>
                    <a:bodyPr/>
                    <a:lstStyle/>
                    <a:p>
                      <a:pPr>
                        <a:lnSpc>
                          <a:spcPct val="107000"/>
                        </a:lnSpc>
                        <a:spcAft>
                          <a:spcPts val="800"/>
                        </a:spcAft>
                        <a:buNone/>
                      </a:pPr>
                      <a:r>
                        <a:rPr lang="en-IN" sz="2600" kern="100">
                          <a:effectLst/>
                        </a:rPr>
                        <a:t>Description</a:t>
                      </a:r>
                      <a:endParaRPr lang="en-IN" sz="2600" kern="100">
                        <a:effectLst/>
                        <a:latin typeface="Aptos" panose="020B0004020202020204" pitchFamily="34" charset="0"/>
                        <a:ea typeface="Aptos" panose="020B0004020202020204" pitchFamily="34" charset="0"/>
                        <a:cs typeface="Tunga" panose="020B0502040204020203" pitchFamily="34" charset="0"/>
                      </a:endParaRPr>
                    </a:p>
                  </a:txBody>
                  <a:tcPr marL="163424" marR="163424" marT="0" marB="0"/>
                </a:tc>
                <a:extLst>
                  <a:ext uri="{0D108BD9-81ED-4DB2-BD59-A6C34878D82A}">
                    <a16:rowId xmlns:a16="http://schemas.microsoft.com/office/drawing/2014/main" val="1455256466"/>
                  </a:ext>
                </a:extLst>
              </a:tr>
              <a:tr h="923801">
                <a:tc>
                  <a:txBody>
                    <a:bodyPr/>
                    <a:lstStyle/>
                    <a:p>
                      <a:pPr>
                        <a:lnSpc>
                          <a:spcPct val="107000"/>
                        </a:lnSpc>
                        <a:spcAft>
                          <a:spcPts val="800"/>
                        </a:spcAft>
                        <a:buNone/>
                      </a:pPr>
                      <a:r>
                        <a:rPr lang="en-IN" sz="2600" kern="100">
                          <a:effectLst/>
                        </a:rPr>
                        <a:t>Single</a:t>
                      </a:r>
                      <a:endParaRPr lang="en-IN" sz="2600" kern="100">
                        <a:effectLst/>
                        <a:latin typeface="Aptos" panose="020B0004020202020204" pitchFamily="34" charset="0"/>
                        <a:ea typeface="Aptos" panose="020B0004020202020204" pitchFamily="34" charset="0"/>
                        <a:cs typeface="Tunga" panose="020B0502040204020203" pitchFamily="34" charset="0"/>
                      </a:endParaRPr>
                    </a:p>
                  </a:txBody>
                  <a:tcPr marL="163424" marR="163424" marT="0" marB="0"/>
                </a:tc>
                <a:tc>
                  <a:txBody>
                    <a:bodyPr/>
                    <a:lstStyle/>
                    <a:p>
                      <a:pPr>
                        <a:lnSpc>
                          <a:spcPct val="107000"/>
                        </a:lnSpc>
                        <a:spcAft>
                          <a:spcPts val="800"/>
                        </a:spcAft>
                        <a:buNone/>
                      </a:pPr>
                      <a:r>
                        <a:rPr lang="en-IN" sz="2600" kern="100" dirty="0">
                          <a:effectLst/>
                        </a:rPr>
                        <a:t>Distance between the closest points of two clusters</a:t>
                      </a:r>
                      <a:endParaRPr lang="en-IN" sz="2600" kern="100" dirty="0">
                        <a:effectLst/>
                        <a:latin typeface="Aptos" panose="020B0004020202020204" pitchFamily="34" charset="0"/>
                        <a:ea typeface="Aptos" panose="020B0004020202020204" pitchFamily="34" charset="0"/>
                        <a:cs typeface="Tunga" panose="020B0502040204020203" pitchFamily="34" charset="0"/>
                      </a:endParaRPr>
                    </a:p>
                  </a:txBody>
                  <a:tcPr marL="163424" marR="163424" marT="0" marB="0"/>
                </a:tc>
                <a:extLst>
                  <a:ext uri="{0D108BD9-81ED-4DB2-BD59-A6C34878D82A}">
                    <a16:rowId xmlns:a16="http://schemas.microsoft.com/office/drawing/2014/main" val="2543470977"/>
                  </a:ext>
                </a:extLst>
              </a:tr>
              <a:tr h="496325">
                <a:tc>
                  <a:txBody>
                    <a:bodyPr/>
                    <a:lstStyle/>
                    <a:p>
                      <a:pPr>
                        <a:lnSpc>
                          <a:spcPct val="107000"/>
                        </a:lnSpc>
                        <a:spcAft>
                          <a:spcPts val="800"/>
                        </a:spcAft>
                        <a:buNone/>
                      </a:pPr>
                      <a:r>
                        <a:rPr lang="en-IN" sz="2600" kern="100">
                          <a:effectLst/>
                        </a:rPr>
                        <a:t>Complete</a:t>
                      </a:r>
                      <a:endParaRPr lang="en-IN" sz="2600" kern="100">
                        <a:effectLst/>
                        <a:latin typeface="Aptos" panose="020B0004020202020204" pitchFamily="34" charset="0"/>
                        <a:ea typeface="Aptos" panose="020B0004020202020204" pitchFamily="34" charset="0"/>
                        <a:cs typeface="Tunga" panose="020B0502040204020203" pitchFamily="34" charset="0"/>
                      </a:endParaRPr>
                    </a:p>
                  </a:txBody>
                  <a:tcPr marL="163424" marR="163424" marT="0" marB="0"/>
                </a:tc>
                <a:tc>
                  <a:txBody>
                    <a:bodyPr/>
                    <a:lstStyle/>
                    <a:p>
                      <a:pPr>
                        <a:lnSpc>
                          <a:spcPct val="107000"/>
                        </a:lnSpc>
                        <a:spcAft>
                          <a:spcPts val="800"/>
                        </a:spcAft>
                        <a:buNone/>
                      </a:pPr>
                      <a:r>
                        <a:rPr lang="en-IN" sz="2600" kern="100">
                          <a:effectLst/>
                        </a:rPr>
                        <a:t>Distance between the farthest points</a:t>
                      </a:r>
                      <a:endParaRPr lang="en-IN" sz="2600" kern="100">
                        <a:effectLst/>
                        <a:latin typeface="Aptos" panose="020B0004020202020204" pitchFamily="34" charset="0"/>
                        <a:ea typeface="Aptos" panose="020B0004020202020204" pitchFamily="34" charset="0"/>
                        <a:cs typeface="Tunga" panose="020B0502040204020203" pitchFamily="34" charset="0"/>
                      </a:endParaRPr>
                    </a:p>
                  </a:txBody>
                  <a:tcPr marL="163424" marR="163424" marT="0" marB="0"/>
                </a:tc>
                <a:extLst>
                  <a:ext uri="{0D108BD9-81ED-4DB2-BD59-A6C34878D82A}">
                    <a16:rowId xmlns:a16="http://schemas.microsoft.com/office/drawing/2014/main" val="2533710684"/>
                  </a:ext>
                </a:extLst>
              </a:tr>
              <a:tr h="923801">
                <a:tc>
                  <a:txBody>
                    <a:bodyPr/>
                    <a:lstStyle/>
                    <a:p>
                      <a:pPr>
                        <a:lnSpc>
                          <a:spcPct val="107000"/>
                        </a:lnSpc>
                        <a:spcAft>
                          <a:spcPts val="800"/>
                        </a:spcAft>
                        <a:buNone/>
                      </a:pPr>
                      <a:r>
                        <a:rPr lang="en-IN" sz="2600" kern="100">
                          <a:effectLst/>
                        </a:rPr>
                        <a:t>Average</a:t>
                      </a:r>
                      <a:endParaRPr lang="en-IN" sz="2600" kern="100">
                        <a:effectLst/>
                        <a:latin typeface="Aptos" panose="020B0004020202020204" pitchFamily="34" charset="0"/>
                        <a:ea typeface="Aptos" panose="020B0004020202020204" pitchFamily="34" charset="0"/>
                        <a:cs typeface="Tunga" panose="020B0502040204020203" pitchFamily="34" charset="0"/>
                      </a:endParaRPr>
                    </a:p>
                  </a:txBody>
                  <a:tcPr marL="163424" marR="163424" marT="0" marB="0"/>
                </a:tc>
                <a:tc>
                  <a:txBody>
                    <a:bodyPr/>
                    <a:lstStyle/>
                    <a:p>
                      <a:pPr>
                        <a:lnSpc>
                          <a:spcPct val="107000"/>
                        </a:lnSpc>
                        <a:spcAft>
                          <a:spcPts val="800"/>
                        </a:spcAft>
                        <a:buNone/>
                      </a:pPr>
                      <a:r>
                        <a:rPr lang="en-IN" sz="2600" kern="100">
                          <a:effectLst/>
                        </a:rPr>
                        <a:t>Average distance between all points of the two clusters</a:t>
                      </a:r>
                      <a:endParaRPr lang="en-IN" sz="2600" kern="100">
                        <a:effectLst/>
                        <a:latin typeface="Aptos" panose="020B0004020202020204" pitchFamily="34" charset="0"/>
                        <a:ea typeface="Aptos" panose="020B0004020202020204" pitchFamily="34" charset="0"/>
                        <a:cs typeface="Tunga" panose="020B0502040204020203" pitchFamily="34" charset="0"/>
                      </a:endParaRPr>
                    </a:p>
                  </a:txBody>
                  <a:tcPr marL="163424" marR="163424" marT="0" marB="0"/>
                </a:tc>
                <a:extLst>
                  <a:ext uri="{0D108BD9-81ED-4DB2-BD59-A6C34878D82A}">
                    <a16:rowId xmlns:a16="http://schemas.microsoft.com/office/drawing/2014/main" val="1391478989"/>
                  </a:ext>
                </a:extLst>
              </a:tr>
              <a:tr h="923801">
                <a:tc>
                  <a:txBody>
                    <a:bodyPr/>
                    <a:lstStyle/>
                    <a:p>
                      <a:pPr>
                        <a:lnSpc>
                          <a:spcPct val="107000"/>
                        </a:lnSpc>
                        <a:spcAft>
                          <a:spcPts val="800"/>
                        </a:spcAft>
                        <a:buNone/>
                      </a:pPr>
                      <a:r>
                        <a:rPr lang="en-IN" sz="2600" kern="100">
                          <a:effectLst/>
                        </a:rPr>
                        <a:t>Ward</a:t>
                      </a:r>
                      <a:endParaRPr lang="en-IN" sz="2600" kern="100">
                        <a:effectLst/>
                        <a:latin typeface="Aptos" panose="020B0004020202020204" pitchFamily="34" charset="0"/>
                        <a:ea typeface="Aptos" panose="020B0004020202020204" pitchFamily="34" charset="0"/>
                        <a:cs typeface="Tunga" panose="020B0502040204020203" pitchFamily="34" charset="0"/>
                      </a:endParaRPr>
                    </a:p>
                  </a:txBody>
                  <a:tcPr marL="163424" marR="163424" marT="0" marB="0"/>
                </a:tc>
                <a:tc>
                  <a:txBody>
                    <a:bodyPr/>
                    <a:lstStyle/>
                    <a:p>
                      <a:pPr>
                        <a:lnSpc>
                          <a:spcPct val="107000"/>
                        </a:lnSpc>
                        <a:spcAft>
                          <a:spcPts val="800"/>
                        </a:spcAft>
                        <a:buNone/>
                      </a:pPr>
                      <a:r>
                        <a:rPr lang="en-IN" sz="2600" kern="100" dirty="0">
                          <a:effectLst/>
                        </a:rPr>
                        <a:t>Minimize variance between clusters (default in scikit-learn)</a:t>
                      </a:r>
                      <a:endParaRPr lang="en-IN" sz="2600" kern="100" dirty="0">
                        <a:effectLst/>
                        <a:latin typeface="Aptos" panose="020B0004020202020204" pitchFamily="34" charset="0"/>
                        <a:ea typeface="Aptos" panose="020B0004020202020204" pitchFamily="34" charset="0"/>
                        <a:cs typeface="Tunga" panose="020B0502040204020203" pitchFamily="34" charset="0"/>
                      </a:endParaRPr>
                    </a:p>
                  </a:txBody>
                  <a:tcPr marL="163424" marR="163424" marT="0" marB="0"/>
                </a:tc>
                <a:extLst>
                  <a:ext uri="{0D108BD9-81ED-4DB2-BD59-A6C34878D82A}">
                    <a16:rowId xmlns:a16="http://schemas.microsoft.com/office/drawing/2014/main" val="728695204"/>
                  </a:ext>
                </a:extLst>
              </a:tr>
            </a:tbl>
          </a:graphicData>
        </a:graphic>
      </p:graphicFrame>
    </p:spTree>
    <p:extLst>
      <p:ext uri="{BB962C8B-B14F-4D97-AF65-F5344CB8AC3E}">
        <p14:creationId xmlns:p14="http://schemas.microsoft.com/office/powerpoint/2010/main" val="9727820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C6E852-5A86-1A87-E8C1-73A1A8E8B126}"/>
            </a:ext>
          </a:extLst>
        </p:cNvPr>
        <p:cNvGrpSpPr/>
        <p:nvPr/>
      </p:nvGrpSpPr>
      <p:grpSpPr>
        <a:xfrm>
          <a:off x="0" y="0"/>
          <a:ext cx="0" cy="0"/>
          <a:chOff x="0" y="0"/>
          <a:chExt cx="0" cy="0"/>
        </a:xfrm>
      </p:grpSpPr>
      <p:sp>
        <p:nvSpPr>
          <p:cNvPr id="4103" name="Title 1">
            <a:extLst>
              <a:ext uri="{FF2B5EF4-FFF2-40B4-BE49-F238E27FC236}">
                <a16:creationId xmlns:a16="http://schemas.microsoft.com/office/drawing/2014/main" id="{52FF76B6-4F01-43CB-3B72-B26A00EDD666}"/>
              </a:ext>
            </a:extLst>
          </p:cNvPr>
          <p:cNvSpPr>
            <a:spLocks noGrp="1"/>
          </p:cNvSpPr>
          <p:nvPr>
            <p:ph type="title"/>
          </p:nvPr>
        </p:nvSpPr>
        <p:spPr>
          <a:xfrm>
            <a:off x="777240" y="457200"/>
            <a:ext cx="4790123" cy="2501900"/>
          </a:xfrm>
        </p:spPr>
        <p:txBody>
          <a:bodyPr>
            <a:normAutofit/>
          </a:bodyPr>
          <a:lstStyle/>
          <a:p>
            <a:r>
              <a:rPr lang="en-US" b="1" dirty="0"/>
              <a:t>Dendrogram: The Tree of Clusters 🌳</a:t>
            </a:r>
            <a:br>
              <a:rPr lang="en-US" b="1" dirty="0"/>
            </a:br>
            <a:endParaRPr lang="en-US" dirty="0"/>
          </a:p>
        </p:txBody>
      </p:sp>
      <p:sp>
        <p:nvSpPr>
          <p:cNvPr id="3" name="Content Placeholder 2">
            <a:extLst>
              <a:ext uri="{FF2B5EF4-FFF2-40B4-BE49-F238E27FC236}">
                <a16:creationId xmlns:a16="http://schemas.microsoft.com/office/drawing/2014/main" id="{9AA9EA31-59F0-551C-B58A-68C9D19873B3}"/>
              </a:ext>
            </a:extLst>
          </p:cNvPr>
          <p:cNvSpPr>
            <a:spLocks noGrp="1"/>
          </p:cNvSpPr>
          <p:nvPr>
            <p:ph type="body" sz="half" idx="2"/>
          </p:nvPr>
        </p:nvSpPr>
        <p:spPr>
          <a:xfrm>
            <a:off x="777240" y="2711450"/>
            <a:ext cx="4790123" cy="2776537"/>
          </a:xfrm>
        </p:spPr>
        <p:txBody>
          <a:bodyPr>
            <a:normAutofit fontScale="92500"/>
          </a:bodyPr>
          <a:lstStyle/>
          <a:p>
            <a:pPr marL="0" indent="0">
              <a:buNone/>
            </a:pPr>
            <a:r>
              <a:rPr lang="en-US" sz="2400" dirty="0"/>
              <a:t>A </a:t>
            </a:r>
            <a:r>
              <a:rPr lang="en-US" sz="2400" b="1" dirty="0"/>
              <a:t>dendrogram</a:t>
            </a:r>
            <a:r>
              <a:rPr lang="en-US" sz="2400" dirty="0"/>
              <a:t> is a diagram showing </a:t>
            </a:r>
            <a:r>
              <a:rPr lang="en-US" sz="2400" b="1" dirty="0"/>
              <a:t>how clusters were merged</a:t>
            </a:r>
            <a:r>
              <a:rPr lang="en-US" sz="2400" dirty="0"/>
              <a:t> or </a:t>
            </a:r>
            <a:r>
              <a:rPr lang="en-US" sz="2400" b="1" dirty="0"/>
              <a:t>split</a:t>
            </a:r>
            <a:r>
              <a:rPr lang="en-US" sz="2400" dirty="0"/>
              <a:t> </a:t>
            </a:r>
            <a:r>
              <a:rPr lang="en-US" sz="2400" b="1" dirty="0"/>
              <a:t>at</a:t>
            </a:r>
            <a:r>
              <a:rPr lang="en-US" sz="2400" dirty="0"/>
              <a:t> </a:t>
            </a:r>
            <a:r>
              <a:rPr lang="en-US" sz="2400" b="1" dirty="0"/>
              <a:t>each</a:t>
            </a:r>
            <a:r>
              <a:rPr lang="en-US" sz="2400" dirty="0"/>
              <a:t> </a:t>
            </a:r>
            <a:r>
              <a:rPr lang="en-US" sz="2400" b="1" dirty="0"/>
              <a:t>step</a:t>
            </a:r>
            <a:r>
              <a:rPr lang="en-US" sz="2400" dirty="0"/>
              <a:t>.</a:t>
            </a:r>
          </a:p>
          <a:p>
            <a:pPr marL="342900" indent="-342900">
              <a:buFont typeface="Arial" panose="020B0604020202020204" pitchFamily="34" charset="0"/>
              <a:buChar char="•"/>
            </a:pPr>
            <a:r>
              <a:rPr lang="en-US" sz="2200" dirty="0"/>
              <a:t>The height of the branches shows the distance (dissimilarity) between clusters.</a:t>
            </a:r>
          </a:p>
          <a:p>
            <a:pPr marL="342900" indent="-342900">
              <a:buFont typeface="Arial" panose="020B0604020202020204" pitchFamily="34" charset="0"/>
              <a:buChar char="•"/>
            </a:pPr>
            <a:r>
              <a:rPr lang="en-US" sz="2200" dirty="0"/>
              <a:t>You can cut the dendrogram at a certain height to choose the number of clusters.</a:t>
            </a:r>
            <a:endParaRPr lang="en-IN" sz="2200" dirty="0"/>
          </a:p>
        </p:txBody>
      </p:sp>
      <p:pic>
        <p:nvPicPr>
          <p:cNvPr id="4100" name="Picture 4" descr="What is hierarchical clustering? - mTab">
            <a:extLst>
              <a:ext uri="{FF2B5EF4-FFF2-40B4-BE49-F238E27FC236}">
                <a16:creationId xmlns:a16="http://schemas.microsoft.com/office/drawing/2014/main" id="{6039FF5D-42C8-1510-3C75-9E5A27D1197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40854" y="717233"/>
            <a:ext cx="5423533" cy="54235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5204873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2190C-BBA2-EB67-58BB-18E836C342DB}"/>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43209140-ADDA-EBB1-2152-3366962A652C}"/>
              </a:ext>
            </a:extLst>
          </p:cNvPr>
          <p:cNvGrpSpPr/>
          <p:nvPr/>
        </p:nvGrpSpPr>
        <p:grpSpPr>
          <a:xfrm>
            <a:off x="0" y="0"/>
            <a:ext cx="12192000" cy="6878206"/>
            <a:chOff x="0" y="0"/>
            <a:chExt cx="12192000" cy="6878206"/>
          </a:xfrm>
        </p:grpSpPr>
        <p:pic>
          <p:nvPicPr>
            <p:cNvPr id="7170" name="Picture 2" descr="An Introduction to Hierarchical Clustering in Python | DataCamp">
              <a:extLst>
                <a:ext uri="{FF2B5EF4-FFF2-40B4-BE49-F238E27FC236}">
                  <a16:creationId xmlns:a16="http://schemas.microsoft.com/office/drawing/2014/main" id="{9F6193B6-2A91-F022-CEB2-EFF39B0D0F1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04253" y="0"/>
              <a:ext cx="8487747" cy="685800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3386897D-0F43-4E63-2883-EECB4C10455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20206"/>
              <a:ext cx="3704253" cy="6858000"/>
            </a:xfrm>
            <a:prstGeom prst="rect">
              <a:avLst/>
            </a:prstGeom>
          </p:spPr>
        </p:pic>
      </p:grpSp>
      <p:sp>
        <p:nvSpPr>
          <p:cNvPr id="3" name="TextBox 2">
            <a:extLst>
              <a:ext uri="{FF2B5EF4-FFF2-40B4-BE49-F238E27FC236}">
                <a16:creationId xmlns:a16="http://schemas.microsoft.com/office/drawing/2014/main" id="{820618C5-227F-DF4A-520F-04F841D7B5B3}"/>
              </a:ext>
            </a:extLst>
          </p:cNvPr>
          <p:cNvSpPr txBox="1"/>
          <p:nvPr/>
        </p:nvSpPr>
        <p:spPr>
          <a:xfrm>
            <a:off x="73867" y="119466"/>
            <a:ext cx="3932075" cy="4832092"/>
          </a:xfrm>
          <a:prstGeom prst="rect">
            <a:avLst/>
          </a:prstGeom>
          <a:noFill/>
        </p:spPr>
        <p:txBody>
          <a:bodyPr wrap="square">
            <a:spAutoFit/>
          </a:bodyPr>
          <a:lstStyle/>
          <a:p>
            <a:pPr algn="l"/>
            <a:r>
              <a:rPr lang="en-US" sz="2400" b="1" i="0" dirty="0">
                <a:solidFill>
                  <a:srgbClr val="0D0D0D"/>
                </a:solidFill>
                <a:effectLst/>
                <a:latin typeface="Söhne"/>
              </a:rPr>
              <a:t>2. Divisive Hierarchical Clustering:</a:t>
            </a:r>
            <a:r>
              <a:rPr lang="en-US" sz="2400" b="0" i="0" dirty="0">
                <a:solidFill>
                  <a:srgbClr val="0D0D0D"/>
                </a:solidFill>
                <a:effectLst/>
                <a:latin typeface="Söhne"/>
              </a:rPr>
              <a:t>  </a:t>
            </a:r>
            <a:r>
              <a:rPr lang="en-US" sz="2400" b="1" i="0" dirty="0">
                <a:solidFill>
                  <a:srgbClr val="C00000"/>
                </a:solidFill>
                <a:effectLst/>
                <a:latin typeface="Söhne"/>
              </a:rPr>
              <a:t>(Top-Down)</a:t>
            </a:r>
          </a:p>
          <a:p>
            <a:pPr algn="l"/>
            <a:r>
              <a:rPr lang="en-US" sz="2000" dirty="0">
                <a:solidFill>
                  <a:srgbClr val="0D0D0D"/>
                </a:solidFill>
                <a:latin typeface="Söhne"/>
              </a:rPr>
              <a:t>	</a:t>
            </a:r>
            <a:r>
              <a:rPr lang="en-US" sz="2000" dirty="0"/>
              <a:t>The divisive hierarchical clustering method uses a top-down strategy. The starting point is the </a:t>
            </a:r>
            <a:r>
              <a:rPr lang="en-US" sz="2000" b="1" dirty="0">
                <a:solidFill>
                  <a:srgbClr val="C00000"/>
                </a:solidFill>
              </a:rPr>
              <a:t>largest cluster </a:t>
            </a:r>
            <a:r>
              <a:rPr lang="en-US" sz="2000" dirty="0"/>
              <a:t>with all the objects in it, and then, it is </a:t>
            </a:r>
            <a:r>
              <a:rPr lang="en-US" sz="2000" b="1" dirty="0">
                <a:solidFill>
                  <a:srgbClr val="C00000"/>
                </a:solidFill>
              </a:rPr>
              <a:t>split recursively </a:t>
            </a:r>
            <a:r>
              <a:rPr lang="en-US" sz="2000" dirty="0"/>
              <a:t>to form smaller and smaller clusters, thus forming the hierarchy. </a:t>
            </a:r>
            <a:r>
              <a:rPr lang="en-US" sz="2000" b="1" dirty="0">
                <a:solidFill>
                  <a:schemeClr val="accent6">
                    <a:lumMod val="50000"/>
                  </a:schemeClr>
                </a:solidFill>
              </a:rPr>
              <a:t>The end of iterations is achieved when the objects in the final clusters are sufficiently homogeneous to each other or the final clusters contain only one object or the user-defined clustering condition is achieved</a:t>
            </a:r>
            <a:r>
              <a:rPr lang="en-US" sz="2000" dirty="0"/>
              <a:t>.</a:t>
            </a:r>
            <a:endParaRPr lang="en-US" sz="2000" b="0" i="0" dirty="0">
              <a:solidFill>
                <a:srgbClr val="0D0D0D"/>
              </a:solidFill>
              <a:effectLst/>
              <a:latin typeface="Söhne"/>
            </a:endParaRPr>
          </a:p>
        </p:txBody>
      </p:sp>
    </p:spTree>
    <p:extLst>
      <p:ext uri="{BB962C8B-B14F-4D97-AF65-F5344CB8AC3E}">
        <p14:creationId xmlns:p14="http://schemas.microsoft.com/office/powerpoint/2010/main" val="21263650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4076B-A0FA-AF73-1C57-D3D6F3822F8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0477268-4D21-FDDB-DA37-D18D1985DA74}"/>
              </a:ext>
            </a:extLst>
          </p:cNvPr>
          <p:cNvSpPr>
            <a:spLocks noGrp="1"/>
          </p:cNvSpPr>
          <p:nvPr>
            <p:ph idx="1"/>
          </p:nvPr>
        </p:nvSpPr>
        <p:spPr>
          <a:xfrm>
            <a:off x="702853" y="707571"/>
            <a:ext cx="10900568" cy="5486400"/>
          </a:xfrm>
        </p:spPr>
        <p:txBody>
          <a:bodyPr>
            <a:normAutofit fontScale="92500" lnSpcReduction="10000"/>
          </a:bodyPr>
          <a:lstStyle/>
          <a:p>
            <a:pPr marL="0" indent="0">
              <a:buNone/>
            </a:pPr>
            <a:r>
              <a:rPr lang="en-US" sz="2400" b="1" dirty="0"/>
              <a:t>What is Divisive Hierarchical Clustering?</a:t>
            </a:r>
          </a:p>
          <a:p>
            <a:pPr marL="0" indent="0">
              <a:buNone/>
            </a:pPr>
            <a:r>
              <a:rPr lang="en-US" sz="2400" dirty="0"/>
              <a:t>Divisive Clustering is a top-down approach:</a:t>
            </a:r>
          </a:p>
          <a:p>
            <a:pPr lvl="1"/>
            <a:r>
              <a:rPr lang="en-US" sz="2200" dirty="0"/>
              <a:t>Start with all data points in one big cluster</a:t>
            </a:r>
          </a:p>
          <a:p>
            <a:pPr lvl="1"/>
            <a:r>
              <a:rPr lang="en-US" sz="2200" dirty="0"/>
              <a:t>Recursively split the cluster into smaller sub-clusters</a:t>
            </a:r>
          </a:p>
          <a:p>
            <a:pPr lvl="1"/>
            <a:r>
              <a:rPr lang="en-US" sz="2200" dirty="0"/>
              <a:t>Continue until each point is in its own cluster</a:t>
            </a:r>
          </a:p>
          <a:p>
            <a:pPr marL="0" indent="0">
              <a:buNone/>
            </a:pPr>
            <a:r>
              <a:rPr lang="en-US" sz="2400" dirty="0"/>
              <a:t>📌 It’s the </a:t>
            </a:r>
            <a:r>
              <a:rPr lang="en-US" sz="2600" b="1" dirty="0">
                <a:solidFill>
                  <a:schemeClr val="tx2">
                    <a:lumMod val="75000"/>
                    <a:lumOff val="25000"/>
                  </a:schemeClr>
                </a:solidFill>
              </a:rPr>
              <a:t>reverse</a:t>
            </a:r>
            <a:r>
              <a:rPr lang="en-US" sz="2400" dirty="0"/>
              <a:t> </a:t>
            </a:r>
            <a:r>
              <a:rPr lang="en-US" sz="2600" b="1" dirty="0">
                <a:solidFill>
                  <a:schemeClr val="tx2">
                    <a:lumMod val="75000"/>
                    <a:lumOff val="25000"/>
                  </a:schemeClr>
                </a:solidFill>
              </a:rPr>
              <a:t>of</a:t>
            </a:r>
            <a:r>
              <a:rPr lang="en-US" sz="2400" dirty="0"/>
              <a:t> </a:t>
            </a:r>
            <a:r>
              <a:rPr lang="en-US" sz="2400" b="1" dirty="0">
                <a:solidFill>
                  <a:srgbClr val="002060"/>
                </a:solidFill>
              </a:rPr>
              <a:t>Agglomerative Clustering</a:t>
            </a:r>
            <a:r>
              <a:rPr lang="en-US" sz="2400" dirty="0"/>
              <a:t>, which builds clusters </a:t>
            </a:r>
            <a:r>
              <a:rPr lang="en-US" sz="2400" b="1" dirty="0">
                <a:solidFill>
                  <a:srgbClr val="C00000"/>
                </a:solidFill>
              </a:rPr>
              <a:t>bottom-up</a:t>
            </a:r>
            <a:r>
              <a:rPr lang="en-US" sz="2400" dirty="0"/>
              <a:t>.</a:t>
            </a:r>
          </a:p>
          <a:p>
            <a:pPr marL="0" indent="0">
              <a:buNone/>
            </a:pPr>
            <a:endParaRPr lang="en-US" sz="2400" dirty="0"/>
          </a:p>
          <a:p>
            <a:pPr marL="0" indent="0">
              <a:buNone/>
            </a:pPr>
            <a:r>
              <a:rPr lang="en-US" sz="2400" b="1" dirty="0"/>
              <a:t>Real-Life Analogy</a:t>
            </a:r>
          </a:p>
          <a:p>
            <a:pPr marL="0" indent="0">
              <a:buNone/>
            </a:pPr>
            <a:r>
              <a:rPr lang="en-US" sz="2400" dirty="0"/>
              <a:t>Imagine you’re organizing a conference with 100 participants.</a:t>
            </a:r>
          </a:p>
          <a:p>
            <a:pPr marL="0" indent="0">
              <a:buNone/>
            </a:pPr>
            <a:r>
              <a:rPr lang="en-US" sz="2400" dirty="0"/>
              <a:t>You start by </a:t>
            </a:r>
            <a:r>
              <a:rPr lang="en-US" sz="2400" b="1" dirty="0">
                <a:solidFill>
                  <a:srgbClr val="C00000"/>
                </a:solidFill>
              </a:rPr>
              <a:t>putting everyone in one big room</a:t>
            </a:r>
            <a:r>
              <a:rPr lang="en-US" sz="2400" dirty="0"/>
              <a:t>.</a:t>
            </a:r>
          </a:p>
          <a:p>
            <a:pPr marL="0" indent="0">
              <a:buNone/>
            </a:pPr>
            <a:r>
              <a:rPr lang="en-US" sz="2400" dirty="0"/>
              <a:t>Then you:</a:t>
            </a:r>
          </a:p>
          <a:p>
            <a:pPr lvl="1"/>
            <a:r>
              <a:rPr lang="en-US" sz="2200" dirty="0"/>
              <a:t>Split them </a:t>
            </a:r>
            <a:r>
              <a:rPr lang="en-US" sz="2200" b="1" dirty="0">
                <a:solidFill>
                  <a:srgbClr val="002060"/>
                </a:solidFill>
              </a:rPr>
              <a:t>based on role</a:t>
            </a:r>
            <a:r>
              <a:rPr lang="en-US" sz="2200" b="1" dirty="0"/>
              <a:t> </a:t>
            </a:r>
            <a:r>
              <a:rPr lang="en-US" sz="2200" dirty="0"/>
              <a:t>(e.g., Speaker vs. Attendee)</a:t>
            </a:r>
          </a:p>
          <a:p>
            <a:pPr lvl="1"/>
            <a:r>
              <a:rPr lang="en-US" sz="2200" dirty="0"/>
              <a:t>Split Attendees by </a:t>
            </a:r>
            <a:r>
              <a:rPr lang="en-US" sz="2200" b="1" dirty="0">
                <a:solidFill>
                  <a:srgbClr val="002060"/>
                </a:solidFill>
              </a:rPr>
              <a:t>experience</a:t>
            </a:r>
            <a:r>
              <a:rPr lang="en-US" sz="2200" dirty="0"/>
              <a:t> </a:t>
            </a:r>
            <a:r>
              <a:rPr lang="en-US" sz="2200" b="1" dirty="0">
                <a:solidFill>
                  <a:srgbClr val="002060"/>
                </a:solidFill>
              </a:rPr>
              <a:t>level</a:t>
            </a:r>
            <a:r>
              <a:rPr lang="en-US" sz="2200" dirty="0"/>
              <a:t> (Beginner vs. Advanced)</a:t>
            </a:r>
          </a:p>
          <a:p>
            <a:pPr lvl="1"/>
            <a:r>
              <a:rPr lang="en-US" sz="2200" dirty="0"/>
              <a:t>Further divide based on </a:t>
            </a:r>
            <a:r>
              <a:rPr lang="en-US" sz="2200" b="1" dirty="0">
                <a:solidFill>
                  <a:srgbClr val="002060"/>
                </a:solidFill>
              </a:rPr>
              <a:t>topics</a:t>
            </a:r>
            <a:r>
              <a:rPr lang="en-US" sz="2200" dirty="0"/>
              <a:t> </a:t>
            </a:r>
            <a:r>
              <a:rPr lang="en-US" sz="2200" b="1" dirty="0">
                <a:solidFill>
                  <a:srgbClr val="002060"/>
                </a:solidFill>
              </a:rPr>
              <a:t>of</a:t>
            </a:r>
            <a:r>
              <a:rPr lang="en-US" sz="2200" dirty="0"/>
              <a:t> </a:t>
            </a:r>
            <a:r>
              <a:rPr lang="en-US" sz="2200" b="1" dirty="0">
                <a:solidFill>
                  <a:srgbClr val="002060"/>
                </a:solidFill>
              </a:rPr>
              <a:t>interest</a:t>
            </a:r>
            <a:r>
              <a:rPr lang="en-US" sz="2200" dirty="0"/>
              <a:t> (e.g., AI, Web Dev)</a:t>
            </a:r>
          </a:p>
          <a:p>
            <a:pPr marL="0" indent="0">
              <a:buNone/>
            </a:pPr>
            <a:r>
              <a:rPr lang="en-US" sz="2400" dirty="0"/>
              <a:t>This </a:t>
            </a:r>
            <a:r>
              <a:rPr lang="en-US" sz="2400" b="1" dirty="0">
                <a:solidFill>
                  <a:schemeClr val="tx2">
                    <a:lumMod val="50000"/>
                    <a:lumOff val="50000"/>
                  </a:schemeClr>
                </a:solidFill>
              </a:rPr>
              <a:t>recursive</a:t>
            </a:r>
            <a:r>
              <a:rPr lang="en-US" sz="2400" dirty="0"/>
              <a:t> </a:t>
            </a:r>
            <a:r>
              <a:rPr lang="en-US" sz="2400" b="1" dirty="0">
                <a:solidFill>
                  <a:schemeClr val="tx2">
                    <a:lumMod val="50000"/>
                    <a:lumOff val="50000"/>
                  </a:schemeClr>
                </a:solidFill>
              </a:rPr>
              <a:t>splitting</a:t>
            </a:r>
            <a:r>
              <a:rPr lang="en-US" sz="2400" dirty="0"/>
              <a:t> continues until you form meaningful subgroups.</a:t>
            </a:r>
            <a:endParaRPr lang="en-IN" sz="2400" dirty="0"/>
          </a:p>
        </p:txBody>
      </p:sp>
    </p:spTree>
    <p:extLst>
      <p:ext uri="{BB962C8B-B14F-4D97-AF65-F5344CB8AC3E}">
        <p14:creationId xmlns:p14="http://schemas.microsoft.com/office/powerpoint/2010/main" val="413356854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F87CF8-CBAD-CA34-08E4-D9080B5FD77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BFDF9E3-B569-7920-48AD-EC7B37D88186}"/>
              </a:ext>
            </a:extLst>
          </p:cNvPr>
          <p:cNvSpPr>
            <a:spLocks noGrp="1"/>
          </p:cNvSpPr>
          <p:nvPr>
            <p:ph type="title"/>
          </p:nvPr>
        </p:nvSpPr>
        <p:spPr>
          <a:xfrm>
            <a:off x="899903" y="621603"/>
            <a:ext cx="10659110" cy="1325563"/>
          </a:xfrm>
        </p:spPr>
        <p:txBody>
          <a:bodyPr anchor="ctr">
            <a:normAutofit/>
          </a:bodyPr>
          <a:lstStyle/>
          <a:p>
            <a:pPr marL="0" indent="0">
              <a:buNone/>
            </a:pPr>
            <a:r>
              <a:rPr lang="en-US" sz="2600" b="1" dirty="0"/>
              <a:t>Divisive Clustering: Step-by-Step</a:t>
            </a:r>
          </a:p>
          <a:p>
            <a:pPr marL="0" indent="0">
              <a:buNone/>
            </a:pPr>
            <a:r>
              <a:rPr lang="en-US" sz="2600" dirty="0"/>
              <a:t>Let’s say you have </a:t>
            </a:r>
            <a:r>
              <a:rPr lang="en-US" sz="2600" b="1" dirty="0">
                <a:solidFill>
                  <a:srgbClr val="C00000"/>
                </a:solidFill>
              </a:rPr>
              <a:t>5 animals</a:t>
            </a:r>
            <a:r>
              <a:rPr lang="en-US" sz="2600" dirty="0"/>
              <a:t>, each described by their features (like weight and speed):</a:t>
            </a:r>
          </a:p>
          <a:p>
            <a:pPr marL="0" indent="0">
              <a:buNone/>
            </a:pPr>
            <a:endParaRPr lang="en-IN" sz="2600" dirty="0"/>
          </a:p>
        </p:txBody>
      </p:sp>
      <p:graphicFrame>
        <p:nvGraphicFramePr>
          <p:cNvPr id="2" name="Table 1">
            <a:extLst>
              <a:ext uri="{FF2B5EF4-FFF2-40B4-BE49-F238E27FC236}">
                <a16:creationId xmlns:a16="http://schemas.microsoft.com/office/drawing/2014/main" id="{76A8B238-90DD-BDC8-D8FA-7849B7A503FC}"/>
              </a:ext>
            </a:extLst>
          </p:cNvPr>
          <p:cNvGraphicFramePr>
            <a:graphicFrameLocks noGrp="1"/>
          </p:cNvGraphicFramePr>
          <p:nvPr>
            <p:extLst>
              <p:ext uri="{D42A27DB-BD31-4B8C-83A1-F6EECF244321}">
                <p14:modId xmlns:p14="http://schemas.microsoft.com/office/powerpoint/2010/main" val="1711782666"/>
              </p:ext>
            </p:extLst>
          </p:nvPr>
        </p:nvGraphicFramePr>
        <p:xfrm>
          <a:off x="1530055" y="2126774"/>
          <a:ext cx="9153481" cy="3749040"/>
        </p:xfrm>
        <a:graphic>
          <a:graphicData uri="http://schemas.openxmlformats.org/drawingml/2006/table">
            <a:tbl>
              <a:tblPr firstRow="1" firstCol="1" bandRow="1">
                <a:tableStyleId>{5C22544A-7EE6-4342-B048-85BDC9FD1C3A}</a:tableStyleId>
              </a:tblPr>
              <a:tblGrid>
                <a:gridCol w="3133151">
                  <a:extLst>
                    <a:ext uri="{9D8B030D-6E8A-4147-A177-3AD203B41FA5}">
                      <a16:colId xmlns:a16="http://schemas.microsoft.com/office/drawing/2014/main" val="2365835095"/>
                    </a:ext>
                  </a:extLst>
                </a:gridCol>
                <a:gridCol w="2863448">
                  <a:extLst>
                    <a:ext uri="{9D8B030D-6E8A-4147-A177-3AD203B41FA5}">
                      <a16:colId xmlns:a16="http://schemas.microsoft.com/office/drawing/2014/main" val="1119287340"/>
                    </a:ext>
                  </a:extLst>
                </a:gridCol>
                <a:gridCol w="3156882">
                  <a:extLst>
                    <a:ext uri="{9D8B030D-6E8A-4147-A177-3AD203B41FA5}">
                      <a16:colId xmlns:a16="http://schemas.microsoft.com/office/drawing/2014/main" val="1253508621"/>
                    </a:ext>
                  </a:extLst>
                </a:gridCol>
              </a:tblGrid>
              <a:tr h="624840">
                <a:tc>
                  <a:txBody>
                    <a:bodyPr/>
                    <a:lstStyle/>
                    <a:p>
                      <a:pPr>
                        <a:lnSpc>
                          <a:spcPct val="107000"/>
                        </a:lnSpc>
                        <a:spcAft>
                          <a:spcPts val="800"/>
                        </a:spcAft>
                        <a:buNone/>
                      </a:pPr>
                      <a:r>
                        <a:rPr lang="en-IN" sz="3300" kern="100">
                          <a:effectLst/>
                        </a:rPr>
                        <a:t>Animal</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tc>
                  <a:txBody>
                    <a:bodyPr/>
                    <a:lstStyle/>
                    <a:p>
                      <a:pPr>
                        <a:lnSpc>
                          <a:spcPct val="107000"/>
                        </a:lnSpc>
                        <a:spcAft>
                          <a:spcPts val="800"/>
                        </a:spcAft>
                        <a:buNone/>
                      </a:pPr>
                      <a:r>
                        <a:rPr lang="en-IN" sz="3300" kern="100">
                          <a:effectLst/>
                        </a:rPr>
                        <a:t>Speed</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tc>
                  <a:txBody>
                    <a:bodyPr/>
                    <a:lstStyle/>
                    <a:p>
                      <a:pPr>
                        <a:lnSpc>
                          <a:spcPct val="107000"/>
                        </a:lnSpc>
                        <a:spcAft>
                          <a:spcPts val="800"/>
                        </a:spcAft>
                        <a:buNone/>
                      </a:pPr>
                      <a:r>
                        <a:rPr lang="en-IN" sz="3300" kern="100">
                          <a:effectLst/>
                        </a:rPr>
                        <a:t>Weight</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extLst>
                  <a:ext uri="{0D108BD9-81ED-4DB2-BD59-A6C34878D82A}">
                    <a16:rowId xmlns:a16="http://schemas.microsoft.com/office/drawing/2014/main" val="3550372441"/>
                  </a:ext>
                </a:extLst>
              </a:tr>
              <a:tr h="624840">
                <a:tc>
                  <a:txBody>
                    <a:bodyPr/>
                    <a:lstStyle/>
                    <a:p>
                      <a:pPr>
                        <a:lnSpc>
                          <a:spcPct val="107000"/>
                        </a:lnSpc>
                        <a:spcAft>
                          <a:spcPts val="800"/>
                        </a:spcAft>
                        <a:buNone/>
                      </a:pPr>
                      <a:r>
                        <a:rPr lang="en-IN" sz="3300" kern="100">
                          <a:effectLst/>
                        </a:rPr>
                        <a:t>Tiger</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tc>
                  <a:txBody>
                    <a:bodyPr/>
                    <a:lstStyle/>
                    <a:p>
                      <a:pPr>
                        <a:lnSpc>
                          <a:spcPct val="107000"/>
                        </a:lnSpc>
                        <a:spcAft>
                          <a:spcPts val="800"/>
                        </a:spcAft>
                        <a:buNone/>
                      </a:pPr>
                      <a:r>
                        <a:rPr lang="en-IN" sz="3300" kern="100">
                          <a:effectLst/>
                        </a:rPr>
                        <a:t>80</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tc>
                  <a:txBody>
                    <a:bodyPr/>
                    <a:lstStyle/>
                    <a:p>
                      <a:pPr>
                        <a:lnSpc>
                          <a:spcPct val="107000"/>
                        </a:lnSpc>
                        <a:spcAft>
                          <a:spcPts val="800"/>
                        </a:spcAft>
                        <a:buNone/>
                      </a:pPr>
                      <a:r>
                        <a:rPr lang="en-IN" sz="3300" kern="100">
                          <a:effectLst/>
                        </a:rPr>
                        <a:t>200</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extLst>
                  <a:ext uri="{0D108BD9-81ED-4DB2-BD59-A6C34878D82A}">
                    <a16:rowId xmlns:a16="http://schemas.microsoft.com/office/drawing/2014/main" val="3379721395"/>
                  </a:ext>
                </a:extLst>
              </a:tr>
              <a:tr h="624840">
                <a:tc>
                  <a:txBody>
                    <a:bodyPr/>
                    <a:lstStyle/>
                    <a:p>
                      <a:pPr>
                        <a:lnSpc>
                          <a:spcPct val="107000"/>
                        </a:lnSpc>
                        <a:spcAft>
                          <a:spcPts val="800"/>
                        </a:spcAft>
                        <a:buNone/>
                      </a:pPr>
                      <a:r>
                        <a:rPr lang="en-IN" sz="3300" kern="100">
                          <a:effectLst/>
                        </a:rPr>
                        <a:t>Lion</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tc>
                  <a:txBody>
                    <a:bodyPr/>
                    <a:lstStyle/>
                    <a:p>
                      <a:pPr>
                        <a:lnSpc>
                          <a:spcPct val="107000"/>
                        </a:lnSpc>
                        <a:spcAft>
                          <a:spcPts val="800"/>
                        </a:spcAft>
                        <a:buNone/>
                      </a:pPr>
                      <a:r>
                        <a:rPr lang="en-IN" sz="3300" kern="100">
                          <a:effectLst/>
                        </a:rPr>
                        <a:t>75</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tc>
                  <a:txBody>
                    <a:bodyPr/>
                    <a:lstStyle/>
                    <a:p>
                      <a:pPr>
                        <a:lnSpc>
                          <a:spcPct val="107000"/>
                        </a:lnSpc>
                        <a:spcAft>
                          <a:spcPts val="800"/>
                        </a:spcAft>
                        <a:buNone/>
                      </a:pPr>
                      <a:r>
                        <a:rPr lang="en-IN" sz="3300" kern="100">
                          <a:effectLst/>
                        </a:rPr>
                        <a:t>190</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extLst>
                  <a:ext uri="{0D108BD9-81ED-4DB2-BD59-A6C34878D82A}">
                    <a16:rowId xmlns:a16="http://schemas.microsoft.com/office/drawing/2014/main" val="3692154523"/>
                  </a:ext>
                </a:extLst>
              </a:tr>
              <a:tr h="624840">
                <a:tc>
                  <a:txBody>
                    <a:bodyPr/>
                    <a:lstStyle/>
                    <a:p>
                      <a:pPr>
                        <a:lnSpc>
                          <a:spcPct val="107000"/>
                        </a:lnSpc>
                        <a:spcAft>
                          <a:spcPts val="800"/>
                        </a:spcAft>
                        <a:buNone/>
                      </a:pPr>
                      <a:r>
                        <a:rPr lang="en-IN" sz="3300" kern="100">
                          <a:effectLst/>
                        </a:rPr>
                        <a:t>Deer</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tc>
                  <a:txBody>
                    <a:bodyPr/>
                    <a:lstStyle/>
                    <a:p>
                      <a:pPr>
                        <a:lnSpc>
                          <a:spcPct val="107000"/>
                        </a:lnSpc>
                        <a:spcAft>
                          <a:spcPts val="800"/>
                        </a:spcAft>
                        <a:buNone/>
                      </a:pPr>
                      <a:r>
                        <a:rPr lang="en-IN" sz="3300" kern="100">
                          <a:effectLst/>
                        </a:rPr>
                        <a:t>60</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tc>
                  <a:txBody>
                    <a:bodyPr/>
                    <a:lstStyle/>
                    <a:p>
                      <a:pPr>
                        <a:lnSpc>
                          <a:spcPct val="107000"/>
                        </a:lnSpc>
                        <a:spcAft>
                          <a:spcPts val="800"/>
                        </a:spcAft>
                        <a:buNone/>
                      </a:pPr>
                      <a:r>
                        <a:rPr lang="en-IN" sz="3300" kern="100">
                          <a:effectLst/>
                        </a:rPr>
                        <a:t>90</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extLst>
                  <a:ext uri="{0D108BD9-81ED-4DB2-BD59-A6C34878D82A}">
                    <a16:rowId xmlns:a16="http://schemas.microsoft.com/office/drawing/2014/main" val="933417984"/>
                  </a:ext>
                </a:extLst>
              </a:tr>
              <a:tr h="624840">
                <a:tc>
                  <a:txBody>
                    <a:bodyPr/>
                    <a:lstStyle/>
                    <a:p>
                      <a:pPr>
                        <a:lnSpc>
                          <a:spcPct val="107000"/>
                        </a:lnSpc>
                        <a:spcAft>
                          <a:spcPts val="800"/>
                        </a:spcAft>
                        <a:buNone/>
                      </a:pPr>
                      <a:r>
                        <a:rPr lang="en-IN" sz="3300" kern="100">
                          <a:effectLst/>
                        </a:rPr>
                        <a:t>Rabbit</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tc>
                  <a:txBody>
                    <a:bodyPr/>
                    <a:lstStyle/>
                    <a:p>
                      <a:pPr>
                        <a:lnSpc>
                          <a:spcPct val="107000"/>
                        </a:lnSpc>
                        <a:spcAft>
                          <a:spcPts val="800"/>
                        </a:spcAft>
                        <a:buNone/>
                      </a:pPr>
                      <a:r>
                        <a:rPr lang="en-IN" sz="3300" kern="100">
                          <a:effectLst/>
                        </a:rPr>
                        <a:t>45</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tc>
                  <a:txBody>
                    <a:bodyPr/>
                    <a:lstStyle/>
                    <a:p>
                      <a:pPr>
                        <a:lnSpc>
                          <a:spcPct val="107000"/>
                        </a:lnSpc>
                        <a:spcAft>
                          <a:spcPts val="800"/>
                        </a:spcAft>
                        <a:buNone/>
                      </a:pPr>
                      <a:r>
                        <a:rPr lang="en-IN" sz="3300" kern="100">
                          <a:effectLst/>
                        </a:rPr>
                        <a:t>30</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extLst>
                  <a:ext uri="{0D108BD9-81ED-4DB2-BD59-A6C34878D82A}">
                    <a16:rowId xmlns:a16="http://schemas.microsoft.com/office/drawing/2014/main" val="848383182"/>
                  </a:ext>
                </a:extLst>
              </a:tr>
              <a:tr h="624840">
                <a:tc>
                  <a:txBody>
                    <a:bodyPr/>
                    <a:lstStyle/>
                    <a:p>
                      <a:pPr>
                        <a:lnSpc>
                          <a:spcPct val="107000"/>
                        </a:lnSpc>
                        <a:spcAft>
                          <a:spcPts val="800"/>
                        </a:spcAft>
                        <a:buNone/>
                      </a:pPr>
                      <a:r>
                        <a:rPr lang="en-IN" sz="3300" kern="100">
                          <a:effectLst/>
                        </a:rPr>
                        <a:t>Turtle</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tc>
                  <a:txBody>
                    <a:bodyPr/>
                    <a:lstStyle/>
                    <a:p>
                      <a:pPr>
                        <a:lnSpc>
                          <a:spcPct val="107000"/>
                        </a:lnSpc>
                        <a:spcAft>
                          <a:spcPts val="800"/>
                        </a:spcAft>
                        <a:buNone/>
                      </a:pPr>
                      <a:r>
                        <a:rPr lang="en-IN" sz="3300" kern="100">
                          <a:effectLst/>
                        </a:rPr>
                        <a:t>5</a:t>
                      </a:r>
                      <a:endParaRPr lang="en-IN" sz="3300" kern="10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tc>
                  <a:txBody>
                    <a:bodyPr/>
                    <a:lstStyle/>
                    <a:p>
                      <a:pPr>
                        <a:lnSpc>
                          <a:spcPct val="107000"/>
                        </a:lnSpc>
                        <a:spcAft>
                          <a:spcPts val="800"/>
                        </a:spcAft>
                        <a:buNone/>
                      </a:pPr>
                      <a:r>
                        <a:rPr lang="en-IN" sz="3300" kern="100" dirty="0">
                          <a:effectLst/>
                        </a:rPr>
                        <a:t>50</a:t>
                      </a:r>
                      <a:endParaRPr lang="en-IN" sz="3300" kern="100" dirty="0">
                        <a:effectLst/>
                        <a:latin typeface="Aptos" panose="020B0004020202020204" pitchFamily="34" charset="0"/>
                        <a:ea typeface="Aptos" panose="020B0004020202020204" pitchFamily="34" charset="0"/>
                        <a:cs typeface="Tunga" panose="020B0502040204020203" pitchFamily="34" charset="0"/>
                      </a:endParaRPr>
                    </a:p>
                  </a:txBody>
                  <a:tcPr marL="205740" marR="205740" marT="0" marB="0"/>
                </a:tc>
                <a:extLst>
                  <a:ext uri="{0D108BD9-81ED-4DB2-BD59-A6C34878D82A}">
                    <a16:rowId xmlns:a16="http://schemas.microsoft.com/office/drawing/2014/main" val="3719713551"/>
                  </a:ext>
                </a:extLst>
              </a:tr>
            </a:tbl>
          </a:graphicData>
        </a:graphic>
      </p:graphicFrame>
    </p:spTree>
    <p:extLst>
      <p:ext uri="{BB962C8B-B14F-4D97-AF65-F5344CB8AC3E}">
        <p14:creationId xmlns:p14="http://schemas.microsoft.com/office/powerpoint/2010/main" val="234846705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AE4A5E-B9B8-F1CC-8B56-F67E2DBDF26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56120DD-8119-CC3D-D3B0-361B321D0BCA}"/>
              </a:ext>
            </a:extLst>
          </p:cNvPr>
          <p:cNvSpPr>
            <a:spLocks noGrp="1"/>
          </p:cNvSpPr>
          <p:nvPr>
            <p:ph idx="1"/>
          </p:nvPr>
        </p:nvSpPr>
        <p:spPr>
          <a:xfrm>
            <a:off x="702853" y="348342"/>
            <a:ext cx="10900568" cy="6052457"/>
          </a:xfrm>
        </p:spPr>
        <p:txBody>
          <a:bodyPr>
            <a:noAutofit/>
          </a:bodyPr>
          <a:lstStyle/>
          <a:p>
            <a:pPr marL="0" indent="0">
              <a:buNone/>
            </a:pPr>
            <a:r>
              <a:rPr lang="en-US" sz="2800" b="1" dirty="0"/>
              <a:t>Solution:</a:t>
            </a:r>
          </a:p>
          <a:p>
            <a:pPr marL="0" indent="0">
              <a:buNone/>
            </a:pPr>
            <a:r>
              <a:rPr lang="en-US" sz="2200" b="1" dirty="0"/>
              <a:t>Step 1: Start with all data in one cluster</a:t>
            </a:r>
          </a:p>
          <a:p>
            <a:pPr marL="0" indent="0">
              <a:buNone/>
            </a:pPr>
            <a:r>
              <a:rPr lang="en-US" sz="2200" b="1" dirty="0">
                <a:solidFill>
                  <a:schemeClr val="tx2">
                    <a:lumMod val="75000"/>
                    <a:lumOff val="25000"/>
                  </a:schemeClr>
                </a:solidFill>
              </a:rPr>
              <a:t>Cluster</a:t>
            </a:r>
            <a:r>
              <a:rPr lang="en-US" sz="2200" dirty="0"/>
              <a:t>: [Tiger, Lion, Deer, Rabbit, Turtle]</a:t>
            </a:r>
          </a:p>
          <a:p>
            <a:pPr marL="0" indent="0">
              <a:buNone/>
            </a:pPr>
            <a:r>
              <a:rPr lang="en-US" sz="2200" b="1" dirty="0"/>
              <a:t>Step 2: Split the cluster into 2 sub-clusters</a:t>
            </a:r>
          </a:p>
          <a:p>
            <a:pPr marL="0" indent="0">
              <a:buNone/>
            </a:pPr>
            <a:r>
              <a:rPr lang="en-US" sz="2200" dirty="0"/>
              <a:t>Use a </a:t>
            </a:r>
            <a:r>
              <a:rPr lang="en-US" sz="2200" b="1" dirty="0">
                <a:solidFill>
                  <a:schemeClr val="tx2">
                    <a:lumMod val="75000"/>
                    <a:lumOff val="25000"/>
                  </a:schemeClr>
                </a:solidFill>
              </a:rPr>
              <a:t>clustering algorithm </a:t>
            </a:r>
            <a:r>
              <a:rPr lang="en-US" sz="2200" dirty="0"/>
              <a:t>(like K-Means) to divide the cluster into 2 groups:</a:t>
            </a:r>
          </a:p>
          <a:p>
            <a:pPr lvl="1"/>
            <a:r>
              <a:rPr lang="en-US" sz="2200" b="1" dirty="0"/>
              <a:t>Cluster A: </a:t>
            </a:r>
            <a:r>
              <a:rPr lang="en-US" sz="2200" dirty="0"/>
              <a:t>[Tiger, Lion]</a:t>
            </a:r>
          </a:p>
          <a:p>
            <a:pPr lvl="1"/>
            <a:r>
              <a:rPr lang="en-US" sz="2200" b="1" dirty="0"/>
              <a:t>Cluster B: </a:t>
            </a:r>
            <a:r>
              <a:rPr lang="en-US" sz="2200" dirty="0"/>
              <a:t>[Deer, Rabbit, Turtle]</a:t>
            </a:r>
          </a:p>
          <a:p>
            <a:pPr marL="0" indent="0">
              <a:buNone/>
            </a:pPr>
            <a:r>
              <a:rPr lang="en-US" sz="2200" b="1" dirty="0"/>
              <a:t>Step 3: Recursively apply Step 2 on each sub-cluster</a:t>
            </a:r>
          </a:p>
          <a:p>
            <a:pPr marL="0" indent="0">
              <a:buNone/>
            </a:pPr>
            <a:r>
              <a:rPr lang="en-US" sz="2200" dirty="0"/>
              <a:t>Now split Cluster B further:</a:t>
            </a:r>
          </a:p>
          <a:p>
            <a:pPr lvl="1"/>
            <a:r>
              <a:rPr lang="en-US" sz="2200" b="1" dirty="0"/>
              <a:t>Cluster B1: </a:t>
            </a:r>
            <a:r>
              <a:rPr lang="en-US" sz="2200" dirty="0"/>
              <a:t>[Deer]</a:t>
            </a:r>
          </a:p>
          <a:p>
            <a:pPr lvl="1"/>
            <a:r>
              <a:rPr lang="en-US" sz="2200" b="1" dirty="0"/>
              <a:t>Cluster B2: </a:t>
            </a:r>
            <a:r>
              <a:rPr lang="en-US" sz="2200" dirty="0"/>
              <a:t>[Rabbit, Turtle]</a:t>
            </a:r>
          </a:p>
          <a:p>
            <a:pPr marL="0" indent="0">
              <a:buNone/>
            </a:pPr>
            <a:r>
              <a:rPr lang="en-US" sz="2200" b="1" dirty="0"/>
              <a:t>Then split B2:</a:t>
            </a:r>
          </a:p>
          <a:p>
            <a:pPr lvl="1"/>
            <a:r>
              <a:rPr lang="en-US" sz="2000" dirty="0"/>
              <a:t>[</a:t>
            </a:r>
            <a:r>
              <a:rPr lang="en-US" sz="2000" b="1" dirty="0"/>
              <a:t>Rabbit</a:t>
            </a:r>
            <a:r>
              <a:rPr lang="en-US" sz="2000" dirty="0"/>
              <a:t>] and [</a:t>
            </a:r>
            <a:r>
              <a:rPr lang="en-US" sz="2000" b="1" dirty="0"/>
              <a:t>Turtle</a:t>
            </a:r>
            <a:r>
              <a:rPr lang="en-US" sz="2000" dirty="0"/>
              <a:t>]</a:t>
            </a:r>
          </a:p>
          <a:p>
            <a:pPr marL="0" indent="0">
              <a:buNone/>
            </a:pPr>
            <a:r>
              <a:rPr lang="en-US" sz="2200" b="1" dirty="0">
                <a:solidFill>
                  <a:srgbClr val="002060"/>
                </a:solidFill>
              </a:rPr>
              <a:t>Keep doing this until all animals are in individual clusters or you reach a stopping criterion</a:t>
            </a:r>
            <a:r>
              <a:rPr lang="en-US" sz="2200" dirty="0"/>
              <a:t>.</a:t>
            </a:r>
            <a:endParaRPr lang="en-IN" sz="2200" dirty="0"/>
          </a:p>
        </p:txBody>
      </p:sp>
    </p:spTree>
    <p:extLst>
      <p:ext uri="{BB962C8B-B14F-4D97-AF65-F5344CB8AC3E}">
        <p14:creationId xmlns:p14="http://schemas.microsoft.com/office/powerpoint/2010/main" val="17900153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C5821-5E4B-0A54-56C9-617AB9F141E8}"/>
            </a:ext>
          </a:extLst>
        </p:cNvPr>
        <p:cNvGrpSpPr/>
        <p:nvPr/>
      </p:nvGrpSpPr>
      <p:grpSpPr>
        <a:xfrm>
          <a:off x="0" y="0"/>
          <a:ext cx="0" cy="0"/>
          <a:chOff x="0" y="0"/>
          <a:chExt cx="0" cy="0"/>
        </a:xfrm>
      </p:grpSpPr>
      <p:sp>
        <p:nvSpPr>
          <p:cNvPr id="4107" name="Title 1">
            <a:extLst>
              <a:ext uri="{FF2B5EF4-FFF2-40B4-BE49-F238E27FC236}">
                <a16:creationId xmlns:a16="http://schemas.microsoft.com/office/drawing/2014/main" id="{9BA0AA6B-6E95-F261-E69F-31824FE87672}"/>
              </a:ext>
            </a:extLst>
          </p:cNvPr>
          <p:cNvSpPr>
            <a:spLocks noGrp="1"/>
          </p:cNvSpPr>
          <p:nvPr>
            <p:ph type="title"/>
          </p:nvPr>
        </p:nvSpPr>
        <p:spPr>
          <a:xfrm>
            <a:off x="777240" y="457200"/>
            <a:ext cx="3994785" cy="2501900"/>
          </a:xfrm>
        </p:spPr>
        <p:txBody>
          <a:bodyPr/>
          <a:lstStyle/>
          <a:p>
            <a:r>
              <a:rPr lang="en-US" b="1" dirty="0"/>
              <a:t>Dendrogram: The Tree of Clusters 🌳</a:t>
            </a:r>
            <a:br>
              <a:rPr lang="en-US" b="1" dirty="0"/>
            </a:br>
            <a:endParaRPr lang="en-US" dirty="0"/>
          </a:p>
        </p:txBody>
      </p:sp>
      <p:pic>
        <p:nvPicPr>
          <p:cNvPr id="4102" name="Picture 6" descr="How the Hierarchical Clustering Algorithm Works">
            <a:extLst>
              <a:ext uri="{FF2B5EF4-FFF2-40B4-BE49-F238E27FC236}">
                <a16:creationId xmlns:a16="http://schemas.microsoft.com/office/drawing/2014/main" id="{E94D3CF2-7F56-7604-5A9F-A64F4470920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106985" y="867697"/>
            <a:ext cx="6735745" cy="5001290"/>
          </a:xfrm>
          <a:prstGeom prst="rect">
            <a:avLst/>
          </a:prstGeom>
          <a:solidFill>
            <a:srgbClr val="FFFFFF"/>
          </a:solidFill>
        </p:spPr>
      </p:pic>
      <p:sp>
        <p:nvSpPr>
          <p:cNvPr id="4109" name="Text Placeholder 3">
            <a:extLst>
              <a:ext uri="{FF2B5EF4-FFF2-40B4-BE49-F238E27FC236}">
                <a16:creationId xmlns:a16="http://schemas.microsoft.com/office/drawing/2014/main" id="{A6B0CEB0-1EB9-F692-3BFA-64EB0C3DAF0A}"/>
              </a:ext>
            </a:extLst>
          </p:cNvPr>
          <p:cNvSpPr>
            <a:spLocks noGrp="1"/>
          </p:cNvSpPr>
          <p:nvPr>
            <p:ph type="body" sz="half" idx="2"/>
          </p:nvPr>
        </p:nvSpPr>
        <p:spPr>
          <a:xfrm>
            <a:off x="777240" y="2722335"/>
            <a:ext cx="3994785" cy="2776537"/>
          </a:xfrm>
        </p:spPr>
        <p:txBody>
          <a:bodyPr>
            <a:normAutofit lnSpcReduction="10000"/>
          </a:bodyPr>
          <a:lstStyle/>
          <a:p>
            <a:r>
              <a:rPr lang="en-US" dirty="0"/>
              <a:t>A </a:t>
            </a:r>
            <a:r>
              <a:rPr lang="en-US" b="1" dirty="0"/>
              <a:t>dendrogram</a:t>
            </a:r>
            <a:r>
              <a:rPr lang="en-US" dirty="0"/>
              <a:t> is a diagram showing </a:t>
            </a:r>
            <a:r>
              <a:rPr lang="en-US" b="1" dirty="0"/>
              <a:t>how clusters were merged</a:t>
            </a:r>
            <a:r>
              <a:rPr lang="en-US" dirty="0"/>
              <a:t> or </a:t>
            </a:r>
            <a:r>
              <a:rPr lang="en-US" b="1" dirty="0"/>
              <a:t>split</a:t>
            </a:r>
            <a:r>
              <a:rPr lang="en-US" dirty="0"/>
              <a:t> </a:t>
            </a:r>
            <a:r>
              <a:rPr lang="en-US" b="1" dirty="0"/>
              <a:t>at</a:t>
            </a:r>
            <a:r>
              <a:rPr lang="en-US" dirty="0"/>
              <a:t> </a:t>
            </a:r>
            <a:r>
              <a:rPr lang="en-US" b="1" dirty="0"/>
              <a:t>each</a:t>
            </a:r>
            <a:r>
              <a:rPr lang="en-US" dirty="0"/>
              <a:t> </a:t>
            </a:r>
            <a:r>
              <a:rPr lang="en-US" b="1" dirty="0"/>
              <a:t>step</a:t>
            </a:r>
            <a:r>
              <a:rPr lang="en-US" dirty="0"/>
              <a:t>.</a:t>
            </a:r>
          </a:p>
          <a:p>
            <a:pPr marL="342900" indent="-342900">
              <a:buFont typeface="Arial" panose="020B0604020202020204" pitchFamily="34" charset="0"/>
              <a:buChar char="•"/>
            </a:pPr>
            <a:r>
              <a:rPr lang="en-US" dirty="0"/>
              <a:t>The height of the branches shows the distance (dissimilarity) between clusters.</a:t>
            </a:r>
          </a:p>
          <a:p>
            <a:pPr marL="342900" indent="-342900">
              <a:buFont typeface="Arial" panose="020B0604020202020204" pitchFamily="34" charset="0"/>
              <a:buChar char="•"/>
            </a:pPr>
            <a:r>
              <a:rPr lang="en-US" dirty="0"/>
              <a:t>You can cut the dendrogram at a certain height to choose the number of clusters.</a:t>
            </a:r>
            <a:endParaRPr lang="en-IN" dirty="0"/>
          </a:p>
          <a:p>
            <a:endParaRPr lang="en-US" dirty="0"/>
          </a:p>
        </p:txBody>
      </p:sp>
    </p:spTree>
    <p:extLst>
      <p:ext uri="{BB962C8B-B14F-4D97-AF65-F5344CB8AC3E}">
        <p14:creationId xmlns:p14="http://schemas.microsoft.com/office/powerpoint/2010/main" val="242674163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AD8779-AC95-F04E-10D3-1F7FE44D2D0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8F7B5A6-E7A5-AD58-274C-58370C0046D1}"/>
              </a:ext>
            </a:extLst>
          </p:cNvPr>
          <p:cNvSpPr>
            <a:spLocks noGrp="1"/>
          </p:cNvSpPr>
          <p:nvPr>
            <p:ph idx="1"/>
          </p:nvPr>
        </p:nvSpPr>
        <p:spPr>
          <a:xfrm>
            <a:off x="702853" y="707571"/>
            <a:ext cx="10900568" cy="5486400"/>
          </a:xfrm>
        </p:spPr>
        <p:txBody>
          <a:bodyPr>
            <a:normAutofit lnSpcReduction="10000"/>
          </a:bodyPr>
          <a:lstStyle/>
          <a:p>
            <a:pPr marL="0" indent="0">
              <a:buNone/>
            </a:pPr>
            <a:r>
              <a:rPr lang="en-IN" sz="2800" b="1" dirty="0"/>
              <a:t>Evaluation of Clustering Results:</a:t>
            </a:r>
          </a:p>
          <a:p>
            <a:pPr marL="0" indent="0">
              <a:buNone/>
            </a:pPr>
            <a:r>
              <a:rPr lang="en-US" sz="2800" dirty="0"/>
              <a:t>Once you perform clustering, the next big question is:</a:t>
            </a:r>
          </a:p>
          <a:p>
            <a:pPr lvl="1"/>
            <a:r>
              <a:rPr lang="en-US" sz="2400" b="1" dirty="0">
                <a:solidFill>
                  <a:srgbClr val="002060"/>
                </a:solidFill>
              </a:rPr>
              <a:t>How do I know if the clustering is good or meaningful?</a:t>
            </a:r>
          </a:p>
          <a:p>
            <a:pPr marL="0" indent="0">
              <a:buNone/>
            </a:pPr>
            <a:r>
              <a:rPr lang="en-US" sz="2800" dirty="0"/>
              <a:t>Since clustering is </a:t>
            </a:r>
            <a:r>
              <a:rPr lang="en-US" sz="2800" b="1" dirty="0"/>
              <a:t>unsupervised</a:t>
            </a:r>
            <a:r>
              <a:rPr lang="en-US" sz="2800" dirty="0"/>
              <a:t> (no true labels), </a:t>
            </a:r>
            <a:r>
              <a:rPr lang="en-US" sz="2800" b="1" dirty="0">
                <a:solidFill>
                  <a:srgbClr val="002060"/>
                </a:solidFill>
              </a:rPr>
              <a:t>we need special evaluation metrics</a:t>
            </a:r>
            <a:r>
              <a:rPr lang="en-US" sz="2800" dirty="0"/>
              <a:t>.</a:t>
            </a:r>
          </a:p>
          <a:p>
            <a:pPr marL="0" indent="0">
              <a:buNone/>
            </a:pPr>
            <a:endParaRPr lang="en-US" sz="1400" dirty="0"/>
          </a:p>
          <a:p>
            <a:pPr marL="0" indent="0">
              <a:buNone/>
            </a:pPr>
            <a:r>
              <a:rPr lang="en-US" sz="2800" dirty="0"/>
              <a:t>There are </a:t>
            </a:r>
            <a:r>
              <a:rPr lang="en-US" sz="2800" b="1" dirty="0">
                <a:solidFill>
                  <a:schemeClr val="tx2">
                    <a:lumMod val="75000"/>
                    <a:lumOff val="25000"/>
                  </a:schemeClr>
                </a:solidFill>
              </a:rPr>
              <a:t>two main types </a:t>
            </a:r>
            <a:r>
              <a:rPr lang="en-US" sz="2800" dirty="0"/>
              <a:t>of evaluation methods:</a:t>
            </a:r>
          </a:p>
          <a:p>
            <a:pPr marL="0" indent="0">
              <a:buNone/>
            </a:pPr>
            <a:r>
              <a:rPr lang="en-US" sz="2800" b="1" dirty="0"/>
              <a:t>1. Internal Evaluation</a:t>
            </a:r>
          </a:p>
          <a:p>
            <a:pPr marL="0" indent="0">
              <a:buNone/>
            </a:pPr>
            <a:r>
              <a:rPr lang="en-US" sz="2800" dirty="0"/>
              <a:t>Measures the quality of clustering </a:t>
            </a:r>
            <a:r>
              <a:rPr lang="en-US" sz="2800" b="1" dirty="0">
                <a:solidFill>
                  <a:schemeClr val="tx2">
                    <a:lumMod val="75000"/>
                    <a:lumOff val="25000"/>
                  </a:schemeClr>
                </a:solidFill>
              </a:rPr>
              <a:t>using the data itself </a:t>
            </a:r>
            <a:r>
              <a:rPr lang="en-US" sz="2800" dirty="0"/>
              <a:t>(without external labels).</a:t>
            </a:r>
          </a:p>
          <a:p>
            <a:pPr marL="0" indent="0">
              <a:buNone/>
            </a:pPr>
            <a:r>
              <a:rPr lang="en-US" sz="2800" b="1" dirty="0"/>
              <a:t>2. External Evaluation</a:t>
            </a:r>
          </a:p>
          <a:p>
            <a:pPr marL="0" indent="0">
              <a:buNone/>
            </a:pPr>
            <a:r>
              <a:rPr lang="en-US" sz="2800" dirty="0"/>
              <a:t>Compares the clustering result to </a:t>
            </a:r>
            <a:r>
              <a:rPr lang="en-US" sz="2800" b="1" dirty="0">
                <a:solidFill>
                  <a:srgbClr val="C00000"/>
                </a:solidFill>
              </a:rPr>
              <a:t>ground truth labels </a:t>
            </a:r>
            <a:r>
              <a:rPr lang="en-US" sz="2800" dirty="0"/>
              <a:t>(</a:t>
            </a:r>
            <a:r>
              <a:rPr lang="en-US" sz="2800" b="1" dirty="0">
                <a:solidFill>
                  <a:schemeClr val="tx2">
                    <a:lumMod val="75000"/>
                    <a:lumOff val="25000"/>
                  </a:schemeClr>
                </a:solidFill>
              </a:rPr>
              <a:t>actual</a:t>
            </a:r>
            <a:r>
              <a:rPr lang="en-US" sz="2800" dirty="0"/>
              <a:t>, </a:t>
            </a:r>
            <a:r>
              <a:rPr lang="en-US" sz="2800" b="1" dirty="0">
                <a:solidFill>
                  <a:schemeClr val="tx2">
                    <a:lumMod val="75000"/>
                    <a:lumOff val="25000"/>
                  </a:schemeClr>
                </a:solidFill>
              </a:rPr>
              <a:t>correct</a:t>
            </a:r>
            <a:r>
              <a:rPr lang="en-US" sz="2800" dirty="0"/>
              <a:t> </a:t>
            </a:r>
            <a:r>
              <a:rPr lang="en-US" sz="2800" b="1" dirty="0">
                <a:solidFill>
                  <a:schemeClr val="tx2">
                    <a:lumMod val="75000"/>
                    <a:lumOff val="25000"/>
                  </a:schemeClr>
                </a:solidFill>
              </a:rPr>
              <a:t>labels</a:t>
            </a:r>
            <a:r>
              <a:rPr lang="en-US" sz="2800" dirty="0"/>
              <a:t> or </a:t>
            </a:r>
            <a:r>
              <a:rPr lang="en-US" sz="2800" b="1" dirty="0">
                <a:solidFill>
                  <a:schemeClr val="tx2">
                    <a:lumMod val="75000"/>
                    <a:lumOff val="25000"/>
                  </a:schemeClr>
                </a:solidFill>
              </a:rPr>
              <a:t>categories</a:t>
            </a:r>
            <a:r>
              <a:rPr lang="en-US" sz="2800" dirty="0"/>
              <a:t> of the data, if available).</a:t>
            </a:r>
            <a:endParaRPr lang="en-IN" sz="2800" dirty="0"/>
          </a:p>
        </p:txBody>
      </p:sp>
    </p:spTree>
    <p:extLst>
      <p:ext uri="{BB962C8B-B14F-4D97-AF65-F5344CB8AC3E}">
        <p14:creationId xmlns:p14="http://schemas.microsoft.com/office/powerpoint/2010/main" val="2498414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798EDE-8B7C-E5F8-D4FA-7CAE04851D1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0B43C22-7CF1-1705-D89E-BA0C110BE761}"/>
              </a:ext>
            </a:extLst>
          </p:cNvPr>
          <p:cNvSpPr>
            <a:spLocks noGrp="1"/>
          </p:cNvSpPr>
          <p:nvPr>
            <p:ph idx="1"/>
          </p:nvPr>
        </p:nvSpPr>
        <p:spPr>
          <a:xfrm>
            <a:off x="702853" y="707571"/>
            <a:ext cx="10900568" cy="5486400"/>
          </a:xfrm>
        </p:spPr>
        <p:txBody>
          <a:bodyPr>
            <a:normAutofit/>
          </a:bodyPr>
          <a:lstStyle/>
          <a:p>
            <a:pPr marL="0" indent="0">
              <a:buNone/>
            </a:pPr>
            <a:r>
              <a:rPr lang="en-US" sz="2800" b="1" dirty="0"/>
              <a:t>1. Internal Evaluation Metrics (most common)</a:t>
            </a:r>
          </a:p>
          <a:p>
            <a:pPr marL="0" indent="0">
              <a:buNone/>
            </a:pPr>
            <a:endParaRPr lang="en-IN" sz="2800" dirty="0"/>
          </a:p>
        </p:txBody>
      </p:sp>
      <p:graphicFrame>
        <p:nvGraphicFramePr>
          <p:cNvPr id="2" name="Table 1">
            <a:extLst>
              <a:ext uri="{FF2B5EF4-FFF2-40B4-BE49-F238E27FC236}">
                <a16:creationId xmlns:a16="http://schemas.microsoft.com/office/drawing/2014/main" id="{E30B3347-D90B-C591-B979-11CE2756C0EF}"/>
              </a:ext>
            </a:extLst>
          </p:cNvPr>
          <p:cNvGraphicFramePr>
            <a:graphicFrameLocks noGrp="1"/>
          </p:cNvGraphicFramePr>
          <p:nvPr>
            <p:extLst>
              <p:ext uri="{D42A27DB-BD31-4B8C-83A1-F6EECF244321}">
                <p14:modId xmlns:p14="http://schemas.microsoft.com/office/powerpoint/2010/main" val="2394256958"/>
              </p:ext>
            </p:extLst>
          </p:nvPr>
        </p:nvGraphicFramePr>
        <p:xfrm>
          <a:off x="914989" y="1432467"/>
          <a:ext cx="10155782" cy="3501359"/>
        </p:xfrm>
        <a:graphic>
          <a:graphicData uri="http://schemas.openxmlformats.org/drawingml/2006/table">
            <a:tbl>
              <a:tblPr firstRow="1" firstCol="1" bandRow="1">
                <a:tableStyleId>{5C22544A-7EE6-4342-B048-85BDC9FD1C3A}</a:tableStyleId>
              </a:tblPr>
              <a:tblGrid>
                <a:gridCol w="3657011">
                  <a:extLst>
                    <a:ext uri="{9D8B030D-6E8A-4147-A177-3AD203B41FA5}">
                      <a16:colId xmlns:a16="http://schemas.microsoft.com/office/drawing/2014/main" val="2499886717"/>
                    </a:ext>
                  </a:extLst>
                </a:gridCol>
                <a:gridCol w="6498771">
                  <a:extLst>
                    <a:ext uri="{9D8B030D-6E8A-4147-A177-3AD203B41FA5}">
                      <a16:colId xmlns:a16="http://schemas.microsoft.com/office/drawing/2014/main" val="1912106177"/>
                    </a:ext>
                  </a:extLst>
                </a:gridCol>
              </a:tblGrid>
              <a:tr h="483419">
                <a:tc>
                  <a:txBody>
                    <a:bodyPr/>
                    <a:lstStyle/>
                    <a:p>
                      <a:pPr>
                        <a:lnSpc>
                          <a:spcPct val="107000"/>
                        </a:lnSpc>
                        <a:spcAft>
                          <a:spcPts val="800"/>
                        </a:spcAft>
                        <a:buNone/>
                      </a:pPr>
                      <a:r>
                        <a:rPr lang="en-IN" sz="2000" kern="100" dirty="0">
                          <a:effectLst/>
                        </a:rPr>
                        <a:t>Metric Name</a:t>
                      </a:r>
                      <a:endParaRPr lang="en-IN" sz="20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Meaning</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070322252"/>
                  </a:ext>
                </a:extLst>
              </a:tr>
              <a:tr h="669273">
                <a:tc>
                  <a:txBody>
                    <a:bodyPr/>
                    <a:lstStyle/>
                    <a:p>
                      <a:pPr>
                        <a:lnSpc>
                          <a:spcPct val="107000"/>
                        </a:lnSpc>
                        <a:spcAft>
                          <a:spcPts val="800"/>
                        </a:spcAft>
                        <a:buNone/>
                      </a:pPr>
                      <a:r>
                        <a:rPr lang="en-IN" sz="2000" kern="100">
                          <a:effectLst/>
                        </a:rPr>
                        <a:t>Silhouette Score</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Measures how well a point fits into its cluster vs. others. Higher is better (range -1 to +1).</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3260745313"/>
                  </a:ext>
                </a:extLst>
              </a:tr>
              <a:tr h="669273">
                <a:tc>
                  <a:txBody>
                    <a:bodyPr/>
                    <a:lstStyle/>
                    <a:p>
                      <a:pPr>
                        <a:lnSpc>
                          <a:spcPct val="107000"/>
                        </a:lnSpc>
                        <a:spcAft>
                          <a:spcPts val="800"/>
                        </a:spcAft>
                        <a:buNone/>
                      </a:pPr>
                      <a:r>
                        <a:rPr lang="en-IN" sz="2000" kern="100">
                          <a:effectLst/>
                        </a:rPr>
                        <a:t>Inertia (Within-cluster SSE)</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dirty="0">
                          <a:effectLst/>
                        </a:rPr>
                        <a:t>Sum of squared distances between points and their cluster centroid. Lower is better.</a:t>
                      </a:r>
                      <a:endParaRPr lang="en-IN" sz="20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109863377"/>
                  </a:ext>
                </a:extLst>
              </a:tr>
              <a:tr h="669273">
                <a:tc>
                  <a:txBody>
                    <a:bodyPr/>
                    <a:lstStyle/>
                    <a:p>
                      <a:pPr>
                        <a:lnSpc>
                          <a:spcPct val="107000"/>
                        </a:lnSpc>
                        <a:spcAft>
                          <a:spcPts val="800"/>
                        </a:spcAft>
                        <a:buNone/>
                      </a:pPr>
                      <a:r>
                        <a:rPr lang="en-IN" sz="2000" kern="100">
                          <a:effectLst/>
                        </a:rPr>
                        <a:t>Davies–Bouldin Index</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dirty="0">
                          <a:effectLst/>
                        </a:rPr>
                        <a:t>Ratio of intra-cluster to inter-cluster distance. Lower is better.</a:t>
                      </a:r>
                      <a:endParaRPr lang="en-IN" sz="20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1058170511"/>
                  </a:ext>
                </a:extLst>
              </a:tr>
              <a:tr h="1010121">
                <a:tc>
                  <a:txBody>
                    <a:bodyPr/>
                    <a:lstStyle/>
                    <a:p>
                      <a:pPr>
                        <a:lnSpc>
                          <a:spcPct val="107000"/>
                        </a:lnSpc>
                        <a:spcAft>
                          <a:spcPts val="800"/>
                        </a:spcAft>
                        <a:buNone/>
                      </a:pPr>
                      <a:r>
                        <a:rPr lang="en-IN" sz="2000" kern="100">
                          <a:effectLst/>
                        </a:rPr>
                        <a:t>Dunn Index</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dirty="0">
                          <a:effectLst/>
                        </a:rPr>
                        <a:t>Ratio of the smallest distance between clusters to the largest diameter of a cluster. Higher is better.</a:t>
                      </a:r>
                      <a:endParaRPr lang="en-IN" sz="20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4138270784"/>
                  </a:ext>
                </a:extLst>
              </a:tr>
            </a:tbl>
          </a:graphicData>
        </a:graphic>
      </p:graphicFrame>
    </p:spTree>
    <p:extLst>
      <p:ext uri="{BB962C8B-B14F-4D97-AF65-F5344CB8AC3E}">
        <p14:creationId xmlns:p14="http://schemas.microsoft.com/office/powerpoint/2010/main" val="9150107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E5430-BCBD-8225-44D7-603FA096493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932100B-512B-7D7B-A10A-879FC9A5343F}"/>
              </a:ext>
            </a:extLst>
          </p:cNvPr>
          <p:cNvSpPr>
            <a:spLocks noGrp="1"/>
          </p:cNvSpPr>
          <p:nvPr>
            <p:ph idx="1"/>
          </p:nvPr>
        </p:nvSpPr>
        <p:spPr>
          <a:xfrm>
            <a:off x="702853" y="587829"/>
            <a:ext cx="10900568" cy="5606142"/>
          </a:xfrm>
        </p:spPr>
        <p:txBody>
          <a:bodyPr>
            <a:normAutofit/>
          </a:bodyPr>
          <a:lstStyle/>
          <a:p>
            <a:pPr marL="0" indent="0">
              <a:buNone/>
            </a:pPr>
            <a:r>
              <a:rPr lang="en-US" sz="2800" b="1" dirty="0"/>
              <a:t>Silhouette Score:</a:t>
            </a:r>
          </a:p>
          <a:p>
            <a:pPr marL="0" indent="0">
              <a:buNone/>
            </a:pPr>
            <a:r>
              <a:rPr lang="en-US" sz="2400" dirty="0"/>
              <a:t>The </a:t>
            </a:r>
            <a:r>
              <a:rPr lang="en-US" sz="2400" b="1" dirty="0"/>
              <a:t>Silhouette Score</a:t>
            </a:r>
            <a:r>
              <a:rPr lang="en-US" sz="2400" dirty="0"/>
              <a:t> is a metric used to evaluate the quality of a clustering result. It </a:t>
            </a:r>
            <a:r>
              <a:rPr lang="en-US" sz="2400" b="1" dirty="0"/>
              <a:t>measures how well each data point fits within its cluster </a:t>
            </a:r>
            <a:r>
              <a:rPr lang="en-US" sz="2400" b="1" dirty="0">
                <a:solidFill>
                  <a:schemeClr val="tx2">
                    <a:lumMod val="75000"/>
                    <a:lumOff val="25000"/>
                  </a:schemeClr>
                </a:solidFill>
              </a:rPr>
              <a:t>compared to other clusters</a:t>
            </a:r>
            <a:r>
              <a:rPr lang="en-US" sz="2400" dirty="0"/>
              <a:t>.</a:t>
            </a:r>
          </a:p>
          <a:p>
            <a:pPr marL="0" indent="0">
              <a:buNone/>
            </a:pPr>
            <a:r>
              <a:rPr lang="en-US" sz="2400" b="1" dirty="0"/>
              <a:t>Definition</a:t>
            </a:r>
          </a:p>
          <a:p>
            <a:pPr marL="0" indent="0">
              <a:buNone/>
            </a:pPr>
            <a:r>
              <a:rPr lang="en-US" sz="2400" dirty="0"/>
              <a:t>For a data point i:</a:t>
            </a:r>
          </a:p>
          <a:p>
            <a:pPr lvl="1"/>
            <a:r>
              <a:rPr lang="en-US" sz="2200" b="1" dirty="0">
                <a:solidFill>
                  <a:schemeClr val="tx2">
                    <a:lumMod val="75000"/>
                    <a:lumOff val="25000"/>
                  </a:schemeClr>
                </a:solidFill>
              </a:rPr>
              <a:t>a(</a:t>
            </a:r>
            <a:r>
              <a:rPr lang="en-US" sz="2200" b="1" dirty="0" err="1">
                <a:solidFill>
                  <a:schemeClr val="tx2">
                    <a:lumMod val="75000"/>
                    <a:lumOff val="25000"/>
                  </a:schemeClr>
                </a:solidFill>
              </a:rPr>
              <a:t>i</a:t>
            </a:r>
            <a:r>
              <a:rPr lang="en-US" sz="2200" b="1" dirty="0">
                <a:solidFill>
                  <a:schemeClr val="tx2">
                    <a:lumMod val="75000"/>
                    <a:lumOff val="25000"/>
                  </a:schemeClr>
                </a:solidFill>
              </a:rPr>
              <a:t>) </a:t>
            </a:r>
            <a:r>
              <a:rPr lang="en-US" sz="2200" dirty="0"/>
              <a:t>= average distance between </a:t>
            </a:r>
            <a:r>
              <a:rPr lang="en-US" sz="2200" dirty="0" err="1"/>
              <a:t>i</a:t>
            </a:r>
            <a:r>
              <a:rPr lang="en-US" sz="2200" dirty="0"/>
              <a:t> and all other points in the same cluster</a:t>
            </a:r>
          </a:p>
          <a:p>
            <a:pPr lvl="1"/>
            <a:r>
              <a:rPr lang="en-US" sz="2200" b="1" dirty="0">
                <a:solidFill>
                  <a:schemeClr val="tx2">
                    <a:lumMod val="75000"/>
                    <a:lumOff val="25000"/>
                  </a:schemeClr>
                </a:solidFill>
              </a:rPr>
              <a:t>b(</a:t>
            </a:r>
            <a:r>
              <a:rPr lang="en-US" sz="2200" b="1" dirty="0" err="1">
                <a:solidFill>
                  <a:schemeClr val="tx2">
                    <a:lumMod val="75000"/>
                    <a:lumOff val="25000"/>
                  </a:schemeClr>
                </a:solidFill>
              </a:rPr>
              <a:t>i</a:t>
            </a:r>
            <a:r>
              <a:rPr lang="en-US" sz="2200" b="1" dirty="0">
                <a:solidFill>
                  <a:schemeClr val="tx2">
                    <a:lumMod val="75000"/>
                    <a:lumOff val="25000"/>
                  </a:schemeClr>
                </a:solidFill>
              </a:rPr>
              <a:t>) </a:t>
            </a:r>
            <a:r>
              <a:rPr lang="en-US" sz="2200" dirty="0"/>
              <a:t>= lowest average distance between </a:t>
            </a:r>
            <a:r>
              <a:rPr lang="en-US" sz="2200" dirty="0" err="1"/>
              <a:t>i</a:t>
            </a:r>
            <a:r>
              <a:rPr lang="en-US" sz="2200" dirty="0"/>
              <a:t> and points in any other cluster (i.e., the nearest cluster)</a:t>
            </a:r>
          </a:p>
          <a:p>
            <a:pPr marL="0" indent="0">
              <a:buNone/>
            </a:pPr>
            <a:r>
              <a:rPr lang="en-US" sz="2400" dirty="0"/>
              <a:t>The silhouette score s(</a:t>
            </a:r>
            <a:r>
              <a:rPr lang="en-US" sz="2400" dirty="0" err="1"/>
              <a:t>i</a:t>
            </a:r>
            <a:r>
              <a:rPr lang="en-US" sz="2400" dirty="0"/>
              <a:t>) for a single point is calculated as:</a:t>
            </a:r>
            <a:endParaRPr lang="en-IN" sz="2400" dirty="0"/>
          </a:p>
        </p:txBody>
      </p:sp>
      <p:pic>
        <p:nvPicPr>
          <p:cNvPr id="4" name="Picture 3">
            <a:extLst>
              <a:ext uri="{FF2B5EF4-FFF2-40B4-BE49-F238E27FC236}">
                <a16:creationId xmlns:a16="http://schemas.microsoft.com/office/drawing/2014/main" id="{7D1BA71F-5F35-9CBE-2C29-0A7448B0AE73}"/>
              </a:ext>
            </a:extLst>
          </p:cNvPr>
          <p:cNvPicPr>
            <a:picLocks noChangeAspect="1"/>
          </p:cNvPicPr>
          <p:nvPr/>
        </p:nvPicPr>
        <p:blipFill>
          <a:blip r:embed="rId2"/>
          <a:stretch>
            <a:fillRect/>
          </a:stretch>
        </p:blipFill>
        <p:spPr>
          <a:xfrm>
            <a:off x="2985859" y="4482372"/>
            <a:ext cx="4928056" cy="1955578"/>
          </a:xfrm>
          <a:prstGeom prst="rect">
            <a:avLst/>
          </a:prstGeom>
        </p:spPr>
      </p:pic>
    </p:spTree>
    <p:extLst>
      <p:ext uri="{BB962C8B-B14F-4D97-AF65-F5344CB8AC3E}">
        <p14:creationId xmlns:p14="http://schemas.microsoft.com/office/powerpoint/2010/main" val="24127755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3492FE-B133-8891-3009-FF4F5640337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572B455-A3A3-6EF4-A1B5-EACF05049175}"/>
              </a:ext>
            </a:extLst>
          </p:cNvPr>
          <p:cNvSpPr>
            <a:spLocks noGrp="1"/>
          </p:cNvSpPr>
          <p:nvPr>
            <p:ph idx="1"/>
          </p:nvPr>
        </p:nvSpPr>
        <p:spPr>
          <a:xfrm>
            <a:off x="702853" y="707571"/>
            <a:ext cx="10900568" cy="5486400"/>
          </a:xfrm>
        </p:spPr>
        <p:txBody>
          <a:bodyPr>
            <a:normAutofit/>
          </a:bodyPr>
          <a:lstStyle/>
          <a:p>
            <a:pPr marL="0" indent="0">
              <a:buNone/>
            </a:pPr>
            <a:r>
              <a:rPr lang="en-US" sz="2400" b="1" dirty="0"/>
              <a:t>Score Range &amp; Interpretation</a:t>
            </a:r>
          </a:p>
          <a:p>
            <a:r>
              <a:rPr lang="en-US" sz="2400" b="1" dirty="0"/>
              <a:t>+1</a:t>
            </a:r>
            <a:r>
              <a:rPr lang="en-US" sz="2400" dirty="0"/>
              <a:t> → </a:t>
            </a:r>
            <a:r>
              <a:rPr lang="en-US" sz="2400" b="1" dirty="0">
                <a:solidFill>
                  <a:srgbClr val="00B050"/>
                </a:solidFill>
              </a:rPr>
              <a:t>Perfectly clustered </a:t>
            </a:r>
            <a:r>
              <a:rPr lang="en-US" sz="2400" dirty="0"/>
              <a:t>(well matched to its own cluster, far from others)</a:t>
            </a:r>
          </a:p>
          <a:p>
            <a:r>
              <a:rPr lang="en-US" sz="2400" b="1" dirty="0"/>
              <a:t>0</a:t>
            </a:r>
            <a:r>
              <a:rPr lang="en-US" sz="2400" dirty="0"/>
              <a:t> → </a:t>
            </a:r>
            <a:r>
              <a:rPr lang="en-US" sz="2400" b="1" dirty="0">
                <a:solidFill>
                  <a:srgbClr val="FFC000"/>
                </a:solidFill>
              </a:rPr>
              <a:t>On</a:t>
            </a:r>
            <a:r>
              <a:rPr lang="en-US" sz="2400" dirty="0"/>
              <a:t> or </a:t>
            </a:r>
            <a:r>
              <a:rPr lang="en-US" sz="2400" b="1" dirty="0">
                <a:solidFill>
                  <a:srgbClr val="FFC000"/>
                </a:solidFill>
              </a:rPr>
              <a:t>very</a:t>
            </a:r>
            <a:r>
              <a:rPr lang="en-US" sz="2400" dirty="0"/>
              <a:t> </a:t>
            </a:r>
            <a:r>
              <a:rPr lang="en-US" sz="2400" b="1" dirty="0">
                <a:solidFill>
                  <a:srgbClr val="FFC000"/>
                </a:solidFill>
              </a:rPr>
              <a:t>close</a:t>
            </a:r>
            <a:r>
              <a:rPr lang="en-US" sz="2400" dirty="0"/>
              <a:t> to the boundary between clusters</a:t>
            </a:r>
          </a:p>
          <a:p>
            <a:r>
              <a:rPr lang="en-US" sz="2400" b="1" dirty="0"/>
              <a:t>-1</a:t>
            </a:r>
            <a:r>
              <a:rPr lang="en-US" sz="2400" dirty="0"/>
              <a:t> → </a:t>
            </a:r>
            <a:r>
              <a:rPr lang="en-US" sz="2400" b="1" dirty="0">
                <a:solidFill>
                  <a:srgbClr val="FF0000"/>
                </a:solidFill>
              </a:rPr>
              <a:t>Probably in the wrong cluster</a:t>
            </a:r>
          </a:p>
          <a:p>
            <a:pPr marL="0" indent="0">
              <a:buNone/>
            </a:pPr>
            <a:endParaRPr lang="en-US" sz="2400" b="1" dirty="0"/>
          </a:p>
          <a:p>
            <a:pPr marL="0" indent="0">
              <a:buNone/>
            </a:pPr>
            <a:r>
              <a:rPr lang="en-US" sz="2400" b="1" dirty="0"/>
              <a:t>Example (Intuitive)</a:t>
            </a:r>
          </a:p>
          <a:p>
            <a:r>
              <a:rPr lang="en-US" sz="2400" dirty="0"/>
              <a:t>Imagine you’re organizing books in a library:</a:t>
            </a:r>
          </a:p>
          <a:p>
            <a:r>
              <a:rPr lang="en-US" sz="2400" dirty="0"/>
              <a:t>If a book is grouped with very similar books and very different from books in other shelves → high silhouette score.</a:t>
            </a:r>
          </a:p>
          <a:p>
            <a:r>
              <a:rPr lang="en-US" sz="2400" dirty="0"/>
              <a:t>If a book is equally similar to books in multiple shelves → score around 0.</a:t>
            </a:r>
          </a:p>
          <a:p>
            <a:r>
              <a:rPr lang="en-US" sz="2400" dirty="0"/>
              <a:t>If a book is more similar to books in another shelf than its own → negative score.</a:t>
            </a:r>
          </a:p>
          <a:p>
            <a:pPr marL="0" indent="0">
              <a:buNone/>
            </a:pPr>
            <a:endParaRPr lang="en-IN" sz="2400" dirty="0"/>
          </a:p>
        </p:txBody>
      </p:sp>
    </p:spTree>
    <p:extLst>
      <p:ext uri="{BB962C8B-B14F-4D97-AF65-F5344CB8AC3E}">
        <p14:creationId xmlns:p14="http://schemas.microsoft.com/office/powerpoint/2010/main" val="87061094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88AFBD-765A-29EA-C402-A2EED2615C4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A0D60A9-4C4E-9EFF-E3DA-37633AE1B45F}"/>
              </a:ext>
            </a:extLst>
          </p:cNvPr>
          <p:cNvSpPr>
            <a:spLocks noGrp="1"/>
          </p:cNvSpPr>
          <p:nvPr>
            <p:ph idx="1"/>
          </p:nvPr>
        </p:nvSpPr>
        <p:spPr>
          <a:xfrm>
            <a:off x="702853" y="707571"/>
            <a:ext cx="10900568" cy="5486400"/>
          </a:xfrm>
        </p:spPr>
        <p:txBody>
          <a:bodyPr>
            <a:normAutofit/>
          </a:bodyPr>
          <a:lstStyle/>
          <a:p>
            <a:pPr marL="0" indent="0">
              <a:buNone/>
            </a:pPr>
            <a:r>
              <a:rPr lang="en-US" sz="2800" b="1" dirty="0"/>
              <a:t>Example: Simple 2D Data</a:t>
            </a:r>
          </a:p>
          <a:p>
            <a:pPr marL="0" indent="0">
              <a:buNone/>
            </a:pPr>
            <a:r>
              <a:rPr lang="en-US" sz="2800" dirty="0"/>
              <a:t>Assume we have </a:t>
            </a:r>
            <a:r>
              <a:rPr lang="en-US" sz="2800" b="1" dirty="0">
                <a:solidFill>
                  <a:schemeClr val="tx2">
                    <a:lumMod val="75000"/>
                    <a:lumOff val="25000"/>
                  </a:schemeClr>
                </a:solidFill>
              </a:rPr>
              <a:t>6 data points </a:t>
            </a:r>
            <a:r>
              <a:rPr lang="en-US" sz="2800" dirty="0"/>
              <a:t>clustered into 2 clusters:</a:t>
            </a:r>
          </a:p>
          <a:p>
            <a:pPr lvl="1"/>
            <a:r>
              <a:rPr lang="en-US" sz="2800" dirty="0"/>
              <a:t>Cluster A: A1(1,2), A2(2,1), A3(1,0)</a:t>
            </a:r>
          </a:p>
          <a:p>
            <a:pPr lvl="1"/>
            <a:r>
              <a:rPr lang="en-US" sz="2800" dirty="0"/>
              <a:t>Cluster B: B1(8,8), B2(9,10), B3(10,9)</a:t>
            </a:r>
          </a:p>
          <a:p>
            <a:pPr marL="0" indent="0">
              <a:buNone/>
            </a:pPr>
            <a:endParaRPr lang="en-US" sz="2800" dirty="0"/>
          </a:p>
          <a:p>
            <a:pPr marL="0" indent="0">
              <a:buNone/>
            </a:pPr>
            <a:r>
              <a:rPr lang="en-US" sz="2800" dirty="0"/>
              <a:t>Let’s compute the silhouette score for point A1(1,2).</a:t>
            </a:r>
            <a:endParaRPr lang="en-IN" sz="2800" dirty="0"/>
          </a:p>
        </p:txBody>
      </p:sp>
    </p:spTree>
    <p:extLst>
      <p:ext uri="{BB962C8B-B14F-4D97-AF65-F5344CB8AC3E}">
        <p14:creationId xmlns:p14="http://schemas.microsoft.com/office/powerpoint/2010/main" val="245163435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C93EA1-9DEA-E53C-3A44-4E44D9E5D5A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0A461AC-1232-3C54-53CF-24FFAF570969}"/>
              </a:ext>
            </a:extLst>
          </p:cNvPr>
          <p:cNvSpPr>
            <a:spLocks noGrp="1"/>
          </p:cNvSpPr>
          <p:nvPr>
            <p:ph idx="1"/>
          </p:nvPr>
        </p:nvSpPr>
        <p:spPr>
          <a:xfrm>
            <a:off x="702853" y="500743"/>
            <a:ext cx="10900568" cy="5693228"/>
          </a:xfrm>
        </p:spPr>
        <p:txBody>
          <a:bodyPr>
            <a:normAutofit/>
          </a:bodyPr>
          <a:lstStyle/>
          <a:p>
            <a:pPr marL="0" indent="0">
              <a:buNone/>
            </a:pPr>
            <a:r>
              <a:rPr lang="en-US" sz="2800" b="1" dirty="0"/>
              <a:t>Step 1: Compute </a:t>
            </a:r>
            <a:r>
              <a:rPr lang="en-US" sz="2800" b="1" dirty="0">
                <a:solidFill>
                  <a:schemeClr val="tx2">
                    <a:lumMod val="75000"/>
                    <a:lumOff val="25000"/>
                  </a:schemeClr>
                </a:solidFill>
              </a:rPr>
              <a:t>a(</a:t>
            </a:r>
            <a:r>
              <a:rPr lang="en-US" sz="2800" b="1" dirty="0" err="1">
                <a:solidFill>
                  <a:schemeClr val="tx2">
                    <a:lumMod val="75000"/>
                    <a:lumOff val="25000"/>
                  </a:schemeClr>
                </a:solidFill>
              </a:rPr>
              <a:t>i</a:t>
            </a:r>
            <a:r>
              <a:rPr lang="en-US" sz="2800" b="1" dirty="0">
                <a:solidFill>
                  <a:schemeClr val="tx2">
                    <a:lumMod val="75000"/>
                    <a:lumOff val="25000"/>
                  </a:schemeClr>
                </a:solidFill>
              </a:rPr>
              <a:t>)</a:t>
            </a:r>
            <a:r>
              <a:rPr lang="en-US" sz="2800" b="1" dirty="0"/>
              <a:t> – average distance to points in the same cluster</a:t>
            </a:r>
          </a:p>
          <a:p>
            <a:pPr marL="0" indent="0">
              <a:buNone/>
            </a:pPr>
            <a:r>
              <a:rPr lang="en-US" sz="2400" dirty="0"/>
              <a:t>A1 is in </a:t>
            </a:r>
            <a:r>
              <a:rPr lang="en-US" sz="2400" b="1" dirty="0"/>
              <a:t>Cluster A</a:t>
            </a:r>
            <a:r>
              <a:rPr lang="en-US" sz="2400" dirty="0"/>
              <a:t>, so we compute distances to A2 and A3:</a:t>
            </a:r>
          </a:p>
          <a:p>
            <a:endParaRPr lang="en-US" sz="2400" b="1" dirty="0"/>
          </a:p>
          <a:p>
            <a:r>
              <a:rPr lang="en-US" sz="2400" b="1" dirty="0"/>
              <a:t>Distance A1 to A2:</a:t>
            </a:r>
          </a:p>
          <a:p>
            <a:pPr marL="457200" lvl="1" indent="0">
              <a:buNone/>
            </a:pPr>
            <a:endParaRPr lang="en-US" sz="2200" dirty="0"/>
          </a:p>
          <a:p>
            <a:pPr marL="0" indent="0">
              <a:buNone/>
            </a:pPr>
            <a:endParaRPr lang="en-IN" sz="2400" dirty="0"/>
          </a:p>
          <a:p>
            <a:r>
              <a:rPr lang="en-IN" sz="2400" b="1" dirty="0"/>
              <a:t>Distance A1 to A3:</a:t>
            </a:r>
          </a:p>
          <a:p>
            <a:endParaRPr lang="en-IN" sz="2400" b="1" dirty="0"/>
          </a:p>
          <a:p>
            <a:endParaRPr lang="en-IN" sz="2400" b="1" dirty="0"/>
          </a:p>
          <a:p>
            <a:endParaRPr lang="en-IN" sz="2400" b="1" dirty="0"/>
          </a:p>
          <a:p>
            <a:endParaRPr lang="en-IN" sz="2400" b="1" dirty="0"/>
          </a:p>
        </p:txBody>
      </p:sp>
      <p:pic>
        <p:nvPicPr>
          <p:cNvPr id="4" name="Picture 3">
            <a:extLst>
              <a:ext uri="{FF2B5EF4-FFF2-40B4-BE49-F238E27FC236}">
                <a16:creationId xmlns:a16="http://schemas.microsoft.com/office/drawing/2014/main" id="{A3964EB2-61ED-36C4-77FA-A3110CB131F7}"/>
              </a:ext>
            </a:extLst>
          </p:cNvPr>
          <p:cNvPicPr>
            <a:picLocks noChangeAspect="1"/>
          </p:cNvPicPr>
          <p:nvPr/>
        </p:nvPicPr>
        <p:blipFill>
          <a:blip r:embed="rId2"/>
          <a:srcRect t="15129"/>
          <a:stretch>
            <a:fillRect/>
          </a:stretch>
        </p:blipFill>
        <p:spPr>
          <a:xfrm>
            <a:off x="3692185" y="1681128"/>
            <a:ext cx="7796962" cy="760322"/>
          </a:xfrm>
          <a:prstGeom prst="rect">
            <a:avLst/>
          </a:prstGeom>
        </p:spPr>
      </p:pic>
      <p:pic>
        <p:nvPicPr>
          <p:cNvPr id="6" name="Picture 5">
            <a:extLst>
              <a:ext uri="{FF2B5EF4-FFF2-40B4-BE49-F238E27FC236}">
                <a16:creationId xmlns:a16="http://schemas.microsoft.com/office/drawing/2014/main" id="{5EC8DDA6-9D7A-1BD9-7FD4-D23A26C703AC}"/>
              </a:ext>
            </a:extLst>
          </p:cNvPr>
          <p:cNvPicPr>
            <a:picLocks noChangeAspect="1"/>
          </p:cNvPicPr>
          <p:nvPr/>
        </p:nvPicPr>
        <p:blipFill>
          <a:blip r:embed="rId3"/>
          <a:srcRect l="2847" t="16444" r="4759"/>
          <a:stretch>
            <a:fillRect/>
          </a:stretch>
        </p:blipFill>
        <p:spPr>
          <a:xfrm>
            <a:off x="3692185" y="3048958"/>
            <a:ext cx="7796962" cy="812452"/>
          </a:xfrm>
          <a:prstGeom prst="rect">
            <a:avLst/>
          </a:prstGeom>
        </p:spPr>
      </p:pic>
      <p:pic>
        <p:nvPicPr>
          <p:cNvPr id="8" name="Picture 7">
            <a:extLst>
              <a:ext uri="{FF2B5EF4-FFF2-40B4-BE49-F238E27FC236}">
                <a16:creationId xmlns:a16="http://schemas.microsoft.com/office/drawing/2014/main" id="{83DF8167-9429-1C70-1868-BC2A1B674205}"/>
              </a:ext>
            </a:extLst>
          </p:cNvPr>
          <p:cNvPicPr>
            <a:picLocks noChangeAspect="1"/>
          </p:cNvPicPr>
          <p:nvPr/>
        </p:nvPicPr>
        <p:blipFill>
          <a:blip r:embed="rId4"/>
          <a:stretch>
            <a:fillRect/>
          </a:stretch>
        </p:blipFill>
        <p:spPr>
          <a:xfrm>
            <a:off x="2378885" y="4641736"/>
            <a:ext cx="5714286" cy="1323810"/>
          </a:xfrm>
          <a:prstGeom prst="rect">
            <a:avLst/>
          </a:prstGeom>
        </p:spPr>
      </p:pic>
    </p:spTree>
    <p:extLst>
      <p:ext uri="{BB962C8B-B14F-4D97-AF65-F5344CB8AC3E}">
        <p14:creationId xmlns:p14="http://schemas.microsoft.com/office/powerpoint/2010/main" val="216656492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8AD3E3-67A4-922F-DCE5-88975677266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70FEB52-736B-0EF2-E5B7-14047E491B3C}"/>
              </a:ext>
            </a:extLst>
          </p:cNvPr>
          <p:cNvSpPr>
            <a:spLocks noGrp="1"/>
          </p:cNvSpPr>
          <p:nvPr>
            <p:ph idx="1"/>
          </p:nvPr>
        </p:nvSpPr>
        <p:spPr>
          <a:xfrm>
            <a:off x="702853" y="707571"/>
            <a:ext cx="10900568" cy="5486400"/>
          </a:xfrm>
        </p:spPr>
        <p:txBody>
          <a:bodyPr>
            <a:normAutofit/>
          </a:bodyPr>
          <a:lstStyle/>
          <a:p>
            <a:pPr marL="0" indent="0">
              <a:buNone/>
            </a:pPr>
            <a:r>
              <a:rPr lang="en-US" sz="2800" b="1" dirty="0">
                <a:solidFill>
                  <a:srgbClr val="002060"/>
                </a:solidFill>
              </a:rPr>
              <a:t>Step 2: Compute b(</a:t>
            </a:r>
            <a:r>
              <a:rPr lang="en-US" sz="2800" b="1" dirty="0" err="1">
                <a:solidFill>
                  <a:srgbClr val="002060"/>
                </a:solidFill>
              </a:rPr>
              <a:t>i</a:t>
            </a:r>
            <a:r>
              <a:rPr lang="en-US" sz="2800" b="1" dirty="0">
                <a:solidFill>
                  <a:srgbClr val="002060"/>
                </a:solidFill>
              </a:rPr>
              <a:t>) – average distance to the nearest other cluster</a:t>
            </a:r>
          </a:p>
          <a:p>
            <a:pPr marL="0" indent="0">
              <a:buNone/>
            </a:pPr>
            <a:r>
              <a:rPr lang="en-US" sz="2400" b="1" dirty="0"/>
              <a:t>A1</a:t>
            </a:r>
            <a:r>
              <a:rPr lang="en-US" sz="2400" dirty="0"/>
              <a:t> is in </a:t>
            </a:r>
            <a:r>
              <a:rPr lang="en-US" sz="2400" b="1" dirty="0">
                <a:solidFill>
                  <a:schemeClr val="tx2">
                    <a:lumMod val="75000"/>
                    <a:lumOff val="25000"/>
                  </a:schemeClr>
                </a:solidFill>
              </a:rPr>
              <a:t>Cluster A</a:t>
            </a:r>
            <a:r>
              <a:rPr lang="en-US" sz="2400" dirty="0"/>
              <a:t>. The nearest other cluster is </a:t>
            </a:r>
            <a:r>
              <a:rPr lang="en-US" sz="2400" b="1" dirty="0">
                <a:solidFill>
                  <a:schemeClr val="tx2">
                    <a:lumMod val="75000"/>
                    <a:lumOff val="25000"/>
                  </a:schemeClr>
                </a:solidFill>
              </a:rPr>
              <a:t>Cluster B</a:t>
            </a:r>
            <a:r>
              <a:rPr lang="en-US" sz="2400" dirty="0"/>
              <a:t>. So compute average distance from A1 to all points in Cluster B:</a:t>
            </a:r>
          </a:p>
          <a:p>
            <a:pPr marL="0" indent="0">
              <a:buNone/>
            </a:pPr>
            <a:endParaRPr lang="en-US" sz="2400" dirty="0"/>
          </a:p>
          <a:p>
            <a:r>
              <a:rPr lang="en-US" sz="2400" b="1" dirty="0"/>
              <a:t>A1 to B1(8,8): </a:t>
            </a:r>
          </a:p>
          <a:p>
            <a:endParaRPr lang="en-US" sz="2400" b="1" dirty="0"/>
          </a:p>
          <a:p>
            <a:endParaRPr lang="en-US" sz="1050" b="1" dirty="0"/>
          </a:p>
          <a:p>
            <a:r>
              <a:rPr lang="en-IN" sz="2400" b="1" dirty="0"/>
              <a:t>A1 to B2(9,10):</a:t>
            </a:r>
          </a:p>
          <a:p>
            <a:endParaRPr lang="en-IN" sz="2400" b="1" dirty="0"/>
          </a:p>
          <a:p>
            <a:r>
              <a:rPr lang="en-IN" sz="2400" b="1" dirty="0"/>
              <a:t>A1 to B3(10,9):</a:t>
            </a:r>
          </a:p>
        </p:txBody>
      </p:sp>
      <p:pic>
        <p:nvPicPr>
          <p:cNvPr id="4" name="Picture 3">
            <a:extLst>
              <a:ext uri="{FF2B5EF4-FFF2-40B4-BE49-F238E27FC236}">
                <a16:creationId xmlns:a16="http://schemas.microsoft.com/office/drawing/2014/main" id="{ED2FBBCA-44EE-E962-C2EC-64D0D09004F6}"/>
              </a:ext>
            </a:extLst>
          </p:cNvPr>
          <p:cNvPicPr>
            <a:picLocks noChangeAspect="1"/>
          </p:cNvPicPr>
          <p:nvPr/>
        </p:nvPicPr>
        <p:blipFill>
          <a:blip r:embed="rId2"/>
          <a:srcRect t="60621" b="23532"/>
          <a:stretch>
            <a:fillRect/>
          </a:stretch>
        </p:blipFill>
        <p:spPr>
          <a:xfrm>
            <a:off x="3050689" y="4464241"/>
            <a:ext cx="8438457" cy="778904"/>
          </a:xfrm>
          <a:prstGeom prst="rect">
            <a:avLst/>
          </a:prstGeom>
        </p:spPr>
      </p:pic>
      <p:pic>
        <p:nvPicPr>
          <p:cNvPr id="5" name="Picture 4">
            <a:extLst>
              <a:ext uri="{FF2B5EF4-FFF2-40B4-BE49-F238E27FC236}">
                <a16:creationId xmlns:a16="http://schemas.microsoft.com/office/drawing/2014/main" id="{C717A7E0-751A-6C2A-B118-FEAAE25598BF}"/>
              </a:ext>
            </a:extLst>
          </p:cNvPr>
          <p:cNvPicPr>
            <a:picLocks noChangeAspect="1"/>
          </p:cNvPicPr>
          <p:nvPr/>
        </p:nvPicPr>
        <p:blipFill>
          <a:blip r:embed="rId2"/>
          <a:srcRect t="32398" b="51756"/>
          <a:stretch>
            <a:fillRect/>
          </a:stretch>
        </p:blipFill>
        <p:spPr>
          <a:xfrm>
            <a:off x="3050690" y="3324918"/>
            <a:ext cx="8438457" cy="778905"/>
          </a:xfrm>
          <a:prstGeom prst="rect">
            <a:avLst/>
          </a:prstGeom>
        </p:spPr>
      </p:pic>
      <p:pic>
        <p:nvPicPr>
          <p:cNvPr id="6" name="Picture 5">
            <a:extLst>
              <a:ext uri="{FF2B5EF4-FFF2-40B4-BE49-F238E27FC236}">
                <a16:creationId xmlns:a16="http://schemas.microsoft.com/office/drawing/2014/main" id="{B4B09E84-0476-A62D-03AE-6198E116B379}"/>
              </a:ext>
            </a:extLst>
          </p:cNvPr>
          <p:cNvPicPr>
            <a:picLocks noChangeAspect="1"/>
          </p:cNvPicPr>
          <p:nvPr/>
        </p:nvPicPr>
        <p:blipFill>
          <a:blip r:embed="rId2"/>
          <a:srcRect t="4821" b="79501"/>
          <a:stretch>
            <a:fillRect/>
          </a:stretch>
        </p:blipFill>
        <p:spPr>
          <a:xfrm>
            <a:off x="3050690" y="2313302"/>
            <a:ext cx="8438457" cy="770618"/>
          </a:xfrm>
          <a:prstGeom prst="rect">
            <a:avLst/>
          </a:prstGeom>
        </p:spPr>
      </p:pic>
    </p:spTree>
    <p:extLst>
      <p:ext uri="{BB962C8B-B14F-4D97-AF65-F5344CB8AC3E}">
        <p14:creationId xmlns:p14="http://schemas.microsoft.com/office/powerpoint/2010/main" val="17043272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6C586-2992-AC53-88CB-C1492380447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8F24B76-818A-5ADB-6A5C-893C10A458D9}"/>
              </a:ext>
            </a:extLst>
          </p:cNvPr>
          <p:cNvSpPr>
            <a:spLocks noGrp="1"/>
          </p:cNvSpPr>
          <p:nvPr>
            <p:ph idx="1"/>
          </p:nvPr>
        </p:nvSpPr>
        <p:spPr>
          <a:xfrm>
            <a:off x="702853" y="707571"/>
            <a:ext cx="10900568" cy="5486400"/>
          </a:xfrm>
        </p:spPr>
        <p:txBody>
          <a:bodyPr>
            <a:normAutofit/>
          </a:bodyPr>
          <a:lstStyle/>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r>
              <a:rPr lang="en-US" sz="2800" b="1" dirty="0">
                <a:solidFill>
                  <a:srgbClr val="002060"/>
                </a:solidFill>
              </a:rPr>
              <a:t>Step 3: Apply the Silhouette Formula</a:t>
            </a:r>
            <a:endParaRPr lang="en-IN" sz="2800" b="1" dirty="0">
              <a:solidFill>
                <a:srgbClr val="002060"/>
              </a:solidFill>
            </a:endParaRPr>
          </a:p>
        </p:txBody>
      </p:sp>
      <p:pic>
        <p:nvPicPr>
          <p:cNvPr id="2" name="Picture 1">
            <a:extLst>
              <a:ext uri="{FF2B5EF4-FFF2-40B4-BE49-F238E27FC236}">
                <a16:creationId xmlns:a16="http://schemas.microsoft.com/office/drawing/2014/main" id="{DD268886-6529-2A44-DA01-5F83E429CEF0}"/>
              </a:ext>
            </a:extLst>
          </p:cNvPr>
          <p:cNvPicPr>
            <a:picLocks noChangeAspect="1"/>
          </p:cNvPicPr>
          <p:nvPr/>
        </p:nvPicPr>
        <p:blipFill>
          <a:blip r:embed="rId2"/>
          <a:srcRect t="74612" b="3448"/>
          <a:stretch>
            <a:fillRect/>
          </a:stretch>
        </p:blipFill>
        <p:spPr>
          <a:xfrm>
            <a:off x="1533871" y="892629"/>
            <a:ext cx="9124257" cy="1165998"/>
          </a:xfrm>
          <a:prstGeom prst="rect">
            <a:avLst/>
          </a:prstGeom>
        </p:spPr>
      </p:pic>
      <p:pic>
        <p:nvPicPr>
          <p:cNvPr id="5" name="Picture 4">
            <a:extLst>
              <a:ext uri="{FF2B5EF4-FFF2-40B4-BE49-F238E27FC236}">
                <a16:creationId xmlns:a16="http://schemas.microsoft.com/office/drawing/2014/main" id="{604D47EE-A35A-5FD0-57BB-B54AC37BC676}"/>
              </a:ext>
            </a:extLst>
          </p:cNvPr>
          <p:cNvPicPr>
            <a:picLocks noChangeAspect="1"/>
          </p:cNvPicPr>
          <p:nvPr/>
        </p:nvPicPr>
        <p:blipFill>
          <a:blip r:embed="rId3"/>
          <a:stretch>
            <a:fillRect/>
          </a:stretch>
        </p:blipFill>
        <p:spPr>
          <a:xfrm>
            <a:off x="822364" y="3703296"/>
            <a:ext cx="10781057" cy="1576276"/>
          </a:xfrm>
          <a:prstGeom prst="rect">
            <a:avLst/>
          </a:prstGeom>
        </p:spPr>
      </p:pic>
    </p:spTree>
    <p:extLst>
      <p:ext uri="{BB962C8B-B14F-4D97-AF65-F5344CB8AC3E}">
        <p14:creationId xmlns:p14="http://schemas.microsoft.com/office/powerpoint/2010/main" val="178535980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8ECA48-B4A6-7339-060D-B2954206DEE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5655103-EFC8-7391-DDBD-A62440453084}"/>
              </a:ext>
            </a:extLst>
          </p:cNvPr>
          <p:cNvSpPr>
            <a:spLocks noGrp="1"/>
          </p:cNvSpPr>
          <p:nvPr>
            <p:ph idx="1"/>
          </p:nvPr>
        </p:nvSpPr>
        <p:spPr>
          <a:xfrm>
            <a:off x="702853" y="740229"/>
            <a:ext cx="10900568" cy="5453742"/>
          </a:xfrm>
        </p:spPr>
        <p:txBody>
          <a:bodyPr>
            <a:normAutofit lnSpcReduction="10000"/>
          </a:bodyPr>
          <a:lstStyle/>
          <a:p>
            <a:pPr marL="0" indent="0">
              <a:buNone/>
            </a:pPr>
            <a:r>
              <a:rPr lang="en-US" sz="2800" b="1" dirty="0"/>
              <a:t>✅ Final Result:</a:t>
            </a:r>
          </a:p>
          <a:p>
            <a:r>
              <a:rPr lang="en-US" sz="2800" dirty="0"/>
              <a:t>The silhouette score for point A1 is 0.84, which means:</a:t>
            </a:r>
          </a:p>
          <a:p>
            <a:r>
              <a:rPr lang="en-US" sz="2800" dirty="0"/>
              <a:t>It is well-clustered (far from the other cluster).</a:t>
            </a:r>
          </a:p>
          <a:p>
            <a:r>
              <a:rPr lang="en-US" sz="2800" dirty="0"/>
              <a:t>The clustering algorithm did a great job placing this point.</a:t>
            </a:r>
          </a:p>
          <a:p>
            <a:endParaRPr lang="en-US" sz="2800" dirty="0"/>
          </a:p>
          <a:p>
            <a:pPr marL="0" indent="0">
              <a:buNone/>
            </a:pPr>
            <a:r>
              <a:rPr lang="en-US" sz="2800" dirty="0"/>
              <a:t>To get the final performance (overall silhouette score) of your clustering result, you need to:</a:t>
            </a:r>
          </a:p>
          <a:p>
            <a:pPr marL="0" indent="0">
              <a:buNone/>
            </a:pPr>
            <a:r>
              <a:rPr lang="en-US" sz="2800" b="1" dirty="0">
                <a:solidFill>
                  <a:schemeClr val="tx2">
                    <a:lumMod val="75000"/>
                    <a:lumOff val="25000"/>
                  </a:schemeClr>
                </a:solidFill>
              </a:rPr>
              <a:t>Repeat</a:t>
            </a:r>
            <a:r>
              <a:rPr lang="en-US" sz="2800" dirty="0"/>
              <a:t> the following for every data point:</a:t>
            </a:r>
          </a:p>
          <a:p>
            <a:r>
              <a:rPr lang="en-US" sz="2800" b="1" dirty="0"/>
              <a:t>Compute a(</a:t>
            </a:r>
            <a:r>
              <a:rPr lang="en-US" sz="2800" b="1" dirty="0" err="1"/>
              <a:t>i</a:t>
            </a:r>
            <a:r>
              <a:rPr lang="en-US" sz="2800" b="1" dirty="0"/>
              <a:t>) </a:t>
            </a:r>
            <a:r>
              <a:rPr lang="en-US" sz="2800" dirty="0"/>
              <a:t>– average distance to all other points in the same cluster.</a:t>
            </a:r>
          </a:p>
          <a:p>
            <a:r>
              <a:rPr lang="en-US" sz="2800" b="1" dirty="0"/>
              <a:t>Compute b(</a:t>
            </a:r>
            <a:r>
              <a:rPr lang="en-US" sz="2800" b="1" dirty="0" err="1"/>
              <a:t>i</a:t>
            </a:r>
            <a:r>
              <a:rPr lang="en-US" sz="2800" b="1" dirty="0"/>
              <a:t>) </a:t>
            </a:r>
            <a:r>
              <a:rPr lang="en-US" sz="2800" dirty="0"/>
              <a:t>– average distance to all points in the nearest other cluster.</a:t>
            </a:r>
          </a:p>
          <a:p>
            <a:r>
              <a:rPr lang="en-US" sz="2800" dirty="0"/>
              <a:t>Apply the silhouette formula</a:t>
            </a:r>
            <a:endParaRPr lang="en-IN" sz="2800" dirty="0"/>
          </a:p>
        </p:txBody>
      </p:sp>
    </p:spTree>
    <p:extLst>
      <p:ext uri="{BB962C8B-B14F-4D97-AF65-F5344CB8AC3E}">
        <p14:creationId xmlns:p14="http://schemas.microsoft.com/office/powerpoint/2010/main" val="28918241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00475C-7859-5295-E4FB-A372E1B0324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DBA524E-170E-8B36-CF12-279A929395A1}"/>
              </a:ext>
            </a:extLst>
          </p:cNvPr>
          <p:cNvSpPr>
            <a:spLocks noGrp="1"/>
          </p:cNvSpPr>
          <p:nvPr>
            <p:ph idx="1"/>
          </p:nvPr>
        </p:nvSpPr>
        <p:spPr>
          <a:xfrm>
            <a:off x="702853" y="707571"/>
            <a:ext cx="10900568" cy="5486400"/>
          </a:xfrm>
        </p:spPr>
        <p:txBody>
          <a:bodyPr>
            <a:normAutofit/>
          </a:bodyPr>
          <a:lstStyle/>
          <a:p>
            <a:pPr marL="0" indent="0">
              <a:buNone/>
            </a:pPr>
            <a:r>
              <a:rPr lang="en-US" sz="2800" b="1" dirty="0">
                <a:solidFill>
                  <a:srgbClr val="002060"/>
                </a:solidFill>
              </a:rPr>
              <a:t>Then: </a:t>
            </a:r>
            <a:r>
              <a:rPr lang="en-US" sz="2800" b="1" dirty="0">
                <a:solidFill>
                  <a:schemeClr val="tx2">
                    <a:lumMod val="75000"/>
                    <a:lumOff val="25000"/>
                  </a:schemeClr>
                </a:solidFill>
              </a:rPr>
              <a:t>Average</a:t>
            </a:r>
            <a:r>
              <a:rPr lang="en-US" sz="2800" b="1" dirty="0">
                <a:solidFill>
                  <a:srgbClr val="002060"/>
                </a:solidFill>
              </a:rPr>
              <a:t> all the individual scores</a:t>
            </a:r>
          </a:p>
          <a:p>
            <a:pPr marL="0" indent="0">
              <a:buNone/>
            </a:pPr>
            <a:r>
              <a:rPr lang="en-US" sz="2400" dirty="0"/>
              <a:t>Once you compute s(</a:t>
            </a:r>
            <a:r>
              <a:rPr lang="en-US" sz="2400" dirty="0" err="1"/>
              <a:t>i</a:t>
            </a:r>
            <a:r>
              <a:rPr lang="en-US" sz="2400" dirty="0"/>
              <a:t>) for all points, take the average:</a:t>
            </a:r>
            <a:endParaRPr lang="en-IN" sz="2400" dirty="0"/>
          </a:p>
        </p:txBody>
      </p:sp>
      <p:pic>
        <p:nvPicPr>
          <p:cNvPr id="4" name="Picture 3">
            <a:extLst>
              <a:ext uri="{FF2B5EF4-FFF2-40B4-BE49-F238E27FC236}">
                <a16:creationId xmlns:a16="http://schemas.microsoft.com/office/drawing/2014/main" id="{626AA302-2E38-B065-6BAC-2E3C1C6A76E5}"/>
              </a:ext>
            </a:extLst>
          </p:cNvPr>
          <p:cNvPicPr>
            <a:picLocks noChangeAspect="1"/>
          </p:cNvPicPr>
          <p:nvPr/>
        </p:nvPicPr>
        <p:blipFill>
          <a:blip r:embed="rId2"/>
          <a:stretch>
            <a:fillRect/>
          </a:stretch>
        </p:blipFill>
        <p:spPr>
          <a:xfrm>
            <a:off x="1366009" y="2105781"/>
            <a:ext cx="8523809" cy="1209524"/>
          </a:xfrm>
          <a:prstGeom prst="rect">
            <a:avLst/>
          </a:prstGeom>
        </p:spPr>
      </p:pic>
    </p:spTree>
    <p:extLst>
      <p:ext uri="{BB962C8B-B14F-4D97-AF65-F5344CB8AC3E}">
        <p14:creationId xmlns:p14="http://schemas.microsoft.com/office/powerpoint/2010/main" val="305863152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8C9C5-B5C4-3DB1-C411-F06B645B7C2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531F09F-9C9F-E329-8B05-FE8E014A1746}"/>
              </a:ext>
            </a:extLst>
          </p:cNvPr>
          <p:cNvSpPr>
            <a:spLocks noGrp="1"/>
          </p:cNvSpPr>
          <p:nvPr>
            <p:ph idx="1"/>
          </p:nvPr>
        </p:nvSpPr>
        <p:spPr>
          <a:xfrm>
            <a:off x="702853" y="707571"/>
            <a:ext cx="10900568" cy="5486400"/>
          </a:xfrm>
        </p:spPr>
        <p:txBody>
          <a:bodyPr>
            <a:normAutofit/>
          </a:bodyPr>
          <a:lstStyle/>
          <a:p>
            <a:pPr marL="0" indent="0">
              <a:buNone/>
            </a:pPr>
            <a:r>
              <a:rPr lang="en-US" sz="2800" b="1" dirty="0"/>
              <a:t>2. Inertia (SSE – Sum of Squared Errors):</a:t>
            </a:r>
          </a:p>
          <a:p>
            <a:pPr marL="0" indent="0">
              <a:buNone/>
            </a:pPr>
            <a:r>
              <a:rPr lang="en-US" sz="2400" dirty="0"/>
              <a:t>Inertia (SSE) measures </a:t>
            </a:r>
            <a:r>
              <a:rPr lang="en-US" sz="2400" b="1" dirty="0">
                <a:solidFill>
                  <a:schemeClr val="tx2">
                    <a:lumMod val="75000"/>
                    <a:lumOff val="25000"/>
                  </a:schemeClr>
                </a:solidFill>
              </a:rPr>
              <a:t>how compact the clusters are</a:t>
            </a:r>
            <a:r>
              <a:rPr lang="en-US" sz="2400" dirty="0"/>
              <a:t>. It is the </a:t>
            </a:r>
            <a:r>
              <a:rPr lang="en-US" sz="2400" b="1" dirty="0">
                <a:solidFill>
                  <a:srgbClr val="002060"/>
                </a:solidFill>
              </a:rPr>
              <a:t>sum of squared distances</a:t>
            </a:r>
            <a:r>
              <a:rPr lang="en-US" sz="2400" dirty="0"/>
              <a:t> </a:t>
            </a:r>
            <a:r>
              <a:rPr lang="en-US" sz="2400" b="1" dirty="0">
                <a:solidFill>
                  <a:srgbClr val="002060"/>
                </a:solidFill>
              </a:rPr>
              <a:t>between</a:t>
            </a:r>
            <a:r>
              <a:rPr lang="en-US" sz="2400" dirty="0"/>
              <a:t> </a:t>
            </a:r>
            <a:r>
              <a:rPr lang="en-US" sz="2400" b="1" dirty="0"/>
              <a:t>each point and the </a:t>
            </a:r>
            <a:r>
              <a:rPr lang="en-US" sz="2400" b="1" dirty="0">
                <a:solidFill>
                  <a:schemeClr val="tx2">
                    <a:lumMod val="75000"/>
                    <a:lumOff val="25000"/>
                  </a:schemeClr>
                </a:solidFill>
              </a:rPr>
              <a:t>centroid</a:t>
            </a:r>
            <a:r>
              <a:rPr lang="en-US" sz="2400" b="1" dirty="0"/>
              <a:t> of its assigned cluster</a:t>
            </a:r>
            <a:r>
              <a:rPr lang="en-US" sz="2400" dirty="0"/>
              <a:t>.</a:t>
            </a:r>
          </a:p>
          <a:p>
            <a:pPr marL="0" indent="0">
              <a:buNone/>
            </a:pPr>
            <a:r>
              <a:rPr lang="en-IN" sz="2400" b="1" dirty="0"/>
              <a:t>Formula for Inertia (SSE)</a:t>
            </a:r>
            <a:r>
              <a:rPr lang="en-IN" sz="2400" dirty="0"/>
              <a:t>:</a:t>
            </a:r>
          </a:p>
          <a:p>
            <a:pPr marL="0" indent="0">
              <a:buNone/>
            </a:pPr>
            <a:endParaRPr lang="en-IN" sz="2400" dirty="0"/>
          </a:p>
          <a:p>
            <a:pPr marL="0" indent="0">
              <a:buNone/>
            </a:pPr>
            <a:endParaRPr lang="en-IN" sz="2400" dirty="0"/>
          </a:p>
          <a:p>
            <a:pPr marL="0" indent="0">
              <a:buNone/>
            </a:pPr>
            <a:endParaRPr lang="en-IN" sz="2400" dirty="0"/>
          </a:p>
          <a:p>
            <a:pPr marL="0" indent="0">
              <a:buNone/>
            </a:pPr>
            <a:endParaRPr lang="en-IN" sz="2400" dirty="0"/>
          </a:p>
          <a:p>
            <a:pPr marL="0" indent="0">
              <a:buNone/>
            </a:pPr>
            <a:r>
              <a:rPr lang="en-IN" sz="2400" b="1" dirty="0"/>
              <a:t>Where:</a:t>
            </a:r>
          </a:p>
          <a:p>
            <a:r>
              <a:rPr lang="en-IN" sz="2400" dirty="0"/>
              <a:t>𝑥𝑖 = data point</a:t>
            </a:r>
          </a:p>
          <a:p>
            <a:r>
              <a:rPr lang="en-US" sz="2400" dirty="0" err="1"/>
              <a:t>μCi</a:t>
            </a:r>
            <a:r>
              <a:rPr lang="en-US" sz="2400" dirty="0"/>
              <a:t> = centroid of the cluster that </a:t>
            </a:r>
          </a:p>
          <a:p>
            <a:r>
              <a:rPr lang="en-IN" sz="2400" dirty="0"/>
              <a:t>∥⋅∥</a:t>
            </a:r>
            <a:r>
              <a:rPr lang="en-US" sz="2800" b="1" baseline="30000" dirty="0"/>
              <a:t>2</a:t>
            </a:r>
            <a:r>
              <a:rPr lang="en-IN" sz="3200" b="1" dirty="0"/>
              <a:t>  </a:t>
            </a:r>
            <a:r>
              <a:rPr lang="en-IN" sz="2400" dirty="0"/>
              <a:t>= squared Euclidean distance</a:t>
            </a:r>
          </a:p>
          <a:p>
            <a:pPr marL="0" indent="0">
              <a:buNone/>
            </a:pPr>
            <a:endParaRPr lang="en-IN" sz="2400" dirty="0"/>
          </a:p>
        </p:txBody>
      </p:sp>
      <p:pic>
        <p:nvPicPr>
          <p:cNvPr id="4" name="Picture 3">
            <a:extLst>
              <a:ext uri="{FF2B5EF4-FFF2-40B4-BE49-F238E27FC236}">
                <a16:creationId xmlns:a16="http://schemas.microsoft.com/office/drawing/2014/main" id="{25A9E488-B372-606E-E439-C1AAAA4CCE25}"/>
              </a:ext>
            </a:extLst>
          </p:cNvPr>
          <p:cNvPicPr>
            <a:picLocks noChangeAspect="1"/>
          </p:cNvPicPr>
          <p:nvPr/>
        </p:nvPicPr>
        <p:blipFill>
          <a:blip r:embed="rId2"/>
          <a:stretch>
            <a:fillRect/>
          </a:stretch>
        </p:blipFill>
        <p:spPr>
          <a:xfrm>
            <a:off x="2906200" y="2576177"/>
            <a:ext cx="5682629" cy="1705646"/>
          </a:xfrm>
          <a:prstGeom prst="rect">
            <a:avLst/>
          </a:prstGeom>
        </p:spPr>
      </p:pic>
    </p:spTree>
    <p:extLst>
      <p:ext uri="{BB962C8B-B14F-4D97-AF65-F5344CB8AC3E}">
        <p14:creationId xmlns:p14="http://schemas.microsoft.com/office/powerpoint/2010/main" val="121348770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86368-1DB8-4813-FC5F-52DDBB199D7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9CA7574-FA8B-7EEC-D184-DDC6D8906861}"/>
              </a:ext>
            </a:extLst>
          </p:cNvPr>
          <p:cNvSpPr>
            <a:spLocks noGrp="1"/>
          </p:cNvSpPr>
          <p:nvPr>
            <p:ph idx="1"/>
          </p:nvPr>
        </p:nvSpPr>
        <p:spPr>
          <a:xfrm>
            <a:off x="702853" y="1230085"/>
            <a:ext cx="10900568" cy="4963885"/>
          </a:xfrm>
        </p:spPr>
        <p:txBody>
          <a:bodyPr>
            <a:normAutofit/>
          </a:bodyPr>
          <a:lstStyle/>
          <a:p>
            <a:pPr marL="0" indent="0">
              <a:buNone/>
            </a:pPr>
            <a:r>
              <a:rPr lang="en-US" sz="2800" b="1" dirty="0"/>
              <a:t>Interpretation</a:t>
            </a:r>
            <a:r>
              <a:rPr lang="en-US" sz="2800" dirty="0"/>
              <a:t>:</a:t>
            </a:r>
          </a:p>
          <a:p>
            <a:r>
              <a:rPr lang="en-US" sz="2400" b="1" dirty="0"/>
              <a:t>Lower Inertia </a:t>
            </a:r>
            <a:r>
              <a:rPr lang="en-US" sz="2400" dirty="0"/>
              <a:t>= tighter, more compact clusters → </a:t>
            </a:r>
            <a:r>
              <a:rPr lang="en-US" sz="2400" b="1" dirty="0">
                <a:solidFill>
                  <a:schemeClr val="tx2">
                    <a:lumMod val="75000"/>
                    <a:lumOff val="25000"/>
                  </a:schemeClr>
                </a:solidFill>
              </a:rPr>
              <a:t>good clustering</a:t>
            </a:r>
            <a:r>
              <a:rPr lang="en-US" sz="2400" dirty="0"/>
              <a:t>.</a:t>
            </a:r>
          </a:p>
          <a:p>
            <a:r>
              <a:rPr lang="en-US" sz="2400" b="1" dirty="0"/>
              <a:t>Higher Inertia </a:t>
            </a:r>
            <a:r>
              <a:rPr lang="en-US" sz="2400" dirty="0"/>
              <a:t>= points are spread out from their centroids → </a:t>
            </a:r>
            <a:r>
              <a:rPr lang="en-US" sz="2400" b="1" dirty="0">
                <a:solidFill>
                  <a:schemeClr val="tx2">
                    <a:lumMod val="75000"/>
                    <a:lumOff val="25000"/>
                  </a:schemeClr>
                </a:solidFill>
              </a:rPr>
              <a:t>poor clustering</a:t>
            </a:r>
            <a:r>
              <a:rPr lang="en-US" sz="2400" dirty="0"/>
              <a:t>.</a:t>
            </a:r>
          </a:p>
          <a:p>
            <a:pPr marL="0" indent="0">
              <a:buNone/>
            </a:pPr>
            <a:r>
              <a:rPr lang="en-US" sz="2400" dirty="0"/>
              <a:t>But too low inertia may mean </a:t>
            </a:r>
            <a:r>
              <a:rPr lang="en-US" sz="2400" b="1" dirty="0">
                <a:solidFill>
                  <a:srgbClr val="C00000"/>
                </a:solidFill>
              </a:rPr>
              <a:t>overfitting</a:t>
            </a:r>
            <a:r>
              <a:rPr lang="en-US" sz="2400" dirty="0"/>
              <a:t> with too many small clusters.</a:t>
            </a:r>
            <a:endParaRPr lang="en-IN" sz="2400" dirty="0"/>
          </a:p>
        </p:txBody>
      </p:sp>
    </p:spTree>
    <p:extLst>
      <p:ext uri="{BB962C8B-B14F-4D97-AF65-F5344CB8AC3E}">
        <p14:creationId xmlns:p14="http://schemas.microsoft.com/office/powerpoint/2010/main" val="179614599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41DE41-0F96-3F50-8D49-A2251984591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0549CB9-859B-D9AF-CD49-30D4DF52841B}"/>
              </a:ext>
            </a:extLst>
          </p:cNvPr>
          <p:cNvSpPr>
            <a:spLocks noGrp="1"/>
          </p:cNvSpPr>
          <p:nvPr>
            <p:ph idx="1"/>
          </p:nvPr>
        </p:nvSpPr>
        <p:spPr>
          <a:xfrm>
            <a:off x="702853" y="707571"/>
            <a:ext cx="10900568" cy="5486400"/>
          </a:xfrm>
        </p:spPr>
        <p:txBody>
          <a:bodyPr>
            <a:normAutofit/>
          </a:bodyPr>
          <a:lstStyle/>
          <a:p>
            <a:pPr marL="0" indent="0">
              <a:buNone/>
            </a:pPr>
            <a:r>
              <a:rPr lang="en-US" sz="2400" b="1" dirty="0"/>
              <a:t>Example: Same as Before</a:t>
            </a:r>
          </a:p>
          <a:p>
            <a:pPr marL="0" indent="0">
              <a:buNone/>
            </a:pPr>
            <a:r>
              <a:rPr lang="en-US" sz="2400" dirty="0"/>
              <a:t>Let’s reuse the </a:t>
            </a:r>
            <a:r>
              <a:rPr lang="en-US" sz="2400" b="1" dirty="0"/>
              <a:t>same 6 points</a:t>
            </a:r>
            <a:r>
              <a:rPr lang="en-US" sz="2400" dirty="0"/>
              <a:t> and compute Inertia for them.</a:t>
            </a:r>
          </a:p>
          <a:p>
            <a:r>
              <a:rPr lang="en-US" sz="2400" b="1" dirty="0"/>
              <a:t>➕ Cluster A: </a:t>
            </a:r>
            <a:r>
              <a:rPr lang="en-US" sz="2400" dirty="0"/>
              <a:t>A1(1,2), A2(2,1), A3(1,0)</a:t>
            </a:r>
          </a:p>
          <a:p>
            <a:pPr marL="0" indent="0">
              <a:buNone/>
            </a:pPr>
            <a:r>
              <a:rPr lang="en-US" sz="2400" b="1" dirty="0"/>
              <a:t>Step-1: First, compute the </a:t>
            </a:r>
            <a:r>
              <a:rPr lang="en-US" sz="2400" b="1" dirty="0">
                <a:solidFill>
                  <a:schemeClr val="tx2">
                    <a:lumMod val="75000"/>
                    <a:lumOff val="25000"/>
                  </a:schemeClr>
                </a:solidFill>
              </a:rPr>
              <a:t>centroid of Cluster A</a:t>
            </a:r>
            <a:r>
              <a:rPr lang="en-US" sz="2400" b="1" dirty="0"/>
              <a:t>:</a:t>
            </a:r>
          </a:p>
          <a:p>
            <a:pPr marL="0" indent="0">
              <a:buNone/>
            </a:pPr>
            <a:endParaRPr lang="en-US" sz="2400" b="1" dirty="0"/>
          </a:p>
          <a:p>
            <a:pPr marL="0" indent="0">
              <a:buNone/>
            </a:pPr>
            <a:endParaRPr lang="en-US" sz="2400" b="1" dirty="0"/>
          </a:p>
          <a:p>
            <a:pPr marL="0" indent="0">
              <a:buNone/>
            </a:pPr>
            <a:endParaRPr lang="en-US" sz="2400" b="1" dirty="0"/>
          </a:p>
          <a:p>
            <a:pPr marL="0" indent="0">
              <a:buNone/>
            </a:pPr>
            <a:endParaRPr lang="en-US" sz="2400" b="1" dirty="0"/>
          </a:p>
          <a:p>
            <a:pPr marL="0" indent="0">
              <a:buNone/>
            </a:pPr>
            <a:endParaRPr lang="en-US" sz="2400" dirty="0"/>
          </a:p>
          <a:p>
            <a:pPr marL="0" indent="0">
              <a:buNone/>
            </a:pPr>
            <a:r>
              <a:rPr lang="en-US" sz="2400" dirty="0"/>
              <a:t>Now calculate </a:t>
            </a:r>
            <a:r>
              <a:rPr lang="en-US" sz="2400" b="1" dirty="0">
                <a:solidFill>
                  <a:schemeClr val="tx2">
                    <a:lumMod val="75000"/>
                    <a:lumOff val="25000"/>
                  </a:schemeClr>
                </a:solidFill>
              </a:rPr>
              <a:t>squared distances from each point </a:t>
            </a:r>
            <a:r>
              <a:rPr lang="en-US" sz="2400" dirty="0"/>
              <a:t>to the </a:t>
            </a:r>
            <a:r>
              <a:rPr lang="en-US" sz="2400" b="1" dirty="0">
                <a:solidFill>
                  <a:schemeClr val="tx2">
                    <a:lumMod val="75000"/>
                    <a:lumOff val="25000"/>
                  </a:schemeClr>
                </a:solidFill>
              </a:rPr>
              <a:t>centroid</a:t>
            </a:r>
            <a:r>
              <a:rPr lang="en-US" sz="2400" dirty="0"/>
              <a:t>:</a:t>
            </a:r>
            <a:endParaRPr lang="en-US" sz="2400" b="1" dirty="0"/>
          </a:p>
          <a:p>
            <a:pPr marL="0" indent="0">
              <a:buNone/>
            </a:pPr>
            <a:endParaRPr lang="en-IN" sz="2400" dirty="0"/>
          </a:p>
        </p:txBody>
      </p:sp>
      <p:pic>
        <p:nvPicPr>
          <p:cNvPr id="4" name="Picture 3">
            <a:extLst>
              <a:ext uri="{FF2B5EF4-FFF2-40B4-BE49-F238E27FC236}">
                <a16:creationId xmlns:a16="http://schemas.microsoft.com/office/drawing/2014/main" id="{208D819C-9B66-D83C-C15C-8B8A9D74E0A5}"/>
              </a:ext>
            </a:extLst>
          </p:cNvPr>
          <p:cNvPicPr>
            <a:picLocks noChangeAspect="1"/>
          </p:cNvPicPr>
          <p:nvPr/>
        </p:nvPicPr>
        <p:blipFill>
          <a:blip r:embed="rId2"/>
          <a:stretch>
            <a:fillRect/>
          </a:stretch>
        </p:blipFill>
        <p:spPr>
          <a:xfrm>
            <a:off x="2389400" y="2755380"/>
            <a:ext cx="7413200" cy="1347239"/>
          </a:xfrm>
          <a:prstGeom prst="rect">
            <a:avLst/>
          </a:prstGeom>
        </p:spPr>
      </p:pic>
    </p:spTree>
    <p:extLst>
      <p:ext uri="{BB962C8B-B14F-4D97-AF65-F5344CB8AC3E}">
        <p14:creationId xmlns:p14="http://schemas.microsoft.com/office/powerpoint/2010/main" val="419512900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78E34F-D472-D84C-FD9C-5DD1514C950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ADC0BE6-E1C7-B71A-DB8D-A09275172BD6}"/>
              </a:ext>
            </a:extLst>
          </p:cNvPr>
          <p:cNvSpPr>
            <a:spLocks noGrp="1"/>
          </p:cNvSpPr>
          <p:nvPr>
            <p:ph idx="1"/>
          </p:nvPr>
        </p:nvSpPr>
        <p:spPr>
          <a:xfrm>
            <a:off x="702853" y="446314"/>
            <a:ext cx="10900568" cy="5747657"/>
          </a:xfrm>
        </p:spPr>
        <p:txBody>
          <a:bodyPr>
            <a:normAutofit/>
          </a:bodyPr>
          <a:lstStyle/>
          <a:p>
            <a:endParaRPr lang="en-IN" sz="2800" b="1" dirty="0"/>
          </a:p>
          <a:p>
            <a:r>
              <a:rPr lang="en-IN" sz="2800" b="1" dirty="0"/>
              <a:t>A1 to centroid:</a:t>
            </a:r>
          </a:p>
          <a:p>
            <a:endParaRPr lang="en-IN" sz="2800" b="1" dirty="0"/>
          </a:p>
          <a:p>
            <a:endParaRPr lang="en-IN" sz="500" b="1" dirty="0"/>
          </a:p>
          <a:p>
            <a:r>
              <a:rPr lang="en-IN" sz="2800" b="1" dirty="0"/>
              <a:t>A2 to centroid:</a:t>
            </a:r>
          </a:p>
          <a:p>
            <a:endParaRPr lang="en-IN" sz="2800" b="1" dirty="0"/>
          </a:p>
          <a:p>
            <a:endParaRPr lang="en-IN" sz="100" b="1" dirty="0"/>
          </a:p>
          <a:p>
            <a:endParaRPr lang="en-IN" sz="800" dirty="0"/>
          </a:p>
          <a:p>
            <a:r>
              <a:rPr lang="en-IN" sz="2800" b="1" dirty="0"/>
              <a:t>A3 to centroid:</a:t>
            </a:r>
          </a:p>
          <a:p>
            <a:endParaRPr lang="en-IN" sz="2800" b="1" dirty="0"/>
          </a:p>
          <a:p>
            <a:endParaRPr lang="en-IN" sz="2800" b="1" dirty="0"/>
          </a:p>
          <a:p>
            <a:pPr marL="0" indent="0">
              <a:buNone/>
            </a:pPr>
            <a:r>
              <a:rPr lang="en-IN" sz="2800" dirty="0"/>
              <a:t>👉 </a:t>
            </a:r>
            <a:r>
              <a:rPr lang="en-IN" sz="2800" b="1" dirty="0">
                <a:solidFill>
                  <a:schemeClr val="tx2">
                    <a:lumMod val="75000"/>
                    <a:lumOff val="25000"/>
                  </a:schemeClr>
                </a:solidFill>
              </a:rPr>
              <a:t>SSE</a:t>
            </a:r>
            <a:r>
              <a:rPr lang="en-IN" sz="2800" dirty="0"/>
              <a:t> for </a:t>
            </a:r>
            <a:r>
              <a:rPr lang="en-IN" sz="2800" b="1" dirty="0">
                <a:solidFill>
                  <a:schemeClr val="tx2">
                    <a:lumMod val="75000"/>
                    <a:lumOff val="25000"/>
                  </a:schemeClr>
                </a:solidFill>
              </a:rPr>
              <a:t>Cluster</a:t>
            </a:r>
            <a:r>
              <a:rPr lang="en-IN" sz="2800" dirty="0"/>
              <a:t> </a:t>
            </a:r>
            <a:r>
              <a:rPr lang="en-IN" sz="2800" b="1" dirty="0">
                <a:solidFill>
                  <a:schemeClr val="tx2">
                    <a:lumMod val="75000"/>
                    <a:lumOff val="25000"/>
                  </a:schemeClr>
                </a:solidFill>
              </a:rPr>
              <a:t>A</a:t>
            </a:r>
            <a:r>
              <a:rPr lang="en-IN" sz="2800" dirty="0"/>
              <a:t> = 1.11 + 0.44 + 1.11 = </a:t>
            </a:r>
            <a:r>
              <a:rPr lang="en-IN" sz="2800" b="1" dirty="0">
                <a:solidFill>
                  <a:schemeClr val="tx2">
                    <a:lumMod val="75000"/>
                    <a:lumOff val="25000"/>
                  </a:schemeClr>
                </a:solidFill>
              </a:rPr>
              <a:t>2.66</a:t>
            </a:r>
          </a:p>
          <a:p>
            <a:pPr marL="0" indent="0">
              <a:buNone/>
            </a:pPr>
            <a:endParaRPr lang="en-IN" sz="3200" dirty="0"/>
          </a:p>
        </p:txBody>
      </p:sp>
      <p:pic>
        <p:nvPicPr>
          <p:cNvPr id="4" name="Picture 3">
            <a:extLst>
              <a:ext uri="{FF2B5EF4-FFF2-40B4-BE49-F238E27FC236}">
                <a16:creationId xmlns:a16="http://schemas.microsoft.com/office/drawing/2014/main" id="{D481E12B-09AA-FF9A-51DA-86A9F117E8C9}"/>
              </a:ext>
            </a:extLst>
          </p:cNvPr>
          <p:cNvPicPr>
            <a:picLocks noChangeAspect="1"/>
          </p:cNvPicPr>
          <p:nvPr/>
        </p:nvPicPr>
        <p:blipFill>
          <a:blip r:embed="rId2"/>
          <a:srcRect t="4543" b="76577"/>
          <a:stretch>
            <a:fillRect/>
          </a:stretch>
        </p:blipFill>
        <p:spPr>
          <a:xfrm>
            <a:off x="3538382" y="807115"/>
            <a:ext cx="7477961" cy="697924"/>
          </a:xfrm>
          <a:prstGeom prst="rect">
            <a:avLst/>
          </a:prstGeom>
        </p:spPr>
      </p:pic>
      <p:pic>
        <p:nvPicPr>
          <p:cNvPr id="5" name="Picture 4">
            <a:extLst>
              <a:ext uri="{FF2B5EF4-FFF2-40B4-BE49-F238E27FC236}">
                <a16:creationId xmlns:a16="http://schemas.microsoft.com/office/drawing/2014/main" id="{AFA0B5ED-7879-79A8-DDD9-1DA1A9CD0836}"/>
              </a:ext>
            </a:extLst>
          </p:cNvPr>
          <p:cNvPicPr>
            <a:picLocks noChangeAspect="1"/>
          </p:cNvPicPr>
          <p:nvPr/>
        </p:nvPicPr>
        <p:blipFill>
          <a:blip r:embed="rId2"/>
          <a:srcRect t="39246" b="39470"/>
          <a:stretch>
            <a:fillRect/>
          </a:stretch>
        </p:blipFill>
        <p:spPr>
          <a:xfrm>
            <a:off x="3538382" y="2061278"/>
            <a:ext cx="7477961" cy="786741"/>
          </a:xfrm>
          <a:prstGeom prst="rect">
            <a:avLst/>
          </a:prstGeom>
        </p:spPr>
      </p:pic>
      <p:pic>
        <p:nvPicPr>
          <p:cNvPr id="6" name="Picture 5">
            <a:extLst>
              <a:ext uri="{FF2B5EF4-FFF2-40B4-BE49-F238E27FC236}">
                <a16:creationId xmlns:a16="http://schemas.microsoft.com/office/drawing/2014/main" id="{D8D3F221-A98D-17E5-B028-721B5B56D059}"/>
              </a:ext>
            </a:extLst>
          </p:cNvPr>
          <p:cNvPicPr>
            <a:picLocks noChangeAspect="1"/>
          </p:cNvPicPr>
          <p:nvPr/>
        </p:nvPicPr>
        <p:blipFill>
          <a:blip r:embed="rId2"/>
          <a:srcRect t="78378" b="2703"/>
          <a:stretch>
            <a:fillRect/>
          </a:stretch>
        </p:blipFill>
        <p:spPr>
          <a:xfrm>
            <a:off x="3538382" y="3472006"/>
            <a:ext cx="7477961" cy="699326"/>
          </a:xfrm>
          <a:prstGeom prst="rect">
            <a:avLst/>
          </a:prstGeom>
        </p:spPr>
      </p:pic>
    </p:spTree>
    <p:extLst>
      <p:ext uri="{BB962C8B-B14F-4D97-AF65-F5344CB8AC3E}">
        <p14:creationId xmlns:p14="http://schemas.microsoft.com/office/powerpoint/2010/main" val="41324503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AB568-9357-7A9C-9017-7037EB45D55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B4960B8-5AE2-E906-364E-E11B7024E8BF}"/>
              </a:ext>
            </a:extLst>
          </p:cNvPr>
          <p:cNvSpPr>
            <a:spLocks noGrp="1"/>
          </p:cNvSpPr>
          <p:nvPr>
            <p:ph idx="1"/>
          </p:nvPr>
        </p:nvSpPr>
        <p:spPr>
          <a:xfrm>
            <a:off x="702853" y="707571"/>
            <a:ext cx="10900568" cy="5486400"/>
          </a:xfrm>
        </p:spPr>
        <p:txBody>
          <a:bodyPr>
            <a:normAutofit/>
          </a:bodyPr>
          <a:lstStyle/>
          <a:p>
            <a:pPr marL="0" indent="0">
              <a:buNone/>
            </a:pPr>
            <a:r>
              <a:rPr lang="en-US" sz="2400" b="1" dirty="0"/>
              <a:t>➕ Cluster B: </a:t>
            </a:r>
            <a:r>
              <a:rPr lang="en-US" sz="2400" dirty="0"/>
              <a:t>B1(8,8), B2(9,10), B3(10,9)</a:t>
            </a:r>
          </a:p>
          <a:p>
            <a:r>
              <a:rPr lang="en-US" sz="2400" b="1" dirty="0"/>
              <a:t>Centroid of Cluster B:</a:t>
            </a:r>
          </a:p>
          <a:p>
            <a:endParaRPr lang="en-US" sz="2400" b="1" dirty="0"/>
          </a:p>
          <a:p>
            <a:endParaRPr lang="en-US" sz="2400" b="1" dirty="0"/>
          </a:p>
          <a:p>
            <a:endParaRPr lang="en-US" sz="2400" b="1" dirty="0"/>
          </a:p>
          <a:p>
            <a:endParaRPr lang="en-US" sz="2400" b="1" dirty="0"/>
          </a:p>
          <a:p>
            <a:endParaRPr lang="en-US" sz="2400" b="1" dirty="0"/>
          </a:p>
          <a:p>
            <a:r>
              <a:rPr lang="en-US" sz="2800" dirty="0"/>
              <a:t>Now calculate </a:t>
            </a:r>
            <a:r>
              <a:rPr lang="en-US" sz="2800" b="1" dirty="0">
                <a:solidFill>
                  <a:schemeClr val="tx2">
                    <a:lumMod val="75000"/>
                    <a:lumOff val="25000"/>
                  </a:schemeClr>
                </a:solidFill>
              </a:rPr>
              <a:t>squared distances from each point </a:t>
            </a:r>
            <a:r>
              <a:rPr lang="en-US" sz="2800" dirty="0"/>
              <a:t>to the </a:t>
            </a:r>
            <a:r>
              <a:rPr lang="en-US" sz="2800" b="1" dirty="0">
                <a:solidFill>
                  <a:schemeClr val="tx2">
                    <a:lumMod val="75000"/>
                    <a:lumOff val="25000"/>
                  </a:schemeClr>
                </a:solidFill>
              </a:rPr>
              <a:t>centroid</a:t>
            </a:r>
            <a:r>
              <a:rPr lang="en-US" sz="2800" dirty="0"/>
              <a:t> for Cluster B</a:t>
            </a:r>
            <a:endParaRPr lang="en-US" sz="2800" b="1" dirty="0"/>
          </a:p>
          <a:p>
            <a:endParaRPr lang="en-IN" sz="2400" b="1" dirty="0"/>
          </a:p>
          <a:p>
            <a:endParaRPr lang="en-US" sz="2400" b="1" dirty="0"/>
          </a:p>
          <a:p>
            <a:pPr marL="0" indent="0">
              <a:buNone/>
            </a:pPr>
            <a:endParaRPr lang="en-IN" sz="2800" dirty="0"/>
          </a:p>
        </p:txBody>
      </p:sp>
      <p:pic>
        <p:nvPicPr>
          <p:cNvPr id="4" name="Picture 3">
            <a:extLst>
              <a:ext uri="{FF2B5EF4-FFF2-40B4-BE49-F238E27FC236}">
                <a16:creationId xmlns:a16="http://schemas.microsoft.com/office/drawing/2014/main" id="{02AE9942-342C-BF57-5C67-205B5C7E1A80}"/>
              </a:ext>
            </a:extLst>
          </p:cNvPr>
          <p:cNvPicPr>
            <a:picLocks noChangeAspect="1"/>
          </p:cNvPicPr>
          <p:nvPr/>
        </p:nvPicPr>
        <p:blipFill>
          <a:blip r:embed="rId2"/>
          <a:stretch>
            <a:fillRect/>
          </a:stretch>
        </p:blipFill>
        <p:spPr>
          <a:xfrm>
            <a:off x="2645724" y="1845228"/>
            <a:ext cx="6019305" cy="1215437"/>
          </a:xfrm>
          <a:prstGeom prst="rect">
            <a:avLst/>
          </a:prstGeom>
        </p:spPr>
      </p:pic>
    </p:spTree>
    <p:extLst>
      <p:ext uri="{BB962C8B-B14F-4D97-AF65-F5344CB8AC3E}">
        <p14:creationId xmlns:p14="http://schemas.microsoft.com/office/powerpoint/2010/main" val="280264396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DA63FA-EE5F-5746-2365-0F2EEDD808F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2E2CC4C-D021-5080-651F-CEBB5632018F}"/>
              </a:ext>
            </a:extLst>
          </p:cNvPr>
          <p:cNvSpPr>
            <a:spLocks noGrp="1"/>
          </p:cNvSpPr>
          <p:nvPr>
            <p:ph idx="1"/>
          </p:nvPr>
        </p:nvSpPr>
        <p:spPr>
          <a:xfrm>
            <a:off x="702853" y="707571"/>
            <a:ext cx="10900568" cy="5486400"/>
          </a:xfrm>
        </p:spPr>
        <p:txBody>
          <a:bodyPr>
            <a:normAutofit/>
          </a:bodyPr>
          <a:lstStyle/>
          <a:p>
            <a:r>
              <a:rPr lang="en-IN" sz="2400" b="1" dirty="0"/>
              <a:t>B1 to centroid:</a:t>
            </a:r>
          </a:p>
          <a:p>
            <a:endParaRPr lang="en-IN" sz="2400" b="1" dirty="0"/>
          </a:p>
          <a:p>
            <a:endParaRPr lang="en-IN" sz="2400" b="1" dirty="0"/>
          </a:p>
          <a:p>
            <a:r>
              <a:rPr lang="en-IN" sz="2400" b="1" dirty="0"/>
              <a:t>B2 to centroid:</a:t>
            </a:r>
          </a:p>
          <a:p>
            <a:endParaRPr lang="en-IN" sz="2400" b="1" dirty="0"/>
          </a:p>
          <a:p>
            <a:endParaRPr lang="en-IN" sz="2400" b="1" dirty="0"/>
          </a:p>
          <a:p>
            <a:r>
              <a:rPr lang="en-IN" sz="2400" b="1" dirty="0"/>
              <a:t>B3 to centroid:</a:t>
            </a:r>
          </a:p>
          <a:p>
            <a:endParaRPr lang="en-IN" sz="2400" b="1" dirty="0"/>
          </a:p>
          <a:p>
            <a:endParaRPr lang="en-IN" sz="2400" b="1" dirty="0"/>
          </a:p>
          <a:p>
            <a:pPr marL="0" indent="0">
              <a:buNone/>
            </a:pPr>
            <a:r>
              <a:rPr lang="en-IN" sz="2400" b="1" dirty="0"/>
              <a:t>👉 </a:t>
            </a:r>
            <a:r>
              <a:rPr lang="en-IN" sz="2400" b="1" dirty="0">
                <a:solidFill>
                  <a:schemeClr val="tx2">
                    <a:lumMod val="75000"/>
                    <a:lumOff val="25000"/>
                  </a:schemeClr>
                </a:solidFill>
              </a:rPr>
              <a:t>SSE</a:t>
            </a:r>
            <a:r>
              <a:rPr lang="en-IN" sz="2400" b="1" dirty="0"/>
              <a:t> for </a:t>
            </a:r>
            <a:r>
              <a:rPr lang="en-IN" sz="2400" b="1" dirty="0">
                <a:solidFill>
                  <a:schemeClr val="tx2">
                    <a:lumMod val="75000"/>
                    <a:lumOff val="25000"/>
                  </a:schemeClr>
                </a:solidFill>
              </a:rPr>
              <a:t>Cluster</a:t>
            </a:r>
            <a:r>
              <a:rPr lang="en-IN" sz="2400" b="1" dirty="0"/>
              <a:t> </a:t>
            </a:r>
            <a:r>
              <a:rPr lang="en-IN" sz="2400" b="1" dirty="0">
                <a:solidFill>
                  <a:schemeClr val="tx2">
                    <a:lumMod val="75000"/>
                    <a:lumOff val="25000"/>
                  </a:schemeClr>
                </a:solidFill>
              </a:rPr>
              <a:t>B</a:t>
            </a:r>
            <a:r>
              <a:rPr lang="en-IN" sz="2400" b="1" dirty="0"/>
              <a:t> = 2 + 1 + 1 = </a:t>
            </a:r>
            <a:r>
              <a:rPr lang="en-IN" sz="2400" b="1" dirty="0">
                <a:solidFill>
                  <a:schemeClr val="tx2">
                    <a:lumMod val="75000"/>
                    <a:lumOff val="25000"/>
                  </a:schemeClr>
                </a:solidFill>
              </a:rPr>
              <a:t>4</a:t>
            </a:r>
          </a:p>
          <a:p>
            <a:endParaRPr lang="en-IN" sz="2400" b="1" dirty="0"/>
          </a:p>
          <a:p>
            <a:endParaRPr lang="en-IN" sz="2400" b="1" dirty="0"/>
          </a:p>
          <a:p>
            <a:pPr marL="0" indent="0">
              <a:buNone/>
            </a:pPr>
            <a:endParaRPr lang="en-IN" sz="2400" dirty="0"/>
          </a:p>
        </p:txBody>
      </p:sp>
      <p:pic>
        <p:nvPicPr>
          <p:cNvPr id="4" name="Picture 3">
            <a:extLst>
              <a:ext uri="{FF2B5EF4-FFF2-40B4-BE49-F238E27FC236}">
                <a16:creationId xmlns:a16="http://schemas.microsoft.com/office/drawing/2014/main" id="{A4012B9F-35B1-B7BE-973B-D8048CBE0675}"/>
              </a:ext>
            </a:extLst>
          </p:cNvPr>
          <p:cNvPicPr>
            <a:picLocks noChangeAspect="1"/>
          </p:cNvPicPr>
          <p:nvPr/>
        </p:nvPicPr>
        <p:blipFill>
          <a:blip r:embed="rId2"/>
          <a:srcRect t="77781" b="2375"/>
          <a:stretch>
            <a:fillRect/>
          </a:stretch>
        </p:blipFill>
        <p:spPr>
          <a:xfrm>
            <a:off x="3047772" y="3450771"/>
            <a:ext cx="7228571" cy="816428"/>
          </a:xfrm>
          <a:prstGeom prst="rect">
            <a:avLst/>
          </a:prstGeom>
        </p:spPr>
      </p:pic>
      <p:pic>
        <p:nvPicPr>
          <p:cNvPr id="5" name="Picture 4">
            <a:extLst>
              <a:ext uri="{FF2B5EF4-FFF2-40B4-BE49-F238E27FC236}">
                <a16:creationId xmlns:a16="http://schemas.microsoft.com/office/drawing/2014/main" id="{D5F71527-0A55-AE04-35F9-0F5E13EBFD5B}"/>
              </a:ext>
            </a:extLst>
          </p:cNvPr>
          <p:cNvPicPr>
            <a:picLocks noChangeAspect="1"/>
          </p:cNvPicPr>
          <p:nvPr/>
        </p:nvPicPr>
        <p:blipFill>
          <a:blip r:embed="rId2"/>
          <a:srcRect t="40475" b="39682"/>
          <a:stretch>
            <a:fillRect/>
          </a:stretch>
        </p:blipFill>
        <p:spPr>
          <a:xfrm>
            <a:off x="3047772" y="2005693"/>
            <a:ext cx="7228571" cy="816428"/>
          </a:xfrm>
          <a:prstGeom prst="rect">
            <a:avLst/>
          </a:prstGeom>
        </p:spPr>
      </p:pic>
      <p:pic>
        <p:nvPicPr>
          <p:cNvPr id="6" name="Picture 5">
            <a:extLst>
              <a:ext uri="{FF2B5EF4-FFF2-40B4-BE49-F238E27FC236}">
                <a16:creationId xmlns:a16="http://schemas.microsoft.com/office/drawing/2014/main" id="{A8BDC228-548A-E046-65AD-FCB07CFFD46B}"/>
              </a:ext>
            </a:extLst>
          </p:cNvPr>
          <p:cNvPicPr>
            <a:picLocks noChangeAspect="1"/>
          </p:cNvPicPr>
          <p:nvPr/>
        </p:nvPicPr>
        <p:blipFill>
          <a:blip r:embed="rId2"/>
          <a:srcRect t="3169" b="76987"/>
          <a:stretch>
            <a:fillRect/>
          </a:stretch>
        </p:blipFill>
        <p:spPr>
          <a:xfrm>
            <a:off x="3047772" y="664029"/>
            <a:ext cx="7228571" cy="816428"/>
          </a:xfrm>
          <a:prstGeom prst="rect">
            <a:avLst/>
          </a:prstGeom>
        </p:spPr>
      </p:pic>
    </p:spTree>
    <p:extLst>
      <p:ext uri="{BB962C8B-B14F-4D97-AF65-F5344CB8AC3E}">
        <p14:creationId xmlns:p14="http://schemas.microsoft.com/office/powerpoint/2010/main" val="198824545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4F2F0-A2B8-0189-23B0-7B4878CC8D9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5644C78-2613-9265-AABF-3AFEA9DDCFFD}"/>
              </a:ext>
            </a:extLst>
          </p:cNvPr>
          <p:cNvSpPr>
            <a:spLocks noGrp="1"/>
          </p:cNvSpPr>
          <p:nvPr>
            <p:ph idx="1"/>
          </p:nvPr>
        </p:nvSpPr>
        <p:spPr>
          <a:xfrm>
            <a:off x="702853" y="707571"/>
            <a:ext cx="10900568" cy="5486400"/>
          </a:xfrm>
        </p:spPr>
        <p:txBody>
          <a:bodyPr>
            <a:normAutofit/>
          </a:bodyPr>
          <a:lstStyle/>
          <a:p>
            <a:pPr marL="0" indent="0">
              <a:buNone/>
            </a:pPr>
            <a:r>
              <a:rPr lang="en-IN" sz="2800" b="1" dirty="0">
                <a:solidFill>
                  <a:schemeClr val="tx2">
                    <a:lumMod val="75000"/>
                    <a:lumOff val="25000"/>
                  </a:schemeClr>
                </a:solidFill>
              </a:rPr>
              <a:t>Total Inertia (SSE) </a:t>
            </a:r>
            <a:r>
              <a:rPr lang="en-IN" sz="2800" dirty="0"/>
              <a:t>= 2.66 + 4 = </a:t>
            </a:r>
            <a:r>
              <a:rPr lang="en-IN" sz="2800" b="1" dirty="0">
                <a:solidFill>
                  <a:schemeClr val="tx2">
                    <a:lumMod val="75000"/>
                    <a:lumOff val="25000"/>
                  </a:schemeClr>
                </a:solidFill>
              </a:rPr>
              <a:t>6.66</a:t>
            </a:r>
          </a:p>
          <a:p>
            <a:pPr marL="0" indent="0">
              <a:buNone/>
            </a:pPr>
            <a:endParaRPr lang="en-IN" sz="2400" dirty="0"/>
          </a:p>
          <a:p>
            <a:pPr marL="0" indent="0">
              <a:buNone/>
            </a:pPr>
            <a:r>
              <a:rPr lang="en-IN" sz="2800" b="1" dirty="0"/>
              <a:t>Conclusion:</a:t>
            </a:r>
          </a:p>
          <a:p>
            <a:pPr marL="0" indent="0">
              <a:buNone/>
            </a:pPr>
            <a:endParaRPr lang="en-IN" sz="2400" dirty="0"/>
          </a:p>
          <a:p>
            <a:pPr marL="0" indent="0">
              <a:buNone/>
            </a:pPr>
            <a:endParaRPr lang="en-IN" sz="2800" dirty="0"/>
          </a:p>
        </p:txBody>
      </p:sp>
      <p:graphicFrame>
        <p:nvGraphicFramePr>
          <p:cNvPr id="2" name="Table 1">
            <a:extLst>
              <a:ext uri="{FF2B5EF4-FFF2-40B4-BE49-F238E27FC236}">
                <a16:creationId xmlns:a16="http://schemas.microsoft.com/office/drawing/2014/main" id="{0832A4A3-6F0D-949E-F36D-23F03DAAD87E}"/>
              </a:ext>
            </a:extLst>
          </p:cNvPr>
          <p:cNvGraphicFramePr>
            <a:graphicFrameLocks noGrp="1"/>
          </p:cNvGraphicFramePr>
          <p:nvPr>
            <p:extLst>
              <p:ext uri="{D42A27DB-BD31-4B8C-83A1-F6EECF244321}">
                <p14:modId xmlns:p14="http://schemas.microsoft.com/office/powerpoint/2010/main" val="2002789784"/>
              </p:ext>
            </p:extLst>
          </p:nvPr>
        </p:nvGraphicFramePr>
        <p:xfrm>
          <a:off x="1208904" y="2280158"/>
          <a:ext cx="9698582" cy="1616929"/>
        </p:xfrm>
        <a:graphic>
          <a:graphicData uri="http://schemas.openxmlformats.org/drawingml/2006/table">
            <a:tbl>
              <a:tblPr firstRow="1" firstCol="1" bandRow="1">
                <a:tableStyleId>{5C22544A-7EE6-4342-B048-85BDC9FD1C3A}</a:tableStyleId>
              </a:tblPr>
              <a:tblGrid>
                <a:gridCol w="2542873">
                  <a:extLst>
                    <a:ext uri="{9D8B030D-6E8A-4147-A177-3AD203B41FA5}">
                      <a16:colId xmlns:a16="http://schemas.microsoft.com/office/drawing/2014/main" val="1559825982"/>
                    </a:ext>
                  </a:extLst>
                </a:gridCol>
                <a:gridCol w="1375394">
                  <a:extLst>
                    <a:ext uri="{9D8B030D-6E8A-4147-A177-3AD203B41FA5}">
                      <a16:colId xmlns:a16="http://schemas.microsoft.com/office/drawing/2014/main" val="3615750455"/>
                    </a:ext>
                  </a:extLst>
                </a:gridCol>
                <a:gridCol w="5780315">
                  <a:extLst>
                    <a:ext uri="{9D8B030D-6E8A-4147-A177-3AD203B41FA5}">
                      <a16:colId xmlns:a16="http://schemas.microsoft.com/office/drawing/2014/main" val="1452286803"/>
                    </a:ext>
                  </a:extLst>
                </a:gridCol>
              </a:tblGrid>
              <a:tr h="400444">
                <a:tc>
                  <a:txBody>
                    <a:bodyPr/>
                    <a:lstStyle/>
                    <a:p>
                      <a:pPr>
                        <a:lnSpc>
                          <a:spcPct val="107000"/>
                        </a:lnSpc>
                        <a:spcAft>
                          <a:spcPts val="800"/>
                        </a:spcAft>
                        <a:buNone/>
                      </a:pPr>
                      <a:r>
                        <a:rPr lang="en-US" sz="2400" kern="100">
                          <a:effectLst/>
                        </a:rPr>
                        <a:t>A</a:t>
                      </a:r>
                      <a:r>
                        <a:rPr lang="en-IN" sz="2400" kern="100">
                          <a:effectLst/>
                        </a:rPr>
                        <a:t>Metric</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Value</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Meaning</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369521064"/>
                  </a:ext>
                </a:extLst>
              </a:tr>
              <a:tr h="400444">
                <a:tc>
                  <a:txBody>
                    <a:bodyPr/>
                    <a:lstStyle/>
                    <a:p>
                      <a:pPr>
                        <a:lnSpc>
                          <a:spcPct val="107000"/>
                        </a:lnSpc>
                        <a:spcAft>
                          <a:spcPts val="800"/>
                        </a:spcAft>
                        <a:buNone/>
                      </a:pPr>
                      <a:r>
                        <a:rPr lang="en-IN" sz="2400" kern="100">
                          <a:effectLst/>
                        </a:rPr>
                        <a:t>Inertia (SSE)</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6.66</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How compact all clusters are</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644347281"/>
                  </a:ext>
                </a:extLst>
              </a:tr>
              <a:tr h="816041">
                <a:tc>
                  <a:txBody>
                    <a:bodyPr/>
                    <a:lstStyle/>
                    <a:p>
                      <a:pPr>
                        <a:lnSpc>
                          <a:spcPct val="107000"/>
                        </a:lnSpc>
                        <a:spcAft>
                          <a:spcPts val="800"/>
                        </a:spcAft>
                        <a:buNone/>
                      </a:pPr>
                      <a:r>
                        <a:rPr lang="en-IN" sz="2400" kern="100">
                          <a:effectLst/>
                        </a:rPr>
                        <a:t>Lower is better</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But don’t make too many clusters</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505430840"/>
                  </a:ext>
                </a:extLst>
              </a:tr>
            </a:tbl>
          </a:graphicData>
        </a:graphic>
      </p:graphicFrame>
    </p:spTree>
    <p:extLst>
      <p:ext uri="{BB962C8B-B14F-4D97-AF65-F5344CB8AC3E}">
        <p14:creationId xmlns:p14="http://schemas.microsoft.com/office/powerpoint/2010/main" val="12902501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0CA548-D05F-D88F-69B1-1CA3F1C092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3A8C71F-0EB3-C855-A476-343871A042B8}"/>
              </a:ext>
            </a:extLst>
          </p:cNvPr>
          <p:cNvSpPr txBox="1"/>
          <p:nvPr/>
        </p:nvSpPr>
        <p:spPr>
          <a:xfrm>
            <a:off x="437321" y="221676"/>
            <a:ext cx="11062253" cy="1815882"/>
          </a:xfrm>
          <a:prstGeom prst="rect">
            <a:avLst/>
          </a:prstGeom>
          <a:noFill/>
        </p:spPr>
        <p:txBody>
          <a:bodyPr wrap="square">
            <a:spAutoFit/>
          </a:bodyPr>
          <a:lstStyle/>
          <a:p>
            <a:r>
              <a:rPr lang="en-US" sz="2400" b="1" dirty="0">
                <a:solidFill>
                  <a:srgbClr val="002060"/>
                </a:solidFill>
              </a:rPr>
              <a:t>How to Determine Correct Number of Clusters (K): (</a:t>
            </a:r>
            <a:r>
              <a:rPr lang="en-US" sz="2400" b="1" dirty="0">
                <a:solidFill>
                  <a:schemeClr val="tx2">
                    <a:lumMod val="75000"/>
                    <a:lumOff val="25000"/>
                  </a:schemeClr>
                </a:solidFill>
              </a:rPr>
              <a:t>Elbow Method</a:t>
            </a:r>
            <a:r>
              <a:rPr lang="en-US" sz="2400" b="1" dirty="0"/>
              <a:t>)</a:t>
            </a:r>
          </a:p>
          <a:p>
            <a:r>
              <a:rPr lang="en-US" sz="2200" dirty="0"/>
              <a:t>Find </a:t>
            </a:r>
            <a:r>
              <a:rPr lang="en-US" sz="2200" b="1" dirty="0">
                <a:solidFill>
                  <a:schemeClr val="accent6"/>
                </a:solidFill>
              </a:rPr>
              <a:t>Sum of Squared Errors (SSE) </a:t>
            </a:r>
            <a:r>
              <a:rPr lang="en-US" sz="2200" b="1" dirty="0"/>
              <a:t>for Each Cluster in Each Iteration. </a:t>
            </a:r>
          </a:p>
          <a:p>
            <a:r>
              <a:rPr lang="en-US" sz="2200" dirty="0"/>
              <a:t>Which means For each of the cluster you try to </a:t>
            </a:r>
            <a:r>
              <a:rPr lang="en-US" sz="2200" b="1" dirty="0">
                <a:solidFill>
                  <a:srgbClr val="C00000"/>
                </a:solidFill>
              </a:rPr>
              <a:t>compute the distance of individual data point from the centroid and then square it and sum it up</a:t>
            </a:r>
            <a:r>
              <a:rPr lang="en-US" sz="2200" dirty="0"/>
              <a:t>. Do the same for all of the clusters you have and at the end you will get the following: </a:t>
            </a:r>
            <a:r>
              <a:rPr lang="en-US" sz="2200" b="1" dirty="0"/>
              <a:t>SSE1 + SSE2 + ………… + </a:t>
            </a:r>
            <a:r>
              <a:rPr lang="en-US" sz="2200" b="1" dirty="0" err="1"/>
              <a:t>SSEk</a:t>
            </a:r>
            <a:endParaRPr lang="en-US" sz="2200" b="1" dirty="0"/>
          </a:p>
        </p:txBody>
      </p:sp>
      <p:grpSp>
        <p:nvGrpSpPr>
          <p:cNvPr id="6" name="Group 5">
            <a:extLst>
              <a:ext uri="{FF2B5EF4-FFF2-40B4-BE49-F238E27FC236}">
                <a16:creationId xmlns:a16="http://schemas.microsoft.com/office/drawing/2014/main" id="{F912232D-209F-E237-1D76-0F879F5B9E0B}"/>
              </a:ext>
            </a:extLst>
          </p:cNvPr>
          <p:cNvGrpSpPr/>
          <p:nvPr/>
        </p:nvGrpSpPr>
        <p:grpSpPr>
          <a:xfrm>
            <a:off x="1514672" y="1976002"/>
            <a:ext cx="9162656" cy="4881998"/>
            <a:chOff x="1514672" y="1976002"/>
            <a:chExt cx="9162656" cy="4881998"/>
          </a:xfrm>
        </p:grpSpPr>
        <p:pic>
          <p:nvPicPr>
            <p:cNvPr id="4" name="Picture 3">
              <a:extLst>
                <a:ext uri="{FF2B5EF4-FFF2-40B4-BE49-F238E27FC236}">
                  <a16:creationId xmlns:a16="http://schemas.microsoft.com/office/drawing/2014/main" id="{0953A063-ED2B-A9C8-73CB-30F905594EF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4672" y="1976002"/>
              <a:ext cx="8552727" cy="4881998"/>
            </a:xfrm>
            <a:prstGeom prst="rect">
              <a:avLst/>
            </a:prstGeom>
          </p:spPr>
        </p:pic>
        <p:sp>
          <p:nvSpPr>
            <p:cNvPr id="5" name="Rectangle 4">
              <a:extLst>
                <a:ext uri="{FF2B5EF4-FFF2-40B4-BE49-F238E27FC236}">
                  <a16:creationId xmlns:a16="http://schemas.microsoft.com/office/drawing/2014/main" id="{A497A2CB-0835-A1CC-D30A-65639A0D4FA7}"/>
                </a:ext>
              </a:extLst>
            </p:cNvPr>
            <p:cNvSpPr/>
            <p:nvPr/>
          </p:nvSpPr>
          <p:spPr>
            <a:xfrm>
              <a:off x="8642845" y="5949885"/>
              <a:ext cx="2034483" cy="9081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chemeClr val="bg1"/>
                  </a:solidFill>
                </a:ln>
              </a:endParaRPr>
            </a:p>
          </p:txBody>
        </p:sp>
      </p:grpSp>
    </p:spTree>
    <p:extLst>
      <p:ext uri="{BB962C8B-B14F-4D97-AF65-F5344CB8AC3E}">
        <p14:creationId xmlns:p14="http://schemas.microsoft.com/office/powerpoint/2010/main" val="162629515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CE768-31BE-68AD-B4E9-F6A9338239B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CE9C6C3-2F7D-F427-426E-E99E0CAB4F08}"/>
              </a:ext>
            </a:extLst>
          </p:cNvPr>
          <p:cNvSpPr txBox="1"/>
          <p:nvPr/>
        </p:nvSpPr>
        <p:spPr>
          <a:xfrm>
            <a:off x="437321" y="221676"/>
            <a:ext cx="11062253" cy="830997"/>
          </a:xfrm>
          <a:prstGeom prst="rect">
            <a:avLst/>
          </a:prstGeom>
          <a:noFill/>
        </p:spPr>
        <p:txBody>
          <a:bodyPr wrap="square">
            <a:spAutoFit/>
          </a:bodyPr>
          <a:lstStyle/>
          <a:p>
            <a:r>
              <a:rPr lang="en-US" sz="2400" dirty="0"/>
              <a:t>	Once we get SSE for all the Clusters then we will </a:t>
            </a:r>
            <a:r>
              <a:rPr lang="en-US" sz="2400" b="1" dirty="0">
                <a:solidFill>
                  <a:srgbClr val="C00000"/>
                </a:solidFill>
              </a:rPr>
              <a:t>plot a graph </a:t>
            </a:r>
            <a:r>
              <a:rPr lang="en-US" sz="2400" dirty="0"/>
              <a:t>as below to find the </a:t>
            </a:r>
            <a:r>
              <a:rPr lang="en-US" sz="2400" b="1" dirty="0">
                <a:solidFill>
                  <a:srgbClr val="C00000"/>
                </a:solidFill>
              </a:rPr>
              <a:t>Elbow</a:t>
            </a:r>
            <a:r>
              <a:rPr lang="en-US" sz="2400" dirty="0"/>
              <a:t> which indicates the best number of cluster to consider or take initially.</a:t>
            </a:r>
          </a:p>
        </p:txBody>
      </p:sp>
      <p:sp>
        <p:nvSpPr>
          <p:cNvPr id="5" name="Rectangle 4">
            <a:extLst>
              <a:ext uri="{FF2B5EF4-FFF2-40B4-BE49-F238E27FC236}">
                <a16:creationId xmlns:a16="http://schemas.microsoft.com/office/drawing/2014/main" id="{CEB2A1D8-9019-B97E-6A28-D39D9B60DB0C}"/>
              </a:ext>
            </a:extLst>
          </p:cNvPr>
          <p:cNvSpPr/>
          <p:nvPr/>
        </p:nvSpPr>
        <p:spPr>
          <a:xfrm>
            <a:off x="8672662" y="5481981"/>
            <a:ext cx="2034483" cy="9081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1">
              <a:ln>
                <a:solidFill>
                  <a:schemeClr val="bg1"/>
                </a:solidFill>
              </a:ln>
            </a:endParaRPr>
          </a:p>
        </p:txBody>
      </p:sp>
      <p:grpSp>
        <p:nvGrpSpPr>
          <p:cNvPr id="10" name="Group 9">
            <a:extLst>
              <a:ext uri="{FF2B5EF4-FFF2-40B4-BE49-F238E27FC236}">
                <a16:creationId xmlns:a16="http://schemas.microsoft.com/office/drawing/2014/main" id="{8D31FB51-2FFE-1016-ED21-F0BC0BED17B7}"/>
              </a:ext>
            </a:extLst>
          </p:cNvPr>
          <p:cNvGrpSpPr/>
          <p:nvPr/>
        </p:nvGrpSpPr>
        <p:grpSpPr>
          <a:xfrm>
            <a:off x="858065" y="1032805"/>
            <a:ext cx="9849080" cy="5568375"/>
            <a:chOff x="858065" y="1032805"/>
            <a:chExt cx="9849080" cy="5568375"/>
          </a:xfrm>
        </p:grpSpPr>
        <p:pic>
          <p:nvPicPr>
            <p:cNvPr id="8" name="Picture 7">
              <a:extLst>
                <a:ext uri="{FF2B5EF4-FFF2-40B4-BE49-F238E27FC236}">
                  <a16:creationId xmlns:a16="http://schemas.microsoft.com/office/drawing/2014/main" id="{5757498A-46E4-CFE7-96D8-FBD76C2224F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58065" y="1032805"/>
              <a:ext cx="9458753" cy="5498014"/>
            </a:xfrm>
            <a:prstGeom prst="rect">
              <a:avLst/>
            </a:prstGeom>
          </p:spPr>
        </p:pic>
        <p:sp>
          <p:nvSpPr>
            <p:cNvPr id="9" name="Rectangle 8">
              <a:extLst>
                <a:ext uri="{FF2B5EF4-FFF2-40B4-BE49-F238E27FC236}">
                  <a16:creationId xmlns:a16="http://schemas.microsoft.com/office/drawing/2014/main" id="{7811E87F-B287-B672-54D1-942AE0663A62}"/>
                </a:ext>
              </a:extLst>
            </p:cNvPr>
            <p:cNvSpPr/>
            <p:nvPr/>
          </p:nvSpPr>
          <p:spPr>
            <a:xfrm>
              <a:off x="8672662" y="5693065"/>
              <a:ext cx="2034483" cy="9081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n>
                  <a:solidFill>
                    <a:schemeClr val="bg1"/>
                  </a:solidFill>
                </a:ln>
              </a:endParaRPr>
            </a:p>
          </p:txBody>
        </p:sp>
      </p:grpSp>
    </p:spTree>
    <p:extLst>
      <p:ext uri="{BB962C8B-B14F-4D97-AF65-F5344CB8AC3E}">
        <p14:creationId xmlns:p14="http://schemas.microsoft.com/office/powerpoint/2010/main" val="325384217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69C1F4-6269-B35F-F43A-CEC24380E4E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3380701-88D7-9CA1-836B-9C85B24767A3}"/>
              </a:ext>
            </a:extLst>
          </p:cNvPr>
          <p:cNvSpPr>
            <a:spLocks noGrp="1"/>
          </p:cNvSpPr>
          <p:nvPr>
            <p:ph idx="1"/>
          </p:nvPr>
        </p:nvSpPr>
        <p:spPr>
          <a:xfrm>
            <a:off x="702853" y="707571"/>
            <a:ext cx="10900568" cy="5486400"/>
          </a:xfrm>
        </p:spPr>
        <p:txBody>
          <a:bodyPr>
            <a:normAutofit/>
          </a:bodyPr>
          <a:lstStyle/>
          <a:p>
            <a:pPr marL="0" indent="0">
              <a:buNone/>
            </a:pPr>
            <a:r>
              <a:rPr lang="en-US" sz="2800" b="1" dirty="0"/>
              <a:t>2. External Evaluation Metrics (if true labels are known)</a:t>
            </a:r>
          </a:p>
          <a:p>
            <a:pPr marL="0" indent="0">
              <a:buNone/>
            </a:pPr>
            <a:endParaRPr lang="en-IN" sz="2800" b="1" dirty="0"/>
          </a:p>
        </p:txBody>
      </p:sp>
      <p:graphicFrame>
        <p:nvGraphicFramePr>
          <p:cNvPr id="2" name="Table 1">
            <a:extLst>
              <a:ext uri="{FF2B5EF4-FFF2-40B4-BE49-F238E27FC236}">
                <a16:creationId xmlns:a16="http://schemas.microsoft.com/office/drawing/2014/main" id="{4B28A8F8-01D7-C0CD-A0C4-582452A2B91E}"/>
              </a:ext>
            </a:extLst>
          </p:cNvPr>
          <p:cNvGraphicFramePr>
            <a:graphicFrameLocks noGrp="1"/>
          </p:cNvGraphicFramePr>
          <p:nvPr>
            <p:extLst>
              <p:ext uri="{D42A27DB-BD31-4B8C-83A1-F6EECF244321}">
                <p14:modId xmlns:p14="http://schemas.microsoft.com/office/powerpoint/2010/main" val="2135021600"/>
              </p:ext>
            </p:extLst>
          </p:nvPr>
        </p:nvGraphicFramePr>
        <p:xfrm>
          <a:off x="980303" y="1548678"/>
          <a:ext cx="10101354" cy="3116126"/>
        </p:xfrm>
        <a:graphic>
          <a:graphicData uri="http://schemas.openxmlformats.org/drawingml/2006/table">
            <a:tbl>
              <a:tblPr firstRow="1" firstCol="1" bandRow="1">
                <a:tableStyleId>{5C22544A-7EE6-4342-B048-85BDC9FD1C3A}</a:tableStyleId>
              </a:tblPr>
              <a:tblGrid>
                <a:gridCol w="4103326">
                  <a:extLst>
                    <a:ext uri="{9D8B030D-6E8A-4147-A177-3AD203B41FA5}">
                      <a16:colId xmlns:a16="http://schemas.microsoft.com/office/drawing/2014/main" val="2275536008"/>
                    </a:ext>
                  </a:extLst>
                </a:gridCol>
                <a:gridCol w="5998028">
                  <a:extLst>
                    <a:ext uri="{9D8B030D-6E8A-4147-A177-3AD203B41FA5}">
                      <a16:colId xmlns:a16="http://schemas.microsoft.com/office/drawing/2014/main" val="1280908205"/>
                    </a:ext>
                  </a:extLst>
                </a:gridCol>
              </a:tblGrid>
              <a:tr h="658861">
                <a:tc>
                  <a:txBody>
                    <a:bodyPr/>
                    <a:lstStyle/>
                    <a:p>
                      <a:pPr>
                        <a:lnSpc>
                          <a:spcPct val="107000"/>
                        </a:lnSpc>
                        <a:spcAft>
                          <a:spcPts val="800"/>
                        </a:spcAft>
                        <a:buNone/>
                      </a:pPr>
                      <a:r>
                        <a:rPr lang="en-IN" sz="2000" kern="100">
                          <a:effectLst/>
                        </a:rPr>
                        <a:t>Metric Name</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Meaning</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411824883"/>
                  </a:ext>
                </a:extLst>
              </a:tr>
              <a:tr h="764261">
                <a:tc>
                  <a:txBody>
                    <a:bodyPr/>
                    <a:lstStyle/>
                    <a:p>
                      <a:pPr>
                        <a:lnSpc>
                          <a:spcPct val="107000"/>
                        </a:lnSpc>
                        <a:spcAft>
                          <a:spcPts val="800"/>
                        </a:spcAft>
                        <a:buNone/>
                      </a:pPr>
                      <a:r>
                        <a:rPr lang="en-IN" sz="2000" kern="100" dirty="0">
                          <a:effectLst/>
                        </a:rPr>
                        <a:t>Adjusted Rand Index (ARI)</a:t>
                      </a:r>
                      <a:endParaRPr lang="en-IN" sz="20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dirty="0">
                          <a:effectLst/>
                        </a:rPr>
                        <a:t>Measures similarity between clustering and true labels.</a:t>
                      </a:r>
                      <a:endParaRPr lang="en-IN" sz="20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3520767462"/>
                  </a:ext>
                </a:extLst>
              </a:tr>
              <a:tr h="1034143">
                <a:tc>
                  <a:txBody>
                    <a:bodyPr/>
                    <a:lstStyle/>
                    <a:p>
                      <a:pPr>
                        <a:lnSpc>
                          <a:spcPct val="107000"/>
                        </a:lnSpc>
                        <a:spcAft>
                          <a:spcPts val="800"/>
                        </a:spcAft>
                        <a:buNone/>
                      </a:pPr>
                      <a:r>
                        <a:rPr lang="en-IN" sz="2000" kern="100">
                          <a:effectLst/>
                        </a:rPr>
                        <a:t>Normalized Mutual Information (NMI)</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dirty="0">
                          <a:effectLst/>
                        </a:rPr>
                        <a:t>Measures mutual dependence between clusters and labels.</a:t>
                      </a:r>
                      <a:endParaRPr lang="en-IN" sz="20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990173030"/>
                  </a:ext>
                </a:extLst>
              </a:tr>
              <a:tr h="658861">
                <a:tc>
                  <a:txBody>
                    <a:bodyPr/>
                    <a:lstStyle/>
                    <a:p>
                      <a:pPr>
                        <a:lnSpc>
                          <a:spcPct val="107000"/>
                        </a:lnSpc>
                        <a:spcAft>
                          <a:spcPts val="800"/>
                        </a:spcAft>
                        <a:buNone/>
                      </a:pPr>
                      <a:r>
                        <a:rPr lang="en-IN" sz="2000" kern="100">
                          <a:effectLst/>
                        </a:rPr>
                        <a:t>Fowlkes–Mallows Index (FMI)</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dirty="0">
                          <a:effectLst/>
                        </a:rPr>
                        <a:t>Geometric mean of precision and recall.</a:t>
                      </a:r>
                      <a:endParaRPr lang="en-IN" sz="20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635229628"/>
                  </a:ext>
                </a:extLst>
              </a:tr>
            </a:tbl>
          </a:graphicData>
        </a:graphic>
      </p:graphicFrame>
    </p:spTree>
    <p:extLst>
      <p:ext uri="{BB962C8B-B14F-4D97-AF65-F5344CB8AC3E}">
        <p14:creationId xmlns:p14="http://schemas.microsoft.com/office/powerpoint/2010/main" val="410611374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E2F96-366E-4A0E-6B43-2FDE0449767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F14BADC-4C56-0E02-E8B9-DCB7CBBA2A7D}"/>
              </a:ext>
            </a:extLst>
          </p:cNvPr>
          <p:cNvSpPr>
            <a:spLocks noGrp="1"/>
          </p:cNvSpPr>
          <p:nvPr>
            <p:ph idx="1"/>
          </p:nvPr>
        </p:nvSpPr>
        <p:spPr>
          <a:xfrm>
            <a:off x="702853" y="707571"/>
            <a:ext cx="10900568" cy="5486400"/>
          </a:xfrm>
        </p:spPr>
        <p:txBody>
          <a:bodyPr>
            <a:normAutofit/>
          </a:bodyPr>
          <a:lstStyle/>
          <a:p>
            <a:pPr marL="0" indent="0">
              <a:buNone/>
            </a:pPr>
            <a:r>
              <a:rPr lang="en-IN" sz="2400" b="1" kern="100" dirty="0"/>
              <a:t>1. Adjusted Rand Index (ARI):</a:t>
            </a:r>
          </a:p>
          <a:p>
            <a:pPr marL="0" indent="0">
              <a:buNone/>
            </a:pPr>
            <a:r>
              <a:rPr lang="en-US" sz="2400" dirty="0"/>
              <a:t>ARI is used to evaluate </a:t>
            </a:r>
            <a:r>
              <a:rPr lang="en-US" sz="2400" b="1" dirty="0">
                <a:solidFill>
                  <a:schemeClr val="tx2">
                    <a:lumMod val="75000"/>
                    <a:lumOff val="25000"/>
                  </a:schemeClr>
                </a:solidFill>
              </a:rPr>
              <a:t>clustering performance </a:t>
            </a:r>
            <a:r>
              <a:rPr lang="en-US" sz="2400" dirty="0"/>
              <a:t>when you already know the </a:t>
            </a:r>
            <a:r>
              <a:rPr lang="en-US" sz="2400" b="1" dirty="0">
                <a:solidFill>
                  <a:srgbClr val="002060"/>
                </a:solidFill>
              </a:rPr>
              <a:t>true group labels </a:t>
            </a:r>
            <a:r>
              <a:rPr lang="en-US" sz="2400" dirty="0"/>
              <a:t>(called “</a:t>
            </a:r>
            <a:r>
              <a:rPr lang="en-US" sz="2400" b="1" dirty="0">
                <a:solidFill>
                  <a:schemeClr val="tx2">
                    <a:lumMod val="75000"/>
                    <a:lumOff val="25000"/>
                  </a:schemeClr>
                </a:solidFill>
              </a:rPr>
              <a:t>ground truth</a:t>
            </a:r>
            <a:r>
              <a:rPr lang="en-US" sz="2400" dirty="0"/>
              <a:t>”).</a:t>
            </a:r>
          </a:p>
          <a:p>
            <a:r>
              <a:rPr lang="en-US" sz="2400" b="1" dirty="0"/>
              <a:t>It checks how many pairs of points are:</a:t>
            </a:r>
          </a:p>
          <a:p>
            <a:pPr lvl="1"/>
            <a:r>
              <a:rPr lang="en-US" sz="2400" dirty="0"/>
              <a:t>correctly clustered together</a:t>
            </a:r>
          </a:p>
          <a:p>
            <a:pPr lvl="1"/>
            <a:r>
              <a:rPr lang="en-US" sz="2400" dirty="0"/>
              <a:t>correctly clustered apart</a:t>
            </a:r>
          </a:p>
          <a:p>
            <a:pPr lvl="1"/>
            <a:r>
              <a:rPr lang="en-US" sz="2400" dirty="0"/>
              <a:t>and adjusts for chance grouping</a:t>
            </a:r>
          </a:p>
          <a:p>
            <a:pPr marL="0" indent="0">
              <a:buNone/>
            </a:pPr>
            <a:endParaRPr lang="en-US" sz="1400" dirty="0"/>
          </a:p>
          <a:p>
            <a:pPr marL="0" indent="0">
              <a:buNone/>
            </a:pPr>
            <a:r>
              <a:rPr lang="en-US" sz="2400" dirty="0"/>
              <a:t>ARI range:</a:t>
            </a:r>
          </a:p>
          <a:p>
            <a:r>
              <a:rPr lang="en-US" sz="2400" b="1" dirty="0">
                <a:solidFill>
                  <a:schemeClr val="tx2">
                    <a:lumMod val="75000"/>
                    <a:lumOff val="25000"/>
                  </a:schemeClr>
                </a:solidFill>
              </a:rPr>
              <a:t>+1 </a:t>
            </a:r>
            <a:r>
              <a:rPr lang="en-US" sz="2400" dirty="0"/>
              <a:t>= </a:t>
            </a:r>
            <a:r>
              <a:rPr lang="en-US" sz="2400" b="1" dirty="0">
                <a:solidFill>
                  <a:srgbClr val="C00000"/>
                </a:solidFill>
              </a:rPr>
              <a:t>Perfect</a:t>
            </a:r>
            <a:r>
              <a:rPr lang="en-US" sz="2400" dirty="0"/>
              <a:t> clustering</a:t>
            </a:r>
          </a:p>
          <a:p>
            <a:r>
              <a:rPr lang="en-US" sz="2400" b="1" dirty="0">
                <a:solidFill>
                  <a:schemeClr val="tx2">
                    <a:lumMod val="75000"/>
                    <a:lumOff val="25000"/>
                  </a:schemeClr>
                </a:solidFill>
              </a:rPr>
              <a:t>0</a:t>
            </a:r>
            <a:r>
              <a:rPr lang="en-US" sz="2400" dirty="0"/>
              <a:t> = </a:t>
            </a:r>
            <a:r>
              <a:rPr lang="en-US" sz="2400" b="1" dirty="0">
                <a:solidFill>
                  <a:srgbClr val="C00000"/>
                </a:solidFill>
              </a:rPr>
              <a:t>Random</a:t>
            </a:r>
            <a:r>
              <a:rPr lang="en-US" sz="2400" dirty="0"/>
              <a:t> clustering</a:t>
            </a:r>
          </a:p>
          <a:p>
            <a:r>
              <a:rPr lang="en-US" sz="2400" b="1" dirty="0">
                <a:solidFill>
                  <a:schemeClr val="tx2">
                    <a:lumMod val="75000"/>
                    <a:lumOff val="25000"/>
                  </a:schemeClr>
                </a:solidFill>
              </a:rPr>
              <a:t>&lt; 0 </a:t>
            </a:r>
            <a:r>
              <a:rPr lang="en-US" sz="2400" dirty="0"/>
              <a:t>= </a:t>
            </a:r>
            <a:r>
              <a:rPr lang="en-US" sz="2400" b="1" dirty="0">
                <a:solidFill>
                  <a:srgbClr val="C00000"/>
                </a:solidFill>
              </a:rPr>
              <a:t>Worse</a:t>
            </a:r>
            <a:r>
              <a:rPr lang="en-US" sz="2400" dirty="0"/>
              <a:t> than random (bad)</a:t>
            </a:r>
          </a:p>
          <a:p>
            <a:pPr marL="0" indent="0">
              <a:buNone/>
            </a:pPr>
            <a:endParaRPr lang="en-IN" sz="2400" dirty="0"/>
          </a:p>
        </p:txBody>
      </p:sp>
    </p:spTree>
    <p:extLst>
      <p:ext uri="{BB962C8B-B14F-4D97-AF65-F5344CB8AC3E}">
        <p14:creationId xmlns:p14="http://schemas.microsoft.com/office/powerpoint/2010/main" val="318801211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EC124D-C54A-DE44-8E7F-614C4A15A6A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0A31D7E-0E45-4DC3-BFCE-B66A8F468A0C}"/>
              </a:ext>
            </a:extLst>
          </p:cNvPr>
          <p:cNvSpPr>
            <a:spLocks noGrp="1"/>
          </p:cNvSpPr>
          <p:nvPr>
            <p:ph idx="1"/>
          </p:nvPr>
        </p:nvSpPr>
        <p:spPr>
          <a:xfrm>
            <a:off x="702853" y="957943"/>
            <a:ext cx="10900568" cy="5236028"/>
          </a:xfrm>
        </p:spPr>
        <p:txBody>
          <a:bodyPr>
            <a:normAutofit/>
          </a:bodyPr>
          <a:lstStyle/>
          <a:p>
            <a:pPr marL="0" indent="0">
              <a:buNone/>
            </a:pPr>
            <a:r>
              <a:rPr lang="en-US" sz="2800" b="1" dirty="0"/>
              <a:t>🔍 Example:</a:t>
            </a:r>
          </a:p>
          <a:p>
            <a:pPr marL="0" indent="0">
              <a:buNone/>
            </a:pPr>
            <a:r>
              <a:rPr lang="en-US" sz="2800" b="1" dirty="0"/>
              <a:t>Let’s take 4 students: </a:t>
            </a:r>
            <a:r>
              <a:rPr lang="en-US" sz="2800" dirty="0"/>
              <a:t>A, B, C, D</a:t>
            </a:r>
          </a:p>
          <a:p>
            <a:r>
              <a:rPr lang="en-US" sz="2800" b="1" dirty="0"/>
              <a:t>True groups (</a:t>
            </a:r>
            <a:r>
              <a:rPr lang="en-IN" sz="2800" b="1" dirty="0"/>
              <a:t>Actual Known Groups or </a:t>
            </a:r>
            <a:r>
              <a:rPr lang="en-US" sz="2800" b="1" dirty="0"/>
              <a:t>labels):</a:t>
            </a:r>
          </a:p>
          <a:p>
            <a:pPr lvl="1">
              <a:buFont typeface="Wingdings" panose="05000000000000000000" pitchFamily="2" charset="2"/>
              <a:buChar char="§"/>
            </a:pPr>
            <a:r>
              <a:rPr lang="en-US" sz="2400" dirty="0"/>
              <a:t>Group 1: A, B</a:t>
            </a:r>
          </a:p>
          <a:p>
            <a:pPr lvl="1">
              <a:buFont typeface="Wingdings" panose="05000000000000000000" pitchFamily="2" charset="2"/>
              <a:buChar char="§"/>
            </a:pPr>
            <a:r>
              <a:rPr lang="en-US" sz="2400" dirty="0"/>
              <a:t>Group 2: C, D</a:t>
            </a:r>
          </a:p>
          <a:p>
            <a:r>
              <a:rPr lang="en-US" sz="2800" b="1" dirty="0"/>
              <a:t>Clustered result (</a:t>
            </a:r>
            <a:r>
              <a:rPr lang="en-IN" sz="2800" b="1" dirty="0"/>
              <a:t>Algorithm/Model Output</a:t>
            </a:r>
            <a:r>
              <a:rPr lang="en-IN" sz="2800" dirty="0"/>
              <a:t>)</a:t>
            </a:r>
            <a:r>
              <a:rPr lang="en-US" sz="2800" b="1" dirty="0"/>
              <a:t>:</a:t>
            </a:r>
          </a:p>
          <a:p>
            <a:pPr lvl="1">
              <a:buFont typeface="Wingdings" panose="05000000000000000000" pitchFamily="2" charset="2"/>
              <a:buChar char="§"/>
            </a:pPr>
            <a:r>
              <a:rPr lang="en-US" sz="2400" dirty="0"/>
              <a:t>Cluster 1: A, C</a:t>
            </a:r>
          </a:p>
          <a:p>
            <a:pPr lvl="1">
              <a:buFont typeface="Wingdings" panose="05000000000000000000" pitchFamily="2" charset="2"/>
              <a:buChar char="§"/>
            </a:pPr>
            <a:r>
              <a:rPr lang="en-US" sz="2400" dirty="0"/>
              <a:t>Cluster 2: B, D</a:t>
            </a:r>
          </a:p>
          <a:p>
            <a:pPr marL="0" indent="0">
              <a:buNone/>
            </a:pPr>
            <a:endParaRPr lang="en-US" dirty="0"/>
          </a:p>
          <a:p>
            <a:pPr marL="0" indent="0">
              <a:buNone/>
            </a:pPr>
            <a:r>
              <a:rPr lang="en-US" sz="2400" b="1" dirty="0"/>
              <a:t>👉 </a:t>
            </a:r>
            <a:r>
              <a:rPr lang="en-US" sz="2400" b="1" dirty="0">
                <a:solidFill>
                  <a:schemeClr val="tx2">
                    <a:lumMod val="75000"/>
                    <a:lumOff val="25000"/>
                  </a:schemeClr>
                </a:solidFill>
              </a:rPr>
              <a:t>Goal</a:t>
            </a:r>
            <a:r>
              <a:rPr lang="en-US" sz="2400" b="1" dirty="0"/>
              <a:t>: Compare Clustered Result with True Labels using ARI!</a:t>
            </a:r>
          </a:p>
          <a:p>
            <a:pPr marL="0" indent="0">
              <a:buNone/>
            </a:pPr>
            <a:endParaRPr lang="en-IN" sz="3200" dirty="0"/>
          </a:p>
        </p:txBody>
      </p:sp>
    </p:spTree>
    <p:extLst>
      <p:ext uri="{BB962C8B-B14F-4D97-AF65-F5344CB8AC3E}">
        <p14:creationId xmlns:p14="http://schemas.microsoft.com/office/powerpoint/2010/main" val="173683454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BC559-41B0-CCE4-0E7B-3D937BBA50F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91FA15E-6FE9-5508-A217-8CD25AF5CED0}"/>
              </a:ext>
            </a:extLst>
          </p:cNvPr>
          <p:cNvSpPr>
            <a:spLocks noGrp="1"/>
          </p:cNvSpPr>
          <p:nvPr>
            <p:ph idx="1"/>
          </p:nvPr>
        </p:nvSpPr>
        <p:spPr>
          <a:xfrm>
            <a:off x="702853" y="478971"/>
            <a:ext cx="10900568" cy="6052458"/>
          </a:xfrm>
        </p:spPr>
        <p:txBody>
          <a:bodyPr>
            <a:normAutofit lnSpcReduction="10000"/>
          </a:bodyPr>
          <a:lstStyle/>
          <a:p>
            <a:pPr marL="0" indent="0">
              <a:buNone/>
            </a:pPr>
            <a:r>
              <a:rPr lang="en-IN" sz="2400" b="1" dirty="0"/>
              <a:t>All possible 2 student pairs:</a:t>
            </a:r>
          </a:p>
          <a:p>
            <a:pPr marL="0" indent="0">
              <a:buNone/>
            </a:pPr>
            <a:br>
              <a:rPr lang="en-IN" sz="2400" b="1" dirty="0"/>
            </a:br>
            <a:endParaRPr lang="en-IN" sz="2400" b="1" dirty="0"/>
          </a:p>
          <a:p>
            <a:pPr marL="0" indent="0">
              <a:buNone/>
            </a:pPr>
            <a:endParaRPr lang="en-IN" sz="2800" b="1" dirty="0"/>
          </a:p>
          <a:p>
            <a:pPr marL="0" indent="0">
              <a:buNone/>
            </a:pPr>
            <a:endParaRPr lang="en-IN" sz="2800" b="1" dirty="0"/>
          </a:p>
          <a:p>
            <a:pPr marL="0" indent="0">
              <a:buNone/>
            </a:pPr>
            <a:endParaRPr lang="en-IN" sz="2800" b="1" dirty="0"/>
          </a:p>
          <a:p>
            <a:pPr marL="0" indent="0">
              <a:buNone/>
            </a:pPr>
            <a:endParaRPr lang="en-IN" sz="2800" b="1" dirty="0"/>
          </a:p>
          <a:p>
            <a:pPr marL="0" indent="0">
              <a:buNone/>
            </a:pPr>
            <a:endParaRPr lang="en-IN" sz="2800" b="1" dirty="0"/>
          </a:p>
          <a:p>
            <a:pPr marL="0" indent="0">
              <a:buNone/>
            </a:pPr>
            <a:endParaRPr lang="en-IN" sz="2800" b="1" dirty="0"/>
          </a:p>
          <a:p>
            <a:pPr marL="0" indent="0">
              <a:buNone/>
            </a:pPr>
            <a:endParaRPr lang="en-IN" sz="2800" b="1" dirty="0"/>
          </a:p>
          <a:p>
            <a:pPr marL="0" indent="0">
              <a:buNone/>
            </a:pPr>
            <a:endParaRPr lang="en-IN" sz="2800" b="1" dirty="0"/>
          </a:p>
          <a:p>
            <a:pPr marL="0" indent="0">
              <a:buNone/>
            </a:pPr>
            <a:endParaRPr lang="en-IN" sz="2800" b="1" dirty="0"/>
          </a:p>
          <a:p>
            <a:pPr marL="0" indent="0">
              <a:buNone/>
            </a:pPr>
            <a:r>
              <a:rPr lang="en-IN" sz="2800" b="1" dirty="0"/>
              <a:t>Total pairs = 6</a:t>
            </a:r>
          </a:p>
        </p:txBody>
      </p:sp>
      <p:graphicFrame>
        <p:nvGraphicFramePr>
          <p:cNvPr id="2" name="Table 1">
            <a:extLst>
              <a:ext uri="{FF2B5EF4-FFF2-40B4-BE49-F238E27FC236}">
                <a16:creationId xmlns:a16="http://schemas.microsoft.com/office/drawing/2014/main" id="{1C91B3F7-F3A9-A70D-B6EA-CF9A08DF3D5C}"/>
              </a:ext>
            </a:extLst>
          </p:cNvPr>
          <p:cNvGraphicFramePr>
            <a:graphicFrameLocks noGrp="1"/>
          </p:cNvGraphicFramePr>
          <p:nvPr>
            <p:extLst>
              <p:ext uri="{D42A27DB-BD31-4B8C-83A1-F6EECF244321}">
                <p14:modId xmlns:p14="http://schemas.microsoft.com/office/powerpoint/2010/main" val="1852417510"/>
              </p:ext>
            </p:extLst>
          </p:nvPr>
        </p:nvGraphicFramePr>
        <p:xfrm>
          <a:off x="806132" y="1164772"/>
          <a:ext cx="10057811" cy="4299859"/>
        </p:xfrm>
        <a:graphic>
          <a:graphicData uri="http://schemas.openxmlformats.org/drawingml/2006/table">
            <a:tbl>
              <a:tblPr firstRow="1" firstCol="1" bandRow="1">
                <a:tableStyleId>{5C22544A-7EE6-4342-B048-85BDC9FD1C3A}</a:tableStyleId>
              </a:tblPr>
              <a:tblGrid>
                <a:gridCol w="3352232">
                  <a:extLst>
                    <a:ext uri="{9D8B030D-6E8A-4147-A177-3AD203B41FA5}">
                      <a16:colId xmlns:a16="http://schemas.microsoft.com/office/drawing/2014/main" val="3611389032"/>
                    </a:ext>
                  </a:extLst>
                </a:gridCol>
                <a:gridCol w="3352232">
                  <a:extLst>
                    <a:ext uri="{9D8B030D-6E8A-4147-A177-3AD203B41FA5}">
                      <a16:colId xmlns:a16="http://schemas.microsoft.com/office/drawing/2014/main" val="609777505"/>
                    </a:ext>
                  </a:extLst>
                </a:gridCol>
                <a:gridCol w="3353347">
                  <a:extLst>
                    <a:ext uri="{9D8B030D-6E8A-4147-A177-3AD203B41FA5}">
                      <a16:colId xmlns:a16="http://schemas.microsoft.com/office/drawing/2014/main" val="3864479174"/>
                    </a:ext>
                  </a:extLst>
                </a:gridCol>
              </a:tblGrid>
              <a:tr h="613111">
                <a:tc>
                  <a:txBody>
                    <a:bodyPr/>
                    <a:lstStyle/>
                    <a:p>
                      <a:pPr>
                        <a:lnSpc>
                          <a:spcPct val="107000"/>
                        </a:lnSpc>
                        <a:spcAft>
                          <a:spcPts val="800"/>
                        </a:spcAft>
                        <a:buNone/>
                      </a:pPr>
                      <a:r>
                        <a:rPr lang="en-IN" sz="2800" kern="100" baseline="30000">
                          <a:effectLst/>
                        </a:rPr>
                        <a:t>Pair</a:t>
                      </a:r>
                      <a:endParaRPr lang="en-IN" sz="28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800" kern="100" baseline="30000" dirty="0">
                          <a:effectLst/>
                        </a:rPr>
                        <a:t>Same Group in True?</a:t>
                      </a:r>
                      <a:endParaRPr lang="en-IN" sz="28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800" kern="100" baseline="30000">
                          <a:effectLst/>
                        </a:rPr>
                        <a:t>Same Clustered Group?</a:t>
                      </a:r>
                      <a:endParaRPr lang="en-IN" sz="28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295854184"/>
                  </a:ext>
                </a:extLst>
              </a:tr>
              <a:tr h="614458">
                <a:tc>
                  <a:txBody>
                    <a:bodyPr/>
                    <a:lstStyle/>
                    <a:p>
                      <a:pPr>
                        <a:lnSpc>
                          <a:spcPct val="107000"/>
                        </a:lnSpc>
                        <a:spcAft>
                          <a:spcPts val="800"/>
                        </a:spcAft>
                        <a:buNone/>
                      </a:pPr>
                      <a:r>
                        <a:rPr lang="en-IN" sz="2800" kern="100" baseline="30000">
                          <a:effectLst/>
                        </a:rPr>
                        <a:t>A-B</a:t>
                      </a:r>
                      <a:endParaRPr lang="en-IN" sz="28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800" kern="100" baseline="30000">
                          <a:effectLst/>
                        </a:rPr>
                        <a:t>✅ Yes</a:t>
                      </a:r>
                      <a:endParaRPr lang="en-IN" sz="28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800" kern="100" baseline="30000">
                          <a:effectLst/>
                        </a:rPr>
                        <a:t>❌ No</a:t>
                      </a:r>
                      <a:endParaRPr lang="en-IN" sz="28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582901529"/>
                  </a:ext>
                </a:extLst>
              </a:tr>
              <a:tr h="614458">
                <a:tc>
                  <a:txBody>
                    <a:bodyPr/>
                    <a:lstStyle/>
                    <a:p>
                      <a:pPr>
                        <a:lnSpc>
                          <a:spcPct val="107000"/>
                        </a:lnSpc>
                        <a:spcAft>
                          <a:spcPts val="800"/>
                        </a:spcAft>
                        <a:buNone/>
                      </a:pPr>
                      <a:r>
                        <a:rPr lang="pt-BR" sz="2800" kern="100" baseline="30000">
                          <a:effectLst/>
                        </a:rPr>
                        <a:t>A-C</a:t>
                      </a:r>
                      <a:endParaRPr lang="en-IN" sz="28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800" kern="100" baseline="30000">
                          <a:effectLst/>
                        </a:rPr>
                        <a:t>❌ No</a:t>
                      </a:r>
                      <a:endParaRPr lang="en-IN" sz="28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800" kern="100" baseline="30000">
                          <a:effectLst/>
                        </a:rPr>
                        <a:t>✅ Yes</a:t>
                      </a:r>
                      <a:endParaRPr lang="en-IN" sz="28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437362430"/>
                  </a:ext>
                </a:extLst>
              </a:tr>
              <a:tr h="614458">
                <a:tc>
                  <a:txBody>
                    <a:bodyPr/>
                    <a:lstStyle/>
                    <a:p>
                      <a:pPr>
                        <a:lnSpc>
                          <a:spcPct val="107000"/>
                        </a:lnSpc>
                        <a:spcAft>
                          <a:spcPts val="800"/>
                        </a:spcAft>
                        <a:buNone/>
                      </a:pPr>
                      <a:r>
                        <a:rPr lang="pt-BR" sz="2800" kern="100" baseline="30000">
                          <a:effectLst/>
                        </a:rPr>
                        <a:t>A-D</a:t>
                      </a:r>
                      <a:endParaRPr lang="en-IN" sz="28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800" kern="100" baseline="30000" dirty="0">
                          <a:effectLst/>
                        </a:rPr>
                        <a:t>❌ No</a:t>
                      </a:r>
                      <a:endParaRPr lang="en-IN" sz="28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800" kern="100" baseline="30000">
                          <a:effectLst/>
                        </a:rPr>
                        <a:t>❌ No</a:t>
                      </a:r>
                      <a:endParaRPr lang="en-IN" sz="28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3027983888"/>
                  </a:ext>
                </a:extLst>
              </a:tr>
              <a:tr h="614458">
                <a:tc>
                  <a:txBody>
                    <a:bodyPr/>
                    <a:lstStyle/>
                    <a:p>
                      <a:pPr>
                        <a:lnSpc>
                          <a:spcPct val="107000"/>
                        </a:lnSpc>
                        <a:spcAft>
                          <a:spcPts val="800"/>
                        </a:spcAft>
                        <a:buNone/>
                      </a:pPr>
                      <a:r>
                        <a:rPr lang="pt-BR" sz="2800" kern="100" baseline="30000">
                          <a:effectLst/>
                        </a:rPr>
                        <a:t>B-C</a:t>
                      </a:r>
                      <a:endParaRPr lang="en-IN" sz="28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800" kern="100" baseline="30000">
                          <a:effectLst/>
                        </a:rPr>
                        <a:t>❌ No</a:t>
                      </a:r>
                      <a:endParaRPr lang="en-IN" sz="28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800" kern="100" baseline="30000">
                          <a:effectLst/>
                        </a:rPr>
                        <a:t>❌ No</a:t>
                      </a:r>
                      <a:endParaRPr lang="en-IN" sz="28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745486664"/>
                  </a:ext>
                </a:extLst>
              </a:tr>
              <a:tr h="614458">
                <a:tc>
                  <a:txBody>
                    <a:bodyPr/>
                    <a:lstStyle/>
                    <a:p>
                      <a:pPr>
                        <a:lnSpc>
                          <a:spcPct val="107000"/>
                        </a:lnSpc>
                        <a:spcAft>
                          <a:spcPts val="800"/>
                        </a:spcAft>
                        <a:buNone/>
                      </a:pPr>
                      <a:r>
                        <a:rPr lang="pt-BR" sz="2800" kern="100" baseline="30000">
                          <a:effectLst/>
                        </a:rPr>
                        <a:t>B-D</a:t>
                      </a:r>
                      <a:endParaRPr lang="en-IN" sz="28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800" kern="100" baseline="30000">
                          <a:effectLst/>
                        </a:rPr>
                        <a:t>❌ No</a:t>
                      </a:r>
                      <a:endParaRPr lang="en-IN" sz="28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800" kern="100" baseline="30000">
                          <a:effectLst/>
                        </a:rPr>
                        <a:t>✅ Yes</a:t>
                      </a:r>
                      <a:endParaRPr lang="en-IN" sz="28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3625713285"/>
                  </a:ext>
                </a:extLst>
              </a:tr>
              <a:tr h="614458">
                <a:tc>
                  <a:txBody>
                    <a:bodyPr/>
                    <a:lstStyle/>
                    <a:p>
                      <a:pPr>
                        <a:lnSpc>
                          <a:spcPct val="107000"/>
                        </a:lnSpc>
                        <a:spcAft>
                          <a:spcPts val="800"/>
                        </a:spcAft>
                        <a:buNone/>
                      </a:pPr>
                      <a:r>
                        <a:rPr lang="en-IN" sz="2800" kern="100" baseline="30000">
                          <a:effectLst/>
                        </a:rPr>
                        <a:t>C-D</a:t>
                      </a:r>
                      <a:endParaRPr lang="en-IN" sz="28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800" kern="100" baseline="30000">
                          <a:effectLst/>
                        </a:rPr>
                        <a:t>✅ Yes</a:t>
                      </a:r>
                      <a:endParaRPr lang="en-IN" sz="28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800" kern="100" baseline="30000" dirty="0">
                          <a:effectLst/>
                        </a:rPr>
                        <a:t>❌ No</a:t>
                      </a:r>
                      <a:endParaRPr lang="en-IN" sz="28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016334121"/>
                  </a:ext>
                </a:extLst>
              </a:tr>
            </a:tbl>
          </a:graphicData>
        </a:graphic>
      </p:graphicFrame>
    </p:spTree>
    <p:extLst>
      <p:ext uri="{BB962C8B-B14F-4D97-AF65-F5344CB8AC3E}">
        <p14:creationId xmlns:p14="http://schemas.microsoft.com/office/powerpoint/2010/main" val="316024236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7F32DA-5F64-4470-5258-5529D93D3A3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891EF13-68A2-3CCF-BC20-48EA225E1E2C}"/>
              </a:ext>
            </a:extLst>
          </p:cNvPr>
          <p:cNvSpPr>
            <a:spLocks noGrp="1"/>
          </p:cNvSpPr>
          <p:nvPr>
            <p:ph idx="1"/>
          </p:nvPr>
        </p:nvSpPr>
        <p:spPr>
          <a:xfrm>
            <a:off x="702853" y="707571"/>
            <a:ext cx="10900568" cy="5486400"/>
          </a:xfrm>
        </p:spPr>
        <p:txBody>
          <a:bodyPr>
            <a:normAutofit/>
          </a:bodyPr>
          <a:lstStyle/>
          <a:p>
            <a:pPr marL="0" indent="0">
              <a:buNone/>
            </a:pPr>
            <a:r>
              <a:rPr lang="en-US" sz="2800" b="1" dirty="0"/>
              <a:t>Count the pairs:</a:t>
            </a:r>
          </a:p>
          <a:p>
            <a:r>
              <a:rPr lang="en-US" sz="2400" dirty="0"/>
              <a:t>✅ SS = </a:t>
            </a:r>
            <a:r>
              <a:rPr lang="en-US" sz="2400" b="1" dirty="0">
                <a:solidFill>
                  <a:schemeClr val="tx2">
                    <a:lumMod val="75000"/>
                    <a:lumOff val="25000"/>
                  </a:schemeClr>
                </a:solidFill>
              </a:rPr>
              <a:t>Same in both </a:t>
            </a:r>
            <a:r>
              <a:rPr lang="en-US" sz="2400" dirty="0"/>
              <a:t>→ 0 pairs</a:t>
            </a:r>
          </a:p>
          <a:p>
            <a:r>
              <a:rPr lang="en-US" sz="2400" dirty="0"/>
              <a:t>✅ DD = </a:t>
            </a:r>
            <a:r>
              <a:rPr lang="en-US" sz="2400" b="1" dirty="0">
                <a:solidFill>
                  <a:schemeClr val="tx2">
                    <a:lumMod val="75000"/>
                    <a:lumOff val="25000"/>
                  </a:schemeClr>
                </a:solidFill>
              </a:rPr>
              <a:t>Different in both </a:t>
            </a:r>
            <a:r>
              <a:rPr lang="en-US" sz="2400" dirty="0"/>
              <a:t>→ 2 pairs (A-D, B-C)</a:t>
            </a:r>
          </a:p>
          <a:p>
            <a:r>
              <a:rPr lang="en-US" sz="2400" dirty="0"/>
              <a:t>❌ SD / DS = </a:t>
            </a:r>
            <a:r>
              <a:rPr lang="en-US" sz="2400" b="1" dirty="0">
                <a:solidFill>
                  <a:schemeClr val="tx2">
                    <a:lumMod val="75000"/>
                    <a:lumOff val="25000"/>
                  </a:schemeClr>
                </a:solidFill>
              </a:rPr>
              <a:t>Mismatches</a:t>
            </a:r>
            <a:r>
              <a:rPr lang="en-US" sz="2400" dirty="0"/>
              <a:t> → 4 pairs</a:t>
            </a:r>
          </a:p>
          <a:p>
            <a:pPr marL="0" indent="0">
              <a:buNone/>
            </a:pPr>
            <a:endParaRPr lang="en-US" sz="2400" dirty="0"/>
          </a:p>
          <a:p>
            <a:pPr marL="0" indent="0">
              <a:buNone/>
            </a:pPr>
            <a:r>
              <a:rPr lang="en-US" sz="2400" dirty="0"/>
              <a:t>So, only </a:t>
            </a:r>
            <a:r>
              <a:rPr lang="en-US" sz="2400" b="1" dirty="0">
                <a:solidFill>
                  <a:schemeClr val="tx2">
                    <a:lumMod val="75000"/>
                    <a:lumOff val="25000"/>
                  </a:schemeClr>
                </a:solidFill>
              </a:rPr>
              <a:t>2 out of 6 pairs match </a:t>
            </a:r>
            <a:r>
              <a:rPr lang="en-US" sz="2400" dirty="0"/>
              <a:t>the real grouping.</a:t>
            </a:r>
          </a:p>
          <a:p>
            <a:pPr marL="0" indent="0">
              <a:buNone/>
            </a:pPr>
            <a:endParaRPr lang="en-IN" sz="2800" dirty="0"/>
          </a:p>
        </p:txBody>
      </p:sp>
    </p:spTree>
    <p:extLst>
      <p:ext uri="{BB962C8B-B14F-4D97-AF65-F5344CB8AC3E}">
        <p14:creationId xmlns:p14="http://schemas.microsoft.com/office/powerpoint/2010/main" val="202487719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AB1CB-F264-986D-3298-81ED19D478D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1B63299-E217-09B1-36D8-ECD552F46EC4}"/>
              </a:ext>
            </a:extLst>
          </p:cNvPr>
          <p:cNvSpPr>
            <a:spLocks noGrp="1"/>
          </p:cNvSpPr>
          <p:nvPr>
            <p:ph idx="1"/>
          </p:nvPr>
        </p:nvSpPr>
        <p:spPr>
          <a:xfrm>
            <a:off x="702853" y="707571"/>
            <a:ext cx="10900568" cy="5486400"/>
          </a:xfrm>
        </p:spPr>
        <p:txBody>
          <a:bodyPr>
            <a:normAutofit/>
          </a:bodyPr>
          <a:lstStyle/>
          <a:p>
            <a:pPr marL="0" indent="0">
              <a:buNone/>
            </a:pPr>
            <a:r>
              <a:rPr lang="en-US" sz="2400" b="1" dirty="0"/>
              <a:t>Apply ARI Formula (Simplified)</a:t>
            </a:r>
          </a:p>
          <a:p>
            <a:r>
              <a:rPr lang="en-US" sz="2400" dirty="0"/>
              <a:t>The </a:t>
            </a:r>
            <a:r>
              <a:rPr lang="en-US" sz="2400" b="1" dirty="0">
                <a:solidFill>
                  <a:schemeClr val="tx2">
                    <a:lumMod val="75000"/>
                    <a:lumOff val="25000"/>
                  </a:schemeClr>
                </a:solidFill>
              </a:rPr>
              <a:t>ARI</a:t>
            </a:r>
            <a:r>
              <a:rPr lang="en-US" sz="2400" dirty="0"/>
              <a:t> formula is:</a:t>
            </a:r>
          </a:p>
          <a:p>
            <a:endParaRPr lang="en-US" sz="2400" dirty="0"/>
          </a:p>
          <a:p>
            <a:endParaRPr lang="en-US" sz="2400" dirty="0"/>
          </a:p>
          <a:p>
            <a:endParaRPr lang="en-US" sz="2400" dirty="0"/>
          </a:p>
          <a:p>
            <a:endParaRPr lang="en-US" sz="2400" dirty="0"/>
          </a:p>
          <a:p>
            <a:r>
              <a:rPr lang="en-US" sz="2400" dirty="0"/>
              <a:t>In basic cases, you can think of it as:</a:t>
            </a:r>
          </a:p>
          <a:p>
            <a:endParaRPr lang="en-US" sz="2200" dirty="0"/>
          </a:p>
          <a:p>
            <a:pPr marL="0" indent="0">
              <a:buNone/>
            </a:pPr>
            <a:endParaRPr lang="en-IN" sz="2800" dirty="0"/>
          </a:p>
        </p:txBody>
      </p:sp>
      <p:pic>
        <p:nvPicPr>
          <p:cNvPr id="4" name="Picture 3">
            <a:extLst>
              <a:ext uri="{FF2B5EF4-FFF2-40B4-BE49-F238E27FC236}">
                <a16:creationId xmlns:a16="http://schemas.microsoft.com/office/drawing/2014/main" id="{564FB859-DA37-6987-60F8-98785C0A4D3B}"/>
              </a:ext>
            </a:extLst>
          </p:cNvPr>
          <p:cNvPicPr>
            <a:picLocks noChangeAspect="1"/>
          </p:cNvPicPr>
          <p:nvPr/>
        </p:nvPicPr>
        <p:blipFill>
          <a:blip r:embed="rId2"/>
          <a:stretch>
            <a:fillRect/>
          </a:stretch>
        </p:blipFill>
        <p:spPr>
          <a:xfrm>
            <a:off x="2184438" y="1728200"/>
            <a:ext cx="6872477" cy="1297949"/>
          </a:xfrm>
          <a:prstGeom prst="rect">
            <a:avLst/>
          </a:prstGeom>
        </p:spPr>
      </p:pic>
      <p:pic>
        <p:nvPicPr>
          <p:cNvPr id="6" name="Picture 5">
            <a:extLst>
              <a:ext uri="{FF2B5EF4-FFF2-40B4-BE49-F238E27FC236}">
                <a16:creationId xmlns:a16="http://schemas.microsoft.com/office/drawing/2014/main" id="{C5210F56-167A-081E-3A36-B2F04CD0EC98}"/>
              </a:ext>
            </a:extLst>
          </p:cNvPr>
          <p:cNvPicPr>
            <a:picLocks noChangeAspect="1"/>
          </p:cNvPicPr>
          <p:nvPr/>
        </p:nvPicPr>
        <p:blipFill>
          <a:blip r:embed="rId3"/>
          <a:stretch>
            <a:fillRect/>
          </a:stretch>
        </p:blipFill>
        <p:spPr>
          <a:xfrm>
            <a:off x="1405518" y="4166600"/>
            <a:ext cx="9495238" cy="1485714"/>
          </a:xfrm>
          <a:prstGeom prst="rect">
            <a:avLst/>
          </a:prstGeom>
        </p:spPr>
      </p:pic>
    </p:spTree>
    <p:extLst>
      <p:ext uri="{BB962C8B-B14F-4D97-AF65-F5344CB8AC3E}">
        <p14:creationId xmlns:p14="http://schemas.microsoft.com/office/powerpoint/2010/main" val="303813222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1F798-B717-967F-17ED-13FB4F5EF59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797D6F2-7386-CE7E-BA8A-D12D23A658B8}"/>
              </a:ext>
            </a:extLst>
          </p:cNvPr>
          <p:cNvSpPr>
            <a:spLocks noGrp="1"/>
          </p:cNvSpPr>
          <p:nvPr>
            <p:ph idx="1"/>
          </p:nvPr>
        </p:nvSpPr>
        <p:spPr>
          <a:xfrm>
            <a:off x="702853" y="707571"/>
            <a:ext cx="10900568" cy="5486400"/>
          </a:xfrm>
        </p:spPr>
        <p:txBody>
          <a:bodyPr>
            <a:normAutofit fontScale="92500" lnSpcReduction="10000"/>
          </a:bodyPr>
          <a:lstStyle/>
          <a:p>
            <a:pPr marL="0" indent="0">
              <a:buNone/>
            </a:pPr>
            <a:r>
              <a:rPr lang="en-US" sz="2400" b="1" dirty="0"/>
              <a:t>Let’s say:</a:t>
            </a:r>
          </a:p>
          <a:p>
            <a:r>
              <a:rPr lang="en-US" sz="2400" b="1" dirty="0">
                <a:solidFill>
                  <a:schemeClr val="tx2">
                    <a:lumMod val="75000"/>
                    <a:lumOff val="25000"/>
                  </a:schemeClr>
                </a:solidFill>
              </a:rPr>
              <a:t>Agreements</a:t>
            </a:r>
            <a:r>
              <a:rPr lang="en-US" sz="2400" dirty="0"/>
              <a:t> = 2  (</a:t>
            </a:r>
            <a:r>
              <a:rPr lang="en-US" dirty="0"/>
              <a:t>The clustering algorithm and the true labels both agreed that the pair was either in the same group, or in different groups)</a:t>
            </a:r>
          </a:p>
          <a:p>
            <a:r>
              <a:rPr lang="en-US" sz="2400" b="1" dirty="0">
                <a:solidFill>
                  <a:schemeClr val="tx2">
                    <a:lumMod val="75000"/>
                    <a:lumOff val="25000"/>
                  </a:schemeClr>
                </a:solidFill>
              </a:rPr>
              <a:t>Expected</a:t>
            </a:r>
            <a:r>
              <a:rPr lang="en-US" sz="2400" dirty="0"/>
              <a:t> = 1.8 (</a:t>
            </a:r>
            <a:r>
              <a:rPr lang="en-US" dirty="0"/>
              <a:t>the number of agreements we’d expect by random chance </a:t>
            </a:r>
            <a:r>
              <a:rPr lang="en-US" sz="2400" dirty="0"/>
              <a:t>it’s close to the 2 actual agreements we got)</a:t>
            </a:r>
          </a:p>
          <a:p>
            <a:r>
              <a:rPr lang="en-US" sz="2400" dirty="0"/>
              <a:t>Total pairs = 6</a:t>
            </a:r>
          </a:p>
          <a:p>
            <a:pPr marL="0" indent="0">
              <a:buNone/>
            </a:pPr>
            <a:r>
              <a:rPr lang="en-US" sz="2400" b="1" dirty="0"/>
              <a:t>Then:</a:t>
            </a:r>
          </a:p>
          <a:p>
            <a:pPr marL="0" indent="0">
              <a:buNone/>
            </a:pPr>
            <a:endParaRPr lang="en-US" sz="2400" b="1" dirty="0"/>
          </a:p>
          <a:p>
            <a:pPr marL="0" indent="0">
              <a:buNone/>
            </a:pPr>
            <a:endParaRPr lang="en-US" sz="2400" b="1" dirty="0"/>
          </a:p>
          <a:p>
            <a:pPr marL="0" indent="0">
              <a:buNone/>
            </a:pPr>
            <a:endParaRPr lang="en-US" sz="2400" b="1" dirty="0"/>
          </a:p>
          <a:p>
            <a:pPr marL="0" indent="0">
              <a:buNone/>
            </a:pPr>
            <a:r>
              <a:rPr lang="en-US" b="1" dirty="0"/>
              <a:t>Final Interpretation:</a:t>
            </a:r>
          </a:p>
          <a:p>
            <a:r>
              <a:rPr lang="en-US" dirty="0"/>
              <a:t>ARI ≈ </a:t>
            </a:r>
            <a:r>
              <a:rPr lang="en-US" b="1" dirty="0">
                <a:solidFill>
                  <a:schemeClr val="tx2">
                    <a:lumMod val="75000"/>
                    <a:lumOff val="25000"/>
                  </a:schemeClr>
                </a:solidFill>
              </a:rPr>
              <a:t>0.047 </a:t>
            </a:r>
            <a:r>
              <a:rPr lang="en-US" dirty="0"/>
              <a:t>→ Very close to 0</a:t>
            </a:r>
          </a:p>
          <a:p>
            <a:r>
              <a:rPr lang="en-US" dirty="0"/>
              <a:t>This means the clustering is almost </a:t>
            </a:r>
            <a:r>
              <a:rPr lang="en-US" b="1" dirty="0">
                <a:solidFill>
                  <a:schemeClr val="tx2">
                    <a:lumMod val="75000"/>
                    <a:lumOff val="25000"/>
                  </a:schemeClr>
                </a:solidFill>
              </a:rPr>
              <a:t>random</a:t>
            </a:r>
            <a:r>
              <a:rPr lang="en-US" dirty="0"/>
              <a:t> ❌</a:t>
            </a:r>
          </a:p>
          <a:p>
            <a:r>
              <a:rPr lang="en-US" dirty="0"/>
              <a:t>If ARI was near 1, it would be perfect </a:t>
            </a:r>
            <a:endParaRPr lang="en-US" sz="2400" b="1" dirty="0"/>
          </a:p>
          <a:p>
            <a:pPr marL="0" indent="0">
              <a:buNone/>
            </a:pPr>
            <a:endParaRPr lang="en-IN" sz="2400" dirty="0"/>
          </a:p>
        </p:txBody>
      </p:sp>
      <p:pic>
        <p:nvPicPr>
          <p:cNvPr id="4" name="Picture 3">
            <a:extLst>
              <a:ext uri="{FF2B5EF4-FFF2-40B4-BE49-F238E27FC236}">
                <a16:creationId xmlns:a16="http://schemas.microsoft.com/office/drawing/2014/main" id="{509EE46B-7F94-C090-7E77-7BADAFEFF15C}"/>
              </a:ext>
            </a:extLst>
          </p:cNvPr>
          <p:cNvPicPr>
            <a:picLocks noChangeAspect="1"/>
          </p:cNvPicPr>
          <p:nvPr/>
        </p:nvPicPr>
        <p:blipFill>
          <a:blip r:embed="rId2"/>
          <a:srcRect t="15593"/>
          <a:stretch>
            <a:fillRect/>
          </a:stretch>
        </p:blipFill>
        <p:spPr>
          <a:xfrm>
            <a:off x="3179857" y="2481943"/>
            <a:ext cx="5832286" cy="1380366"/>
          </a:xfrm>
          <a:prstGeom prst="rect">
            <a:avLst/>
          </a:prstGeom>
        </p:spPr>
      </p:pic>
    </p:spTree>
    <p:extLst>
      <p:ext uri="{BB962C8B-B14F-4D97-AF65-F5344CB8AC3E}">
        <p14:creationId xmlns:p14="http://schemas.microsoft.com/office/powerpoint/2010/main" val="156442578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A7F37-AADC-0B1A-5080-691DCE6AA48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4FAB684-9594-9344-F277-9CFB4B5DF2C1}"/>
              </a:ext>
            </a:extLst>
          </p:cNvPr>
          <p:cNvSpPr>
            <a:spLocks noGrp="1"/>
          </p:cNvSpPr>
          <p:nvPr>
            <p:ph idx="1"/>
          </p:nvPr>
        </p:nvSpPr>
        <p:spPr>
          <a:xfrm>
            <a:off x="702853" y="707571"/>
            <a:ext cx="10900568" cy="5486400"/>
          </a:xfrm>
        </p:spPr>
        <p:txBody>
          <a:bodyPr>
            <a:normAutofit/>
          </a:bodyPr>
          <a:lstStyle/>
          <a:p>
            <a:pPr marL="0" indent="0">
              <a:buNone/>
            </a:pPr>
            <a:r>
              <a:rPr lang="en-US" sz="2400" b="1" dirty="0"/>
              <a:t>Dimensionality Reduction:</a:t>
            </a:r>
          </a:p>
          <a:p>
            <a:pPr marL="0" indent="0">
              <a:buNone/>
            </a:pPr>
            <a:r>
              <a:rPr lang="en-IN" sz="2400" dirty="0"/>
              <a:t>Dimensionality reduction transforms a </a:t>
            </a:r>
            <a:r>
              <a:rPr lang="en-IN" sz="2400" b="1" dirty="0">
                <a:solidFill>
                  <a:srgbClr val="C00000"/>
                </a:solidFill>
              </a:rPr>
              <a:t>high‑dimensional dataset </a:t>
            </a:r>
            <a:r>
              <a:rPr lang="en-IN" sz="2400" dirty="0" err="1"/>
              <a:t>X∈Rn×d</a:t>
            </a:r>
            <a:r>
              <a:rPr lang="en-IN" sz="2400" dirty="0"/>
              <a:t> into a new representation </a:t>
            </a:r>
            <a:r>
              <a:rPr lang="en-IN" sz="2400" dirty="0" err="1"/>
              <a:t>Z∈Rn×k</a:t>
            </a:r>
            <a:r>
              <a:rPr lang="en-IN" sz="2400" dirty="0"/>
              <a:t> where </a:t>
            </a:r>
            <a:r>
              <a:rPr lang="en-IN" sz="2400" b="1" dirty="0" err="1"/>
              <a:t>k≪d</a:t>
            </a:r>
            <a:r>
              <a:rPr lang="en-IN" sz="2400" dirty="0"/>
              <a:t>, while preserving as much of the “</a:t>
            </a:r>
            <a:r>
              <a:rPr lang="en-IN" sz="2400" b="1" dirty="0"/>
              <a:t>essential structure</a:t>
            </a:r>
            <a:r>
              <a:rPr lang="en-IN" sz="2400" dirty="0"/>
              <a:t>” as possible.</a:t>
            </a:r>
            <a:br>
              <a:rPr lang="en-IN" sz="2400" dirty="0"/>
            </a:br>
            <a:r>
              <a:rPr lang="en-IN" sz="2400" dirty="0"/>
              <a:t>Because no target labels are required, it is classed as an </a:t>
            </a:r>
            <a:r>
              <a:rPr lang="en-IN" sz="2400" b="1" dirty="0"/>
              <a:t>unsupervised</a:t>
            </a:r>
            <a:r>
              <a:rPr lang="en-IN" sz="2400" dirty="0"/>
              <a:t> learning task.</a:t>
            </a:r>
          </a:p>
          <a:p>
            <a:pPr marL="0" indent="0">
              <a:buNone/>
            </a:pPr>
            <a:endParaRPr lang="en-IN" sz="2400" dirty="0"/>
          </a:p>
        </p:txBody>
      </p:sp>
    </p:spTree>
    <p:extLst>
      <p:ext uri="{BB962C8B-B14F-4D97-AF65-F5344CB8AC3E}">
        <p14:creationId xmlns:p14="http://schemas.microsoft.com/office/powerpoint/2010/main" val="97167448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6CF8B5F-D865-BA9C-802B-F2C4F705DEB7}"/>
              </a:ext>
            </a:extLst>
          </p:cNvPr>
          <p:cNvSpPr txBox="1"/>
          <p:nvPr/>
        </p:nvSpPr>
        <p:spPr>
          <a:xfrm>
            <a:off x="608557" y="951398"/>
            <a:ext cx="11223288" cy="4955203"/>
          </a:xfrm>
          <a:prstGeom prst="rect">
            <a:avLst/>
          </a:prstGeom>
          <a:noFill/>
        </p:spPr>
        <p:txBody>
          <a:bodyPr wrap="square">
            <a:spAutoFit/>
          </a:bodyPr>
          <a:lstStyle/>
          <a:p>
            <a:r>
              <a:rPr lang="en-US" sz="2800" b="1" dirty="0"/>
              <a:t>2.</a:t>
            </a:r>
            <a:r>
              <a:rPr lang="en-US" sz="2800" dirty="0"/>
              <a:t> </a:t>
            </a:r>
            <a:r>
              <a:rPr lang="en-US" sz="2800" b="1" dirty="0"/>
              <a:t>Dimensionality Reduction:</a:t>
            </a:r>
          </a:p>
          <a:p>
            <a:r>
              <a:rPr lang="en-US" sz="2400" b="0" i="0" dirty="0">
                <a:solidFill>
                  <a:srgbClr val="374151"/>
                </a:solidFill>
                <a:effectLst/>
                <a:latin typeface="Söhne"/>
              </a:rPr>
              <a:t>	Dimensionality reduction is a technique used in unsupervised machine learning </a:t>
            </a:r>
            <a:r>
              <a:rPr lang="en-US" sz="2400" b="1" i="0" dirty="0">
                <a:solidFill>
                  <a:srgbClr val="374151"/>
                </a:solidFill>
                <a:effectLst/>
                <a:latin typeface="Söhne"/>
              </a:rPr>
              <a:t>to </a:t>
            </a:r>
            <a:r>
              <a:rPr lang="en-US" sz="2400" b="1" i="0" dirty="0">
                <a:solidFill>
                  <a:srgbClr val="C00000"/>
                </a:solidFill>
                <a:effectLst/>
                <a:latin typeface="Söhne"/>
              </a:rPr>
              <a:t>reduce the number of input features </a:t>
            </a:r>
            <a:r>
              <a:rPr lang="en-US" sz="2400" b="1" i="0" dirty="0">
                <a:solidFill>
                  <a:srgbClr val="374151"/>
                </a:solidFill>
                <a:effectLst/>
                <a:latin typeface="Söhne"/>
              </a:rPr>
              <a:t>or </a:t>
            </a:r>
            <a:r>
              <a:rPr lang="en-US" sz="2400" b="1" i="0" dirty="0">
                <a:solidFill>
                  <a:srgbClr val="C00000"/>
                </a:solidFill>
                <a:effectLst/>
                <a:latin typeface="Söhne"/>
              </a:rPr>
              <a:t>variables</a:t>
            </a:r>
            <a:r>
              <a:rPr lang="en-US" sz="2400" b="1" i="0" dirty="0">
                <a:solidFill>
                  <a:srgbClr val="374151"/>
                </a:solidFill>
                <a:effectLst/>
                <a:latin typeface="Söhne"/>
              </a:rPr>
              <a:t> in a dataset while preserving </a:t>
            </a:r>
            <a:r>
              <a:rPr lang="en-US" sz="2400" b="1" i="0" dirty="0">
                <a:solidFill>
                  <a:srgbClr val="273239"/>
                </a:solidFill>
                <a:effectLst/>
                <a:latin typeface="Nunito" pitchFamily="2" charset="0"/>
              </a:rPr>
              <a:t>as much of </a:t>
            </a:r>
            <a:r>
              <a:rPr lang="en-US" sz="2400" b="1" i="0" dirty="0">
                <a:solidFill>
                  <a:srgbClr val="374151"/>
                </a:solidFill>
                <a:effectLst/>
                <a:latin typeface="Söhne"/>
              </a:rPr>
              <a:t>its essential information</a:t>
            </a:r>
            <a:r>
              <a:rPr lang="en-US" sz="2400" b="0" i="0" dirty="0">
                <a:solidFill>
                  <a:srgbClr val="374151"/>
                </a:solidFill>
                <a:effectLst/>
                <a:latin typeface="Söhne"/>
              </a:rPr>
              <a:t>. </a:t>
            </a:r>
          </a:p>
          <a:p>
            <a:pPr marL="342900" indent="-342900">
              <a:buFont typeface="Arial" panose="020B0604020202020204" pitchFamily="34" charset="0"/>
              <a:buChar char="•"/>
            </a:pPr>
            <a:r>
              <a:rPr lang="en-US" sz="2400" b="0" i="0" dirty="0">
                <a:solidFill>
                  <a:srgbClr val="374151"/>
                </a:solidFill>
                <a:effectLst/>
                <a:latin typeface="Söhne"/>
              </a:rPr>
              <a:t>In other words, it is a process of </a:t>
            </a:r>
            <a:r>
              <a:rPr lang="en-US" sz="2400" b="1" i="0" dirty="0">
                <a:solidFill>
                  <a:srgbClr val="0070C0"/>
                </a:solidFill>
                <a:effectLst/>
                <a:latin typeface="Söhne"/>
              </a:rPr>
              <a:t>transforming high-dimensional data into a lower-dimensional space</a:t>
            </a:r>
            <a:r>
              <a:rPr lang="en-US" sz="2400" b="1" i="0" dirty="0">
                <a:solidFill>
                  <a:srgbClr val="374151"/>
                </a:solidFill>
                <a:effectLst/>
                <a:latin typeface="Söhne"/>
              </a:rPr>
              <a:t> </a:t>
            </a:r>
            <a:r>
              <a:rPr lang="en-US" sz="2400" b="0" i="0" dirty="0">
                <a:solidFill>
                  <a:srgbClr val="374151"/>
                </a:solidFill>
                <a:effectLst/>
                <a:latin typeface="Söhne"/>
              </a:rPr>
              <a:t>that still preserves the essence of the original data. </a:t>
            </a:r>
          </a:p>
          <a:p>
            <a:pPr marL="342900" indent="-342900">
              <a:buFont typeface="Arial" panose="020B0604020202020204" pitchFamily="34" charset="0"/>
              <a:buChar char="•"/>
            </a:pPr>
            <a:r>
              <a:rPr lang="en-US" sz="2400" b="0" i="0" dirty="0">
                <a:solidFill>
                  <a:srgbClr val="374151"/>
                </a:solidFill>
                <a:effectLst/>
                <a:latin typeface="Söhne"/>
              </a:rPr>
              <a:t>The primary goal is to overcome the </a:t>
            </a:r>
            <a:r>
              <a:rPr lang="en-US" sz="2400" b="1" i="0" dirty="0">
                <a:solidFill>
                  <a:srgbClr val="C00000"/>
                </a:solidFill>
                <a:effectLst/>
                <a:latin typeface="Söhne"/>
              </a:rPr>
              <a:t>curse of dimensionality</a:t>
            </a:r>
            <a:r>
              <a:rPr lang="en-US" sz="2400" b="0" i="0" dirty="0">
                <a:solidFill>
                  <a:srgbClr val="374151"/>
                </a:solidFill>
                <a:effectLst/>
                <a:latin typeface="Söhne"/>
              </a:rPr>
              <a:t>, improve computational efficiency, and sometimes enhance the interpretability of the data. </a:t>
            </a:r>
          </a:p>
          <a:p>
            <a:pPr marL="342900" indent="-342900">
              <a:buFont typeface="Arial" panose="020B0604020202020204" pitchFamily="34" charset="0"/>
              <a:buChar char="•"/>
            </a:pPr>
            <a:r>
              <a:rPr lang="en-US" sz="2400" b="0" i="0" dirty="0">
                <a:solidFill>
                  <a:srgbClr val="374151"/>
                </a:solidFill>
                <a:effectLst/>
                <a:latin typeface="Söhne"/>
              </a:rPr>
              <a:t>Two common </a:t>
            </a:r>
            <a:r>
              <a:rPr lang="en-US" sz="2400" b="1" i="0" dirty="0">
                <a:solidFill>
                  <a:srgbClr val="374151"/>
                </a:solidFill>
                <a:effectLst/>
                <a:latin typeface="Söhne"/>
              </a:rPr>
              <a:t>methods for dimensionality </a:t>
            </a:r>
            <a:r>
              <a:rPr lang="en-US" sz="2400" b="0" i="0" dirty="0">
                <a:solidFill>
                  <a:srgbClr val="374151"/>
                </a:solidFill>
                <a:effectLst/>
                <a:latin typeface="Söhne"/>
              </a:rPr>
              <a:t>reduction are </a:t>
            </a:r>
          </a:p>
          <a:p>
            <a:pPr marL="914400" lvl="1" indent="-457200">
              <a:buFont typeface="+mj-lt"/>
              <a:buAutoNum type="arabicPeriod"/>
            </a:pPr>
            <a:r>
              <a:rPr lang="en-US" sz="2400" b="1" i="0" dirty="0">
                <a:solidFill>
                  <a:srgbClr val="374151"/>
                </a:solidFill>
                <a:effectLst/>
                <a:latin typeface="Söhne"/>
              </a:rPr>
              <a:t>Principal Component Analysis (PCA) and </a:t>
            </a:r>
          </a:p>
          <a:p>
            <a:pPr marL="914400" lvl="1" indent="-457200">
              <a:buFont typeface="+mj-lt"/>
              <a:buAutoNum type="arabicPeriod"/>
            </a:pPr>
            <a:r>
              <a:rPr lang="en-US" sz="2400" b="1" i="0" dirty="0">
                <a:solidFill>
                  <a:srgbClr val="374151"/>
                </a:solidFill>
                <a:effectLst/>
                <a:latin typeface="Söhne"/>
              </a:rPr>
              <a:t>t-Distributed Stochastic Neighbor Embedding (t-SNE).</a:t>
            </a:r>
          </a:p>
          <a:p>
            <a:endParaRPr lang="en-US" sz="2400" b="1" dirty="0">
              <a:solidFill>
                <a:srgbClr val="374151"/>
              </a:solidFill>
              <a:latin typeface="Söhne"/>
            </a:endParaRPr>
          </a:p>
          <a:p>
            <a:pPr algn="l"/>
            <a:r>
              <a:rPr lang="en-US" sz="2400" b="0" i="0" dirty="0">
                <a:solidFill>
                  <a:srgbClr val="05192D"/>
                </a:solidFill>
                <a:effectLst/>
                <a:latin typeface="Studio-Feixen-Sans"/>
              </a:rPr>
              <a:t>	</a:t>
            </a:r>
            <a:endParaRPr lang="en-US" sz="2400" dirty="0"/>
          </a:p>
        </p:txBody>
      </p:sp>
    </p:spTree>
    <p:extLst>
      <p:ext uri="{BB962C8B-B14F-4D97-AF65-F5344CB8AC3E}">
        <p14:creationId xmlns:p14="http://schemas.microsoft.com/office/powerpoint/2010/main" val="109198089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562071-CECF-69D3-C9FA-20665920424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2A95F8D-4110-D599-3870-8A0A07F9A7AD}"/>
              </a:ext>
            </a:extLst>
          </p:cNvPr>
          <p:cNvSpPr>
            <a:spLocks noGrp="1"/>
          </p:cNvSpPr>
          <p:nvPr>
            <p:ph idx="1"/>
          </p:nvPr>
        </p:nvSpPr>
        <p:spPr>
          <a:xfrm>
            <a:off x="702853" y="391886"/>
            <a:ext cx="10900568" cy="6095999"/>
          </a:xfrm>
        </p:spPr>
        <p:txBody>
          <a:bodyPr>
            <a:normAutofit fontScale="92500" lnSpcReduction="10000"/>
          </a:bodyPr>
          <a:lstStyle/>
          <a:p>
            <a:pPr marL="0" indent="0">
              <a:buNone/>
            </a:pPr>
            <a:r>
              <a:rPr lang="en-US" sz="2800" b="1" dirty="0">
                <a:solidFill>
                  <a:srgbClr val="374151"/>
                </a:solidFill>
                <a:latin typeface="Söhne"/>
              </a:rPr>
              <a:t>Curse of dimensionality:</a:t>
            </a:r>
          </a:p>
          <a:p>
            <a:r>
              <a:rPr lang="en-US" sz="2400" dirty="0">
                <a:solidFill>
                  <a:srgbClr val="374151"/>
                </a:solidFill>
                <a:latin typeface="Söhne"/>
              </a:rPr>
              <a:t>In machine learning, high-dimensional data refers to </a:t>
            </a:r>
            <a:r>
              <a:rPr lang="en-US" sz="2400" b="1" dirty="0">
                <a:solidFill>
                  <a:srgbClr val="374151"/>
                </a:solidFill>
                <a:latin typeface="Söhne"/>
              </a:rPr>
              <a:t>data with a large number of features </a:t>
            </a:r>
            <a:r>
              <a:rPr lang="en-US" sz="2400" dirty="0">
                <a:solidFill>
                  <a:srgbClr val="374151"/>
                </a:solidFill>
                <a:latin typeface="Söhne"/>
              </a:rPr>
              <a:t>or </a:t>
            </a:r>
            <a:r>
              <a:rPr lang="en-US" sz="2400" b="1" dirty="0">
                <a:solidFill>
                  <a:srgbClr val="374151"/>
                </a:solidFill>
                <a:latin typeface="Söhne"/>
              </a:rPr>
              <a:t>variables</a:t>
            </a:r>
            <a:r>
              <a:rPr lang="en-US" sz="2400" dirty="0">
                <a:solidFill>
                  <a:srgbClr val="374151"/>
                </a:solidFill>
                <a:latin typeface="Söhne"/>
              </a:rPr>
              <a:t>. The curse of dimensionality is a common problem in machine learning, where the </a:t>
            </a:r>
            <a:r>
              <a:rPr lang="en-US" sz="2400" b="1" dirty="0">
                <a:solidFill>
                  <a:srgbClr val="C00000"/>
                </a:solidFill>
                <a:latin typeface="Söhne"/>
              </a:rPr>
              <a:t>performance of the model deteriorates</a:t>
            </a:r>
            <a:r>
              <a:rPr lang="en-US" sz="2400" b="1" dirty="0">
                <a:solidFill>
                  <a:srgbClr val="374151"/>
                </a:solidFill>
                <a:latin typeface="Söhne"/>
              </a:rPr>
              <a:t> </a:t>
            </a:r>
            <a:r>
              <a:rPr lang="en-US" sz="2400" dirty="0">
                <a:solidFill>
                  <a:srgbClr val="374151"/>
                </a:solidFill>
                <a:latin typeface="Söhne"/>
              </a:rPr>
              <a:t>or </a:t>
            </a:r>
            <a:r>
              <a:rPr lang="en-US" sz="2400" b="1" dirty="0">
                <a:solidFill>
                  <a:srgbClr val="C00000"/>
                </a:solidFill>
                <a:latin typeface="Söhne"/>
              </a:rPr>
              <a:t>drops</a:t>
            </a:r>
            <a:r>
              <a:rPr lang="en-US" sz="2400" dirty="0">
                <a:solidFill>
                  <a:srgbClr val="374151"/>
                </a:solidFill>
                <a:latin typeface="Söhne"/>
              </a:rPr>
              <a:t> as the number of features increases. </a:t>
            </a:r>
          </a:p>
          <a:p>
            <a:r>
              <a:rPr lang="en-US" sz="2400" dirty="0">
                <a:solidFill>
                  <a:srgbClr val="374151"/>
                </a:solidFill>
                <a:latin typeface="Söhne"/>
              </a:rPr>
              <a:t>This is because the </a:t>
            </a:r>
            <a:r>
              <a:rPr lang="en-US" sz="2400" b="1" dirty="0">
                <a:solidFill>
                  <a:srgbClr val="0070C0"/>
                </a:solidFill>
                <a:latin typeface="Söhne"/>
              </a:rPr>
              <a:t>complexity of the model increases </a:t>
            </a:r>
            <a:r>
              <a:rPr lang="en-US" sz="2400" dirty="0">
                <a:solidFill>
                  <a:srgbClr val="374151"/>
                </a:solidFill>
                <a:latin typeface="Söhne"/>
              </a:rPr>
              <a:t>with the number of features, and it becomes more </a:t>
            </a:r>
            <a:r>
              <a:rPr lang="en-US" sz="2400" b="1" dirty="0">
                <a:solidFill>
                  <a:srgbClr val="374151"/>
                </a:solidFill>
                <a:latin typeface="Söhne"/>
              </a:rPr>
              <a:t>difficult to find a good solution</a:t>
            </a:r>
            <a:r>
              <a:rPr lang="en-US" sz="2400" dirty="0">
                <a:solidFill>
                  <a:srgbClr val="374151"/>
                </a:solidFill>
                <a:latin typeface="Söhne"/>
              </a:rPr>
              <a:t>. In addition, high-dimensional data can also lead to </a:t>
            </a:r>
            <a:r>
              <a:rPr lang="en-US" sz="2400" b="1" dirty="0">
                <a:solidFill>
                  <a:srgbClr val="C00000"/>
                </a:solidFill>
                <a:latin typeface="Söhne"/>
              </a:rPr>
              <a:t>overfitting</a:t>
            </a:r>
            <a:r>
              <a:rPr lang="en-US" sz="2400" dirty="0">
                <a:solidFill>
                  <a:srgbClr val="374151"/>
                </a:solidFill>
                <a:latin typeface="Söhne"/>
              </a:rPr>
              <a:t>, where the </a:t>
            </a:r>
            <a:r>
              <a:rPr lang="en-US" sz="2400" b="1" dirty="0">
                <a:solidFill>
                  <a:srgbClr val="0070C0"/>
                </a:solidFill>
                <a:latin typeface="Söhne"/>
              </a:rPr>
              <a:t>model fits the training data too closely </a:t>
            </a:r>
            <a:r>
              <a:rPr lang="en-US" sz="2400" dirty="0">
                <a:solidFill>
                  <a:srgbClr val="374151"/>
                </a:solidFill>
                <a:latin typeface="Söhne"/>
              </a:rPr>
              <a:t>and does not generalize well to new data.</a:t>
            </a:r>
          </a:p>
          <a:p>
            <a:r>
              <a:rPr lang="en-US" sz="2400" dirty="0">
                <a:solidFill>
                  <a:srgbClr val="05192D"/>
                </a:solidFill>
                <a:latin typeface="Studio-Feixen-Sans"/>
              </a:rPr>
              <a:t>It’s helpful to reduce the dimensionality of a dataset during EDA (</a:t>
            </a:r>
            <a:r>
              <a:rPr lang="en-US" sz="2400" dirty="0">
                <a:solidFill>
                  <a:srgbClr val="0D0D0D"/>
                </a:solidFill>
                <a:latin typeface="Söhne"/>
              </a:rPr>
              <a:t>Exploratory Data Analysis</a:t>
            </a:r>
            <a:r>
              <a:rPr lang="en-US" sz="2400" dirty="0">
                <a:solidFill>
                  <a:srgbClr val="05192D"/>
                </a:solidFill>
                <a:latin typeface="Studio-Feixen-Sans"/>
              </a:rPr>
              <a:t>) to help visualize data: this is </a:t>
            </a:r>
            <a:r>
              <a:rPr lang="en-US" sz="2400" b="1" dirty="0">
                <a:solidFill>
                  <a:srgbClr val="C00000"/>
                </a:solidFill>
                <a:latin typeface="Studio-Feixen-Sans"/>
              </a:rPr>
              <a:t>because visualizing data in more than three dimensions is difficult</a:t>
            </a:r>
            <a:r>
              <a:rPr lang="en-US" sz="2400" dirty="0">
                <a:solidFill>
                  <a:srgbClr val="05192D"/>
                </a:solidFill>
                <a:latin typeface="Studio-Feixen-Sans"/>
              </a:rPr>
              <a:t>. From a data processing perspective, reducing the dimensionality of the data simplifies the modeling problem.</a:t>
            </a:r>
          </a:p>
          <a:p>
            <a:r>
              <a:rPr lang="en-US" sz="2400" dirty="0">
                <a:solidFill>
                  <a:srgbClr val="05192D"/>
                </a:solidFill>
                <a:latin typeface="Studio-Feixen-Sans"/>
              </a:rPr>
              <a:t>When more input features are being fed into the model, the model must learn a more complex approximation function. This phenomenon can be summed up by a saying called the “</a:t>
            </a:r>
            <a:r>
              <a:rPr lang="en-US" sz="2400" b="1" dirty="0">
                <a:solidFill>
                  <a:srgbClr val="05192D"/>
                </a:solidFill>
                <a:latin typeface="Studio-Feixen-Sans"/>
              </a:rPr>
              <a:t>curse of dimensionality</a:t>
            </a:r>
            <a:r>
              <a:rPr lang="en-US" sz="2400" dirty="0">
                <a:solidFill>
                  <a:srgbClr val="05192D"/>
                </a:solidFill>
                <a:latin typeface="Studio-Feixen-Sans"/>
              </a:rPr>
              <a:t>.” </a:t>
            </a:r>
          </a:p>
          <a:p>
            <a:r>
              <a:rPr lang="en-US" sz="2400" dirty="0"/>
              <a:t>Dimensionality reduction can help to </a:t>
            </a:r>
            <a:r>
              <a:rPr lang="en-US" sz="2400" b="1" dirty="0"/>
              <a:t>mitigate these problems </a:t>
            </a:r>
            <a:r>
              <a:rPr lang="en-US" sz="2400" dirty="0"/>
              <a:t>by reducing the complexity of the model and improving its generalization performance. There are two main approaches to dimensionality reduction: </a:t>
            </a:r>
            <a:r>
              <a:rPr lang="en-US" sz="2400" b="1" dirty="0">
                <a:solidFill>
                  <a:srgbClr val="0070C0"/>
                </a:solidFill>
              </a:rPr>
              <a:t>feature selection</a:t>
            </a:r>
            <a:r>
              <a:rPr lang="en-US" sz="2400" b="1" dirty="0"/>
              <a:t> </a:t>
            </a:r>
            <a:r>
              <a:rPr lang="en-US" sz="2400" dirty="0"/>
              <a:t>and </a:t>
            </a:r>
            <a:r>
              <a:rPr lang="en-US" sz="2400" b="1" dirty="0">
                <a:solidFill>
                  <a:srgbClr val="0070C0"/>
                </a:solidFill>
              </a:rPr>
              <a:t>feature</a:t>
            </a:r>
            <a:r>
              <a:rPr lang="en-US" sz="2400" dirty="0"/>
              <a:t> </a:t>
            </a:r>
            <a:r>
              <a:rPr lang="en-US" sz="2400" b="1" dirty="0">
                <a:solidFill>
                  <a:srgbClr val="0070C0"/>
                </a:solidFill>
              </a:rPr>
              <a:t>extraction</a:t>
            </a:r>
            <a:r>
              <a:rPr lang="en-US" sz="2400" dirty="0"/>
              <a:t>.</a:t>
            </a:r>
          </a:p>
        </p:txBody>
      </p:sp>
    </p:spTree>
    <p:extLst>
      <p:ext uri="{BB962C8B-B14F-4D97-AF65-F5344CB8AC3E}">
        <p14:creationId xmlns:p14="http://schemas.microsoft.com/office/powerpoint/2010/main" val="114188545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E3A97CB-78B4-92FB-7593-D4C467B6E373}"/>
              </a:ext>
            </a:extLst>
          </p:cNvPr>
          <p:cNvSpPr txBox="1"/>
          <p:nvPr/>
        </p:nvSpPr>
        <p:spPr>
          <a:xfrm>
            <a:off x="631371" y="489734"/>
            <a:ext cx="11276905" cy="5355312"/>
          </a:xfrm>
          <a:prstGeom prst="rect">
            <a:avLst/>
          </a:prstGeom>
          <a:noFill/>
        </p:spPr>
        <p:txBody>
          <a:bodyPr wrap="square">
            <a:spAutoFit/>
          </a:bodyPr>
          <a:lstStyle/>
          <a:p>
            <a:r>
              <a:rPr lang="en-US" sz="2800" b="1" dirty="0"/>
              <a:t>Feature Engineering:</a:t>
            </a:r>
          </a:p>
          <a:p>
            <a:pPr marL="342900" indent="-342900">
              <a:buAutoNum type="arabicPeriod"/>
            </a:pPr>
            <a:r>
              <a:rPr lang="en-US" sz="2800" b="1" dirty="0"/>
              <a:t>Feature Selection:</a:t>
            </a:r>
          </a:p>
          <a:p>
            <a:r>
              <a:rPr lang="en-US" sz="2400" dirty="0"/>
              <a:t>	Feature selection involves </a:t>
            </a:r>
            <a:r>
              <a:rPr lang="en-US" sz="2400" b="1" dirty="0">
                <a:solidFill>
                  <a:srgbClr val="C00000"/>
                </a:solidFill>
              </a:rPr>
              <a:t>selecting a subset </a:t>
            </a:r>
            <a:r>
              <a:rPr lang="en-US" sz="2400" b="1" dirty="0"/>
              <a:t>of the original features </a:t>
            </a:r>
            <a:r>
              <a:rPr lang="en-US" sz="2400" dirty="0"/>
              <a:t>that are </a:t>
            </a:r>
            <a:r>
              <a:rPr lang="en-US" sz="2400" b="1" dirty="0">
                <a:solidFill>
                  <a:srgbClr val="0070C0"/>
                </a:solidFill>
              </a:rPr>
              <a:t>most relevant </a:t>
            </a:r>
            <a:r>
              <a:rPr lang="en-US" sz="2400" dirty="0"/>
              <a:t>to the problem at hand. The </a:t>
            </a:r>
            <a:r>
              <a:rPr lang="en-US" sz="2400" b="1" dirty="0"/>
              <a:t>goal is to reduce the dimensionality of the dataset while retaining the most important features.</a:t>
            </a:r>
            <a:r>
              <a:rPr lang="en-US" sz="2400" dirty="0"/>
              <a:t> </a:t>
            </a:r>
          </a:p>
          <a:p>
            <a:r>
              <a:rPr lang="en-US" sz="2400" dirty="0"/>
              <a:t>There are several methods for feature selection, including </a:t>
            </a:r>
          </a:p>
          <a:p>
            <a:pPr marL="914400" lvl="1" indent="-457200">
              <a:buFont typeface="+mj-lt"/>
              <a:buAutoNum type="arabicPeriod"/>
            </a:pPr>
            <a:r>
              <a:rPr lang="en-US" sz="2400" b="1" dirty="0">
                <a:solidFill>
                  <a:schemeClr val="tx2">
                    <a:lumMod val="75000"/>
                    <a:lumOff val="25000"/>
                  </a:schemeClr>
                </a:solidFill>
              </a:rPr>
              <a:t>Filter methods</a:t>
            </a:r>
            <a:endParaRPr lang="en-US" sz="2400" dirty="0"/>
          </a:p>
          <a:p>
            <a:pPr marL="914400" lvl="1" indent="-457200">
              <a:buFont typeface="+mj-lt"/>
              <a:buAutoNum type="arabicPeriod"/>
            </a:pPr>
            <a:r>
              <a:rPr lang="en-US" sz="2400" b="1" dirty="0">
                <a:solidFill>
                  <a:schemeClr val="tx2">
                    <a:lumMod val="75000"/>
                    <a:lumOff val="25000"/>
                  </a:schemeClr>
                </a:solidFill>
              </a:rPr>
              <a:t>Wrapper methods</a:t>
            </a:r>
            <a:endParaRPr lang="en-US" sz="2400" dirty="0"/>
          </a:p>
          <a:p>
            <a:pPr marL="914400" lvl="1" indent="-457200">
              <a:buFont typeface="+mj-lt"/>
              <a:buAutoNum type="arabicPeriod"/>
            </a:pPr>
            <a:r>
              <a:rPr lang="en-US" sz="2400" b="1" dirty="0">
                <a:solidFill>
                  <a:schemeClr val="tx2">
                    <a:lumMod val="75000"/>
                    <a:lumOff val="25000"/>
                  </a:schemeClr>
                </a:solidFill>
              </a:rPr>
              <a:t>Embedded methods</a:t>
            </a:r>
            <a:endParaRPr lang="en-US" sz="2400" dirty="0"/>
          </a:p>
          <a:p>
            <a:pPr lvl="1"/>
            <a:endParaRPr lang="en-US" sz="2400" dirty="0"/>
          </a:p>
          <a:p>
            <a:r>
              <a:rPr lang="en-US" sz="2400" dirty="0"/>
              <a:t>	Filter methods rank the features based on their relevance to the target variable, wrapper methods use the model performance as the criteria for selecting features, and embedded methods combine feature selection with the model training process.</a:t>
            </a:r>
          </a:p>
          <a:p>
            <a:endParaRPr lang="en-US" sz="2200" dirty="0"/>
          </a:p>
        </p:txBody>
      </p:sp>
    </p:spTree>
    <p:extLst>
      <p:ext uri="{BB962C8B-B14F-4D97-AF65-F5344CB8AC3E}">
        <p14:creationId xmlns:p14="http://schemas.microsoft.com/office/powerpoint/2010/main" val="239411615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77D591-311A-B7CD-E3B0-CC631B0B757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AE25D29-6B6F-33B7-9FE9-18535FE12C7A}"/>
              </a:ext>
            </a:extLst>
          </p:cNvPr>
          <p:cNvSpPr>
            <a:spLocks noGrp="1"/>
          </p:cNvSpPr>
          <p:nvPr>
            <p:ph idx="1"/>
          </p:nvPr>
        </p:nvSpPr>
        <p:spPr>
          <a:xfrm>
            <a:off x="702853" y="707571"/>
            <a:ext cx="10900568" cy="5486400"/>
          </a:xfrm>
        </p:spPr>
        <p:txBody>
          <a:bodyPr>
            <a:normAutofit/>
          </a:bodyPr>
          <a:lstStyle/>
          <a:p>
            <a:pPr marL="0" indent="0">
              <a:buNone/>
            </a:pPr>
            <a:r>
              <a:rPr lang="en-US" sz="2800" b="1" dirty="0"/>
              <a:t>2. Feature Extraction:</a:t>
            </a:r>
          </a:p>
          <a:p>
            <a:pPr marL="0" indent="0">
              <a:buNone/>
            </a:pPr>
            <a:r>
              <a:rPr lang="en-US" sz="2800" dirty="0"/>
              <a:t>	</a:t>
            </a:r>
            <a:r>
              <a:rPr lang="en-US" sz="2400" dirty="0"/>
              <a:t>Feature extraction involves </a:t>
            </a:r>
            <a:r>
              <a:rPr lang="en-US" sz="2400" b="1" dirty="0">
                <a:solidFill>
                  <a:srgbClr val="C00000"/>
                </a:solidFill>
              </a:rPr>
              <a:t>creating new features </a:t>
            </a:r>
            <a:r>
              <a:rPr lang="en-US" sz="2400" b="1" dirty="0"/>
              <a:t>by combining or transforming the original features</a:t>
            </a:r>
            <a:r>
              <a:rPr lang="en-US" sz="2400" dirty="0"/>
              <a:t>. The goal is to create a set of features that </a:t>
            </a:r>
            <a:r>
              <a:rPr lang="en-US" sz="2400" b="1" dirty="0">
                <a:solidFill>
                  <a:schemeClr val="tx2">
                    <a:lumMod val="75000"/>
                    <a:lumOff val="25000"/>
                  </a:schemeClr>
                </a:solidFill>
              </a:rPr>
              <a:t>captures the essence of the original data </a:t>
            </a:r>
            <a:r>
              <a:rPr lang="en-US" sz="2400" dirty="0"/>
              <a:t>in a lower-dimensional space. There are several methods for feature extraction, including:</a:t>
            </a:r>
          </a:p>
          <a:p>
            <a:pPr marL="914400" lvl="1" indent="-457200">
              <a:buFont typeface="+mj-lt"/>
              <a:buAutoNum type="arabicPeriod"/>
            </a:pPr>
            <a:r>
              <a:rPr lang="en-US" sz="2400" b="1" dirty="0"/>
              <a:t>principal component analysis (PCA)</a:t>
            </a:r>
          </a:p>
          <a:p>
            <a:pPr marL="914400" lvl="1" indent="-457200">
              <a:buFont typeface="+mj-lt"/>
              <a:buAutoNum type="arabicPeriod"/>
            </a:pPr>
            <a:r>
              <a:rPr lang="en-US" sz="2400" b="1" dirty="0"/>
              <a:t>linear discriminant analysis (LDA)</a:t>
            </a:r>
          </a:p>
          <a:p>
            <a:pPr marL="914400" lvl="1" indent="-457200">
              <a:buFont typeface="+mj-lt"/>
              <a:buAutoNum type="arabicPeriod"/>
            </a:pPr>
            <a:r>
              <a:rPr lang="en-US" sz="2400" b="1" dirty="0"/>
              <a:t>t-distributed stochastic neighbor embedding (t-SNE). </a:t>
            </a:r>
          </a:p>
          <a:p>
            <a:pPr marL="457200" lvl="1" indent="0">
              <a:buNone/>
            </a:pPr>
            <a:endParaRPr lang="en-US" sz="2400" b="1" dirty="0"/>
          </a:p>
          <a:p>
            <a:pPr marL="0" indent="0">
              <a:buNone/>
            </a:pPr>
            <a:r>
              <a:rPr lang="en-US" sz="2400" dirty="0"/>
              <a:t>PCA is a popular technique that projects the original features onto a lower-dimensional space while preserving as much of the variance as possible.</a:t>
            </a:r>
          </a:p>
          <a:p>
            <a:pPr marL="0" indent="0">
              <a:buNone/>
            </a:pPr>
            <a:endParaRPr lang="en-IN" sz="2400" dirty="0"/>
          </a:p>
        </p:txBody>
      </p:sp>
    </p:spTree>
    <p:extLst>
      <p:ext uri="{BB962C8B-B14F-4D97-AF65-F5344CB8AC3E}">
        <p14:creationId xmlns:p14="http://schemas.microsoft.com/office/powerpoint/2010/main" val="372745014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8A8377-7812-4BDD-30DE-DDF1BBD563C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80D5B20-DC5C-1B61-A4C0-C7774F006B1A}"/>
              </a:ext>
            </a:extLst>
          </p:cNvPr>
          <p:cNvSpPr>
            <a:spLocks noGrp="1"/>
          </p:cNvSpPr>
          <p:nvPr>
            <p:ph idx="1"/>
          </p:nvPr>
        </p:nvSpPr>
        <p:spPr>
          <a:xfrm>
            <a:off x="702853" y="707571"/>
            <a:ext cx="10900568" cy="5486400"/>
          </a:xfrm>
        </p:spPr>
        <p:txBody>
          <a:bodyPr>
            <a:normAutofit/>
          </a:bodyPr>
          <a:lstStyle/>
          <a:p>
            <a:pPr marL="0" indent="0">
              <a:buNone/>
            </a:pPr>
            <a:r>
              <a:rPr lang="en-US" sz="2400" b="1" dirty="0"/>
              <a:t>Principal Component Analysis (PCA):</a:t>
            </a:r>
          </a:p>
          <a:p>
            <a:pPr marL="0" indent="0">
              <a:buNone/>
            </a:pPr>
            <a:r>
              <a:rPr lang="en-US" sz="2400" dirty="0"/>
              <a:t>Principal Component Analysis (</a:t>
            </a:r>
            <a:r>
              <a:rPr lang="en-US" sz="2400" b="1" dirty="0"/>
              <a:t>PCA</a:t>
            </a:r>
            <a:r>
              <a:rPr lang="en-US" sz="2400" dirty="0"/>
              <a:t>) is a technique used to </a:t>
            </a:r>
            <a:r>
              <a:rPr lang="en-US" sz="2400" b="1" dirty="0">
                <a:solidFill>
                  <a:schemeClr val="tx2">
                    <a:lumMod val="75000"/>
                    <a:lumOff val="25000"/>
                  </a:schemeClr>
                </a:solidFill>
              </a:rPr>
              <a:t>reduce the number of features </a:t>
            </a:r>
            <a:r>
              <a:rPr lang="en-US" sz="2400" dirty="0"/>
              <a:t>(</a:t>
            </a:r>
            <a:r>
              <a:rPr lang="en-US" sz="2400" b="1" dirty="0"/>
              <a:t>columns</a:t>
            </a:r>
            <a:r>
              <a:rPr lang="en-US" sz="2400" dirty="0"/>
              <a:t>) in your data </a:t>
            </a:r>
            <a:r>
              <a:rPr lang="en-US" sz="2400" b="1" dirty="0"/>
              <a:t>without losing too much important information</a:t>
            </a:r>
            <a:r>
              <a:rPr lang="en-US" sz="2400" dirty="0"/>
              <a:t>.</a:t>
            </a:r>
          </a:p>
          <a:p>
            <a:pPr marL="0" indent="0">
              <a:buNone/>
            </a:pPr>
            <a:endParaRPr lang="en-US" sz="800" dirty="0"/>
          </a:p>
          <a:p>
            <a:pPr marL="0" indent="0">
              <a:buNone/>
            </a:pPr>
            <a:r>
              <a:rPr lang="en-US" sz="2400" b="1" dirty="0"/>
              <a:t>It does this by:</a:t>
            </a:r>
          </a:p>
          <a:p>
            <a:r>
              <a:rPr lang="en-US" sz="2400" dirty="0"/>
              <a:t>Finding the directions (called components) in which the data varies the most</a:t>
            </a:r>
          </a:p>
          <a:p>
            <a:r>
              <a:rPr lang="en-US" sz="2400" dirty="0"/>
              <a:t>Rotating the data to align with these directions</a:t>
            </a:r>
          </a:p>
          <a:p>
            <a:r>
              <a:rPr lang="en-US" sz="2400" dirty="0"/>
              <a:t>Dropping the less important directions</a:t>
            </a:r>
          </a:p>
          <a:p>
            <a:pPr marL="0" indent="0">
              <a:buNone/>
            </a:pPr>
            <a:endParaRPr lang="en-US" sz="2400" dirty="0"/>
          </a:p>
          <a:p>
            <a:pPr marL="0" indent="0">
              <a:buNone/>
            </a:pPr>
            <a:r>
              <a:rPr lang="en-US" sz="2400" dirty="0"/>
              <a:t>Think of it like summarizing a long paragraph in fewer sentences, but keeping the main message.</a:t>
            </a:r>
            <a:endParaRPr lang="en-IN" sz="2400" dirty="0"/>
          </a:p>
        </p:txBody>
      </p:sp>
    </p:spTree>
    <p:extLst>
      <p:ext uri="{BB962C8B-B14F-4D97-AF65-F5344CB8AC3E}">
        <p14:creationId xmlns:p14="http://schemas.microsoft.com/office/powerpoint/2010/main" val="38020424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4CE6FD-D251-340C-FECF-27BE36341AD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5B236B8-9AB4-D677-8457-4886B14F6DC1}"/>
              </a:ext>
            </a:extLst>
          </p:cNvPr>
          <p:cNvSpPr>
            <a:spLocks noGrp="1"/>
          </p:cNvSpPr>
          <p:nvPr>
            <p:ph idx="1"/>
          </p:nvPr>
        </p:nvSpPr>
        <p:spPr>
          <a:xfrm>
            <a:off x="702853" y="707571"/>
            <a:ext cx="10900568" cy="5486400"/>
          </a:xfrm>
        </p:spPr>
        <p:txBody>
          <a:bodyPr>
            <a:normAutofit/>
          </a:bodyPr>
          <a:lstStyle/>
          <a:p>
            <a:pPr marL="0" indent="0">
              <a:buNone/>
            </a:pPr>
            <a:r>
              <a:rPr lang="en-US" sz="2800" b="1" dirty="0"/>
              <a:t>📌 Why use PCA?</a:t>
            </a:r>
          </a:p>
          <a:p>
            <a:r>
              <a:rPr lang="en-US" sz="2400" dirty="0"/>
              <a:t>To </a:t>
            </a:r>
            <a:r>
              <a:rPr lang="en-US" sz="2400" b="1" dirty="0"/>
              <a:t>simplify data</a:t>
            </a:r>
            <a:r>
              <a:rPr lang="en-US" sz="2400" dirty="0"/>
              <a:t> for faster processing</a:t>
            </a:r>
          </a:p>
          <a:p>
            <a:r>
              <a:rPr lang="en-US" sz="2400" dirty="0"/>
              <a:t>To </a:t>
            </a:r>
            <a:r>
              <a:rPr lang="en-US" sz="2400" b="1" dirty="0"/>
              <a:t>visualize high-dimensional data</a:t>
            </a:r>
            <a:r>
              <a:rPr lang="en-US" sz="2400" dirty="0"/>
              <a:t> in 2D or 3D</a:t>
            </a:r>
          </a:p>
          <a:p>
            <a:r>
              <a:rPr lang="en-US" sz="2400" dirty="0"/>
              <a:t>To </a:t>
            </a:r>
            <a:r>
              <a:rPr lang="en-US" sz="2400" b="1" dirty="0"/>
              <a:t>remove noise</a:t>
            </a:r>
            <a:r>
              <a:rPr lang="en-US" sz="2400" dirty="0"/>
              <a:t> or less useful features</a:t>
            </a:r>
          </a:p>
          <a:p>
            <a:r>
              <a:rPr lang="en-US" sz="2400" dirty="0"/>
              <a:t>To help </a:t>
            </a:r>
            <a:r>
              <a:rPr lang="en-US" sz="2400" b="1" dirty="0"/>
              <a:t>cluster or classify data</a:t>
            </a:r>
            <a:r>
              <a:rPr lang="en-US" sz="2400" dirty="0"/>
              <a:t> better</a:t>
            </a:r>
          </a:p>
          <a:p>
            <a:pPr marL="0" indent="0">
              <a:buNone/>
            </a:pPr>
            <a:endParaRPr lang="en-IN" sz="2400" dirty="0"/>
          </a:p>
        </p:txBody>
      </p:sp>
    </p:spTree>
    <p:extLst>
      <p:ext uri="{BB962C8B-B14F-4D97-AF65-F5344CB8AC3E}">
        <p14:creationId xmlns:p14="http://schemas.microsoft.com/office/powerpoint/2010/main" val="390187911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BF8D7-CF2C-E274-D321-8E8D1F628F5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A5439F9-7860-B787-7E26-C1399B3A7F05}"/>
              </a:ext>
            </a:extLst>
          </p:cNvPr>
          <p:cNvSpPr>
            <a:spLocks noGrp="1"/>
          </p:cNvSpPr>
          <p:nvPr>
            <p:ph idx="1"/>
          </p:nvPr>
        </p:nvSpPr>
        <p:spPr>
          <a:xfrm>
            <a:off x="702853" y="707571"/>
            <a:ext cx="10900568" cy="5486400"/>
          </a:xfrm>
        </p:spPr>
        <p:txBody>
          <a:bodyPr>
            <a:normAutofit fontScale="92500"/>
          </a:bodyPr>
          <a:lstStyle/>
          <a:p>
            <a:pPr marL="0" indent="0">
              <a:buNone/>
            </a:pPr>
            <a:r>
              <a:rPr lang="en-IN" sz="2800" b="1" dirty="0"/>
              <a:t>🪄 Simple Real-Life Example</a:t>
            </a:r>
          </a:p>
          <a:p>
            <a:pPr marL="0" indent="0">
              <a:buNone/>
            </a:pPr>
            <a:r>
              <a:rPr lang="en-IN" sz="2400" dirty="0"/>
              <a:t>Let’s say you have a dataset of students with:</a:t>
            </a:r>
          </a:p>
          <a:p>
            <a:pPr marL="0" indent="0">
              <a:buNone/>
            </a:pPr>
            <a:endParaRPr lang="en-IN" sz="2400" dirty="0"/>
          </a:p>
          <a:p>
            <a:pPr marL="0" indent="0">
              <a:buNone/>
            </a:pPr>
            <a:endParaRPr lang="en-IN" sz="2400" dirty="0"/>
          </a:p>
          <a:p>
            <a:pPr marL="0" indent="0">
              <a:buNone/>
            </a:pPr>
            <a:endParaRPr lang="en-IN" sz="2400" dirty="0"/>
          </a:p>
          <a:p>
            <a:pPr marL="0" indent="0">
              <a:buNone/>
            </a:pPr>
            <a:endParaRPr lang="en-IN" sz="2400" dirty="0"/>
          </a:p>
          <a:p>
            <a:pPr marL="0" indent="0">
              <a:buNone/>
            </a:pPr>
            <a:endParaRPr lang="en-IN" sz="2400" dirty="0"/>
          </a:p>
          <a:p>
            <a:pPr marL="0" indent="0">
              <a:buNone/>
            </a:pPr>
            <a:endParaRPr lang="en-IN" sz="2400" dirty="0"/>
          </a:p>
          <a:p>
            <a:pPr marL="0" indent="0">
              <a:buNone/>
            </a:pPr>
            <a:endParaRPr lang="en-IN" sz="2400" dirty="0"/>
          </a:p>
          <a:p>
            <a:pPr marL="0" indent="0">
              <a:buNone/>
            </a:pPr>
            <a:r>
              <a:rPr lang="en-US" sz="2400" b="1" dirty="0"/>
              <a:t>Observation:</a:t>
            </a:r>
          </a:p>
          <a:p>
            <a:r>
              <a:rPr lang="en-US" sz="2400" dirty="0"/>
              <a:t>Math and Physics marks are very similar – they go up and down together. That means the second subject doesn’t add much new info.</a:t>
            </a:r>
          </a:p>
          <a:p>
            <a:r>
              <a:rPr lang="en-US" sz="2400" dirty="0"/>
              <a:t>So instead of using 2 features, PCA can reduce this to 1 feature: the combined score trend.</a:t>
            </a:r>
          </a:p>
          <a:p>
            <a:pPr marL="0" indent="0">
              <a:buNone/>
            </a:pPr>
            <a:endParaRPr lang="en-US" sz="2400" dirty="0"/>
          </a:p>
          <a:p>
            <a:pPr marL="0" indent="0">
              <a:buNone/>
            </a:pPr>
            <a:endParaRPr lang="en-IN" sz="2400" dirty="0"/>
          </a:p>
          <a:p>
            <a:pPr marL="0" indent="0">
              <a:buNone/>
            </a:pPr>
            <a:endParaRPr lang="en-IN" sz="2800" dirty="0"/>
          </a:p>
        </p:txBody>
      </p:sp>
      <p:graphicFrame>
        <p:nvGraphicFramePr>
          <p:cNvPr id="7" name="Table 6">
            <a:extLst>
              <a:ext uri="{FF2B5EF4-FFF2-40B4-BE49-F238E27FC236}">
                <a16:creationId xmlns:a16="http://schemas.microsoft.com/office/drawing/2014/main" id="{6654FAFD-BB01-0657-55A1-A9E2543A7192}"/>
              </a:ext>
            </a:extLst>
          </p:cNvPr>
          <p:cNvGraphicFramePr>
            <a:graphicFrameLocks noGrp="1"/>
          </p:cNvGraphicFramePr>
          <p:nvPr>
            <p:extLst>
              <p:ext uri="{D42A27DB-BD31-4B8C-83A1-F6EECF244321}">
                <p14:modId xmlns:p14="http://schemas.microsoft.com/office/powerpoint/2010/main" val="4015609576"/>
              </p:ext>
            </p:extLst>
          </p:nvPr>
        </p:nvGraphicFramePr>
        <p:xfrm>
          <a:off x="1350417" y="1760670"/>
          <a:ext cx="7793583" cy="2789562"/>
        </p:xfrm>
        <a:graphic>
          <a:graphicData uri="http://schemas.openxmlformats.org/drawingml/2006/table">
            <a:tbl>
              <a:tblPr firstRow="1" firstCol="1" bandRow="1">
                <a:tableStyleId>{5C22544A-7EE6-4342-B048-85BDC9FD1C3A}</a:tableStyleId>
              </a:tblPr>
              <a:tblGrid>
                <a:gridCol w="2597573">
                  <a:extLst>
                    <a:ext uri="{9D8B030D-6E8A-4147-A177-3AD203B41FA5}">
                      <a16:colId xmlns:a16="http://schemas.microsoft.com/office/drawing/2014/main" val="3828784780"/>
                    </a:ext>
                  </a:extLst>
                </a:gridCol>
                <a:gridCol w="2597573">
                  <a:extLst>
                    <a:ext uri="{9D8B030D-6E8A-4147-A177-3AD203B41FA5}">
                      <a16:colId xmlns:a16="http://schemas.microsoft.com/office/drawing/2014/main" val="590376421"/>
                    </a:ext>
                  </a:extLst>
                </a:gridCol>
                <a:gridCol w="2598437">
                  <a:extLst>
                    <a:ext uri="{9D8B030D-6E8A-4147-A177-3AD203B41FA5}">
                      <a16:colId xmlns:a16="http://schemas.microsoft.com/office/drawing/2014/main" val="2560008938"/>
                    </a:ext>
                  </a:extLst>
                </a:gridCol>
              </a:tblGrid>
              <a:tr h="464927">
                <a:tc>
                  <a:txBody>
                    <a:bodyPr/>
                    <a:lstStyle/>
                    <a:p>
                      <a:pPr>
                        <a:lnSpc>
                          <a:spcPct val="115000"/>
                        </a:lnSpc>
                        <a:spcAft>
                          <a:spcPts val="800"/>
                        </a:spcAft>
                        <a:buNone/>
                      </a:pPr>
                      <a:r>
                        <a:rPr lang="en-IN" sz="2400" kern="100" dirty="0">
                          <a:effectLst/>
                        </a:rPr>
                        <a:t>Student</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Math Marks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Physics Marks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029095000"/>
                  </a:ext>
                </a:extLst>
              </a:tr>
              <a:tr h="464927">
                <a:tc>
                  <a:txBody>
                    <a:bodyPr/>
                    <a:lstStyle/>
                    <a:p>
                      <a:pPr>
                        <a:lnSpc>
                          <a:spcPct val="115000"/>
                        </a:lnSpc>
                        <a:spcAft>
                          <a:spcPts val="800"/>
                        </a:spcAft>
                        <a:buNone/>
                      </a:pPr>
                      <a:r>
                        <a:rPr lang="en-IN" sz="2400" kern="100">
                          <a:effectLst/>
                        </a:rPr>
                        <a:t>A</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80</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82</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238381064"/>
                  </a:ext>
                </a:extLst>
              </a:tr>
              <a:tr h="464927">
                <a:tc>
                  <a:txBody>
                    <a:bodyPr/>
                    <a:lstStyle/>
                    <a:p>
                      <a:pPr>
                        <a:lnSpc>
                          <a:spcPct val="115000"/>
                        </a:lnSpc>
                        <a:spcAft>
                          <a:spcPts val="800"/>
                        </a:spcAft>
                        <a:buNone/>
                      </a:pPr>
                      <a:r>
                        <a:rPr lang="en-IN" sz="2400" kern="100">
                          <a:effectLst/>
                        </a:rPr>
                        <a:t>B</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85</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87</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28711423"/>
                  </a:ext>
                </a:extLst>
              </a:tr>
              <a:tr h="464927">
                <a:tc>
                  <a:txBody>
                    <a:bodyPr/>
                    <a:lstStyle/>
                    <a:p>
                      <a:pPr>
                        <a:lnSpc>
                          <a:spcPct val="115000"/>
                        </a:lnSpc>
                        <a:spcAft>
                          <a:spcPts val="800"/>
                        </a:spcAft>
                        <a:buNone/>
                      </a:pPr>
                      <a:r>
                        <a:rPr lang="en-IN" sz="2400" kern="100">
                          <a:effectLst/>
                        </a:rPr>
                        <a:t>C</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78</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79</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51234488"/>
                  </a:ext>
                </a:extLst>
              </a:tr>
              <a:tr h="464927">
                <a:tc>
                  <a:txBody>
                    <a:bodyPr/>
                    <a:lstStyle/>
                    <a:p>
                      <a:pPr>
                        <a:lnSpc>
                          <a:spcPct val="115000"/>
                        </a:lnSpc>
                        <a:spcAft>
                          <a:spcPts val="800"/>
                        </a:spcAft>
                        <a:buNone/>
                      </a:pPr>
                      <a:r>
                        <a:rPr lang="en-IN" sz="2400" kern="100">
                          <a:effectLst/>
                        </a:rPr>
                        <a:t>D</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92</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94</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232685251"/>
                  </a:ext>
                </a:extLst>
              </a:tr>
              <a:tr h="464927">
                <a:tc>
                  <a:txBody>
                    <a:bodyPr/>
                    <a:lstStyle/>
                    <a:p>
                      <a:pPr>
                        <a:lnSpc>
                          <a:spcPct val="115000"/>
                        </a:lnSpc>
                        <a:spcAft>
                          <a:spcPts val="800"/>
                        </a:spcAft>
                        <a:buNone/>
                      </a:pPr>
                      <a:r>
                        <a:rPr lang="en-IN" sz="2400" kern="100">
                          <a:effectLst/>
                        </a:rPr>
                        <a:t>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70</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72</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703238208"/>
                  </a:ext>
                </a:extLst>
              </a:tr>
            </a:tbl>
          </a:graphicData>
        </a:graphic>
      </p:graphicFrame>
    </p:spTree>
    <p:extLst>
      <p:ext uri="{BB962C8B-B14F-4D97-AF65-F5344CB8AC3E}">
        <p14:creationId xmlns:p14="http://schemas.microsoft.com/office/powerpoint/2010/main" val="236805631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645D7C-7368-F04A-500E-7E58103ADA4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999850B-89D1-B1DD-9CA0-5325B19F5C00}"/>
              </a:ext>
            </a:extLst>
          </p:cNvPr>
          <p:cNvSpPr>
            <a:spLocks noGrp="1"/>
          </p:cNvSpPr>
          <p:nvPr>
            <p:ph idx="1"/>
          </p:nvPr>
        </p:nvSpPr>
        <p:spPr>
          <a:xfrm>
            <a:off x="702853" y="707571"/>
            <a:ext cx="10900568" cy="5486400"/>
          </a:xfrm>
        </p:spPr>
        <p:txBody>
          <a:bodyPr>
            <a:normAutofit/>
          </a:bodyPr>
          <a:lstStyle/>
          <a:p>
            <a:pPr marL="0" indent="0">
              <a:buNone/>
            </a:pPr>
            <a:r>
              <a:rPr lang="en-US" sz="2800" b="1" dirty="0"/>
              <a:t>Steps in PCA</a:t>
            </a:r>
          </a:p>
          <a:p>
            <a:pPr marL="457200" indent="-457200">
              <a:buFont typeface="+mj-lt"/>
              <a:buAutoNum type="arabicPeriod"/>
            </a:pPr>
            <a:r>
              <a:rPr lang="en-US" sz="2800" b="1" dirty="0"/>
              <a:t>Standardize the data</a:t>
            </a:r>
            <a:endParaRPr lang="en-US" sz="2800" dirty="0"/>
          </a:p>
          <a:p>
            <a:pPr lvl="1"/>
            <a:r>
              <a:rPr lang="en-US" sz="2400" dirty="0"/>
              <a:t>So that all features have same scale (mean = 0, std = 1)</a:t>
            </a:r>
          </a:p>
          <a:p>
            <a:pPr marL="457200" lvl="1" indent="0">
              <a:buNone/>
            </a:pPr>
            <a:endParaRPr lang="en-US" sz="2400" dirty="0"/>
          </a:p>
          <a:p>
            <a:pPr marL="457200" indent="-457200">
              <a:buFont typeface="+mj-lt"/>
              <a:buAutoNum type="arabicPeriod"/>
            </a:pPr>
            <a:r>
              <a:rPr lang="en-US" sz="2800" b="1" dirty="0"/>
              <a:t>Find the directions of maximum variance</a:t>
            </a:r>
            <a:endParaRPr lang="en-US" sz="2800" dirty="0"/>
          </a:p>
          <a:p>
            <a:pPr lvl="1"/>
            <a:r>
              <a:rPr lang="en-US" sz="2400" dirty="0"/>
              <a:t>These are called </a:t>
            </a:r>
            <a:r>
              <a:rPr lang="en-US" sz="2400" b="1" dirty="0"/>
              <a:t>principal components</a:t>
            </a:r>
            <a:endParaRPr lang="en-US" sz="2400" dirty="0"/>
          </a:p>
          <a:p>
            <a:pPr lvl="1"/>
            <a:r>
              <a:rPr lang="en-US" sz="2400" dirty="0"/>
              <a:t>First component (PC1): captures the most variation</a:t>
            </a:r>
          </a:p>
          <a:p>
            <a:pPr lvl="1"/>
            <a:r>
              <a:rPr lang="en-US" sz="2400" dirty="0"/>
              <a:t>Second component (PC2): captures the next most, and so on</a:t>
            </a:r>
          </a:p>
          <a:p>
            <a:pPr marL="457200" lvl="1" indent="0">
              <a:buNone/>
            </a:pPr>
            <a:endParaRPr lang="en-US" sz="2400" dirty="0"/>
          </a:p>
          <a:p>
            <a:pPr marL="457200" indent="-457200">
              <a:buFont typeface="+mj-lt"/>
              <a:buAutoNum type="arabicPeriod"/>
            </a:pPr>
            <a:r>
              <a:rPr lang="en-US" sz="2800" b="1" dirty="0"/>
              <a:t>Project data onto new axes</a:t>
            </a:r>
            <a:endParaRPr lang="en-US" sz="2800" dirty="0"/>
          </a:p>
          <a:p>
            <a:pPr lvl="1"/>
            <a:r>
              <a:rPr lang="en-US" sz="2400" dirty="0"/>
              <a:t>This gives us a </a:t>
            </a:r>
            <a:r>
              <a:rPr lang="en-US" sz="2400" b="1" dirty="0"/>
              <a:t>compressed version</a:t>
            </a:r>
            <a:r>
              <a:rPr lang="en-US" sz="2400" dirty="0"/>
              <a:t> of the data</a:t>
            </a:r>
          </a:p>
          <a:p>
            <a:pPr marL="0" indent="0">
              <a:buNone/>
            </a:pPr>
            <a:endParaRPr lang="en-IN" sz="3200" dirty="0"/>
          </a:p>
        </p:txBody>
      </p:sp>
    </p:spTree>
    <p:extLst>
      <p:ext uri="{BB962C8B-B14F-4D97-AF65-F5344CB8AC3E}">
        <p14:creationId xmlns:p14="http://schemas.microsoft.com/office/powerpoint/2010/main" val="238519851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F620A-9028-9D71-BA6C-5BCF7539150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62CBF46-EA37-8B6A-392D-229161886391}"/>
              </a:ext>
            </a:extLst>
          </p:cNvPr>
          <p:cNvSpPr>
            <a:spLocks noGrp="1"/>
          </p:cNvSpPr>
          <p:nvPr>
            <p:ph idx="1"/>
          </p:nvPr>
        </p:nvSpPr>
        <p:spPr>
          <a:xfrm>
            <a:off x="702853" y="1023257"/>
            <a:ext cx="10900568" cy="5170714"/>
          </a:xfrm>
        </p:spPr>
        <p:txBody>
          <a:bodyPr>
            <a:normAutofit/>
          </a:bodyPr>
          <a:lstStyle/>
          <a:p>
            <a:pPr marL="0" indent="0">
              <a:buNone/>
            </a:pPr>
            <a:r>
              <a:rPr lang="en-US" sz="2800" b="1" dirty="0"/>
              <a:t>2. Linear Discriminant Analysis (LDA):</a:t>
            </a:r>
          </a:p>
          <a:p>
            <a:pPr marL="0" indent="0">
              <a:buNone/>
            </a:pPr>
            <a:r>
              <a:rPr lang="en-US" sz="2800" b="1" dirty="0"/>
              <a:t>Linear Discriminant Analysis (LDA)</a:t>
            </a:r>
            <a:r>
              <a:rPr lang="en-US" sz="2800" dirty="0"/>
              <a:t> is a </a:t>
            </a:r>
            <a:r>
              <a:rPr lang="en-US" sz="2800" b="1" dirty="0">
                <a:solidFill>
                  <a:schemeClr val="tx2">
                    <a:lumMod val="75000"/>
                    <a:lumOff val="25000"/>
                  </a:schemeClr>
                </a:solidFill>
              </a:rPr>
              <a:t>supervised machine learning technique</a:t>
            </a:r>
            <a:r>
              <a:rPr lang="en-US" sz="2800" dirty="0">
                <a:solidFill>
                  <a:schemeClr val="tx2">
                    <a:lumMod val="75000"/>
                    <a:lumOff val="25000"/>
                  </a:schemeClr>
                </a:solidFill>
              </a:rPr>
              <a:t> </a:t>
            </a:r>
            <a:r>
              <a:rPr lang="en-US" sz="2800" dirty="0"/>
              <a:t>used for:</a:t>
            </a:r>
          </a:p>
          <a:p>
            <a:pPr lvl="1"/>
            <a:r>
              <a:rPr lang="en-US" sz="2800" b="1" dirty="0"/>
              <a:t>Dimensionality reduction</a:t>
            </a:r>
            <a:endParaRPr lang="en-US" sz="2800" dirty="0"/>
          </a:p>
          <a:p>
            <a:pPr lvl="1"/>
            <a:r>
              <a:rPr lang="en-US" sz="2800" b="1" dirty="0"/>
              <a:t>Classification</a:t>
            </a:r>
            <a:endParaRPr lang="en-US" sz="2800" dirty="0"/>
          </a:p>
          <a:p>
            <a:pPr marL="0" indent="0">
              <a:buNone/>
            </a:pPr>
            <a:endParaRPr lang="en-US" sz="2800" dirty="0"/>
          </a:p>
          <a:p>
            <a:pPr marL="0" indent="0">
              <a:buNone/>
            </a:pPr>
            <a:r>
              <a:rPr lang="en-US" sz="2800" dirty="0"/>
              <a:t>Unlike PCA, which is </a:t>
            </a:r>
            <a:r>
              <a:rPr lang="en-US" sz="2800" b="1" dirty="0"/>
              <a:t>unsupervised</a:t>
            </a:r>
            <a:r>
              <a:rPr lang="en-US" sz="2800" dirty="0"/>
              <a:t>, LDA uses the </a:t>
            </a:r>
            <a:r>
              <a:rPr lang="en-US" sz="2800" b="1" dirty="0">
                <a:solidFill>
                  <a:schemeClr val="tx2">
                    <a:lumMod val="75000"/>
                    <a:lumOff val="25000"/>
                  </a:schemeClr>
                </a:solidFill>
              </a:rPr>
              <a:t>class labels</a:t>
            </a:r>
            <a:r>
              <a:rPr lang="en-US" sz="2800" dirty="0">
                <a:solidFill>
                  <a:schemeClr val="tx2">
                    <a:lumMod val="75000"/>
                    <a:lumOff val="25000"/>
                  </a:schemeClr>
                </a:solidFill>
              </a:rPr>
              <a:t> </a:t>
            </a:r>
            <a:r>
              <a:rPr lang="en-US" sz="2800" dirty="0"/>
              <a:t>to find the best features that </a:t>
            </a:r>
            <a:r>
              <a:rPr lang="en-US" sz="2800" b="1" dirty="0"/>
              <a:t>separate the classes</a:t>
            </a:r>
            <a:r>
              <a:rPr lang="en-US" sz="2800" dirty="0"/>
              <a:t>.</a:t>
            </a:r>
          </a:p>
          <a:p>
            <a:pPr marL="0" indent="0">
              <a:buNone/>
            </a:pPr>
            <a:endParaRPr lang="en-IN" sz="2400" b="1" dirty="0"/>
          </a:p>
        </p:txBody>
      </p:sp>
    </p:spTree>
    <p:extLst>
      <p:ext uri="{BB962C8B-B14F-4D97-AF65-F5344CB8AC3E}">
        <p14:creationId xmlns:p14="http://schemas.microsoft.com/office/powerpoint/2010/main" val="126523730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8AE243-E3DD-DC42-90FE-01838628192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87B1D10-881C-1B16-43B7-F20DB7AC5E2E}"/>
              </a:ext>
            </a:extLst>
          </p:cNvPr>
          <p:cNvSpPr>
            <a:spLocks noGrp="1"/>
          </p:cNvSpPr>
          <p:nvPr>
            <p:ph idx="1"/>
          </p:nvPr>
        </p:nvSpPr>
        <p:spPr>
          <a:xfrm>
            <a:off x="702853" y="707571"/>
            <a:ext cx="10900568" cy="5486400"/>
          </a:xfrm>
        </p:spPr>
        <p:txBody>
          <a:bodyPr>
            <a:normAutofit/>
          </a:bodyPr>
          <a:lstStyle/>
          <a:p>
            <a:pPr marL="0" indent="0">
              <a:buNone/>
            </a:pPr>
            <a:r>
              <a:rPr lang="en-US" sz="2800" b="1" dirty="0"/>
              <a:t>Main Goal of LDA</a:t>
            </a:r>
          </a:p>
          <a:p>
            <a:r>
              <a:rPr lang="en-US" sz="2800" dirty="0"/>
              <a:t>LDA tries to find a new axis (or axes) that:</a:t>
            </a:r>
          </a:p>
          <a:p>
            <a:r>
              <a:rPr lang="en-US" sz="2800" dirty="0"/>
              <a:t>Maximize the distance between class means (called between-class variance)</a:t>
            </a:r>
          </a:p>
          <a:p>
            <a:r>
              <a:rPr lang="en-US" sz="2800" dirty="0"/>
              <a:t>Minimize the spread within each class (called within-class variance)</a:t>
            </a:r>
          </a:p>
          <a:p>
            <a:pPr marL="0" indent="0">
              <a:buNone/>
            </a:pPr>
            <a:endParaRPr lang="en-US" sz="2800" dirty="0"/>
          </a:p>
          <a:p>
            <a:pPr marL="0" indent="0">
              <a:buNone/>
            </a:pPr>
            <a:r>
              <a:rPr lang="en-US" sz="2800" dirty="0"/>
              <a:t>🔁 In short: LDA finds a line (or plane) that best separates the classes.</a:t>
            </a:r>
            <a:endParaRPr lang="en-IN" sz="2800" dirty="0"/>
          </a:p>
        </p:txBody>
      </p:sp>
    </p:spTree>
    <p:extLst>
      <p:ext uri="{BB962C8B-B14F-4D97-AF65-F5344CB8AC3E}">
        <p14:creationId xmlns:p14="http://schemas.microsoft.com/office/powerpoint/2010/main" val="105373490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0EB7DE-BB7F-0890-69CF-AE40EDF73CB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17E18DF-55E6-3A7C-6BCF-9360BF36799E}"/>
              </a:ext>
            </a:extLst>
          </p:cNvPr>
          <p:cNvSpPr>
            <a:spLocks noGrp="1"/>
          </p:cNvSpPr>
          <p:nvPr>
            <p:ph type="title"/>
          </p:nvPr>
        </p:nvSpPr>
        <p:spPr>
          <a:xfrm>
            <a:off x="777240" y="365125"/>
            <a:ext cx="10659110" cy="1325563"/>
          </a:xfrm>
        </p:spPr>
        <p:txBody>
          <a:bodyPr anchor="ctr">
            <a:normAutofit/>
          </a:bodyPr>
          <a:lstStyle/>
          <a:p>
            <a:pPr marL="0" indent="0">
              <a:buNone/>
            </a:pPr>
            <a:r>
              <a:rPr lang="en-IN" sz="4600" b="1"/>
              <a:t>LDA vs PCA: What's the Difference?</a:t>
            </a:r>
          </a:p>
        </p:txBody>
      </p:sp>
      <p:graphicFrame>
        <p:nvGraphicFramePr>
          <p:cNvPr id="5" name="Table 4">
            <a:extLst>
              <a:ext uri="{FF2B5EF4-FFF2-40B4-BE49-F238E27FC236}">
                <a16:creationId xmlns:a16="http://schemas.microsoft.com/office/drawing/2014/main" id="{03C7727C-5717-7CCB-3041-D352DC339A69}"/>
              </a:ext>
            </a:extLst>
          </p:cNvPr>
          <p:cNvGraphicFramePr>
            <a:graphicFrameLocks noGrp="1"/>
          </p:cNvGraphicFramePr>
          <p:nvPr>
            <p:extLst>
              <p:ext uri="{D42A27DB-BD31-4B8C-83A1-F6EECF244321}">
                <p14:modId xmlns:p14="http://schemas.microsoft.com/office/powerpoint/2010/main" val="2950024997"/>
              </p:ext>
            </p:extLst>
          </p:nvPr>
        </p:nvGraphicFramePr>
        <p:xfrm>
          <a:off x="777240" y="1856237"/>
          <a:ext cx="10659112" cy="3549890"/>
        </p:xfrm>
        <a:graphic>
          <a:graphicData uri="http://schemas.openxmlformats.org/drawingml/2006/table">
            <a:tbl>
              <a:tblPr firstRow="1" firstCol="1" bandRow="1">
                <a:tableStyleId>{5C22544A-7EE6-4342-B048-85BDC9FD1C3A}</a:tableStyleId>
              </a:tblPr>
              <a:tblGrid>
                <a:gridCol w="3252423">
                  <a:extLst>
                    <a:ext uri="{9D8B030D-6E8A-4147-A177-3AD203B41FA5}">
                      <a16:colId xmlns:a16="http://schemas.microsoft.com/office/drawing/2014/main" val="2528951339"/>
                    </a:ext>
                  </a:extLst>
                </a:gridCol>
                <a:gridCol w="3702420">
                  <a:extLst>
                    <a:ext uri="{9D8B030D-6E8A-4147-A177-3AD203B41FA5}">
                      <a16:colId xmlns:a16="http://schemas.microsoft.com/office/drawing/2014/main" val="101728744"/>
                    </a:ext>
                  </a:extLst>
                </a:gridCol>
                <a:gridCol w="3704269">
                  <a:extLst>
                    <a:ext uri="{9D8B030D-6E8A-4147-A177-3AD203B41FA5}">
                      <a16:colId xmlns:a16="http://schemas.microsoft.com/office/drawing/2014/main" val="247997183"/>
                    </a:ext>
                  </a:extLst>
                </a:gridCol>
              </a:tblGrid>
              <a:tr h="455626">
                <a:tc>
                  <a:txBody>
                    <a:bodyPr/>
                    <a:lstStyle/>
                    <a:p>
                      <a:pPr>
                        <a:lnSpc>
                          <a:spcPct val="115000"/>
                        </a:lnSpc>
                        <a:spcAft>
                          <a:spcPts val="800"/>
                        </a:spcAft>
                        <a:buNone/>
                      </a:pPr>
                      <a:r>
                        <a:rPr lang="en-IN" sz="2300" kern="100">
                          <a:effectLst/>
                        </a:rPr>
                        <a:t>Aspect</a:t>
                      </a:r>
                      <a:endParaRPr lang="en-IN" sz="2300" kern="100">
                        <a:effectLst/>
                        <a:latin typeface="Aptos" panose="020B0004020202020204" pitchFamily="34" charset="0"/>
                        <a:ea typeface="Aptos" panose="020B0004020202020204" pitchFamily="34" charset="0"/>
                        <a:cs typeface="Times New Roman" panose="02020603050405020304" pitchFamily="18" charset="0"/>
                      </a:endParaRPr>
                    </a:p>
                  </a:txBody>
                  <a:tcPr marL="133065" marR="133065" marT="0" marB="0"/>
                </a:tc>
                <a:tc>
                  <a:txBody>
                    <a:bodyPr/>
                    <a:lstStyle/>
                    <a:p>
                      <a:pPr>
                        <a:lnSpc>
                          <a:spcPct val="115000"/>
                        </a:lnSpc>
                        <a:spcAft>
                          <a:spcPts val="800"/>
                        </a:spcAft>
                        <a:buNone/>
                      </a:pPr>
                      <a:r>
                        <a:rPr lang="en-IN" sz="2300" kern="100">
                          <a:effectLst/>
                        </a:rPr>
                        <a:t>PCA</a:t>
                      </a:r>
                      <a:endParaRPr lang="en-IN" sz="2300" kern="100">
                        <a:effectLst/>
                        <a:latin typeface="Aptos" panose="020B0004020202020204" pitchFamily="34" charset="0"/>
                        <a:ea typeface="Aptos" panose="020B0004020202020204" pitchFamily="34" charset="0"/>
                        <a:cs typeface="Times New Roman" panose="02020603050405020304" pitchFamily="18" charset="0"/>
                      </a:endParaRPr>
                    </a:p>
                  </a:txBody>
                  <a:tcPr marL="133065" marR="133065" marT="0" marB="0"/>
                </a:tc>
                <a:tc>
                  <a:txBody>
                    <a:bodyPr/>
                    <a:lstStyle/>
                    <a:p>
                      <a:pPr>
                        <a:lnSpc>
                          <a:spcPct val="115000"/>
                        </a:lnSpc>
                        <a:spcAft>
                          <a:spcPts val="800"/>
                        </a:spcAft>
                        <a:buNone/>
                      </a:pPr>
                      <a:r>
                        <a:rPr lang="en-IN" sz="2300" kern="100">
                          <a:effectLst/>
                        </a:rPr>
                        <a:t>LDA</a:t>
                      </a:r>
                      <a:endParaRPr lang="en-IN" sz="2300" kern="100">
                        <a:effectLst/>
                        <a:latin typeface="Aptos" panose="020B0004020202020204" pitchFamily="34" charset="0"/>
                        <a:ea typeface="Aptos" panose="020B0004020202020204" pitchFamily="34" charset="0"/>
                        <a:cs typeface="Times New Roman" panose="02020603050405020304" pitchFamily="18" charset="0"/>
                      </a:endParaRPr>
                    </a:p>
                  </a:txBody>
                  <a:tcPr marL="133065" marR="133065" marT="0" marB="0"/>
                </a:tc>
                <a:extLst>
                  <a:ext uri="{0D108BD9-81ED-4DB2-BD59-A6C34878D82A}">
                    <a16:rowId xmlns:a16="http://schemas.microsoft.com/office/drawing/2014/main" val="2986958709"/>
                  </a:ext>
                </a:extLst>
              </a:tr>
              <a:tr h="455626">
                <a:tc>
                  <a:txBody>
                    <a:bodyPr/>
                    <a:lstStyle/>
                    <a:p>
                      <a:pPr>
                        <a:lnSpc>
                          <a:spcPct val="115000"/>
                        </a:lnSpc>
                        <a:spcAft>
                          <a:spcPts val="800"/>
                        </a:spcAft>
                        <a:buNone/>
                      </a:pPr>
                      <a:r>
                        <a:rPr lang="en-IN" sz="2300" kern="100">
                          <a:effectLst/>
                        </a:rPr>
                        <a:t>Type</a:t>
                      </a:r>
                      <a:endParaRPr lang="en-IN" sz="2300" kern="100">
                        <a:effectLst/>
                        <a:latin typeface="Aptos" panose="020B0004020202020204" pitchFamily="34" charset="0"/>
                        <a:ea typeface="Aptos" panose="020B0004020202020204" pitchFamily="34" charset="0"/>
                        <a:cs typeface="Times New Roman" panose="02020603050405020304" pitchFamily="18" charset="0"/>
                      </a:endParaRPr>
                    </a:p>
                  </a:txBody>
                  <a:tcPr marL="133065" marR="133065" marT="0" marB="0"/>
                </a:tc>
                <a:tc>
                  <a:txBody>
                    <a:bodyPr/>
                    <a:lstStyle/>
                    <a:p>
                      <a:pPr>
                        <a:lnSpc>
                          <a:spcPct val="115000"/>
                        </a:lnSpc>
                        <a:spcAft>
                          <a:spcPts val="800"/>
                        </a:spcAft>
                        <a:buNone/>
                      </a:pPr>
                      <a:r>
                        <a:rPr lang="en-IN" sz="2300" kern="100">
                          <a:effectLst/>
                        </a:rPr>
                        <a:t>Unsupervised</a:t>
                      </a:r>
                      <a:endParaRPr lang="en-IN" sz="2300" kern="100">
                        <a:effectLst/>
                        <a:latin typeface="Aptos" panose="020B0004020202020204" pitchFamily="34" charset="0"/>
                        <a:ea typeface="Aptos" panose="020B0004020202020204" pitchFamily="34" charset="0"/>
                        <a:cs typeface="Times New Roman" panose="02020603050405020304" pitchFamily="18" charset="0"/>
                      </a:endParaRPr>
                    </a:p>
                  </a:txBody>
                  <a:tcPr marL="133065" marR="133065" marT="0" marB="0"/>
                </a:tc>
                <a:tc>
                  <a:txBody>
                    <a:bodyPr/>
                    <a:lstStyle/>
                    <a:p>
                      <a:pPr>
                        <a:lnSpc>
                          <a:spcPct val="115000"/>
                        </a:lnSpc>
                        <a:spcAft>
                          <a:spcPts val="800"/>
                        </a:spcAft>
                        <a:buNone/>
                      </a:pPr>
                      <a:r>
                        <a:rPr lang="en-IN" sz="2300" kern="100">
                          <a:effectLst/>
                        </a:rPr>
                        <a:t>Supervised</a:t>
                      </a:r>
                      <a:endParaRPr lang="en-IN" sz="2300" kern="100">
                        <a:effectLst/>
                        <a:latin typeface="Aptos" panose="020B0004020202020204" pitchFamily="34" charset="0"/>
                        <a:ea typeface="Aptos" panose="020B0004020202020204" pitchFamily="34" charset="0"/>
                        <a:cs typeface="Times New Roman" panose="02020603050405020304" pitchFamily="18" charset="0"/>
                      </a:endParaRPr>
                    </a:p>
                  </a:txBody>
                  <a:tcPr marL="133065" marR="133065" marT="0" marB="0"/>
                </a:tc>
                <a:extLst>
                  <a:ext uri="{0D108BD9-81ED-4DB2-BD59-A6C34878D82A}">
                    <a16:rowId xmlns:a16="http://schemas.microsoft.com/office/drawing/2014/main" val="1533970527"/>
                  </a:ext>
                </a:extLst>
              </a:tr>
              <a:tr h="455626">
                <a:tc>
                  <a:txBody>
                    <a:bodyPr/>
                    <a:lstStyle/>
                    <a:p>
                      <a:pPr>
                        <a:lnSpc>
                          <a:spcPct val="115000"/>
                        </a:lnSpc>
                        <a:spcAft>
                          <a:spcPts val="800"/>
                        </a:spcAft>
                        <a:buNone/>
                      </a:pPr>
                      <a:r>
                        <a:rPr lang="en-IN" sz="2300" kern="100">
                          <a:effectLst/>
                        </a:rPr>
                        <a:t>Uses Labels?</a:t>
                      </a:r>
                      <a:endParaRPr lang="en-IN" sz="2300" kern="100">
                        <a:effectLst/>
                        <a:latin typeface="Aptos" panose="020B0004020202020204" pitchFamily="34" charset="0"/>
                        <a:ea typeface="Aptos" panose="020B0004020202020204" pitchFamily="34" charset="0"/>
                        <a:cs typeface="Times New Roman" panose="02020603050405020304" pitchFamily="18" charset="0"/>
                      </a:endParaRPr>
                    </a:p>
                  </a:txBody>
                  <a:tcPr marL="133065" marR="133065" marT="0" marB="0"/>
                </a:tc>
                <a:tc>
                  <a:txBody>
                    <a:bodyPr/>
                    <a:lstStyle/>
                    <a:p>
                      <a:pPr>
                        <a:lnSpc>
                          <a:spcPct val="115000"/>
                        </a:lnSpc>
                        <a:spcAft>
                          <a:spcPts val="800"/>
                        </a:spcAft>
                        <a:buNone/>
                      </a:pPr>
                      <a:r>
                        <a:rPr lang="en-IN" sz="2300" kern="100">
                          <a:effectLst/>
                        </a:rPr>
                        <a:t>❌ No</a:t>
                      </a:r>
                      <a:endParaRPr lang="en-IN" sz="2300" kern="100">
                        <a:effectLst/>
                        <a:latin typeface="Aptos" panose="020B0004020202020204" pitchFamily="34" charset="0"/>
                        <a:ea typeface="Aptos" panose="020B0004020202020204" pitchFamily="34" charset="0"/>
                        <a:cs typeface="Times New Roman" panose="02020603050405020304" pitchFamily="18" charset="0"/>
                      </a:endParaRPr>
                    </a:p>
                  </a:txBody>
                  <a:tcPr marL="133065" marR="133065" marT="0" marB="0"/>
                </a:tc>
                <a:tc>
                  <a:txBody>
                    <a:bodyPr/>
                    <a:lstStyle/>
                    <a:p>
                      <a:pPr>
                        <a:lnSpc>
                          <a:spcPct val="115000"/>
                        </a:lnSpc>
                        <a:spcAft>
                          <a:spcPts val="800"/>
                        </a:spcAft>
                        <a:buNone/>
                      </a:pPr>
                      <a:r>
                        <a:rPr lang="en-IN" sz="2300" kern="100">
                          <a:effectLst/>
                        </a:rPr>
                        <a:t>✅ Yes</a:t>
                      </a:r>
                      <a:endParaRPr lang="en-IN" sz="2300" kern="100">
                        <a:effectLst/>
                        <a:latin typeface="Aptos" panose="020B0004020202020204" pitchFamily="34" charset="0"/>
                        <a:ea typeface="Aptos" panose="020B0004020202020204" pitchFamily="34" charset="0"/>
                        <a:cs typeface="Times New Roman" panose="02020603050405020304" pitchFamily="18" charset="0"/>
                      </a:endParaRPr>
                    </a:p>
                  </a:txBody>
                  <a:tcPr marL="133065" marR="133065" marT="0" marB="0"/>
                </a:tc>
                <a:extLst>
                  <a:ext uri="{0D108BD9-81ED-4DB2-BD59-A6C34878D82A}">
                    <a16:rowId xmlns:a16="http://schemas.microsoft.com/office/drawing/2014/main" val="119508535"/>
                  </a:ext>
                </a:extLst>
              </a:tr>
              <a:tr h="863693">
                <a:tc>
                  <a:txBody>
                    <a:bodyPr/>
                    <a:lstStyle/>
                    <a:p>
                      <a:pPr>
                        <a:lnSpc>
                          <a:spcPct val="115000"/>
                        </a:lnSpc>
                        <a:spcAft>
                          <a:spcPts val="800"/>
                        </a:spcAft>
                        <a:buNone/>
                      </a:pPr>
                      <a:r>
                        <a:rPr lang="en-IN" sz="2300" kern="100">
                          <a:effectLst/>
                        </a:rPr>
                        <a:t>Goal</a:t>
                      </a:r>
                      <a:endParaRPr lang="en-IN" sz="2300" kern="100">
                        <a:effectLst/>
                        <a:latin typeface="Aptos" panose="020B0004020202020204" pitchFamily="34" charset="0"/>
                        <a:ea typeface="Aptos" panose="020B0004020202020204" pitchFamily="34" charset="0"/>
                        <a:cs typeface="Times New Roman" panose="02020603050405020304" pitchFamily="18" charset="0"/>
                      </a:endParaRPr>
                    </a:p>
                  </a:txBody>
                  <a:tcPr marL="133065" marR="133065" marT="0" marB="0"/>
                </a:tc>
                <a:tc>
                  <a:txBody>
                    <a:bodyPr/>
                    <a:lstStyle/>
                    <a:p>
                      <a:pPr>
                        <a:lnSpc>
                          <a:spcPct val="115000"/>
                        </a:lnSpc>
                        <a:spcAft>
                          <a:spcPts val="800"/>
                        </a:spcAft>
                        <a:buNone/>
                      </a:pPr>
                      <a:r>
                        <a:rPr lang="en-IN" sz="2300" kern="100">
                          <a:effectLst/>
                        </a:rPr>
                        <a:t>Maximize variance</a:t>
                      </a:r>
                      <a:endParaRPr lang="en-IN" sz="2300" kern="100">
                        <a:effectLst/>
                        <a:latin typeface="Aptos" panose="020B0004020202020204" pitchFamily="34" charset="0"/>
                        <a:ea typeface="Aptos" panose="020B0004020202020204" pitchFamily="34" charset="0"/>
                        <a:cs typeface="Times New Roman" panose="02020603050405020304" pitchFamily="18" charset="0"/>
                      </a:endParaRPr>
                    </a:p>
                  </a:txBody>
                  <a:tcPr marL="133065" marR="133065" marT="0" marB="0"/>
                </a:tc>
                <a:tc>
                  <a:txBody>
                    <a:bodyPr/>
                    <a:lstStyle/>
                    <a:p>
                      <a:pPr>
                        <a:lnSpc>
                          <a:spcPct val="115000"/>
                        </a:lnSpc>
                        <a:spcAft>
                          <a:spcPts val="800"/>
                        </a:spcAft>
                        <a:buNone/>
                      </a:pPr>
                      <a:r>
                        <a:rPr lang="en-IN" sz="2300" kern="100">
                          <a:effectLst/>
                        </a:rPr>
                        <a:t>Maximize class separability</a:t>
                      </a:r>
                      <a:endParaRPr lang="en-IN" sz="2300" kern="100">
                        <a:effectLst/>
                        <a:latin typeface="Aptos" panose="020B0004020202020204" pitchFamily="34" charset="0"/>
                        <a:ea typeface="Aptos" panose="020B0004020202020204" pitchFamily="34" charset="0"/>
                        <a:cs typeface="Times New Roman" panose="02020603050405020304" pitchFamily="18" charset="0"/>
                      </a:endParaRPr>
                    </a:p>
                  </a:txBody>
                  <a:tcPr marL="133065" marR="133065" marT="0" marB="0"/>
                </a:tc>
                <a:extLst>
                  <a:ext uri="{0D108BD9-81ED-4DB2-BD59-A6C34878D82A}">
                    <a16:rowId xmlns:a16="http://schemas.microsoft.com/office/drawing/2014/main" val="3587719855"/>
                  </a:ext>
                </a:extLst>
              </a:tr>
              <a:tr h="455626">
                <a:tc>
                  <a:txBody>
                    <a:bodyPr/>
                    <a:lstStyle/>
                    <a:p>
                      <a:pPr>
                        <a:lnSpc>
                          <a:spcPct val="115000"/>
                        </a:lnSpc>
                        <a:spcAft>
                          <a:spcPts val="800"/>
                        </a:spcAft>
                        <a:buNone/>
                      </a:pPr>
                      <a:r>
                        <a:rPr lang="en-IN" sz="2300" kern="100">
                          <a:effectLst/>
                        </a:rPr>
                        <a:t>Output Axes</a:t>
                      </a:r>
                      <a:endParaRPr lang="en-IN" sz="2300" kern="100">
                        <a:effectLst/>
                        <a:latin typeface="Aptos" panose="020B0004020202020204" pitchFamily="34" charset="0"/>
                        <a:ea typeface="Aptos" panose="020B0004020202020204" pitchFamily="34" charset="0"/>
                        <a:cs typeface="Times New Roman" panose="02020603050405020304" pitchFamily="18" charset="0"/>
                      </a:endParaRPr>
                    </a:p>
                  </a:txBody>
                  <a:tcPr marL="133065" marR="133065" marT="0" marB="0"/>
                </a:tc>
                <a:tc>
                  <a:txBody>
                    <a:bodyPr/>
                    <a:lstStyle/>
                    <a:p>
                      <a:pPr>
                        <a:lnSpc>
                          <a:spcPct val="115000"/>
                        </a:lnSpc>
                        <a:spcAft>
                          <a:spcPts val="800"/>
                        </a:spcAft>
                        <a:buNone/>
                      </a:pPr>
                      <a:r>
                        <a:rPr lang="en-IN" sz="2300" kern="100">
                          <a:effectLst/>
                        </a:rPr>
                        <a:t>Principal Components</a:t>
                      </a:r>
                      <a:endParaRPr lang="en-IN" sz="2300" kern="100">
                        <a:effectLst/>
                        <a:latin typeface="Aptos" panose="020B0004020202020204" pitchFamily="34" charset="0"/>
                        <a:ea typeface="Aptos" panose="020B0004020202020204" pitchFamily="34" charset="0"/>
                        <a:cs typeface="Times New Roman" panose="02020603050405020304" pitchFamily="18" charset="0"/>
                      </a:endParaRPr>
                    </a:p>
                  </a:txBody>
                  <a:tcPr marL="133065" marR="133065" marT="0" marB="0"/>
                </a:tc>
                <a:tc>
                  <a:txBody>
                    <a:bodyPr/>
                    <a:lstStyle/>
                    <a:p>
                      <a:pPr>
                        <a:lnSpc>
                          <a:spcPct val="115000"/>
                        </a:lnSpc>
                        <a:spcAft>
                          <a:spcPts val="800"/>
                        </a:spcAft>
                        <a:buNone/>
                      </a:pPr>
                      <a:r>
                        <a:rPr lang="en-IN" sz="2300" kern="100">
                          <a:effectLst/>
                        </a:rPr>
                        <a:t>Discriminant Components</a:t>
                      </a:r>
                      <a:endParaRPr lang="en-IN" sz="2300" kern="100">
                        <a:effectLst/>
                        <a:latin typeface="Aptos" panose="020B0004020202020204" pitchFamily="34" charset="0"/>
                        <a:ea typeface="Aptos" panose="020B0004020202020204" pitchFamily="34" charset="0"/>
                        <a:cs typeface="Times New Roman" panose="02020603050405020304" pitchFamily="18" charset="0"/>
                      </a:endParaRPr>
                    </a:p>
                  </a:txBody>
                  <a:tcPr marL="133065" marR="133065" marT="0" marB="0"/>
                </a:tc>
                <a:extLst>
                  <a:ext uri="{0D108BD9-81ED-4DB2-BD59-A6C34878D82A}">
                    <a16:rowId xmlns:a16="http://schemas.microsoft.com/office/drawing/2014/main" val="1504537528"/>
                  </a:ext>
                </a:extLst>
              </a:tr>
              <a:tr h="863693">
                <a:tc>
                  <a:txBody>
                    <a:bodyPr/>
                    <a:lstStyle/>
                    <a:p>
                      <a:pPr>
                        <a:lnSpc>
                          <a:spcPct val="115000"/>
                        </a:lnSpc>
                        <a:spcAft>
                          <a:spcPts val="800"/>
                        </a:spcAft>
                        <a:buNone/>
                      </a:pPr>
                      <a:r>
                        <a:rPr lang="en-IN" sz="2300" kern="100">
                          <a:effectLst/>
                        </a:rPr>
                        <a:t>Best For</a:t>
                      </a:r>
                      <a:endParaRPr lang="en-IN" sz="2300" kern="100">
                        <a:effectLst/>
                        <a:latin typeface="Aptos" panose="020B0004020202020204" pitchFamily="34" charset="0"/>
                        <a:ea typeface="Aptos" panose="020B0004020202020204" pitchFamily="34" charset="0"/>
                        <a:cs typeface="Times New Roman" panose="02020603050405020304" pitchFamily="18" charset="0"/>
                      </a:endParaRPr>
                    </a:p>
                  </a:txBody>
                  <a:tcPr marL="133065" marR="133065" marT="0" marB="0"/>
                </a:tc>
                <a:tc>
                  <a:txBody>
                    <a:bodyPr/>
                    <a:lstStyle/>
                    <a:p>
                      <a:pPr>
                        <a:lnSpc>
                          <a:spcPct val="115000"/>
                        </a:lnSpc>
                        <a:spcAft>
                          <a:spcPts val="800"/>
                        </a:spcAft>
                        <a:buNone/>
                      </a:pPr>
                      <a:r>
                        <a:rPr lang="en-IN" sz="2300" kern="100">
                          <a:effectLst/>
                        </a:rPr>
                        <a:t>Data compression</a:t>
                      </a:r>
                      <a:endParaRPr lang="en-IN" sz="2300" kern="100">
                        <a:effectLst/>
                        <a:latin typeface="Aptos" panose="020B0004020202020204" pitchFamily="34" charset="0"/>
                        <a:ea typeface="Aptos" panose="020B0004020202020204" pitchFamily="34" charset="0"/>
                        <a:cs typeface="Times New Roman" panose="02020603050405020304" pitchFamily="18" charset="0"/>
                      </a:endParaRPr>
                    </a:p>
                  </a:txBody>
                  <a:tcPr marL="133065" marR="133065" marT="0" marB="0"/>
                </a:tc>
                <a:tc>
                  <a:txBody>
                    <a:bodyPr/>
                    <a:lstStyle/>
                    <a:p>
                      <a:pPr>
                        <a:lnSpc>
                          <a:spcPct val="115000"/>
                        </a:lnSpc>
                        <a:spcAft>
                          <a:spcPts val="800"/>
                        </a:spcAft>
                        <a:buNone/>
                      </a:pPr>
                      <a:r>
                        <a:rPr lang="en-IN" sz="2300" kern="100" dirty="0">
                          <a:effectLst/>
                        </a:rPr>
                        <a:t>Classification / Class separation</a:t>
                      </a:r>
                      <a:endParaRPr lang="en-IN" sz="2300" kern="100" dirty="0">
                        <a:effectLst/>
                        <a:latin typeface="Aptos" panose="020B0004020202020204" pitchFamily="34" charset="0"/>
                        <a:ea typeface="Aptos" panose="020B0004020202020204" pitchFamily="34" charset="0"/>
                        <a:cs typeface="Times New Roman" panose="02020603050405020304" pitchFamily="18" charset="0"/>
                      </a:endParaRPr>
                    </a:p>
                  </a:txBody>
                  <a:tcPr marL="133065" marR="133065" marT="0" marB="0"/>
                </a:tc>
                <a:extLst>
                  <a:ext uri="{0D108BD9-81ED-4DB2-BD59-A6C34878D82A}">
                    <a16:rowId xmlns:a16="http://schemas.microsoft.com/office/drawing/2014/main" val="3362706352"/>
                  </a:ext>
                </a:extLst>
              </a:tr>
            </a:tbl>
          </a:graphicData>
        </a:graphic>
      </p:graphicFrame>
    </p:spTree>
    <p:extLst>
      <p:ext uri="{BB962C8B-B14F-4D97-AF65-F5344CB8AC3E}">
        <p14:creationId xmlns:p14="http://schemas.microsoft.com/office/powerpoint/2010/main" val="291687702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F42458-61B8-6FB9-39F3-5A0CFEFDD51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A531C76-D36D-2867-AAFB-64B8E65CB87B}"/>
              </a:ext>
            </a:extLst>
          </p:cNvPr>
          <p:cNvSpPr>
            <a:spLocks noGrp="1"/>
          </p:cNvSpPr>
          <p:nvPr>
            <p:ph idx="1"/>
          </p:nvPr>
        </p:nvSpPr>
        <p:spPr>
          <a:xfrm>
            <a:off x="702853" y="707571"/>
            <a:ext cx="10900568" cy="5486400"/>
          </a:xfrm>
        </p:spPr>
        <p:txBody>
          <a:bodyPr>
            <a:normAutofit/>
          </a:bodyPr>
          <a:lstStyle/>
          <a:p>
            <a:pPr marL="0" indent="0">
              <a:buNone/>
            </a:pPr>
            <a:r>
              <a:rPr lang="en-US" sz="2800" b="1" dirty="0"/>
              <a:t>3. t-Distributed Stochastic Neighbor Embedding (t-SNE)</a:t>
            </a:r>
          </a:p>
          <a:p>
            <a:pPr marL="0" indent="0">
              <a:buNone/>
            </a:pPr>
            <a:r>
              <a:rPr lang="en-US" sz="2400" dirty="0"/>
              <a:t>t-SNE (t-Distributed Stochastic Neighbor Embedding) is a </a:t>
            </a:r>
            <a:r>
              <a:rPr lang="en-US" sz="2400" b="1" dirty="0">
                <a:solidFill>
                  <a:schemeClr val="tx2">
                    <a:lumMod val="75000"/>
                    <a:lumOff val="25000"/>
                  </a:schemeClr>
                </a:solidFill>
              </a:rPr>
              <a:t>nonlinear dimensionality reduction technique</a:t>
            </a:r>
            <a:r>
              <a:rPr lang="en-US" sz="2400" dirty="0"/>
              <a:t> that is mainly used for </a:t>
            </a:r>
            <a:r>
              <a:rPr lang="en-US" sz="2400" b="1" dirty="0">
                <a:solidFill>
                  <a:schemeClr val="tx2">
                    <a:lumMod val="75000"/>
                    <a:lumOff val="25000"/>
                  </a:schemeClr>
                </a:solidFill>
              </a:rPr>
              <a:t>visualizing high-dimensional data </a:t>
            </a:r>
            <a:r>
              <a:rPr lang="en-US" sz="2400" dirty="0"/>
              <a:t>in 2D or 3D.</a:t>
            </a:r>
          </a:p>
          <a:p>
            <a:pPr marL="0" indent="0">
              <a:buNone/>
            </a:pPr>
            <a:r>
              <a:rPr lang="en-US" sz="2400" dirty="0"/>
              <a:t>It turns complex, high-dimensional data (like </a:t>
            </a:r>
            <a:r>
              <a:rPr lang="en-US" sz="2400" b="1" dirty="0"/>
              <a:t>images</a:t>
            </a:r>
            <a:r>
              <a:rPr lang="en-US" sz="2400" dirty="0"/>
              <a:t>, </a:t>
            </a:r>
            <a:r>
              <a:rPr lang="en-US" sz="2400" b="1" dirty="0"/>
              <a:t>texts</a:t>
            </a:r>
            <a:r>
              <a:rPr lang="en-US" sz="2400" dirty="0"/>
              <a:t>, etc.) into a human-understandable </a:t>
            </a:r>
            <a:r>
              <a:rPr lang="en-US" sz="2400" b="1" dirty="0">
                <a:solidFill>
                  <a:schemeClr val="tx2">
                    <a:lumMod val="75000"/>
                    <a:lumOff val="25000"/>
                  </a:schemeClr>
                </a:solidFill>
              </a:rPr>
              <a:t>2D</a:t>
            </a:r>
            <a:r>
              <a:rPr lang="en-US" sz="2400" dirty="0"/>
              <a:t> or </a:t>
            </a:r>
            <a:r>
              <a:rPr lang="en-US" sz="2400" b="1" dirty="0">
                <a:solidFill>
                  <a:schemeClr val="tx2">
                    <a:lumMod val="75000"/>
                    <a:lumOff val="25000"/>
                  </a:schemeClr>
                </a:solidFill>
              </a:rPr>
              <a:t>3D</a:t>
            </a:r>
            <a:r>
              <a:rPr lang="en-US" sz="2400" dirty="0"/>
              <a:t> plot, while trying to preserve the local structure — meaning points that were close in the original space stay close in the low-dimensional view.</a:t>
            </a:r>
            <a:endParaRPr lang="en-IN" sz="2400" dirty="0"/>
          </a:p>
        </p:txBody>
      </p:sp>
    </p:spTree>
    <p:extLst>
      <p:ext uri="{BB962C8B-B14F-4D97-AF65-F5344CB8AC3E}">
        <p14:creationId xmlns:p14="http://schemas.microsoft.com/office/powerpoint/2010/main" val="349987561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AD418-96DA-79F1-952D-6EA1F837E4E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E249630-F845-3CEA-A3C2-F2905B761698}"/>
              </a:ext>
            </a:extLst>
          </p:cNvPr>
          <p:cNvSpPr>
            <a:spLocks noGrp="1"/>
          </p:cNvSpPr>
          <p:nvPr>
            <p:ph idx="1"/>
          </p:nvPr>
        </p:nvSpPr>
        <p:spPr>
          <a:xfrm>
            <a:off x="702853" y="1164771"/>
            <a:ext cx="10900568" cy="5029200"/>
          </a:xfrm>
        </p:spPr>
        <p:txBody>
          <a:bodyPr>
            <a:normAutofit/>
          </a:bodyPr>
          <a:lstStyle/>
          <a:p>
            <a:pPr marL="0" indent="0">
              <a:buNone/>
            </a:pPr>
            <a:r>
              <a:rPr lang="en-US" sz="2800" b="1" dirty="0"/>
              <a:t>What t-SNE Does (In Simple Terms)</a:t>
            </a:r>
          </a:p>
          <a:p>
            <a:r>
              <a:rPr lang="en-US" sz="2800" dirty="0"/>
              <a:t>Imagine you have data points in </a:t>
            </a:r>
            <a:r>
              <a:rPr lang="en-US" sz="2800" b="1" dirty="0">
                <a:solidFill>
                  <a:schemeClr val="tx2">
                    <a:lumMod val="75000"/>
                    <a:lumOff val="25000"/>
                  </a:schemeClr>
                </a:solidFill>
              </a:rPr>
              <a:t>100D</a:t>
            </a:r>
            <a:r>
              <a:rPr lang="en-US" sz="2800" dirty="0"/>
              <a:t>.</a:t>
            </a:r>
          </a:p>
          <a:p>
            <a:r>
              <a:rPr lang="en-US" sz="2800" dirty="0"/>
              <a:t>You want to plot them in </a:t>
            </a:r>
            <a:r>
              <a:rPr lang="en-US" sz="2800" b="1" dirty="0">
                <a:solidFill>
                  <a:schemeClr val="tx2">
                    <a:lumMod val="75000"/>
                    <a:lumOff val="25000"/>
                  </a:schemeClr>
                </a:solidFill>
              </a:rPr>
              <a:t>2D</a:t>
            </a:r>
            <a:r>
              <a:rPr lang="en-US" sz="2800" dirty="0"/>
              <a:t>, but just projecting them won't show patterns.</a:t>
            </a:r>
          </a:p>
          <a:p>
            <a:r>
              <a:rPr lang="en-US" sz="2800" dirty="0"/>
              <a:t>t-SNE finds a </a:t>
            </a:r>
            <a:r>
              <a:rPr lang="en-US" sz="2800" b="1" dirty="0">
                <a:solidFill>
                  <a:schemeClr val="tx2">
                    <a:lumMod val="75000"/>
                    <a:lumOff val="25000"/>
                  </a:schemeClr>
                </a:solidFill>
              </a:rPr>
              <a:t>clever way to place </a:t>
            </a:r>
            <a:r>
              <a:rPr lang="en-US" sz="2800" dirty="0"/>
              <a:t>the points in 2D so that:</a:t>
            </a:r>
          </a:p>
          <a:p>
            <a:pPr lvl="1"/>
            <a:r>
              <a:rPr lang="en-US" sz="2800" dirty="0"/>
              <a:t>Points that were </a:t>
            </a:r>
            <a:r>
              <a:rPr lang="en-US" sz="2800" b="1" dirty="0">
                <a:solidFill>
                  <a:schemeClr val="tx2">
                    <a:lumMod val="75000"/>
                    <a:lumOff val="25000"/>
                  </a:schemeClr>
                </a:solidFill>
              </a:rPr>
              <a:t>close together </a:t>
            </a:r>
            <a:r>
              <a:rPr lang="en-US" sz="2800" dirty="0"/>
              <a:t>in high-dim remain close.</a:t>
            </a:r>
          </a:p>
          <a:p>
            <a:pPr lvl="1"/>
            <a:r>
              <a:rPr lang="en-US" sz="2800" dirty="0"/>
              <a:t>Points that were </a:t>
            </a:r>
            <a:r>
              <a:rPr lang="en-US" sz="2800" b="1" dirty="0">
                <a:solidFill>
                  <a:schemeClr val="tx2">
                    <a:lumMod val="75000"/>
                    <a:lumOff val="25000"/>
                  </a:schemeClr>
                </a:solidFill>
              </a:rPr>
              <a:t>far apart </a:t>
            </a:r>
            <a:r>
              <a:rPr lang="en-US" sz="2800" dirty="0"/>
              <a:t>stay far apart (as much as possible).</a:t>
            </a:r>
            <a:endParaRPr lang="en-IN" sz="2800" dirty="0"/>
          </a:p>
        </p:txBody>
      </p:sp>
    </p:spTree>
    <p:extLst>
      <p:ext uri="{BB962C8B-B14F-4D97-AF65-F5344CB8AC3E}">
        <p14:creationId xmlns:p14="http://schemas.microsoft.com/office/powerpoint/2010/main" val="294840448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47D20-359C-5631-D8C9-5B463B7504C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F076A21-32B4-02E3-E6F8-7480E9ED943C}"/>
              </a:ext>
            </a:extLst>
          </p:cNvPr>
          <p:cNvSpPr>
            <a:spLocks noGrp="1"/>
          </p:cNvSpPr>
          <p:nvPr>
            <p:ph idx="1"/>
          </p:nvPr>
        </p:nvSpPr>
        <p:spPr>
          <a:xfrm>
            <a:off x="702853" y="707571"/>
            <a:ext cx="10900568" cy="5486400"/>
          </a:xfrm>
        </p:spPr>
        <p:txBody>
          <a:bodyPr>
            <a:normAutofit/>
          </a:bodyPr>
          <a:lstStyle/>
          <a:p>
            <a:pPr marL="0" indent="0">
              <a:buNone/>
            </a:pPr>
            <a:r>
              <a:rPr lang="en-IN" sz="2800" b="1" dirty="0"/>
              <a:t>t-SNE is good for:</a:t>
            </a:r>
            <a:endParaRPr lang="en-IN" sz="3200" b="1" dirty="0"/>
          </a:p>
        </p:txBody>
      </p:sp>
      <p:graphicFrame>
        <p:nvGraphicFramePr>
          <p:cNvPr id="2" name="Table 1">
            <a:extLst>
              <a:ext uri="{FF2B5EF4-FFF2-40B4-BE49-F238E27FC236}">
                <a16:creationId xmlns:a16="http://schemas.microsoft.com/office/drawing/2014/main" id="{2A32D211-265E-941C-CBF8-991C5C50A4EA}"/>
              </a:ext>
            </a:extLst>
          </p:cNvPr>
          <p:cNvGraphicFramePr>
            <a:graphicFrameLocks noGrp="1"/>
          </p:cNvGraphicFramePr>
          <p:nvPr>
            <p:extLst>
              <p:ext uri="{D42A27DB-BD31-4B8C-83A1-F6EECF244321}">
                <p14:modId xmlns:p14="http://schemas.microsoft.com/office/powerpoint/2010/main" val="3591448358"/>
              </p:ext>
            </p:extLst>
          </p:nvPr>
        </p:nvGraphicFramePr>
        <p:xfrm>
          <a:off x="1045617" y="1625483"/>
          <a:ext cx="9676812" cy="3294861"/>
        </p:xfrm>
        <a:graphic>
          <a:graphicData uri="http://schemas.openxmlformats.org/drawingml/2006/table">
            <a:tbl>
              <a:tblPr firstRow="1" firstCol="1" bandRow="1">
                <a:tableStyleId>{5C22544A-7EE6-4342-B048-85BDC9FD1C3A}</a:tableStyleId>
              </a:tblPr>
              <a:tblGrid>
                <a:gridCol w="4838406">
                  <a:extLst>
                    <a:ext uri="{9D8B030D-6E8A-4147-A177-3AD203B41FA5}">
                      <a16:colId xmlns:a16="http://schemas.microsoft.com/office/drawing/2014/main" val="4218044082"/>
                    </a:ext>
                  </a:extLst>
                </a:gridCol>
                <a:gridCol w="4838406">
                  <a:extLst>
                    <a:ext uri="{9D8B030D-6E8A-4147-A177-3AD203B41FA5}">
                      <a16:colId xmlns:a16="http://schemas.microsoft.com/office/drawing/2014/main" val="2219206227"/>
                    </a:ext>
                  </a:extLst>
                </a:gridCol>
              </a:tblGrid>
              <a:tr h="805821">
                <a:tc>
                  <a:txBody>
                    <a:bodyPr/>
                    <a:lstStyle/>
                    <a:p>
                      <a:pPr>
                        <a:lnSpc>
                          <a:spcPct val="115000"/>
                        </a:lnSpc>
                        <a:spcAft>
                          <a:spcPts val="800"/>
                        </a:spcAft>
                        <a:buNone/>
                      </a:pPr>
                      <a:r>
                        <a:rPr lang="en-IN" sz="2400" kern="100">
                          <a:effectLst/>
                        </a:rPr>
                        <a:t>Use Case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Why It's Useful</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904809589"/>
                  </a:ext>
                </a:extLst>
              </a:tr>
              <a:tr h="922184">
                <a:tc>
                  <a:txBody>
                    <a:bodyPr/>
                    <a:lstStyle/>
                    <a:p>
                      <a:pPr>
                        <a:lnSpc>
                          <a:spcPct val="115000"/>
                        </a:lnSpc>
                        <a:spcAft>
                          <a:spcPts val="800"/>
                        </a:spcAft>
                        <a:buNone/>
                      </a:pPr>
                      <a:r>
                        <a:rPr lang="en-IN" sz="2400" kern="100">
                          <a:effectLst/>
                        </a:rPr>
                        <a:t>Visualizing embeddings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Like word2vec, BERT, image vectors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869883996"/>
                  </a:ext>
                </a:extLst>
              </a:tr>
              <a:tr h="783428">
                <a:tc>
                  <a:txBody>
                    <a:bodyPr/>
                    <a:lstStyle/>
                    <a:p>
                      <a:pPr>
                        <a:lnSpc>
                          <a:spcPct val="115000"/>
                        </a:lnSpc>
                        <a:spcAft>
                          <a:spcPts val="800"/>
                        </a:spcAft>
                        <a:buNone/>
                      </a:pPr>
                      <a:r>
                        <a:rPr lang="en-IN" sz="2400" kern="100">
                          <a:effectLst/>
                        </a:rPr>
                        <a:t>Cluster analysis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See groupings without labels</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18593287"/>
                  </a:ext>
                </a:extLst>
              </a:tr>
              <a:tr h="783428">
                <a:tc>
                  <a:txBody>
                    <a:bodyPr/>
                    <a:lstStyle/>
                    <a:p>
                      <a:pPr>
                        <a:lnSpc>
                          <a:spcPct val="115000"/>
                        </a:lnSpc>
                        <a:spcAft>
                          <a:spcPts val="800"/>
                        </a:spcAft>
                        <a:buNone/>
                      </a:pPr>
                      <a:r>
                        <a:rPr lang="en-IN" sz="2400" kern="100">
                          <a:effectLst/>
                        </a:rPr>
                        <a:t>Exploratory Data Analysis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Spot patterns or anomalies</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59881175"/>
                  </a:ext>
                </a:extLst>
              </a:tr>
            </a:tbl>
          </a:graphicData>
        </a:graphic>
      </p:graphicFrame>
    </p:spTree>
    <p:extLst>
      <p:ext uri="{BB962C8B-B14F-4D97-AF65-F5344CB8AC3E}">
        <p14:creationId xmlns:p14="http://schemas.microsoft.com/office/powerpoint/2010/main" val="54393217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C47C2B-49F6-1B11-32D6-3C260725C1B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3455B90-D1A8-A3B5-7484-0FACBF89CCD0}"/>
              </a:ext>
            </a:extLst>
          </p:cNvPr>
          <p:cNvSpPr>
            <a:spLocks noGrp="1"/>
          </p:cNvSpPr>
          <p:nvPr>
            <p:ph idx="1"/>
          </p:nvPr>
        </p:nvSpPr>
        <p:spPr>
          <a:xfrm>
            <a:off x="702853" y="544286"/>
            <a:ext cx="10900568" cy="5649685"/>
          </a:xfrm>
        </p:spPr>
        <p:txBody>
          <a:bodyPr>
            <a:normAutofit/>
          </a:bodyPr>
          <a:lstStyle/>
          <a:p>
            <a:pPr marL="0" indent="0">
              <a:buNone/>
            </a:pPr>
            <a:r>
              <a:rPr lang="en-US" sz="3000" b="1" dirty="0"/>
              <a:t>3. Association Rule Learning: (</a:t>
            </a:r>
            <a:r>
              <a:rPr lang="en-US" sz="2800" b="1" dirty="0">
                <a:solidFill>
                  <a:srgbClr val="374151"/>
                </a:solidFill>
                <a:latin typeface="Söhne"/>
              </a:rPr>
              <a:t>Association Rule)</a:t>
            </a:r>
          </a:p>
          <a:p>
            <a:pPr marL="0" indent="0">
              <a:buNone/>
            </a:pPr>
            <a:r>
              <a:rPr lang="en-US" sz="2400" dirty="0"/>
              <a:t>An association rule is an </a:t>
            </a:r>
            <a:r>
              <a:rPr lang="en-US" sz="2400" b="1" dirty="0"/>
              <a:t>unsupervised learning </a:t>
            </a:r>
            <a:r>
              <a:rPr lang="en-US" sz="2400" dirty="0"/>
              <a:t>method which is used </a:t>
            </a:r>
            <a:r>
              <a:rPr lang="en-US" sz="2400" b="1" dirty="0"/>
              <a:t>for finding the </a:t>
            </a:r>
            <a:r>
              <a:rPr lang="en-US" sz="2400" b="1" dirty="0">
                <a:solidFill>
                  <a:schemeClr val="tx2">
                    <a:lumMod val="75000"/>
                    <a:lumOff val="25000"/>
                  </a:schemeClr>
                </a:solidFill>
              </a:rPr>
              <a:t>relationships between variables </a:t>
            </a:r>
            <a:r>
              <a:rPr lang="en-US" sz="2400" b="1" dirty="0"/>
              <a:t>in the large database</a:t>
            </a:r>
            <a:r>
              <a:rPr lang="en-US" sz="2400" dirty="0"/>
              <a:t>. It determines the </a:t>
            </a:r>
            <a:r>
              <a:rPr lang="en-US" sz="2400" b="1" dirty="0"/>
              <a:t>set of items that occurs together</a:t>
            </a:r>
            <a:r>
              <a:rPr lang="en-US" sz="2400" dirty="0"/>
              <a:t> in the dataset. </a:t>
            </a:r>
          </a:p>
          <a:p>
            <a:pPr marL="0" indent="0">
              <a:buNone/>
            </a:pPr>
            <a:r>
              <a:rPr lang="en-US" sz="2400" dirty="0"/>
              <a:t>Association rule makes marketing strategy more effective. Such as people who buy X item (suppose a bread) are also tend to purchase Y (Butter/Jam) item. A typical example of Association rule is </a:t>
            </a:r>
            <a:r>
              <a:rPr lang="en-US" sz="2400" b="1" dirty="0">
                <a:solidFill>
                  <a:srgbClr val="C00000"/>
                </a:solidFill>
              </a:rPr>
              <a:t>Market Basket Analysis(MBA)</a:t>
            </a:r>
            <a:r>
              <a:rPr lang="en-US" sz="2400" dirty="0">
                <a:solidFill>
                  <a:srgbClr val="C00000"/>
                </a:solidFill>
              </a:rPr>
              <a:t>.</a:t>
            </a:r>
          </a:p>
          <a:p>
            <a:pPr marL="0" indent="0">
              <a:buNone/>
            </a:pPr>
            <a:r>
              <a:rPr lang="en-US" sz="2400" dirty="0"/>
              <a:t>We typically see association rule mining used for </a:t>
            </a:r>
            <a:r>
              <a:rPr lang="en-US" sz="2400" b="1" dirty="0">
                <a:solidFill>
                  <a:schemeClr val="tx2">
                    <a:lumMod val="75000"/>
                    <a:lumOff val="25000"/>
                  </a:schemeClr>
                </a:solidFill>
              </a:rPr>
              <a:t>market basket analysis</a:t>
            </a:r>
            <a:r>
              <a:rPr lang="en-US" sz="2400" dirty="0"/>
              <a:t>: this is a data mining technique </a:t>
            </a:r>
            <a:r>
              <a:rPr lang="en-US" sz="2400" b="1" dirty="0"/>
              <a:t>retailers</a:t>
            </a:r>
            <a:r>
              <a:rPr lang="en-US" sz="2400" dirty="0"/>
              <a:t> use to gain a better understanding of </a:t>
            </a:r>
            <a:r>
              <a:rPr lang="en-US" sz="2400" b="1" dirty="0">
                <a:solidFill>
                  <a:schemeClr val="tx2">
                    <a:lumMod val="75000"/>
                    <a:lumOff val="25000"/>
                  </a:schemeClr>
                </a:solidFill>
              </a:rPr>
              <a:t>customer purchasing patterns</a:t>
            </a:r>
            <a:r>
              <a:rPr lang="en-US" sz="2400" dirty="0"/>
              <a:t> based on the relationships between various products. </a:t>
            </a:r>
          </a:p>
          <a:p>
            <a:pPr marL="0" indent="0">
              <a:buNone/>
            </a:pPr>
            <a:r>
              <a:rPr lang="en-US" sz="2400" dirty="0"/>
              <a:t>So Association is the process of discovering </a:t>
            </a:r>
            <a:r>
              <a:rPr lang="en-US" sz="2400" b="1" dirty="0">
                <a:solidFill>
                  <a:schemeClr val="tx2">
                    <a:lumMod val="75000"/>
                    <a:lumOff val="25000"/>
                  </a:schemeClr>
                </a:solidFill>
              </a:rPr>
              <a:t>interesting</a:t>
            </a:r>
            <a:r>
              <a:rPr lang="en-US" sz="2400" b="1" dirty="0"/>
              <a:t> </a:t>
            </a:r>
            <a:r>
              <a:rPr lang="en-US" sz="2400" b="1" dirty="0">
                <a:solidFill>
                  <a:schemeClr val="tx2">
                    <a:lumMod val="75000"/>
                    <a:lumOff val="25000"/>
                  </a:schemeClr>
                </a:solidFill>
              </a:rPr>
              <a:t>relationships</a:t>
            </a:r>
            <a:r>
              <a:rPr lang="en-US" sz="2400" dirty="0"/>
              <a:t>, </a:t>
            </a:r>
            <a:r>
              <a:rPr lang="en-US" sz="2400" b="1" dirty="0">
                <a:solidFill>
                  <a:schemeClr val="tx2">
                    <a:lumMod val="75000"/>
                    <a:lumOff val="25000"/>
                  </a:schemeClr>
                </a:solidFill>
              </a:rPr>
              <a:t>associations</a:t>
            </a:r>
            <a:r>
              <a:rPr lang="en-US" sz="2400" dirty="0"/>
              <a:t>, or </a:t>
            </a:r>
            <a:r>
              <a:rPr lang="en-US" sz="2400" b="1" dirty="0">
                <a:solidFill>
                  <a:schemeClr val="tx2">
                    <a:lumMod val="75000"/>
                    <a:lumOff val="25000"/>
                  </a:schemeClr>
                </a:solidFill>
              </a:rPr>
              <a:t>patterns</a:t>
            </a:r>
            <a:r>
              <a:rPr lang="en-US" sz="2400" dirty="0"/>
              <a:t> </a:t>
            </a:r>
            <a:r>
              <a:rPr lang="en-US" sz="2400" b="1" dirty="0"/>
              <a:t>within</a:t>
            </a:r>
            <a:r>
              <a:rPr lang="en-US" sz="2400" dirty="0"/>
              <a:t> a dataset. This type of analysis is often applied to </a:t>
            </a:r>
            <a:r>
              <a:rPr lang="en-US" sz="2400" b="1" dirty="0">
                <a:solidFill>
                  <a:schemeClr val="tx2">
                    <a:lumMod val="75000"/>
                    <a:lumOff val="25000"/>
                  </a:schemeClr>
                </a:solidFill>
              </a:rPr>
              <a:t>transactional data</a:t>
            </a:r>
            <a:r>
              <a:rPr lang="en-US" sz="2400" dirty="0"/>
              <a:t>, where the goal is to identify associations between items or events that frequently co-occur. Association rules are used to express these relationships, and they help reveal hidden connections in the data.</a:t>
            </a:r>
          </a:p>
          <a:p>
            <a:pPr marL="0" indent="0">
              <a:buNone/>
            </a:pPr>
            <a:endParaRPr lang="en-IN" sz="2400" dirty="0"/>
          </a:p>
        </p:txBody>
      </p:sp>
    </p:spTree>
    <p:extLst>
      <p:ext uri="{BB962C8B-B14F-4D97-AF65-F5344CB8AC3E}">
        <p14:creationId xmlns:p14="http://schemas.microsoft.com/office/powerpoint/2010/main" val="234674371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92D8708-D4C6-2B8D-43BE-C064764A813E}"/>
              </a:ext>
            </a:extLst>
          </p:cNvPr>
          <p:cNvSpPr txBox="1"/>
          <p:nvPr/>
        </p:nvSpPr>
        <p:spPr>
          <a:xfrm>
            <a:off x="712550" y="749428"/>
            <a:ext cx="10608593" cy="830997"/>
          </a:xfrm>
          <a:prstGeom prst="rect">
            <a:avLst/>
          </a:prstGeom>
          <a:noFill/>
        </p:spPr>
        <p:txBody>
          <a:bodyPr wrap="square">
            <a:spAutoFit/>
          </a:bodyPr>
          <a:lstStyle/>
          <a:p>
            <a:r>
              <a:rPr lang="en-US" sz="2400" b="1" i="0" dirty="0">
                <a:solidFill>
                  <a:srgbClr val="333333"/>
                </a:solidFill>
                <a:effectLst/>
                <a:latin typeface="inter-regular"/>
              </a:rPr>
              <a:t>For example</a:t>
            </a:r>
            <a:r>
              <a:rPr lang="en-US" sz="2400" b="0" i="0" dirty="0">
                <a:solidFill>
                  <a:srgbClr val="333333"/>
                </a:solidFill>
                <a:effectLst/>
                <a:latin typeface="inter-regular"/>
              </a:rPr>
              <a:t>, if a customer buys </a:t>
            </a:r>
            <a:r>
              <a:rPr lang="en-US" sz="2400" b="1" i="0" dirty="0">
                <a:solidFill>
                  <a:schemeClr val="tx2">
                    <a:lumMod val="75000"/>
                    <a:lumOff val="25000"/>
                  </a:schemeClr>
                </a:solidFill>
                <a:effectLst/>
                <a:latin typeface="inter-regular"/>
              </a:rPr>
              <a:t>bread</a:t>
            </a:r>
            <a:r>
              <a:rPr lang="en-US" sz="2400" b="0" i="0" dirty="0">
                <a:solidFill>
                  <a:srgbClr val="333333"/>
                </a:solidFill>
                <a:effectLst/>
                <a:latin typeface="inter-regular"/>
              </a:rPr>
              <a:t>, he most likely can also buy </a:t>
            </a:r>
            <a:r>
              <a:rPr lang="en-US" sz="2400" b="1" i="0" dirty="0">
                <a:solidFill>
                  <a:schemeClr val="tx2">
                    <a:lumMod val="75000"/>
                    <a:lumOff val="25000"/>
                  </a:schemeClr>
                </a:solidFill>
                <a:effectLst/>
                <a:latin typeface="inter-regular"/>
              </a:rPr>
              <a:t>butter</a:t>
            </a:r>
            <a:r>
              <a:rPr lang="en-US" sz="2400" b="0" i="0" dirty="0">
                <a:solidFill>
                  <a:srgbClr val="333333"/>
                </a:solidFill>
                <a:effectLst/>
                <a:latin typeface="inter-regular"/>
              </a:rPr>
              <a:t>, </a:t>
            </a:r>
            <a:r>
              <a:rPr lang="en-US" sz="2400" b="1" i="0" dirty="0">
                <a:solidFill>
                  <a:schemeClr val="tx2">
                    <a:lumMod val="75000"/>
                    <a:lumOff val="25000"/>
                  </a:schemeClr>
                </a:solidFill>
                <a:effectLst/>
                <a:latin typeface="inter-regular"/>
              </a:rPr>
              <a:t>eggs</a:t>
            </a:r>
            <a:r>
              <a:rPr lang="en-US" sz="2400" b="0" i="0" dirty="0">
                <a:solidFill>
                  <a:srgbClr val="333333"/>
                </a:solidFill>
                <a:effectLst/>
                <a:latin typeface="inter-regular"/>
              </a:rPr>
              <a:t>, or </a:t>
            </a:r>
            <a:r>
              <a:rPr lang="en-US" sz="2400" b="1" i="0" dirty="0">
                <a:solidFill>
                  <a:schemeClr val="tx2">
                    <a:lumMod val="75000"/>
                    <a:lumOff val="25000"/>
                  </a:schemeClr>
                </a:solidFill>
                <a:effectLst/>
                <a:latin typeface="inter-regular"/>
              </a:rPr>
              <a:t>milk</a:t>
            </a:r>
            <a:r>
              <a:rPr lang="en-US" sz="2400" b="0" i="0" dirty="0">
                <a:solidFill>
                  <a:srgbClr val="333333"/>
                </a:solidFill>
                <a:effectLst/>
                <a:latin typeface="inter-regular"/>
              </a:rPr>
              <a:t>, so these products are stored within a shelf or mostly nearby. </a:t>
            </a:r>
            <a:endParaRPr lang="en-US" sz="2400" dirty="0"/>
          </a:p>
        </p:txBody>
      </p:sp>
      <p:pic>
        <p:nvPicPr>
          <p:cNvPr id="26626" name="Picture 2" descr="Association Rule Learning">
            <a:extLst>
              <a:ext uri="{FF2B5EF4-FFF2-40B4-BE49-F238E27FC236}">
                <a16:creationId xmlns:a16="http://schemas.microsoft.com/office/drawing/2014/main" id="{E2205D0F-4C3B-D3A8-204B-EE55E305616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21756" y="1618439"/>
            <a:ext cx="6484500" cy="43858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1495011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92A527-368F-1329-8327-71108B63F3A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A0B2AD2-5232-10AF-6E18-7F7FD64F2094}"/>
              </a:ext>
            </a:extLst>
          </p:cNvPr>
          <p:cNvSpPr>
            <a:spLocks noGrp="1"/>
          </p:cNvSpPr>
          <p:nvPr>
            <p:ph idx="1"/>
          </p:nvPr>
        </p:nvSpPr>
        <p:spPr>
          <a:xfrm>
            <a:off x="702853" y="544286"/>
            <a:ext cx="10900568" cy="5649685"/>
          </a:xfrm>
        </p:spPr>
        <p:txBody>
          <a:bodyPr>
            <a:normAutofit lnSpcReduction="10000"/>
          </a:bodyPr>
          <a:lstStyle/>
          <a:p>
            <a:pPr marL="0" indent="0">
              <a:buNone/>
            </a:pPr>
            <a:r>
              <a:rPr lang="en-US" sz="2400" b="1" dirty="0"/>
              <a:t>Market Basket Analysis:</a:t>
            </a:r>
          </a:p>
          <a:p>
            <a:pPr marL="0" indent="0">
              <a:buNone/>
            </a:pPr>
            <a:r>
              <a:rPr lang="en-US" sz="2400" dirty="0"/>
              <a:t>Market Basket Analysis is a technique used in </a:t>
            </a:r>
            <a:r>
              <a:rPr lang="en-US" sz="2400" b="1" dirty="0">
                <a:solidFill>
                  <a:schemeClr val="tx2">
                    <a:lumMod val="75000"/>
                    <a:lumOff val="25000"/>
                  </a:schemeClr>
                </a:solidFill>
              </a:rPr>
              <a:t>data mining </a:t>
            </a:r>
            <a:r>
              <a:rPr lang="en-US" sz="2400" b="1" dirty="0"/>
              <a:t>to discover relationships between items bought together </a:t>
            </a:r>
            <a:r>
              <a:rPr lang="en-US" sz="2400" b="1" dirty="0">
                <a:solidFill>
                  <a:schemeClr val="tx2">
                    <a:lumMod val="75000"/>
                    <a:lumOff val="25000"/>
                  </a:schemeClr>
                </a:solidFill>
              </a:rPr>
              <a:t>in a transaction</a:t>
            </a:r>
            <a:r>
              <a:rPr lang="en-US" sz="2400" dirty="0"/>
              <a:t>.</a:t>
            </a:r>
          </a:p>
          <a:p>
            <a:pPr marL="0" indent="0">
              <a:buNone/>
            </a:pPr>
            <a:endParaRPr lang="en-US" sz="2400" dirty="0"/>
          </a:p>
          <a:p>
            <a:pPr marL="0" indent="0">
              <a:buNone/>
            </a:pPr>
            <a:r>
              <a:rPr lang="en-US" sz="2400" b="1" dirty="0"/>
              <a:t>It answers questions like:</a:t>
            </a:r>
          </a:p>
          <a:p>
            <a:pPr marL="0" indent="0">
              <a:buNone/>
            </a:pPr>
            <a:r>
              <a:rPr lang="en-US" sz="2400" dirty="0"/>
              <a:t>   “If a customer buys bread, what is the probability they also buy butter?”</a:t>
            </a:r>
          </a:p>
          <a:p>
            <a:pPr marL="0" indent="0">
              <a:buNone/>
            </a:pPr>
            <a:endParaRPr lang="en-US" sz="2400" dirty="0"/>
          </a:p>
          <a:p>
            <a:pPr marL="0" indent="0">
              <a:buNone/>
            </a:pPr>
            <a:r>
              <a:rPr lang="en-US" sz="2400" b="1" dirty="0"/>
              <a:t>🎯 Real-Life Use Case</a:t>
            </a:r>
          </a:p>
          <a:p>
            <a:r>
              <a:rPr lang="en-US" sz="2400" dirty="0"/>
              <a:t>Imagine you're a supermarket manager. You want to know:</a:t>
            </a:r>
          </a:p>
          <a:p>
            <a:r>
              <a:rPr lang="en-US" sz="2400" dirty="0"/>
              <a:t>What items are </a:t>
            </a:r>
            <a:r>
              <a:rPr lang="en-US" sz="2400" b="1" dirty="0"/>
              <a:t>commonly bought together</a:t>
            </a:r>
            <a:r>
              <a:rPr lang="en-US" sz="2400" dirty="0"/>
              <a:t>?</a:t>
            </a:r>
          </a:p>
          <a:p>
            <a:r>
              <a:rPr lang="en-US" sz="2400" dirty="0"/>
              <a:t>How to </a:t>
            </a:r>
            <a:r>
              <a:rPr lang="en-US" sz="2400" b="1" dirty="0"/>
              <a:t>place items on shelves</a:t>
            </a:r>
            <a:r>
              <a:rPr lang="en-US" sz="2400" dirty="0"/>
              <a:t>?</a:t>
            </a:r>
          </a:p>
          <a:p>
            <a:r>
              <a:rPr lang="en-US" sz="2400" dirty="0"/>
              <a:t>Which </a:t>
            </a:r>
            <a:r>
              <a:rPr lang="en-US" sz="2400" b="1" dirty="0"/>
              <a:t>products to recommend</a:t>
            </a:r>
            <a:r>
              <a:rPr lang="en-US" sz="2400" dirty="0"/>
              <a:t> during checkout?</a:t>
            </a:r>
          </a:p>
          <a:p>
            <a:r>
              <a:rPr lang="en-US" sz="2400" dirty="0"/>
              <a:t>MBA helps you find these patterns using </a:t>
            </a:r>
            <a:r>
              <a:rPr lang="en-US" sz="2400" b="1" dirty="0"/>
              <a:t>customer transaction data</a:t>
            </a:r>
            <a:r>
              <a:rPr lang="en-US" sz="2400" dirty="0"/>
              <a:t>.</a:t>
            </a:r>
          </a:p>
          <a:p>
            <a:pPr marL="0" indent="0">
              <a:buNone/>
            </a:pPr>
            <a:endParaRPr lang="en-IN" sz="2400" dirty="0"/>
          </a:p>
        </p:txBody>
      </p:sp>
    </p:spTree>
    <p:extLst>
      <p:ext uri="{BB962C8B-B14F-4D97-AF65-F5344CB8AC3E}">
        <p14:creationId xmlns:p14="http://schemas.microsoft.com/office/powerpoint/2010/main" val="85493292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390BA9-718B-B02A-A5C8-7F5CA5FEEA3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B216382-05B1-1C4C-C43A-634ADB8BBA90}"/>
              </a:ext>
            </a:extLst>
          </p:cNvPr>
          <p:cNvSpPr>
            <a:spLocks noGrp="1"/>
          </p:cNvSpPr>
          <p:nvPr>
            <p:ph idx="1"/>
          </p:nvPr>
        </p:nvSpPr>
        <p:spPr>
          <a:xfrm>
            <a:off x="702853" y="707571"/>
            <a:ext cx="10900568" cy="5486400"/>
          </a:xfrm>
        </p:spPr>
        <p:txBody>
          <a:bodyPr>
            <a:normAutofit/>
          </a:bodyPr>
          <a:lstStyle/>
          <a:p>
            <a:pPr marL="0" indent="0">
              <a:buNone/>
            </a:pPr>
            <a:r>
              <a:rPr lang="en-IN" sz="2800" b="1" dirty="0"/>
              <a:t>Example Transactions:</a:t>
            </a:r>
          </a:p>
        </p:txBody>
      </p:sp>
      <p:graphicFrame>
        <p:nvGraphicFramePr>
          <p:cNvPr id="2" name="Table 1">
            <a:extLst>
              <a:ext uri="{FF2B5EF4-FFF2-40B4-BE49-F238E27FC236}">
                <a16:creationId xmlns:a16="http://schemas.microsoft.com/office/drawing/2014/main" id="{C6554662-5AE0-D4C1-1B94-A1F7B9DAD466}"/>
              </a:ext>
            </a:extLst>
          </p:cNvPr>
          <p:cNvGraphicFramePr>
            <a:graphicFrameLocks noGrp="1"/>
          </p:cNvGraphicFramePr>
          <p:nvPr>
            <p:extLst>
              <p:ext uri="{D42A27DB-BD31-4B8C-83A1-F6EECF244321}">
                <p14:modId xmlns:p14="http://schemas.microsoft.com/office/powerpoint/2010/main" val="3171657538"/>
              </p:ext>
            </p:extLst>
          </p:nvPr>
        </p:nvGraphicFramePr>
        <p:xfrm>
          <a:off x="1089160" y="1551027"/>
          <a:ext cx="8522926" cy="2542002"/>
        </p:xfrm>
        <a:graphic>
          <a:graphicData uri="http://schemas.openxmlformats.org/drawingml/2006/table">
            <a:tbl>
              <a:tblPr firstRow="1" firstCol="1" bandRow="1">
                <a:tableStyleId>{5C22544A-7EE6-4342-B048-85BDC9FD1C3A}</a:tableStyleId>
              </a:tblPr>
              <a:tblGrid>
                <a:gridCol w="3504611">
                  <a:extLst>
                    <a:ext uri="{9D8B030D-6E8A-4147-A177-3AD203B41FA5}">
                      <a16:colId xmlns:a16="http://schemas.microsoft.com/office/drawing/2014/main" val="236277182"/>
                    </a:ext>
                  </a:extLst>
                </a:gridCol>
                <a:gridCol w="5018315">
                  <a:extLst>
                    <a:ext uri="{9D8B030D-6E8A-4147-A177-3AD203B41FA5}">
                      <a16:colId xmlns:a16="http://schemas.microsoft.com/office/drawing/2014/main" val="1917051980"/>
                    </a:ext>
                  </a:extLst>
                </a:gridCol>
              </a:tblGrid>
              <a:tr h="423667">
                <a:tc>
                  <a:txBody>
                    <a:bodyPr/>
                    <a:lstStyle/>
                    <a:p>
                      <a:pPr>
                        <a:lnSpc>
                          <a:spcPct val="115000"/>
                        </a:lnSpc>
                        <a:spcAft>
                          <a:spcPts val="800"/>
                        </a:spcAft>
                        <a:buNone/>
                      </a:pPr>
                      <a:r>
                        <a:rPr lang="en-IN" sz="2400" kern="100" dirty="0">
                          <a:effectLst/>
                        </a:rPr>
                        <a:t>Transaction ID</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Items Purchased</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52903999"/>
                  </a:ext>
                </a:extLst>
              </a:tr>
              <a:tr h="423667">
                <a:tc>
                  <a:txBody>
                    <a:bodyPr/>
                    <a:lstStyle/>
                    <a:p>
                      <a:pPr>
                        <a:lnSpc>
                          <a:spcPct val="115000"/>
                        </a:lnSpc>
                        <a:spcAft>
                          <a:spcPts val="800"/>
                        </a:spcAft>
                        <a:buNone/>
                      </a:pPr>
                      <a:r>
                        <a:rPr lang="en-IN" sz="2400" kern="100">
                          <a:effectLst/>
                        </a:rPr>
                        <a:t>T1</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Bread, Butter, Milk</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265661100"/>
                  </a:ext>
                </a:extLst>
              </a:tr>
              <a:tr h="423667">
                <a:tc>
                  <a:txBody>
                    <a:bodyPr/>
                    <a:lstStyle/>
                    <a:p>
                      <a:pPr>
                        <a:lnSpc>
                          <a:spcPct val="115000"/>
                        </a:lnSpc>
                        <a:spcAft>
                          <a:spcPts val="800"/>
                        </a:spcAft>
                        <a:buNone/>
                      </a:pPr>
                      <a:r>
                        <a:rPr lang="en-IN" sz="2400" kern="100">
                          <a:effectLst/>
                        </a:rPr>
                        <a:t>T2</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Bread, Butter</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787335525"/>
                  </a:ext>
                </a:extLst>
              </a:tr>
              <a:tr h="423667">
                <a:tc>
                  <a:txBody>
                    <a:bodyPr/>
                    <a:lstStyle/>
                    <a:p>
                      <a:pPr>
                        <a:lnSpc>
                          <a:spcPct val="115000"/>
                        </a:lnSpc>
                        <a:spcAft>
                          <a:spcPts val="800"/>
                        </a:spcAft>
                        <a:buNone/>
                      </a:pPr>
                      <a:r>
                        <a:rPr lang="en-IN" sz="2400" kern="100">
                          <a:effectLst/>
                        </a:rPr>
                        <a:t>T3</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Milk, Diaper, Beer, Eggs</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391439114"/>
                  </a:ext>
                </a:extLst>
              </a:tr>
              <a:tr h="423667">
                <a:tc>
                  <a:txBody>
                    <a:bodyPr/>
                    <a:lstStyle/>
                    <a:p>
                      <a:pPr>
                        <a:lnSpc>
                          <a:spcPct val="115000"/>
                        </a:lnSpc>
                        <a:spcAft>
                          <a:spcPts val="800"/>
                        </a:spcAft>
                        <a:buNone/>
                      </a:pPr>
                      <a:r>
                        <a:rPr lang="en-IN" sz="2400" kern="100">
                          <a:effectLst/>
                        </a:rPr>
                        <a:t>T4</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Bread, Milk, Diaper, Beer</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6499379"/>
                  </a:ext>
                </a:extLst>
              </a:tr>
              <a:tr h="423667">
                <a:tc>
                  <a:txBody>
                    <a:bodyPr/>
                    <a:lstStyle/>
                    <a:p>
                      <a:pPr>
                        <a:lnSpc>
                          <a:spcPct val="115000"/>
                        </a:lnSpc>
                        <a:spcAft>
                          <a:spcPts val="800"/>
                        </a:spcAft>
                        <a:buNone/>
                      </a:pPr>
                      <a:r>
                        <a:rPr lang="en-IN" sz="2400" kern="100">
                          <a:effectLst/>
                        </a:rPr>
                        <a:t>T5</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Bread, Milk, Diaper, Cola</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503681299"/>
                  </a:ext>
                </a:extLst>
              </a:tr>
            </a:tbl>
          </a:graphicData>
        </a:graphic>
      </p:graphicFrame>
    </p:spTree>
    <p:extLst>
      <p:ext uri="{BB962C8B-B14F-4D97-AF65-F5344CB8AC3E}">
        <p14:creationId xmlns:p14="http://schemas.microsoft.com/office/powerpoint/2010/main" val="315166046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D7261-CDC8-70E3-97F7-E9FF18C6DD1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79060EB-682A-D3EE-F7A4-02216EE54687}"/>
              </a:ext>
            </a:extLst>
          </p:cNvPr>
          <p:cNvSpPr>
            <a:spLocks noGrp="1"/>
          </p:cNvSpPr>
          <p:nvPr>
            <p:ph idx="1"/>
          </p:nvPr>
        </p:nvSpPr>
        <p:spPr>
          <a:xfrm>
            <a:off x="702853" y="707571"/>
            <a:ext cx="10900568" cy="5486400"/>
          </a:xfrm>
        </p:spPr>
        <p:txBody>
          <a:bodyPr>
            <a:normAutofit/>
          </a:bodyPr>
          <a:lstStyle/>
          <a:p>
            <a:pPr marL="0" indent="0">
              <a:buNone/>
            </a:pPr>
            <a:r>
              <a:rPr lang="en-US" sz="2800" b="1" dirty="0"/>
              <a:t>What MBA Does</a:t>
            </a:r>
          </a:p>
          <a:p>
            <a:pPr lvl="1"/>
            <a:r>
              <a:rPr lang="en-US" sz="2800" dirty="0"/>
              <a:t>It finds </a:t>
            </a:r>
            <a:r>
              <a:rPr lang="en-US" sz="2800" b="1" dirty="0"/>
              <a:t>association rules</a:t>
            </a:r>
            <a:r>
              <a:rPr lang="en-US" sz="2800" dirty="0"/>
              <a:t> like:</a:t>
            </a:r>
          </a:p>
          <a:p>
            <a:pPr lvl="1"/>
            <a:r>
              <a:rPr lang="en-US" sz="2800" b="1" dirty="0"/>
              <a:t>Bread → Butter</a:t>
            </a:r>
            <a:r>
              <a:rPr lang="en-US" sz="2800" dirty="0"/>
              <a:t> (If a customer buys bread, they also buy butter)</a:t>
            </a:r>
          </a:p>
          <a:p>
            <a:pPr lvl="1"/>
            <a:r>
              <a:rPr lang="en-US" sz="2800" b="1" dirty="0"/>
              <a:t>Diaper → Beer</a:t>
            </a:r>
            <a:endParaRPr lang="en-US" sz="2800" dirty="0"/>
          </a:p>
          <a:p>
            <a:pPr marL="0" indent="0">
              <a:buNone/>
            </a:pPr>
            <a:endParaRPr lang="en-US" sz="2400" dirty="0"/>
          </a:p>
          <a:p>
            <a:pPr marL="0" indent="0">
              <a:buNone/>
            </a:pPr>
            <a:r>
              <a:rPr lang="en-US" sz="2800" b="1" dirty="0"/>
              <a:t>These rules help in decision-making:</a:t>
            </a:r>
          </a:p>
          <a:p>
            <a:pPr lvl="1"/>
            <a:r>
              <a:rPr lang="en-US" sz="2800" dirty="0"/>
              <a:t>Product placement</a:t>
            </a:r>
          </a:p>
          <a:p>
            <a:pPr lvl="1"/>
            <a:r>
              <a:rPr lang="en-US" sz="2800" dirty="0"/>
              <a:t>Cross-selling</a:t>
            </a:r>
          </a:p>
          <a:p>
            <a:pPr lvl="1"/>
            <a:r>
              <a:rPr lang="en-US" sz="2800" dirty="0"/>
              <a:t>Recommendations</a:t>
            </a:r>
          </a:p>
          <a:p>
            <a:pPr marL="0" indent="0">
              <a:buNone/>
            </a:pPr>
            <a:endParaRPr lang="en-IN" sz="2400" dirty="0"/>
          </a:p>
        </p:txBody>
      </p:sp>
    </p:spTree>
    <p:extLst>
      <p:ext uri="{BB962C8B-B14F-4D97-AF65-F5344CB8AC3E}">
        <p14:creationId xmlns:p14="http://schemas.microsoft.com/office/powerpoint/2010/main" val="272123501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00909F-3345-5090-0BF9-926477291D2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A795D0A-1AE1-F500-F0FE-4C7823D962F3}"/>
              </a:ext>
            </a:extLst>
          </p:cNvPr>
          <p:cNvSpPr>
            <a:spLocks noGrp="1"/>
          </p:cNvSpPr>
          <p:nvPr>
            <p:ph idx="1"/>
          </p:nvPr>
        </p:nvSpPr>
        <p:spPr>
          <a:xfrm>
            <a:off x="702853" y="707571"/>
            <a:ext cx="10900568" cy="5486400"/>
          </a:xfrm>
        </p:spPr>
        <p:txBody>
          <a:bodyPr>
            <a:normAutofit/>
          </a:bodyPr>
          <a:lstStyle/>
          <a:p>
            <a:pPr marL="0" indent="0">
              <a:buNone/>
            </a:pPr>
            <a:r>
              <a:rPr lang="en-IN" sz="2800" b="1" dirty="0"/>
              <a:t>📶 Key Terms You Must Know</a:t>
            </a:r>
          </a:p>
        </p:txBody>
      </p:sp>
      <p:graphicFrame>
        <p:nvGraphicFramePr>
          <p:cNvPr id="2" name="Table 1">
            <a:extLst>
              <a:ext uri="{FF2B5EF4-FFF2-40B4-BE49-F238E27FC236}">
                <a16:creationId xmlns:a16="http://schemas.microsoft.com/office/drawing/2014/main" id="{190B3BE7-4D5C-123A-4FC7-DA9EB06B2A94}"/>
              </a:ext>
            </a:extLst>
          </p:cNvPr>
          <p:cNvGraphicFramePr>
            <a:graphicFrameLocks noGrp="1"/>
          </p:cNvGraphicFramePr>
          <p:nvPr>
            <p:extLst>
              <p:ext uri="{D42A27DB-BD31-4B8C-83A1-F6EECF244321}">
                <p14:modId xmlns:p14="http://schemas.microsoft.com/office/powerpoint/2010/main" val="3528855457"/>
              </p:ext>
            </p:extLst>
          </p:nvPr>
        </p:nvGraphicFramePr>
        <p:xfrm>
          <a:off x="1295989" y="1654895"/>
          <a:ext cx="9165182" cy="2866649"/>
        </p:xfrm>
        <a:graphic>
          <a:graphicData uri="http://schemas.openxmlformats.org/drawingml/2006/table">
            <a:tbl>
              <a:tblPr firstRow="1" firstCol="1" bandRow="1">
                <a:tableStyleId>{5C22544A-7EE6-4342-B048-85BDC9FD1C3A}</a:tableStyleId>
              </a:tblPr>
              <a:tblGrid>
                <a:gridCol w="2230982">
                  <a:extLst>
                    <a:ext uri="{9D8B030D-6E8A-4147-A177-3AD203B41FA5}">
                      <a16:colId xmlns:a16="http://schemas.microsoft.com/office/drawing/2014/main" val="1722675323"/>
                    </a:ext>
                  </a:extLst>
                </a:gridCol>
                <a:gridCol w="6934200">
                  <a:extLst>
                    <a:ext uri="{9D8B030D-6E8A-4147-A177-3AD203B41FA5}">
                      <a16:colId xmlns:a16="http://schemas.microsoft.com/office/drawing/2014/main" val="3613039672"/>
                    </a:ext>
                  </a:extLst>
                </a:gridCol>
              </a:tblGrid>
              <a:tr h="304003">
                <a:tc>
                  <a:txBody>
                    <a:bodyPr/>
                    <a:lstStyle/>
                    <a:p>
                      <a:pPr>
                        <a:lnSpc>
                          <a:spcPct val="115000"/>
                        </a:lnSpc>
                        <a:spcAft>
                          <a:spcPts val="800"/>
                        </a:spcAft>
                        <a:buNone/>
                      </a:pPr>
                      <a:r>
                        <a:rPr lang="en-IN" sz="2400" kern="100">
                          <a:effectLst/>
                        </a:rPr>
                        <a:t>Term</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Meaning</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115951336"/>
                  </a:ext>
                </a:extLst>
              </a:tr>
              <a:tr h="624556">
                <a:tc>
                  <a:txBody>
                    <a:bodyPr/>
                    <a:lstStyle/>
                    <a:p>
                      <a:pPr>
                        <a:lnSpc>
                          <a:spcPct val="115000"/>
                        </a:lnSpc>
                        <a:spcAft>
                          <a:spcPts val="800"/>
                        </a:spcAft>
                        <a:buNone/>
                      </a:pPr>
                      <a:r>
                        <a:rPr lang="en-IN" sz="2400" kern="100" dirty="0">
                          <a:effectLst/>
                        </a:rPr>
                        <a:t>Itemset</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A group of items bought together (e.g., {Milk, Bread})</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739359705"/>
                  </a:ext>
                </a:extLst>
              </a:tr>
              <a:tr h="304003">
                <a:tc>
                  <a:txBody>
                    <a:bodyPr/>
                    <a:lstStyle/>
                    <a:p>
                      <a:pPr>
                        <a:lnSpc>
                          <a:spcPct val="115000"/>
                        </a:lnSpc>
                        <a:spcAft>
                          <a:spcPts val="800"/>
                        </a:spcAft>
                        <a:buNone/>
                      </a:pPr>
                      <a:r>
                        <a:rPr lang="en-IN" sz="2400" kern="100">
                          <a:effectLst/>
                        </a:rPr>
                        <a:t>Support</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Frequency of the itemset in all transactions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52750733"/>
                  </a:ext>
                </a:extLst>
              </a:tr>
              <a:tr h="624556">
                <a:tc>
                  <a:txBody>
                    <a:bodyPr/>
                    <a:lstStyle/>
                    <a:p>
                      <a:pPr>
                        <a:lnSpc>
                          <a:spcPct val="115000"/>
                        </a:lnSpc>
                        <a:spcAft>
                          <a:spcPts val="800"/>
                        </a:spcAft>
                        <a:buNone/>
                      </a:pPr>
                      <a:r>
                        <a:rPr lang="en-IN" sz="2400" kern="100" dirty="0">
                          <a:effectLst/>
                        </a:rPr>
                        <a:t>Confidence</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Likelihood that when a customer buys item A, they also buy item B</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05937828"/>
                  </a:ext>
                </a:extLst>
              </a:tr>
              <a:tr h="624556">
                <a:tc>
                  <a:txBody>
                    <a:bodyPr/>
                    <a:lstStyle/>
                    <a:p>
                      <a:pPr>
                        <a:lnSpc>
                          <a:spcPct val="115000"/>
                        </a:lnSpc>
                        <a:spcAft>
                          <a:spcPts val="800"/>
                        </a:spcAft>
                        <a:buNone/>
                      </a:pPr>
                      <a:r>
                        <a:rPr lang="en-IN" sz="2400" kern="100">
                          <a:effectLst/>
                        </a:rPr>
                        <a:t>Lift</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Strength of the rule compared to random chance</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461148549"/>
                  </a:ext>
                </a:extLst>
              </a:tr>
            </a:tbl>
          </a:graphicData>
        </a:graphic>
      </p:graphicFrame>
    </p:spTree>
    <p:extLst>
      <p:ext uri="{BB962C8B-B14F-4D97-AF65-F5344CB8AC3E}">
        <p14:creationId xmlns:p14="http://schemas.microsoft.com/office/powerpoint/2010/main" val="84188040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7602E-F30F-F116-9005-D8F2A522B8E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C24D3AD-F621-75A3-AF7B-E7979E7F1B11}"/>
              </a:ext>
            </a:extLst>
          </p:cNvPr>
          <p:cNvSpPr>
            <a:spLocks noGrp="1"/>
          </p:cNvSpPr>
          <p:nvPr>
            <p:ph idx="1"/>
          </p:nvPr>
        </p:nvSpPr>
        <p:spPr>
          <a:xfrm>
            <a:off x="702853" y="707571"/>
            <a:ext cx="10900568" cy="5486400"/>
          </a:xfrm>
        </p:spPr>
        <p:txBody>
          <a:bodyPr>
            <a:normAutofit lnSpcReduction="10000"/>
          </a:bodyPr>
          <a:lstStyle/>
          <a:p>
            <a:pPr marL="0" indent="0">
              <a:buNone/>
            </a:pPr>
            <a:r>
              <a:rPr lang="en-US" sz="2400" b="1" dirty="0"/>
              <a:t>Example Rule Calculation</a:t>
            </a:r>
          </a:p>
          <a:p>
            <a:pPr marL="0" indent="0">
              <a:buNone/>
            </a:pPr>
            <a:r>
              <a:rPr lang="en-US" sz="2400" dirty="0"/>
              <a:t>Rule: Diaper → Beer</a:t>
            </a:r>
          </a:p>
          <a:p>
            <a:pPr marL="0" indent="0">
              <a:buNone/>
            </a:pPr>
            <a:r>
              <a:rPr lang="en-US" sz="2400" dirty="0"/>
              <a:t>Let’s say:</a:t>
            </a:r>
          </a:p>
          <a:p>
            <a:pPr lvl="1"/>
            <a:r>
              <a:rPr lang="en-US" sz="2400" dirty="0"/>
              <a:t>Diaper appears in 3 transactions</a:t>
            </a:r>
          </a:p>
          <a:p>
            <a:pPr lvl="1"/>
            <a:r>
              <a:rPr lang="en-US" sz="2400" dirty="0"/>
              <a:t>Diaper &amp; Beer together in 2 transactions</a:t>
            </a:r>
          </a:p>
          <a:p>
            <a:pPr lvl="1"/>
            <a:r>
              <a:rPr lang="en-US" sz="2400" dirty="0"/>
              <a:t>Beer appears in 2 transactions</a:t>
            </a:r>
          </a:p>
          <a:p>
            <a:pPr marL="0" indent="0">
              <a:buNone/>
            </a:pPr>
            <a:endParaRPr lang="en-US" sz="2400" dirty="0"/>
          </a:p>
          <a:p>
            <a:pPr marL="0" indent="0">
              <a:buNone/>
            </a:pPr>
            <a:r>
              <a:rPr lang="en-US" sz="2400" b="1" dirty="0"/>
              <a:t>Calculations:</a:t>
            </a:r>
          </a:p>
          <a:p>
            <a:pPr lvl="1"/>
            <a:r>
              <a:rPr lang="en-US" sz="2400" dirty="0"/>
              <a:t>Support = 2/5 = 0.4</a:t>
            </a:r>
          </a:p>
          <a:p>
            <a:pPr lvl="1"/>
            <a:r>
              <a:rPr lang="en-US" sz="2400" dirty="0"/>
              <a:t>Confidence = 2/3 ≈ 0.67</a:t>
            </a:r>
          </a:p>
          <a:p>
            <a:pPr lvl="1"/>
            <a:r>
              <a:rPr lang="en-US" sz="2400" dirty="0"/>
              <a:t>Lift = Confidence </a:t>
            </a:r>
            <a:r>
              <a:rPr lang="en-US" sz="2200" dirty="0"/>
              <a:t>/ Support(Beer) = 0.67 / 0.4 ≈ 1.67</a:t>
            </a:r>
          </a:p>
          <a:p>
            <a:pPr marL="0" indent="0">
              <a:buNone/>
            </a:pPr>
            <a:endParaRPr lang="en-US" sz="2400" dirty="0"/>
          </a:p>
          <a:p>
            <a:pPr marL="0" indent="0">
              <a:buNone/>
            </a:pPr>
            <a:r>
              <a:rPr lang="en-US" sz="2400" dirty="0"/>
              <a:t>👉 This means: People who buy diapers are 1.67x more likely to buy beer than random.</a:t>
            </a:r>
            <a:endParaRPr lang="en-IN" sz="2400" dirty="0"/>
          </a:p>
        </p:txBody>
      </p:sp>
    </p:spTree>
    <p:extLst>
      <p:ext uri="{BB962C8B-B14F-4D97-AF65-F5344CB8AC3E}">
        <p14:creationId xmlns:p14="http://schemas.microsoft.com/office/powerpoint/2010/main" val="224710683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E94-253D-1B17-7A66-FFFFF1C03D2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80BEAC5-A94E-9BED-7238-D92582D165F0}"/>
              </a:ext>
            </a:extLst>
          </p:cNvPr>
          <p:cNvSpPr>
            <a:spLocks noGrp="1"/>
          </p:cNvSpPr>
          <p:nvPr>
            <p:ph idx="1"/>
          </p:nvPr>
        </p:nvSpPr>
        <p:spPr>
          <a:xfrm>
            <a:off x="702853" y="707571"/>
            <a:ext cx="10900568" cy="5486400"/>
          </a:xfrm>
        </p:spPr>
        <p:txBody>
          <a:bodyPr>
            <a:normAutofit/>
          </a:bodyPr>
          <a:lstStyle/>
          <a:p>
            <a:pPr marL="0" indent="0">
              <a:buNone/>
            </a:pPr>
            <a:r>
              <a:rPr lang="en-US" sz="2400" b="1" dirty="0"/>
              <a:t>How Is Market Basket Analysis Done?</a:t>
            </a:r>
          </a:p>
          <a:p>
            <a:pPr marL="0" indent="0">
              <a:buNone/>
            </a:pPr>
            <a:r>
              <a:rPr lang="en-US" sz="2400" dirty="0"/>
              <a:t>Usually using the </a:t>
            </a:r>
            <a:r>
              <a:rPr lang="en-US" sz="2400" dirty="0" err="1"/>
              <a:t>Apriori</a:t>
            </a:r>
            <a:r>
              <a:rPr lang="en-US" sz="2400" dirty="0"/>
              <a:t> or FP-Growth algorithms.</a:t>
            </a:r>
          </a:p>
          <a:p>
            <a:pPr marL="0" indent="0">
              <a:buNone/>
            </a:pPr>
            <a:endParaRPr lang="en-US" sz="2400" dirty="0"/>
          </a:p>
          <a:p>
            <a:pPr marL="0" indent="0">
              <a:buNone/>
            </a:pPr>
            <a:r>
              <a:rPr lang="en-US" sz="2800" b="1" dirty="0"/>
              <a:t>Steps:</a:t>
            </a:r>
          </a:p>
          <a:p>
            <a:pPr marL="457200" indent="-457200">
              <a:buFont typeface="+mj-lt"/>
              <a:buAutoNum type="arabicPeriod"/>
            </a:pPr>
            <a:r>
              <a:rPr lang="en-US" sz="2400" dirty="0"/>
              <a:t>Collect transaction data (e.g., shopping cart logs)</a:t>
            </a:r>
          </a:p>
          <a:p>
            <a:pPr marL="457200" indent="-457200">
              <a:buFont typeface="+mj-lt"/>
              <a:buAutoNum type="arabicPeriod"/>
            </a:pPr>
            <a:r>
              <a:rPr lang="en-US" sz="2400" dirty="0"/>
              <a:t>Set thresholds for:</a:t>
            </a:r>
          </a:p>
          <a:p>
            <a:pPr lvl="1"/>
            <a:r>
              <a:rPr lang="en-US" sz="2600" dirty="0"/>
              <a:t>Minimum </a:t>
            </a:r>
            <a:r>
              <a:rPr lang="en-US" sz="2600" b="1" dirty="0">
                <a:solidFill>
                  <a:schemeClr val="tx2">
                    <a:lumMod val="75000"/>
                    <a:lumOff val="25000"/>
                  </a:schemeClr>
                </a:solidFill>
              </a:rPr>
              <a:t>support</a:t>
            </a:r>
          </a:p>
          <a:p>
            <a:pPr lvl="1"/>
            <a:r>
              <a:rPr lang="en-US" sz="2600" dirty="0"/>
              <a:t>Minimum </a:t>
            </a:r>
            <a:r>
              <a:rPr lang="en-US" sz="2600" b="1" dirty="0">
                <a:solidFill>
                  <a:schemeClr val="tx2">
                    <a:lumMod val="75000"/>
                    <a:lumOff val="25000"/>
                  </a:schemeClr>
                </a:solidFill>
              </a:rPr>
              <a:t>confidence</a:t>
            </a:r>
          </a:p>
          <a:p>
            <a:pPr marL="457200" indent="-457200">
              <a:buFont typeface="+mj-lt"/>
              <a:buAutoNum type="arabicPeriod"/>
            </a:pPr>
            <a:r>
              <a:rPr lang="en-US" sz="2400" dirty="0"/>
              <a:t>Generate </a:t>
            </a:r>
            <a:r>
              <a:rPr lang="en-US" sz="2400" b="1" dirty="0">
                <a:solidFill>
                  <a:schemeClr val="tx2">
                    <a:lumMod val="75000"/>
                    <a:lumOff val="25000"/>
                  </a:schemeClr>
                </a:solidFill>
              </a:rPr>
              <a:t>frequent </a:t>
            </a:r>
            <a:r>
              <a:rPr lang="en-US" sz="2400" b="1" dirty="0" err="1">
                <a:solidFill>
                  <a:schemeClr val="tx2">
                    <a:lumMod val="75000"/>
                    <a:lumOff val="25000"/>
                  </a:schemeClr>
                </a:solidFill>
              </a:rPr>
              <a:t>itemsets</a:t>
            </a:r>
            <a:endParaRPr lang="en-US" sz="2400" b="1" dirty="0">
              <a:solidFill>
                <a:schemeClr val="tx2">
                  <a:lumMod val="75000"/>
                  <a:lumOff val="25000"/>
                </a:schemeClr>
              </a:solidFill>
            </a:endParaRPr>
          </a:p>
          <a:p>
            <a:pPr marL="457200" indent="-457200">
              <a:buFont typeface="+mj-lt"/>
              <a:buAutoNum type="arabicPeriod"/>
            </a:pPr>
            <a:r>
              <a:rPr lang="en-US" sz="2400" dirty="0"/>
              <a:t>Create </a:t>
            </a:r>
            <a:r>
              <a:rPr lang="en-US" sz="2400" b="1" dirty="0">
                <a:solidFill>
                  <a:schemeClr val="tx2">
                    <a:lumMod val="75000"/>
                    <a:lumOff val="25000"/>
                  </a:schemeClr>
                </a:solidFill>
              </a:rPr>
              <a:t>association rules</a:t>
            </a:r>
          </a:p>
          <a:p>
            <a:pPr marL="457200" indent="-457200">
              <a:buFont typeface="+mj-lt"/>
              <a:buAutoNum type="arabicPeriod"/>
            </a:pPr>
            <a:r>
              <a:rPr lang="en-US" sz="2400" dirty="0"/>
              <a:t>Evaluate the rules using Lift</a:t>
            </a:r>
            <a:endParaRPr lang="en-IN" sz="2400" dirty="0"/>
          </a:p>
        </p:txBody>
      </p:sp>
    </p:spTree>
    <p:extLst>
      <p:ext uri="{BB962C8B-B14F-4D97-AF65-F5344CB8AC3E}">
        <p14:creationId xmlns:p14="http://schemas.microsoft.com/office/powerpoint/2010/main" val="219587294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2B4D16-C339-5EAE-7A28-F03ECD8A811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23C7D65-EB9F-3957-9428-57A858884EAD}"/>
              </a:ext>
            </a:extLst>
          </p:cNvPr>
          <p:cNvSpPr>
            <a:spLocks noGrp="1"/>
          </p:cNvSpPr>
          <p:nvPr>
            <p:ph idx="1"/>
          </p:nvPr>
        </p:nvSpPr>
        <p:spPr>
          <a:xfrm>
            <a:off x="702853" y="707571"/>
            <a:ext cx="10900568" cy="5486400"/>
          </a:xfrm>
        </p:spPr>
        <p:txBody>
          <a:bodyPr>
            <a:normAutofit/>
          </a:bodyPr>
          <a:lstStyle/>
          <a:p>
            <a:pPr marL="0" indent="0">
              <a:buNone/>
            </a:pPr>
            <a:r>
              <a:rPr lang="en-IN" sz="2800" b="1" dirty="0"/>
              <a:t>Applications of Market Basket Analysis</a:t>
            </a:r>
          </a:p>
          <a:p>
            <a:pPr marL="0" indent="0">
              <a:buNone/>
            </a:pPr>
            <a:endParaRPr lang="en-IN" sz="2800" b="1" dirty="0"/>
          </a:p>
          <a:p>
            <a:pPr marL="0" indent="0">
              <a:buNone/>
            </a:pPr>
            <a:endParaRPr lang="en-IN" sz="2800" b="1" dirty="0"/>
          </a:p>
        </p:txBody>
      </p:sp>
      <p:graphicFrame>
        <p:nvGraphicFramePr>
          <p:cNvPr id="4" name="Table 3">
            <a:extLst>
              <a:ext uri="{FF2B5EF4-FFF2-40B4-BE49-F238E27FC236}">
                <a16:creationId xmlns:a16="http://schemas.microsoft.com/office/drawing/2014/main" id="{561F74AF-5CC1-BAEB-C328-0C2DD2DB2777}"/>
              </a:ext>
            </a:extLst>
          </p:cNvPr>
          <p:cNvGraphicFramePr>
            <a:graphicFrameLocks noGrp="1"/>
          </p:cNvGraphicFramePr>
          <p:nvPr>
            <p:extLst>
              <p:ext uri="{D42A27DB-BD31-4B8C-83A1-F6EECF244321}">
                <p14:modId xmlns:p14="http://schemas.microsoft.com/office/powerpoint/2010/main" val="711124708"/>
              </p:ext>
            </p:extLst>
          </p:nvPr>
        </p:nvGraphicFramePr>
        <p:xfrm>
          <a:off x="791262" y="1295580"/>
          <a:ext cx="10214992" cy="4292263"/>
        </p:xfrm>
        <a:graphic>
          <a:graphicData uri="http://schemas.openxmlformats.org/drawingml/2006/table">
            <a:tbl>
              <a:tblPr firstRow="1" firstCol="1" bandRow="1">
                <a:tableStyleId>{5C22544A-7EE6-4342-B048-85BDC9FD1C3A}</a:tableStyleId>
              </a:tblPr>
              <a:tblGrid>
                <a:gridCol w="2452681">
                  <a:extLst>
                    <a:ext uri="{9D8B030D-6E8A-4147-A177-3AD203B41FA5}">
                      <a16:colId xmlns:a16="http://schemas.microsoft.com/office/drawing/2014/main" val="433437699"/>
                    </a:ext>
                  </a:extLst>
                </a:gridCol>
                <a:gridCol w="7762311">
                  <a:extLst>
                    <a:ext uri="{9D8B030D-6E8A-4147-A177-3AD203B41FA5}">
                      <a16:colId xmlns:a16="http://schemas.microsoft.com/office/drawing/2014/main" val="96103990"/>
                    </a:ext>
                  </a:extLst>
                </a:gridCol>
              </a:tblGrid>
              <a:tr h="461359">
                <a:tc>
                  <a:txBody>
                    <a:bodyPr/>
                    <a:lstStyle/>
                    <a:p>
                      <a:pPr>
                        <a:lnSpc>
                          <a:spcPct val="115000"/>
                        </a:lnSpc>
                        <a:spcAft>
                          <a:spcPts val="800"/>
                        </a:spcAft>
                        <a:buNone/>
                      </a:pPr>
                      <a:r>
                        <a:rPr lang="en-IN" sz="2400" kern="100" dirty="0">
                          <a:effectLst/>
                        </a:rPr>
                        <a:t>Industry</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Use Case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624927977"/>
                  </a:ext>
                </a:extLst>
              </a:tr>
              <a:tr h="461359">
                <a:tc>
                  <a:txBody>
                    <a:bodyPr/>
                    <a:lstStyle/>
                    <a:p>
                      <a:pPr>
                        <a:lnSpc>
                          <a:spcPct val="115000"/>
                        </a:lnSpc>
                        <a:spcAft>
                          <a:spcPts val="800"/>
                        </a:spcAft>
                        <a:buNone/>
                      </a:pPr>
                      <a:r>
                        <a:rPr lang="en-IN" sz="2400" kern="100">
                          <a:effectLst/>
                        </a:rPr>
                        <a:t>Retail</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Shelf placement, combo offers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842336799"/>
                  </a:ext>
                </a:extLst>
              </a:tr>
              <a:tr h="764388">
                <a:tc>
                  <a:txBody>
                    <a:bodyPr/>
                    <a:lstStyle/>
                    <a:p>
                      <a:pPr>
                        <a:lnSpc>
                          <a:spcPct val="115000"/>
                        </a:lnSpc>
                        <a:spcAft>
                          <a:spcPts val="800"/>
                        </a:spcAft>
                        <a:buNone/>
                      </a:pPr>
                      <a:r>
                        <a:rPr lang="en-IN" sz="2400" kern="100">
                          <a:effectLst/>
                        </a:rPr>
                        <a:t>E-commerce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Product recommendations ("Customers also bought...")</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995149"/>
                  </a:ext>
                </a:extLst>
              </a:tr>
              <a:tr h="828662">
                <a:tc>
                  <a:txBody>
                    <a:bodyPr/>
                    <a:lstStyle/>
                    <a:p>
                      <a:pPr>
                        <a:lnSpc>
                          <a:spcPct val="115000"/>
                        </a:lnSpc>
                        <a:spcAft>
                          <a:spcPts val="800"/>
                        </a:spcAft>
                        <a:buNone/>
                      </a:pPr>
                      <a:r>
                        <a:rPr lang="en-IN" sz="2400" kern="100">
                          <a:effectLst/>
                        </a:rPr>
                        <a:t>Restaurants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Meal bundling (burger + fries + drink)</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656849351"/>
                  </a:ext>
                </a:extLst>
              </a:tr>
              <a:tr h="947833">
                <a:tc>
                  <a:txBody>
                    <a:bodyPr/>
                    <a:lstStyle/>
                    <a:p>
                      <a:pPr>
                        <a:lnSpc>
                          <a:spcPct val="115000"/>
                        </a:lnSpc>
                        <a:spcAft>
                          <a:spcPts val="800"/>
                        </a:spcAft>
                        <a:buNone/>
                      </a:pPr>
                      <a:r>
                        <a:rPr lang="en-IN" sz="2400" kern="100">
                          <a:effectLst/>
                        </a:rPr>
                        <a:t>Banking</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Cross-selling (credit card with savings account)</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325862233"/>
                  </a:ext>
                </a:extLst>
              </a:tr>
              <a:tr h="828662">
                <a:tc>
                  <a:txBody>
                    <a:bodyPr/>
                    <a:lstStyle/>
                    <a:p>
                      <a:pPr>
                        <a:lnSpc>
                          <a:spcPct val="115000"/>
                        </a:lnSpc>
                        <a:spcAft>
                          <a:spcPts val="800"/>
                        </a:spcAft>
                        <a:buNone/>
                      </a:pPr>
                      <a:r>
                        <a:rPr lang="en-IN" sz="2400" kern="100">
                          <a:effectLst/>
                        </a:rPr>
                        <a:t>Healthcare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Co-occurring diseases or medications</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68608749"/>
                  </a:ext>
                </a:extLst>
              </a:tr>
            </a:tbl>
          </a:graphicData>
        </a:graphic>
      </p:graphicFrame>
    </p:spTree>
    <p:extLst>
      <p:ext uri="{BB962C8B-B14F-4D97-AF65-F5344CB8AC3E}">
        <p14:creationId xmlns:p14="http://schemas.microsoft.com/office/powerpoint/2010/main" val="127863195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38B93-6FED-CF50-87C0-FEB7D6BCF5D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2522F04-6478-7595-C583-0822621CAF22}"/>
              </a:ext>
            </a:extLst>
          </p:cNvPr>
          <p:cNvSpPr>
            <a:spLocks noGrp="1"/>
          </p:cNvSpPr>
          <p:nvPr>
            <p:ph idx="1"/>
          </p:nvPr>
        </p:nvSpPr>
        <p:spPr>
          <a:xfrm>
            <a:off x="702853" y="707571"/>
            <a:ext cx="10900568" cy="5486400"/>
          </a:xfrm>
        </p:spPr>
        <p:txBody>
          <a:bodyPr>
            <a:normAutofit/>
          </a:bodyPr>
          <a:lstStyle/>
          <a:p>
            <a:pPr marL="0" indent="0">
              <a:buNone/>
            </a:pPr>
            <a:r>
              <a:rPr lang="en-US" sz="2800" b="1" dirty="0" err="1"/>
              <a:t>Apriori</a:t>
            </a:r>
            <a:r>
              <a:rPr lang="en-US" sz="2800" b="1" dirty="0"/>
              <a:t> algorithm:</a:t>
            </a:r>
          </a:p>
          <a:p>
            <a:pPr marL="0" indent="0">
              <a:buNone/>
            </a:pPr>
            <a:r>
              <a:rPr lang="en-US" sz="2400" dirty="0"/>
              <a:t>The </a:t>
            </a:r>
            <a:r>
              <a:rPr lang="en-US" sz="2400" dirty="0" err="1"/>
              <a:t>Apriori</a:t>
            </a:r>
            <a:r>
              <a:rPr lang="en-US" sz="2400" dirty="0"/>
              <a:t> algorithm is a classic </a:t>
            </a:r>
            <a:r>
              <a:rPr lang="en-US" sz="2400" b="1" dirty="0">
                <a:solidFill>
                  <a:schemeClr val="tx2">
                    <a:lumMod val="75000"/>
                    <a:lumOff val="25000"/>
                  </a:schemeClr>
                </a:solidFill>
              </a:rPr>
              <a:t>data mining technique </a:t>
            </a:r>
            <a:r>
              <a:rPr lang="en-US" sz="2400" dirty="0"/>
              <a:t>used to find </a:t>
            </a:r>
            <a:r>
              <a:rPr lang="en-US" sz="2400" b="1" dirty="0">
                <a:solidFill>
                  <a:schemeClr val="tx2">
                    <a:lumMod val="75000"/>
                    <a:lumOff val="25000"/>
                  </a:schemeClr>
                </a:solidFill>
              </a:rPr>
              <a:t>frequent</a:t>
            </a:r>
            <a:r>
              <a:rPr lang="en-US" sz="2400" dirty="0"/>
              <a:t> </a:t>
            </a:r>
            <a:r>
              <a:rPr lang="en-US" sz="2400" b="1" dirty="0">
                <a:solidFill>
                  <a:schemeClr val="tx2">
                    <a:lumMod val="75000"/>
                    <a:lumOff val="25000"/>
                  </a:schemeClr>
                </a:solidFill>
              </a:rPr>
              <a:t>patterns</a:t>
            </a:r>
            <a:r>
              <a:rPr lang="en-US" sz="2400" dirty="0"/>
              <a:t>, </a:t>
            </a:r>
            <a:r>
              <a:rPr lang="en-US" sz="2400" b="1" dirty="0">
                <a:solidFill>
                  <a:schemeClr val="tx2">
                    <a:lumMod val="75000"/>
                    <a:lumOff val="25000"/>
                  </a:schemeClr>
                </a:solidFill>
              </a:rPr>
              <a:t>associations</a:t>
            </a:r>
            <a:r>
              <a:rPr lang="en-US" sz="2400" dirty="0"/>
              <a:t>, or </a:t>
            </a:r>
            <a:r>
              <a:rPr lang="en-US" sz="2400" b="1" dirty="0">
                <a:solidFill>
                  <a:schemeClr val="tx2">
                    <a:lumMod val="75000"/>
                    <a:lumOff val="25000"/>
                  </a:schemeClr>
                </a:solidFill>
              </a:rPr>
              <a:t>relationships</a:t>
            </a:r>
            <a:r>
              <a:rPr lang="en-US" sz="2400" dirty="0"/>
              <a:t> among items in large datasets — especially in </a:t>
            </a:r>
            <a:r>
              <a:rPr lang="en-US" sz="2400" b="1" dirty="0">
                <a:solidFill>
                  <a:srgbClr val="0070C0"/>
                </a:solidFill>
              </a:rPr>
              <a:t>Market Basket Analysis</a:t>
            </a:r>
            <a:r>
              <a:rPr lang="en-US" sz="2400" dirty="0"/>
              <a:t>.</a:t>
            </a:r>
          </a:p>
          <a:p>
            <a:pPr marL="0" indent="0">
              <a:buNone/>
            </a:pPr>
            <a:endParaRPr lang="en-US" sz="1600" dirty="0"/>
          </a:p>
          <a:p>
            <a:pPr marL="0" indent="0">
              <a:buNone/>
            </a:pPr>
            <a:r>
              <a:rPr lang="en-US" sz="2400" b="1" dirty="0"/>
              <a:t>💡 It answers questions like:</a:t>
            </a:r>
          </a:p>
          <a:p>
            <a:pPr marL="0" indent="0">
              <a:buNone/>
            </a:pPr>
            <a:r>
              <a:rPr lang="en-US" sz="2400" dirty="0"/>
              <a:t>	“If people buy </a:t>
            </a:r>
            <a:r>
              <a:rPr lang="en-US" sz="2400" b="1" dirty="0">
                <a:solidFill>
                  <a:schemeClr val="tx2">
                    <a:lumMod val="75000"/>
                    <a:lumOff val="25000"/>
                  </a:schemeClr>
                </a:solidFill>
              </a:rPr>
              <a:t>bread</a:t>
            </a:r>
            <a:r>
              <a:rPr lang="en-US" sz="2400" dirty="0"/>
              <a:t>, how likely are they to also buy </a:t>
            </a:r>
            <a:r>
              <a:rPr lang="en-US" sz="2400" b="1" dirty="0">
                <a:solidFill>
                  <a:schemeClr val="tx2">
                    <a:lumMod val="75000"/>
                    <a:lumOff val="25000"/>
                  </a:schemeClr>
                </a:solidFill>
              </a:rPr>
              <a:t>butter</a:t>
            </a:r>
            <a:r>
              <a:rPr lang="en-US" sz="2400" dirty="0"/>
              <a:t>?”</a:t>
            </a:r>
          </a:p>
          <a:p>
            <a:pPr marL="0" indent="0">
              <a:buNone/>
            </a:pPr>
            <a:endParaRPr lang="en-IN" sz="1600" dirty="0"/>
          </a:p>
          <a:p>
            <a:r>
              <a:rPr lang="en-US" sz="2400" dirty="0">
                <a:solidFill>
                  <a:srgbClr val="0D0D0D"/>
                </a:solidFill>
              </a:rPr>
              <a:t>It is designed to </a:t>
            </a:r>
            <a:r>
              <a:rPr lang="en-US" sz="2400" b="1" dirty="0">
                <a:solidFill>
                  <a:srgbClr val="C00000"/>
                </a:solidFill>
              </a:rPr>
              <a:t>discover frequent </a:t>
            </a:r>
            <a:r>
              <a:rPr lang="en-US" sz="2400" b="1" dirty="0" err="1">
                <a:solidFill>
                  <a:srgbClr val="C00000"/>
                </a:solidFill>
              </a:rPr>
              <a:t>itemsets</a:t>
            </a:r>
            <a:r>
              <a:rPr lang="en-US" sz="2400" b="1" dirty="0">
                <a:solidFill>
                  <a:srgbClr val="C00000"/>
                </a:solidFill>
              </a:rPr>
              <a:t> </a:t>
            </a:r>
            <a:r>
              <a:rPr lang="en-US" sz="2400" dirty="0">
                <a:solidFill>
                  <a:srgbClr val="0D0D0D"/>
                </a:solidFill>
              </a:rPr>
              <a:t>in </a:t>
            </a:r>
            <a:r>
              <a:rPr lang="en-US" sz="2400" b="1" dirty="0">
                <a:solidFill>
                  <a:srgbClr val="0D0D0D"/>
                </a:solidFill>
              </a:rPr>
              <a:t>transactional databases </a:t>
            </a:r>
            <a:r>
              <a:rPr lang="en-US" sz="2400" dirty="0">
                <a:solidFill>
                  <a:srgbClr val="0D0D0D"/>
                </a:solidFill>
              </a:rPr>
              <a:t>and derive association rules from these </a:t>
            </a:r>
            <a:r>
              <a:rPr lang="en-US" sz="2400" dirty="0" err="1">
                <a:solidFill>
                  <a:srgbClr val="0D0D0D"/>
                </a:solidFill>
              </a:rPr>
              <a:t>itemsets</a:t>
            </a:r>
            <a:r>
              <a:rPr lang="en-US" sz="2400" dirty="0">
                <a:solidFill>
                  <a:srgbClr val="0D0D0D"/>
                </a:solidFill>
              </a:rPr>
              <a:t>. </a:t>
            </a:r>
          </a:p>
          <a:p>
            <a:r>
              <a:rPr lang="en-US" sz="2400" dirty="0">
                <a:solidFill>
                  <a:srgbClr val="0D0D0D"/>
                </a:solidFill>
              </a:rPr>
              <a:t>The algorithm is named "</a:t>
            </a:r>
            <a:r>
              <a:rPr lang="en-US" sz="2400" b="1" dirty="0" err="1">
                <a:solidFill>
                  <a:srgbClr val="0D0D0D"/>
                </a:solidFill>
              </a:rPr>
              <a:t>Apriori</a:t>
            </a:r>
            <a:r>
              <a:rPr lang="en-US" sz="2400" dirty="0">
                <a:solidFill>
                  <a:srgbClr val="0D0D0D"/>
                </a:solidFill>
              </a:rPr>
              <a:t>" because it uses the "</a:t>
            </a:r>
            <a:r>
              <a:rPr lang="en-US" sz="2400" b="1" dirty="0">
                <a:solidFill>
                  <a:schemeClr val="tx2">
                    <a:lumMod val="75000"/>
                    <a:lumOff val="25000"/>
                  </a:schemeClr>
                </a:solidFill>
              </a:rPr>
              <a:t>prior</a:t>
            </a:r>
            <a:r>
              <a:rPr lang="en-US" sz="2400" dirty="0">
                <a:solidFill>
                  <a:srgbClr val="0D0D0D"/>
                </a:solidFill>
              </a:rPr>
              <a:t>" knowledge of frequent </a:t>
            </a:r>
            <a:r>
              <a:rPr lang="en-US" sz="2400" dirty="0" err="1">
                <a:solidFill>
                  <a:srgbClr val="0D0D0D"/>
                </a:solidFill>
              </a:rPr>
              <a:t>itemsets</a:t>
            </a:r>
            <a:r>
              <a:rPr lang="en-US" sz="2400" dirty="0">
                <a:solidFill>
                  <a:srgbClr val="0D0D0D"/>
                </a:solidFill>
              </a:rPr>
              <a:t> to efficiently generate candidate </a:t>
            </a:r>
            <a:r>
              <a:rPr lang="en-US" sz="2400" dirty="0" err="1">
                <a:solidFill>
                  <a:srgbClr val="0D0D0D"/>
                </a:solidFill>
              </a:rPr>
              <a:t>itemsets</a:t>
            </a:r>
            <a:r>
              <a:rPr lang="en-US" sz="2400" dirty="0">
                <a:solidFill>
                  <a:srgbClr val="0D0D0D"/>
                </a:solidFill>
              </a:rPr>
              <a:t>.</a:t>
            </a:r>
          </a:p>
          <a:p>
            <a:pPr marL="0" indent="0">
              <a:buNone/>
            </a:pPr>
            <a:endParaRPr lang="en-IN" sz="2400" dirty="0"/>
          </a:p>
        </p:txBody>
      </p:sp>
    </p:spTree>
    <p:extLst>
      <p:ext uri="{BB962C8B-B14F-4D97-AF65-F5344CB8AC3E}">
        <p14:creationId xmlns:p14="http://schemas.microsoft.com/office/powerpoint/2010/main" val="347063587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4F79E85-40B0-3E92-A86A-1E7E2DB17991}"/>
              </a:ext>
            </a:extLst>
          </p:cNvPr>
          <p:cNvSpPr txBox="1"/>
          <p:nvPr/>
        </p:nvSpPr>
        <p:spPr>
          <a:xfrm>
            <a:off x="669472" y="608151"/>
            <a:ext cx="10937810" cy="5386090"/>
          </a:xfrm>
          <a:prstGeom prst="rect">
            <a:avLst/>
          </a:prstGeom>
          <a:noFill/>
        </p:spPr>
        <p:txBody>
          <a:bodyPr wrap="square">
            <a:spAutoFit/>
          </a:bodyPr>
          <a:lstStyle/>
          <a:p>
            <a:r>
              <a:rPr lang="en-US" sz="2400" b="1" dirty="0">
                <a:solidFill>
                  <a:srgbClr val="C00000"/>
                </a:solidFill>
              </a:rPr>
              <a:t>Algorithm</a:t>
            </a:r>
            <a:r>
              <a:rPr lang="en-US" sz="2400" b="1" dirty="0"/>
              <a:t>:</a:t>
            </a:r>
          </a:p>
          <a:p>
            <a:pPr marL="342900" indent="-342900">
              <a:buFont typeface="Arial" panose="020B0604020202020204" pitchFamily="34" charset="0"/>
              <a:buChar char="•"/>
            </a:pPr>
            <a:r>
              <a:rPr lang="en-US" sz="2400" dirty="0"/>
              <a:t>It uses </a:t>
            </a:r>
            <a:r>
              <a:rPr lang="en-US" sz="2400" b="1" dirty="0">
                <a:solidFill>
                  <a:srgbClr val="C00000"/>
                </a:solidFill>
              </a:rPr>
              <a:t>Frequent </a:t>
            </a:r>
            <a:r>
              <a:rPr lang="en-US" sz="2400" b="1" dirty="0" err="1">
                <a:solidFill>
                  <a:srgbClr val="C00000"/>
                </a:solidFill>
              </a:rPr>
              <a:t>itemsets</a:t>
            </a:r>
            <a:r>
              <a:rPr lang="en-US" sz="2400" b="1" dirty="0">
                <a:solidFill>
                  <a:srgbClr val="C00000"/>
                </a:solidFill>
              </a:rPr>
              <a:t> </a:t>
            </a:r>
            <a:r>
              <a:rPr lang="en-US" sz="2400" dirty="0"/>
              <a:t>to generate association rules and it is designed to </a:t>
            </a:r>
            <a:r>
              <a:rPr lang="en-US" sz="2400" b="1" dirty="0">
                <a:solidFill>
                  <a:srgbClr val="00B050"/>
                </a:solidFill>
              </a:rPr>
              <a:t>work on databases that contains transactions.</a:t>
            </a:r>
          </a:p>
          <a:p>
            <a:pPr marL="342900" indent="-342900">
              <a:buFont typeface="Arial" panose="020B0604020202020204" pitchFamily="34" charset="0"/>
              <a:buChar char="•"/>
            </a:pPr>
            <a:r>
              <a:rPr lang="en-US" sz="2400" dirty="0"/>
              <a:t>This algorithm uses the Breadth First Search (BFS) and Hash Tree to calculate the itemset association efficiently.</a:t>
            </a:r>
          </a:p>
          <a:p>
            <a:endParaRPr lang="en-US" sz="2000" dirty="0"/>
          </a:p>
          <a:p>
            <a:r>
              <a:rPr lang="en-US" sz="2400" b="1" dirty="0"/>
              <a:t>Step-1: </a:t>
            </a:r>
            <a:r>
              <a:rPr lang="en-US" sz="2400" dirty="0"/>
              <a:t>Determine the </a:t>
            </a:r>
            <a:r>
              <a:rPr lang="en-US" sz="2400" b="1" dirty="0"/>
              <a:t>Support of </a:t>
            </a:r>
            <a:r>
              <a:rPr lang="en-US" sz="2400" b="1" dirty="0" err="1"/>
              <a:t>itemsets</a:t>
            </a:r>
            <a:r>
              <a:rPr lang="en-US" sz="2400" b="1" dirty="0"/>
              <a:t> </a:t>
            </a:r>
            <a:r>
              <a:rPr lang="en-US" sz="2400" dirty="0"/>
              <a:t>and select </a:t>
            </a:r>
            <a:r>
              <a:rPr lang="en-US" sz="2400" b="1" dirty="0">
                <a:solidFill>
                  <a:schemeClr val="tx2">
                    <a:lumMod val="75000"/>
                    <a:lumOff val="25000"/>
                  </a:schemeClr>
                </a:solidFill>
              </a:rPr>
              <a:t>minimum support</a:t>
            </a:r>
            <a:r>
              <a:rPr lang="en-US" sz="2400" dirty="0">
                <a:solidFill>
                  <a:schemeClr val="tx2">
                    <a:lumMod val="75000"/>
                    <a:lumOff val="25000"/>
                  </a:schemeClr>
                </a:solidFill>
              </a:rPr>
              <a:t> </a:t>
            </a:r>
            <a:r>
              <a:rPr lang="en-US" sz="2400" dirty="0"/>
              <a:t>and </a:t>
            </a:r>
            <a:r>
              <a:rPr lang="en-US" sz="2400" b="1" dirty="0">
                <a:solidFill>
                  <a:schemeClr val="tx2">
                    <a:lumMod val="75000"/>
                    <a:lumOff val="25000"/>
                  </a:schemeClr>
                </a:solidFill>
              </a:rPr>
              <a:t>Confidence</a:t>
            </a:r>
            <a:r>
              <a:rPr lang="en-US" sz="2400" dirty="0"/>
              <a:t>.</a:t>
            </a:r>
          </a:p>
          <a:p>
            <a:endParaRPr lang="en-US" sz="2000" dirty="0"/>
          </a:p>
          <a:p>
            <a:r>
              <a:rPr lang="en-US" sz="2400" b="1" dirty="0"/>
              <a:t>Step-2: </a:t>
            </a:r>
            <a:r>
              <a:rPr lang="en-US" sz="2400" dirty="0"/>
              <a:t>Take all the supports in the transaction with higher support value than minimum or selected support value.</a:t>
            </a:r>
          </a:p>
          <a:p>
            <a:endParaRPr lang="en-US" sz="2000" dirty="0"/>
          </a:p>
          <a:p>
            <a:r>
              <a:rPr lang="en-US" sz="2400" b="1" dirty="0"/>
              <a:t>Step-3: </a:t>
            </a:r>
            <a:r>
              <a:rPr lang="en-US" sz="2400" dirty="0"/>
              <a:t>Find all the </a:t>
            </a:r>
            <a:r>
              <a:rPr lang="en-US" sz="2400" b="1" dirty="0"/>
              <a:t>rules</a:t>
            </a:r>
            <a:r>
              <a:rPr lang="en-US" sz="2400" dirty="0"/>
              <a:t> of these sub </a:t>
            </a:r>
            <a:r>
              <a:rPr lang="en-US" sz="2400" dirty="0" err="1"/>
              <a:t>itemsets</a:t>
            </a:r>
            <a:r>
              <a:rPr lang="en-US" sz="2400" dirty="0"/>
              <a:t> that have higher confidence value than the threshold or </a:t>
            </a:r>
            <a:r>
              <a:rPr lang="en-US" sz="2400" dirty="0" err="1"/>
              <a:t>decreesing</a:t>
            </a:r>
            <a:r>
              <a:rPr lang="en-US" sz="2400" dirty="0"/>
              <a:t> order of Lift</a:t>
            </a:r>
          </a:p>
          <a:p>
            <a:endParaRPr lang="en-US" sz="2000" dirty="0"/>
          </a:p>
        </p:txBody>
      </p:sp>
    </p:spTree>
    <p:extLst>
      <p:ext uri="{BB962C8B-B14F-4D97-AF65-F5344CB8AC3E}">
        <p14:creationId xmlns:p14="http://schemas.microsoft.com/office/powerpoint/2010/main" val="374724126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15A696-DF80-00B3-5DDA-E358A0476B5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215E217-4BC9-5F67-54E4-447E7F1828D7}"/>
              </a:ext>
            </a:extLst>
          </p:cNvPr>
          <p:cNvSpPr>
            <a:spLocks noGrp="1"/>
          </p:cNvSpPr>
          <p:nvPr>
            <p:ph idx="1"/>
          </p:nvPr>
        </p:nvSpPr>
        <p:spPr>
          <a:xfrm>
            <a:off x="702853" y="707571"/>
            <a:ext cx="10900568" cy="5486400"/>
          </a:xfrm>
        </p:spPr>
        <p:txBody>
          <a:bodyPr>
            <a:normAutofit/>
          </a:bodyPr>
          <a:lstStyle/>
          <a:p>
            <a:pPr marL="0" indent="0">
              <a:buNone/>
            </a:pPr>
            <a:r>
              <a:rPr lang="en-US" sz="2400" b="1" dirty="0"/>
              <a:t>What is </a:t>
            </a:r>
            <a:r>
              <a:rPr lang="en-US" sz="2400" b="1" i="1" dirty="0"/>
              <a:t>Support</a:t>
            </a:r>
            <a:r>
              <a:rPr lang="en-US" sz="2400" b="1" dirty="0"/>
              <a:t>?</a:t>
            </a:r>
          </a:p>
          <a:p>
            <a:r>
              <a:rPr lang="en-US" sz="2400" b="1" dirty="0"/>
              <a:t>Support</a:t>
            </a:r>
            <a:r>
              <a:rPr lang="en-US" sz="2400" dirty="0"/>
              <a:t> of an itemset is the </a:t>
            </a:r>
            <a:r>
              <a:rPr lang="en-US" sz="2400" b="1" dirty="0"/>
              <a:t>proportion of transactions</a:t>
            </a:r>
            <a:r>
              <a:rPr lang="en-US" sz="2400" dirty="0"/>
              <a:t> that contain that itemset.</a:t>
            </a:r>
          </a:p>
          <a:p>
            <a:r>
              <a:rPr lang="en-US" sz="2400" dirty="0"/>
              <a:t>It tells us </a:t>
            </a:r>
            <a:r>
              <a:rPr lang="en-US" sz="2400" b="1" dirty="0"/>
              <a:t>how frequently an item or a group of items occurs</a:t>
            </a:r>
            <a:r>
              <a:rPr lang="en-US" sz="2400" dirty="0"/>
              <a:t> in the dataset.</a:t>
            </a:r>
          </a:p>
          <a:p>
            <a:r>
              <a:rPr lang="en-US" sz="2400" b="1" dirty="0"/>
              <a:t>💡 Formula:</a:t>
            </a:r>
          </a:p>
          <a:p>
            <a:endParaRPr lang="en-US" sz="2400" b="1" dirty="0"/>
          </a:p>
          <a:p>
            <a:endParaRPr lang="en-US" sz="2400" b="1" dirty="0"/>
          </a:p>
          <a:p>
            <a:endParaRPr lang="en-US" sz="2400" b="1" dirty="0"/>
          </a:p>
          <a:p>
            <a:pPr marL="0" indent="0">
              <a:buNone/>
            </a:pPr>
            <a:endParaRPr lang="en-US" sz="2400" b="1" dirty="0"/>
          </a:p>
          <a:p>
            <a:pPr marL="0" indent="0">
              <a:buNone/>
            </a:pPr>
            <a:endParaRPr lang="en-US" sz="2400" b="1" dirty="0"/>
          </a:p>
          <a:p>
            <a:pPr marL="0" indent="0">
              <a:buNone/>
            </a:pPr>
            <a:r>
              <a:rPr lang="en-IN" sz="2400" dirty="0"/>
              <a:t>	</a:t>
            </a:r>
          </a:p>
        </p:txBody>
      </p:sp>
      <p:pic>
        <p:nvPicPr>
          <p:cNvPr id="4" name="Picture 3">
            <a:extLst>
              <a:ext uri="{FF2B5EF4-FFF2-40B4-BE49-F238E27FC236}">
                <a16:creationId xmlns:a16="http://schemas.microsoft.com/office/drawing/2014/main" id="{338AFAEB-857A-0AA4-52F9-012AE02145C4}"/>
              </a:ext>
            </a:extLst>
          </p:cNvPr>
          <p:cNvPicPr>
            <a:picLocks noChangeAspect="1"/>
          </p:cNvPicPr>
          <p:nvPr/>
        </p:nvPicPr>
        <p:blipFill>
          <a:blip r:embed="rId2"/>
          <a:stretch>
            <a:fillRect/>
          </a:stretch>
        </p:blipFill>
        <p:spPr>
          <a:xfrm>
            <a:off x="1910443" y="2624093"/>
            <a:ext cx="8371114" cy="1224895"/>
          </a:xfrm>
          <a:prstGeom prst="rect">
            <a:avLst/>
          </a:prstGeom>
        </p:spPr>
      </p:pic>
    </p:spTree>
    <p:extLst>
      <p:ext uri="{BB962C8B-B14F-4D97-AF65-F5344CB8AC3E}">
        <p14:creationId xmlns:p14="http://schemas.microsoft.com/office/powerpoint/2010/main" val="119041419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CAB5E0-9640-2906-E4E9-400EC877222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F3CFCE9-3859-61CE-C6F4-E66536939C30}"/>
              </a:ext>
            </a:extLst>
          </p:cNvPr>
          <p:cNvSpPr>
            <a:spLocks noGrp="1"/>
          </p:cNvSpPr>
          <p:nvPr>
            <p:ph idx="1"/>
          </p:nvPr>
        </p:nvSpPr>
        <p:spPr>
          <a:xfrm>
            <a:off x="702853" y="707571"/>
            <a:ext cx="10900568" cy="5486400"/>
          </a:xfrm>
        </p:spPr>
        <p:txBody>
          <a:bodyPr>
            <a:normAutofit/>
          </a:bodyPr>
          <a:lstStyle/>
          <a:p>
            <a:pPr marL="0" indent="0">
              <a:buNone/>
            </a:pPr>
            <a:r>
              <a:rPr lang="en-IN" sz="2400" b="1" dirty="0"/>
              <a:t>Example:</a:t>
            </a:r>
          </a:p>
          <a:p>
            <a:r>
              <a:rPr lang="en-IN" sz="2400" dirty="0"/>
              <a:t>Let’s say we have 5 transactions:</a:t>
            </a:r>
          </a:p>
          <a:p>
            <a:endParaRPr lang="en-IN" sz="2400" dirty="0"/>
          </a:p>
          <a:p>
            <a:endParaRPr lang="en-IN" sz="2400" dirty="0"/>
          </a:p>
          <a:p>
            <a:endParaRPr lang="en-IN" sz="2400" dirty="0"/>
          </a:p>
          <a:p>
            <a:endParaRPr lang="en-IN" sz="2400" dirty="0"/>
          </a:p>
          <a:p>
            <a:endParaRPr lang="en-IN" sz="2400" dirty="0"/>
          </a:p>
          <a:p>
            <a:endParaRPr lang="en-IN" sz="2400" dirty="0"/>
          </a:p>
          <a:p>
            <a:endParaRPr lang="en-IN" sz="2400" dirty="0"/>
          </a:p>
          <a:p>
            <a:r>
              <a:rPr lang="en-IN" sz="2400" dirty="0"/>
              <a:t>Support of Bread = appears in T1, T2, T4, T5 = 4/5 = 0.8</a:t>
            </a:r>
          </a:p>
          <a:p>
            <a:endParaRPr lang="en-IN" sz="2400" dirty="0"/>
          </a:p>
          <a:p>
            <a:pPr marL="0" indent="0">
              <a:buNone/>
            </a:pPr>
            <a:endParaRPr lang="en-IN" sz="2800" dirty="0"/>
          </a:p>
        </p:txBody>
      </p:sp>
      <p:graphicFrame>
        <p:nvGraphicFramePr>
          <p:cNvPr id="2" name="Table 1">
            <a:extLst>
              <a:ext uri="{FF2B5EF4-FFF2-40B4-BE49-F238E27FC236}">
                <a16:creationId xmlns:a16="http://schemas.microsoft.com/office/drawing/2014/main" id="{4CC7328B-3069-91EF-00E8-D0E8AC6EE010}"/>
              </a:ext>
            </a:extLst>
          </p:cNvPr>
          <p:cNvGraphicFramePr>
            <a:graphicFrameLocks noGrp="1"/>
          </p:cNvGraphicFramePr>
          <p:nvPr>
            <p:extLst>
              <p:ext uri="{D42A27DB-BD31-4B8C-83A1-F6EECF244321}">
                <p14:modId xmlns:p14="http://schemas.microsoft.com/office/powerpoint/2010/main" val="3928204117"/>
              </p:ext>
            </p:extLst>
          </p:nvPr>
        </p:nvGraphicFramePr>
        <p:xfrm>
          <a:off x="1089161" y="1871855"/>
          <a:ext cx="7096896" cy="2210286"/>
        </p:xfrm>
        <a:graphic>
          <a:graphicData uri="http://schemas.openxmlformats.org/drawingml/2006/table">
            <a:tbl>
              <a:tblPr firstRow="1" firstCol="1" bandRow="1">
                <a:tableStyleId>{5C22544A-7EE6-4342-B048-85BDC9FD1C3A}</a:tableStyleId>
              </a:tblPr>
              <a:tblGrid>
                <a:gridCol w="3548448">
                  <a:extLst>
                    <a:ext uri="{9D8B030D-6E8A-4147-A177-3AD203B41FA5}">
                      <a16:colId xmlns:a16="http://schemas.microsoft.com/office/drawing/2014/main" val="961925646"/>
                    </a:ext>
                  </a:extLst>
                </a:gridCol>
                <a:gridCol w="3548448">
                  <a:extLst>
                    <a:ext uri="{9D8B030D-6E8A-4147-A177-3AD203B41FA5}">
                      <a16:colId xmlns:a16="http://schemas.microsoft.com/office/drawing/2014/main" val="1693071890"/>
                    </a:ext>
                  </a:extLst>
                </a:gridCol>
              </a:tblGrid>
              <a:tr h="368381">
                <a:tc>
                  <a:txBody>
                    <a:bodyPr/>
                    <a:lstStyle/>
                    <a:p>
                      <a:pPr>
                        <a:lnSpc>
                          <a:spcPct val="115000"/>
                        </a:lnSpc>
                        <a:spcAft>
                          <a:spcPts val="800"/>
                        </a:spcAft>
                        <a:buNone/>
                      </a:pPr>
                      <a:r>
                        <a:rPr lang="en-IN" sz="2000" kern="100">
                          <a:effectLst/>
                        </a:rPr>
                        <a:t>TID</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Items</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425867768"/>
                  </a:ext>
                </a:extLst>
              </a:tr>
              <a:tr h="368381">
                <a:tc>
                  <a:txBody>
                    <a:bodyPr/>
                    <a:lstStyle/>
                    <a:p>
                      <a:pPr>
                        <a:lnSpc>
                          <a:spcPct val="115000"/>
                        </a:lnSpc>
                        <a:spcAft>
                          <a:spcPts val="800"/>
                        </a:spcAft>
                        <a:buNone/>
                      </a:pPr>
                      <a:r>
                        <a:rPr lang="en-IN" sz="2000" kern="100">
                          <a:effectLst/>
                        </a:rPr>
                        <a:t>T1</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Milk, Bread</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164865986"/>
                  </a:ext>
                </a:extLst>
              </a:tr>
              <a:tr h="368381">
                <a:tc>
                  <a:txBody>
                    <a:bodyPr/>
                    <a:lstStyle/>
                    <a:p>
                      <a:pPr>
                        <a:lnSpc>
                          <a:spcPct val="115000"/>
                        </a:lnSpc>
                        <a:spcAft>
                          <a:spcPts val="800"/>
                        </a:spcAft>
                        <a:buNone/>
                      </a:pPr>
                      <a:r>
                        <a:rPr lang="en-IN" sz="2000" kern="100">
                          <a:effectLst/>
                        </a:rPr>
                        <a:t>T2</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Bread, Butter</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827799574"/>
                  </a:ext>
                </a:extLst>
              </a:tr>
              <a:tr h="368381">
                <a:tc>
                  <a:txBody>
                    <a:bodyPr/>
                    <a:lstStyle/>
                    <a:p>
                      <a:pPr>
                        <a:lnSpc>
                          <a:spcPct val="115000"/>
                        </a:lnSpc>
                        <a:spcAft>
                          <a:spcPts val="800"/>
                        </a:spcAft>
                        <a:buNone/>
                      </a:pPr>
                      <a:r>
                        <a:rPr lang="en-IN" sz="2000" kern="100">
                          <a:effectLst/>
                        </a:rPr>
                        <a:t>T3</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dirty="0">
                          <a:effectLst/>
                        </a:rPr>
                        <a:t>Milk, Butter</a:t>
                      </a:r>
                      <a:endParaRPr lang="en-IN" sz="20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307624665"/>
                  </a:ext>
                </a:extLst>
              </a:tr>
              <a:tr h="368381">
                <a:tc>
                  <a:txBody>
                    <a:bodyPr/>
                    <a:lstStyle/>
                    <a:p>
                      <a:pPr>
                        <a:lnSpc>
                          <a:spcPct val="115000"/>
                        </a:lnSpc>
                        <a:spcAft>
                          <a:spcPts val="800"/>
                        </a:spcAft>
                        <a:buNone/>
                      </a:pPr>
                      <a:r>
                        <a:rPr lang="en-IN" sz="2000" kern="100">
                          <a:effectLst/>
                        </a:rPr>
                        <a:t>T4</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Milk, Bread, Butter</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6112072"/>
                  </a:ext>
                </a:extLst>
              </a:tr>
              <a:tr h="368381">
                <a:tc>
                  <a:txBody>
                    <a:bodyPr/>
                    <a:lstStyle/>
                    <a:p>
                      <a:pPr>
                        <a:lnSpc>
                          <a:spcPct val="115000"/>
                        </a:lnSpc>
                        <a:spcAft>
                          <a:spcPts val="800"/>
                        </a:spcAft>
                        <a:buNone/>
                      </a:pPr>
                      <a:r>
                        <a:rPr lang="en-IN" sz="2000" kern="100">
                          <a:effectLst/>
                        </a:rPr>
                        <a:t>T5</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dirty="0">
                          <a:effectLst/>
                        </a:rPr>
                        <a:t>Bread</a:t>
                      </a:r>
                      <a:endParaRPr lang="en-IN" sz="20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011838202"/>
                  </a:ext>
                </a:extLst>
              </a:tr>
            </a:tbl>
          </a:graphicData>
        </a:graphic>
      </p:graphicFrame>
    </p:spTree>
    <p:extLst>
      <p:ext uri="{BB962C8B-B14F-4D97-AF65-F5344CB8AC3E}">
        <p14:creationId xmlns:p14="http://schemas.microsoft.com/office/powerpoint/2010/main" val="421489209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E3AB3A-AA81-F6E3-B029-C73C5A19358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8AC39DC-DA38-F60D-2CA3-F89897E433E4}"/>
              </a:ext>
            </a:extLst>
          </p:cNvPr>
          <p:cNvSpPr>
            <a:spLocks noGrp="1"/>
          </p:cNvSpPr>
          <p:nvPr>
            <p:ph idx="1"/>
          </p:nvPr>
        </p:nvSpPr>
        <p:spPr>
          <a:xfrm>
            <a:off x="702853" y="707571"/>
            <a:ext cx="10900568" cy="5486400"/>
          </a:xfrm>
        </p:spPr>
        <p:txBody>
          <a:bodyPr>
            <a:normAutofit/>
          </a:bodyPr>
          <a:lstStyle/>
          <a:p>
            <a:pPr marL="0" indent="0">
              <a:buNone/>
            </a:pPr>
            <a:r>
              <a:rPr lang="en-US" sz="2400" b="1" dirty="0"/>
              <a:t>Minimum Support:</a:t>
            </a:r>
          </a:p>
          <a:p>
            <a:pPr marL="0" indent="0">
              <a:buNone/>
            </a:pPr>
            <a:r>
              <a:rPr lang="en-US" sz="2400" dirty="0"/>
              <a:t>We define a minimum support threshold (e.g., 0.5 or 50%) to ignore rare items.</a:t>
            </a:r>
          </a:p>
          <a:p>
            <a:pPr marL="0" indent="0">
              <a:buNone/>
            </a:pPr>
            <a:endParaRPr lang="en-US" sz="2400" dirty="0"/>
          </a:p>
          <a:p>
            <a:pPr marL="0" indent="0">
              <a:buNone/>
            </a:pPr>
            <a:r>
              <a:rPr lang="en-US" sz="2400" b="1" dirty="0"/>
              <a:t>🛠 Why?</a:t>
            </a:r>
          </a:p>
          <a:p>
            <a:pPr marL="0" indent="0">
              <a:buNone/>
            </a:pPr>
            <a:r>
              <a:rPr lang="en-US" sz="2400" dirty="0"/>
              <a:t>We don’t want to generate rules from things that happen rarely (like once out of 1000 transactions).</a:t>
            </a:r>
          </a:p>
          <a:p>
            <a:pPr marL="0" indent="0">
              <a:buNone/>
            </a:pPr>
            <a:endParaRPr lang="en-US" sz="2400" dirty="0"/>
          </a:p>
          <a:p>
            <a:pPr marL="0" indent="0">
              <a:buNone/>
            </a:pPr>
            <a:r>
              <a:rPr lang="en-US" sz="2400" b="1" dirty="0"/>
              <a:t>Minimum Confidence:</a:t>
            </a:r>
          </a:p>
          <a:p>
            <a:pPr marL="0" indent="0">
              <a:buNone/>
            </a:pPr>
            <a:r>
              <a:rPr lang="en-US" sz="2400" dirty="0"/>
              <a:t>We also set a </a:t>
            </a:r>
            <a:r>
              <a:rPr lang="en-US" sz="2400" b="1" dirty="0">
                <a:solidFill>
                  <a:schemeClr val="tx2">
                    <a:lumMod val="75000"/>
                    <a:lumOff val="25000"/>
                  </a:schemeClr>
                </a:solidFill>
              </a:rPr>
              <a:t>minimum confidence </a:t>
            </a:r>
            <a:r>
              <a:rPr lang="en-US" sz="2400" dirty="0"/>
              <a:t>(e.g., 0.6 or 60%) to </a:t>
            </a:r>
            <a:r>
              <a:rPr lang="en-US" sz="2400" b="1" dirty="0">
                <a:solidFill>
                  <a:schemeClr val="tx2">
                    <a:lumMod val="75000"/>
                    <a:lumOff val="25000"/>
                  </a:schemeClr>
                </a:solidFill>
              </a:rPr>
              <a:t>filter out weak rules</a:t>
            </a:r>
            <a:r>
              <a:rPr lang="en-US" sz="2400" dirty="0"/>
              <a:t>.</a:t>
            </a:r>
            <a:endParaRPr lang="en-IN" sz="2400" dirty="0"/>
          </a:p>
        </p:txBody>
      </p:sp>
    </p:spTree>
    <p:extLst>
      <p:ext uri="{BB962C8B-B14F-4D97-AF65-F5344CB8AC3E}">
        <p14:creationId xmlns:p14="http://schemas.microsoft.com/office/powerpoint/2010/main" val="22220428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F7239-7F5E-7984-798F-6034E3BF09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7A20E5F-BA25-ED1C-D00D-E552D9B5B76F}"/>
              </a:ext>
            </a:extLst>
          </p:cNvPr>
          <p:cNvSpPr txBox="1"/>
          <p:nvPr/>
        </p:nvSpPr>
        <p:spPr>
          <a:xfrm>
            <a:off x="734786" y="695045"/>
            <a:ext cx="10639230" cy="461665"/>
          </a:xfrm>
          <a:prstGeom prst="rect">
            <a:avLst/>
          </a:prstGeom>
          <a:noFill/>
        </p:spPr>
        <p:txBody>
          <a:bodyPr wrap="square">
            <a:spAutoFit/>
          </a:bodyPr>
          <a:lstStyle/>
          <a:p>
            <a:r>
              <a:rPr lang="en-US" sz="2400" b="1" dirty="0">
                <a:solidFill>
                  <a:srgbClr val="C00000"/>
                </a:solidFill>
              </a:rPr>
              <a:t>Example: </a:t>
            </a:r>
          </a:p>
        </p:txBody>
      </p:sp>
      <p:graphicFrame>
        <p:nvGraphicFramePr>
          <p:cNvPr id="7" name="Table 6">
            <a:extLst>
              <a:ext uri="{FF2B5EF4-FFF2-40B4-BE49-F238E27FC236}">
                <a16:creationId xmlns:a16="http://schemas.microsoft.com/office/drawing/2014/main" id="{E57F0666-75BD-5AFB-3550-5D007F5F14A3}"/>
              </a:ext>
            </a:extLst>
          </p:cNvPr>
          <p:cNvGraphicFramePr>
            <a:graphicFrameLocks noGrp="1"/>
          </p:cNvGraphicFramePr>
          <p:nvPr/>
        </p:nvGraphicFramePr>
        <p:xfrm>
          <a:off x="865673" y="1391470"/>
          <a:ext cx="4051560" cy="3708400"/>
        </p:xfrm>
        <a:graphic>
          <a:graphicData uri="http://schemas.openxmlformats.org/drawingml/2006/table">
            <a:tbl>
              <a:tblPr firstRow="1" bandRow="1">
                <a:tableStyleId>{5C22544A-7EE6-4342-B048-85BDC9FD1C3A}</a:tableStyleId>
              </a:tblPr>
              <a:tblGrid>
                <a:gridCol w="1905519">
                  <a:extLst>
                    <a:ext uri="{9D8B030D-6E8A-4147-A177-3AD203B41FA5}">
                      <a16:colId xmlns:a16="http://schemas.microsoft.com/office/drawing/2014/main" val="2587484255"/>
                    </a:ext>
                  </a:extLst>
                </a:gridCol>
                <a:gridCol w="2146041">
                  <a:extLst>
                    <a:ext uri="{9D8B030D-6E8A-4147-A177-3AD203B41FA5}">
                      <a16:colId xmlns:a16="http://schemas.microsoft.com/office/drawing/2014/main" val="1288422709"/>
                    </a:ext>
                  </a:extLst>
                </a:gridCol>
              </a:tblGrid>
              <a:tr h="370840">
                <a:tc>
                  <a:txBody>
                    <a:bodyPr/>
                    <a:lstStyle/>
                    <a:p>
                      <a:pPr algn="ctr"/>
                      <a:r>
                        <a:rPr lang="en-US" dirty="0" err="1">
                          <a:solidFill>
                            <a:schemeClr val="tx1"/>
                          </a:solidFill>
                        </a:rPr>
                        <a:t>TId</a:t>
                      </a: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b="1" dirty="0" err="1">
                          <a:solidFill>
                            <a:schemeClr val="tx1"/>
                          </a:solidFill>
                        </a:rPr>
                        <a:t>Itemsets</a:t>
                      </a:r>
                      <a:endParaRPr lang="en-US"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072729091"/>
                  </a:ext>
                </a:extLst>
              </a:tr>
              <a:tr h="370840">
                <a:tc>
                  <a:txBody>
                    <a:bodyPr/>
                    <a:lstStyle/>
                    <a:p>
                      <a:pPr algn="ctr"/>
                      <a:r>
                        <a:rPr lang="en-US" dirty="0"/>
                        <a:t>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A, 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0735580"/>
                  </a:ext>
                </a:extLst>
              </a:tr>
              <a:tr h="370840">
                <a:tc>
                  <a:txBody>
                    <a:bodyPr/>
                    <a:lstStyle/>
                    <a:p>
                      <a:pPr algn="ctr"/>
                      <a:r>
                        <a:rPr lang="en-US" dirty="0"/>
                        <a:t>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B, 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52705316"/>
                  </a:ext>
                </a:extLst>
              </a:tr>
              <a:tr h="370840">
                <a:tc>
                  <a:txBody>
                    <a:bodyPr/>
                    <a:lstStyle/>
                    <a:p>
                      <a:pPr algn="ctr"/>
                      <a:r>
                        <a:rPr lang="en-US" dirty="0"/>
                        <a:t>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B,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9908786"/>
                  </a:ext>
                </a:extLst>
              </a:tr>
              <a:tr h="370840">
                <a:tc>
                  <a:txBody>
                    <a:bodyPr/>
                    <a:lstStyle/>
                    <a:p>
                      <a:pPr algn="ctr"/>
                      <a:r>
                        <a:rPr lang="en-US" dirty="0"/>
                        <a:t>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A, B, 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33370665"/>
                  </a:ext>
                </a:extLst>
              </a:tr>
              <a:tr h="370840">
                <a:tc>
                  <a:txBody>
                    <a:bodyPr/>
                    <a:lstStyle/>
                    <a:p>
                      <a:pPr algn="ctr"/>
                      <a:r>
                        <a:rPr lang="en-US" dirty="0"/>
                        <a:t>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A,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97089118"/>
                  </a:ext>
                </a:extLst>
              </a:tr>
              <a:tr h="370840">
                <a:tc>
                  <a:txBody>
                    <a:bodyPr/>
                    <a:lstStyle/>
                    <a:p>
                      <a:pPr algn="ctr"/>
                      <a:r>
                        <a:rPr lang="en-US" dirty="0"/>
                        <a:t>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B,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468494041"/>
                  </a:ext>
                </a:extLst>
              </a:tr>
              <a:tr h="370840">
                <a:tc>
                  <a:txBody>
                    <a:bodyPr/>
                    <a:lstStyle/>
                    <a:p>
                      <a:pPr algn="ctr"/>
                      <a:r>
                        <a:rPr lang="en-US" dirty="0"/>
                        <a:t>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A,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144325776"/>
                  </a:ext>
                </a:extLst>
              </a:tr>
              <a:tr h="370840">
                <a:tc>
                  <a:txBody>
                    <a:bodyPr/>
                    <a:lstStyle/>
                    <a:p>
                      <a:pPr algn="ctr"/>
                      <a:r>
                        <a:rPr lang="en-US" dirty="0"/>
                        <a:t>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A, B, C, 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863749087"/>
                  </a:ext>
                </a:extLst>
              </a:tr>
              <a:tr h="370840">
                <a:tc>
                  <a:txBody>
                    <a:bodyPr/>
                    <a:lstStyle/>
                    <a:p>
                      <a:pPr algn="ctr"/>
                      <a:r>
                        <a:rPr lang="en-US" dirty="0"/>
                        <a:t>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t>A, B,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87262902"/>
                  </a:ext>
                </a:extLst>
              </a:tr>
            </a:tbl>
          </a:graphicData>
        </a:graphic>
      </p:graphicFrame>
      <p:sp>
        <p:nvSpPr>
          <p:cNvPr id="9" name="TextBox 8">
            <a:extLst>
              <a:ext uri="{FF2B5EF4-FFF2-40B4-BE49-F238E27FC236}">
                <a16:creationId xmlns:a16="http://schemas.microsoft.com/office/drawing/2014/main" id="{BB243A3C-87FC-DA86-818A-05A9926DDB34}"/>
              </a:ext>
            </a:extLst>
          </p:cNvPr>
          <p:cNvSpPr txBox="1"/>
          <p:nvPr/>
        </p:nvSpPr>
        <p:spPr>
          <a:xfrm>
            <a:off x="5431971" y="4301553"/>
            <a:ext cx="6760029" cy="1569660"/>
          </a:xfrm>
          <a:prstGeom prst="rect">
            <a:avLst/>
          </a:prstGeom>
          <a:noFill/>
        </p:spPr>
        <p:txBody>
          <a:bodyPr wrap="square">
            <a:spAutoFit/>
          </a:bodyPr>
          <a:lstStyle/>
          <a:p>
            <a:r>
              <a:rPr lang="en-US" sz="2400" b="1" dirty="0"/>
              <a:t>Given:</a:t>
            </a:r>
          </a:p>
          <a:p>
            <a:pPr marL="342900" indent="-342900">
              <a:buFont typeface="Arial" panose="020B0604020202020204" pitchFamily="34" charset="0"/>
              <a:buChar char="•"/>
            </a:pPr>
            <a:r>
              <a:rPr lang="en-US" sz="2400" dirty="0"/>
              <a:t>Min Support: </a:t>
            </a:r>
            <a:r>
              <a:rPr lang="en-US" sz="2400" b="1" dirty="0"/>
              <a:t>2 (Item should be present in min 2 transactions</a:t>
            </a:r>
          </a:p>
          <a:p>
            <a:pPr marL="342900" indent="-342900">
              <a:buFont typeface="Arial" panose="020B0604020202020204" pitchFamily="34" charset="0"/>
              <a:buChar char="•"/>
            </a:pPr>
            <a:r>
              <a:rPr lang="en-US" sz="2400" dirty="0"/>
              <a:t>Min Confidence: </a:t>
            </a:r>
            <a:r>
              <a:rPr lang="en-US" sz="2400" b="1" dirty="0"/>
              <a:t>50%</a:t>
            </a:r>
          </a:p>
        </p:txBody>
      </p:sp>
      <p:sp>
        <p:nvSpPr>
          <p:cNvPr id="11" name="TextBox 10">
            <a:extLst>
              <a:ext uri="{FF2B5EF4-FFF2-40B4-BE49-F238E27FC236}">
                <a16:creationId xmlns:a16="http://schemas.microsoft.com/office/drawing/2014/main" id="{CAE5CB5D-3339-B93F-504C-D2CE564849B2}"/>
              </a:ext>
            </a:extLst>
          </p:cNvPr>
          <p:cNvSpPr txBox="1"/>
          <p:nvPr/>
        </p:nvSpPr>
        <p:spPr>
          <a:xfrm>
            <a:off x="-1554" y="6642556"/>
            <a:ext cx="6097554" cy="215444"/>
          </a:xfrm>
          <a:prstGeom prst="rect">
            <a:avLst/>
          </a:prstGeom>
          <a:noFill/>
        </p:spPr>
        <p:txBody>
          <a:bodyPr wrap="square">
            <a:spAutoFit/>
          </a:bodyPr>
          <a:lstStyle/>
          <a:p>
            <a:r>
              <a:rPr lang="en-US" sz="800" dirty="0"/>
              <a:t>https://www.youtube.com/watch?v=F7f91QMAivY</a:t>
            </a:r>
          </a:p>
        </p:txBody>
      </p:sp>
      <p:graphicFrame>
        <p:nvGraphicFramePr>
          <p:cNvPr id="2" name="Table 1">
            <a:extLst>
              <a:ext uri="{FF2B5EF4-FFF2-40B4-BE49-F238E27FC236}">
                <a16:creationId xmlns:a16="http://schemas.microsoft.com/office/drawing/2014/main" id="{237C0FEB-B756-0EEA-C689-5B0DB6ADFB80}"/>
              </a:ext>
            </a:extLst>
          </p:cNvPr>
          <p:cNvGraphicFramePr>
            <a:graphicFrameLocks noGrp="1"/>
          </p:cNvGraphicFramePr>
          <p:nvPr/>
        </p:nvGraphicFramePr>
        <p:xfrm>
          <a:off x="7132320" y="1391470"/>
          <a:ext cx="4051560" cy="1854200"/>
        </p:xfrm>
        <a:graphic>
          <a:graphicData uri="http://schemas.openxmlformats.org/drawingml/2006/table">
            <a:tbl>
              <a:tblPr firstRow="1" bandRow="1">
                <a:tableStyleId>{5C22544A-7EE6-4342-B048-85BDC9FD1C3A}</a:tableStyleId>
              </a:tblPr>
              <a:tblGrid>
                <a:gridCol w="1905519">
                  <a:extLst>
                    <a:ext uri="{9D8B030D-6E8A-4147-A177-3AD203B41FA5}">
                      <a16:colId xmlns:a16="http://schemas.microsoft.com/office/drawing/2014/main" val="2587484255"/>
                    </a:ext>
                  </a:extLst>
                </a:gridCol>
                <a:gridCol w="2146041">
                  <a:extLst>
                    <a:ext uri="{9D8B030D-6E8A-4147-A177-3AD203B41FA5}">
                      <a16:colId xmlns:a16="http://schemas.microsoft.com/office/drawing/2014/main" val="1288422709"/>
                    </a:ext>
                  </a:extLst>
                </a:gridCol>
              </a:tblGrid>
              <a:tr h="370840">
                <a:tc>
                  <a:txBody>
                    <a:bodyPr/>
                    <a:lstStyle/>
                    <a:p>
                      <a:pPr algn="ctr"/>
                      <a:r>
                        <a:rPr lang="en-US" dirty="0">
                          <a:solidFill>
                            <a:schemeClr val="tx1"/>
                          </a:solidFill>
                        </a:rPr>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solidFill>
                            <a:schemeClr val="tx1"/>
                          </a:solidFill>
                        </a:rPr>
                        <a:t>Apple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0735580"/>
                  </a:ext>
                </a:extLst>
              </a:tr>
              <a:tr h="370840">
                <a:tc>
                  <a:txBody>
                    <a:bodyPr/>
                    <a:lstStyle/>
                    <a:p>
                      <a:pPr algn="ctr"/>
                      <a:r>
                        <a:rPr lang="en-US" dirty="0">
                          <a:solidFill>
                            <a:schemeClr val="tx1"/>
                          </a:solidFill>
                        </a:rPr>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solidFill>
                            <a:schemeClr val="tx1"/>
                          </a:solidFill>
                        </a:rPr>
                        <a:t>Bread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52705316"/>
                  </a:ext>
                </a:extLst>
              </a:tr>
              <a:tr h="370840">
                <a:tc>
                  <a:txBody>
                    <a:bodyPr/>
                    <a:lstStyle/>
                    <a:p>
                      <a:pPr algn="ctr"/>
                      <a:r>
                        <a:rPr lang="en-US" dirty="0">
                          <a:solidFill>
                            <a:schemeClr val="tx1"/>
                          </a:solidFill>
                        </a:rPr>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solidFill>
                            <a:schemeClr val="tx1"/>
                          </a:solidFill>
                        </a:rPr>
                        <a:t>Chicklet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9908786"/>
                  </a:ext>
                </a:extLst>
              </a:tr>
              <a:tr h="370840">
                <a:tc>
                  <a:txBody>
                    <a:bodyPr/>
                    <a:lstStyle/>
                    <a:p>
                      <a:pPr algn="ctr"/>
                      <a:r>
                        <a:rPr lang="en-US" dirty="0">
                          <a:solidFill>
                            <a:schemeClr val="tx1"/>
                          </a:solidFill>
                        </a:rPr>
                        <a:t>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solidFill>
                            <a:schemeClr val="tx1"/>
                          </a:solidFill>
                        </a:rPr>
                        <a:t>Dry-Fruits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33370665"/>
                  </a:ext>
                </a:extLst>
              </a:tr>
              <a:tr h="370840">
                <a:tc>
                  <a:txBody>
                    <a:bodyPr/>
                    <a:lstStyle/>
                    <a:p>
                      <a:pPr algn="ctr"/>
                      <a:r>
                        <a:rPr lang="en-US" dirty="0">
                          <a:solidFill>
                            <a:schemeClr val="tx1"/>
                          </a:solidFill>
                        </a:rPr>
                        <a: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dirty="0">
                          <a:solidFill>
                            <a:schemeClr val="tx1"/>
                          </a:solidFill>
                        </a:rPr>
                        <a:t>Egg</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97089118"/>
                  </a:ext>
                </a:extLst>
              </a:tr>
            </a:tbl>
          </a:graphicData>
        </a:graphic>
      </p:graphicFrame>
    </p:spTree>
    <p:extLst>
      <p:ext uri="{BB962C8B-B14F-4D97-AF65-F5344CB8AC3E}">
        <p14:creationId xmlns:p14="http://schemas.microsoft.com/office/powerpoint/2010/main" val="3139655257"/>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B58A7-4381-9DE5-7939-CCDCC2E7AD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CF465A5-5DE1-5D5D-20DC-378A5CFD8D6A}"/>
              </a:ext>
            </a:extLst>
          </p:cNvPr>
          <p:cNvSpPr txBox="1"/>
          <p:nvPr/>
        </p:nvSpPr>
        <p:spPr>
          <a:xfrm>
            <a:off x="697463" y="697077"/>
            <a:ext cx="9001707" cy="461665"/>
          </a:xfrm>
          <a:prstGeom prst="rect">
            <a:avLst/>
          </a:prstGeom>
          <a:noFill/>
        </p:spPr>
        <p:txBody>
          <a:bodyPr wrap="square">
            <a:spAutoFit/>
          </a:bodyPr>
          <a:lstStyle/>
          <a:p>
            <a:r>
              <a:rPr lang="en-US" sz="2400" b="1" dirty="0"/>
              <a:t>Step-1: </a:t>
            </a:r>
            <a:r>
              <a:rPr lang="en-US" sz="2400" dirty="0"/>
              <a:t>Find the </a:t>
            </a:r>
            <a:r>
              <a:rPr lang="en-US" sz="2400" b="1" dirty="0">
                <a:solidFill>
                  <a:srgbClr val="C00000"/>
                </a:solidFill>
              </a:rPr>
              <a:t>Candidate Set  </a:t>
            </a:r>
            <a:r>
              <a:rPr lang="en-US" sz="2400" dirty="0"/>
              <a:t>C1 and </a:t>
            </a:r>
            <a:r>
              <a:rPr lang="en-US" sz="2400" b="1" dirty="0">
                <a:solidFill>
                  <a:srgbClr val="C00000"/>
                </a:solidFill>
              </a:rPr>
              <a:t>Frequent Itemset </a:t>
            </a:r>
            <a:r>
              <a:rPr lang="en-US" sz="2400" b="1" dirty="0"/>
              <a:t>L1</a:t>
            </a:r>
            <a:r>
              <a:rPr lang="en-US" sz="2400" dirty="0"/>
              <a:t> </a:t>
            </a:r>
          </a:p>
        </p:txBody>
      </p:sp>
      <p:graphicFrame>
        <p:nvGraphicFramePr>
          <p:cNvPr id="4" name="Table 3">
            <a:extLst>
              <a:ext uri="{FF2B5EF4-FFF2-40B4-BE49-F238E27FC236}">
                <a16:creationId xmlns:a16="http://schemas.microsoft.com/office/drawing/2014/main" id="{D12DF15F-E0A5-C85F-EA43-2AC6BC4DB95D}"/>
              </a:ext>
            </a:extLst>
          </p:cNvPr>
          <p:cNvGraphicFramePr>
            <a:graphicFrameLocks noGrp="1"/>
          </p:cNvGraphicFramePr>
          <p:nvPr/>
        </p:nvGraphicFramePr>
        <p:xfrm>
          <a:off x="1434841" y="1550090"/>
          <a:ext cx="4051560" cy="2219960"/>
        </p:xfrm>
        <a:graphic>
          <a:graphicData uri="http://schemas.openxmlformats.org/drawingml/2006/table">
            <a:tbl>
              <a:tblPr firstRow="1" bandRow="1">
                <a:tableStyleId>{5C22544A-7EE6-4342-B048-85BDC9FD1C3A}</a:tableStyleId>
              </a:tblPr>
              <a:tblGrid>
                <a:gridCol w="1905519">
                  <a:extLst>
                    <a:ext uri="{9D8B030D-6E8A-4147-A177-3AD203B41FA5}">
                      <a16:colId xmlns:a16="http://schemas.microsoft.com/office/drawing/2014/main" val="2587484255"/>
                    </a:ext>
                  </a:extLst>
                </a:gridCol>
                <a:gridCol w="2146041">
                  <a:extLst>
                    <a:ext uri="{9D8B030D-6E8A-4147-A177-3AD203B41FA5}">
                      <a16:colId xmlns:a16="http://schemas.microsoft.com/office/drawing/2014/main" val="1288422709"/>
                    </a:ext>
                  </a:extLst>
                </a:gridCol>
              </a:tblGrid>
              <a:tr h="370840">
                <a:tc>
                  <a:txBody>
                    <a:bodyPr/>
                    <a:lstStyle/>
                    <a:p>
                      <a:pPr algn="ctr"/>
                      <a:r>
                        <a:rPr lang="en-US" dirty="0" err="1">
                          <a:solidFill>
                            <a:schemeClr val="tx1"/>
                          </a:solidFill>
                        </a:rPr>
                        <a:t>TId</a:t>
                      </a: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b="1" dirty="0">
                          <a:solidFill>
                            <a:schemeClr val="tx1"/>
                          </a:solidFill>
                        </a:rPr>
                        <a:t>Support Count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072729091"/>
                  </a:ext>
                </a:extLst>
              </a:tr>
              <a:tr h="370840">
                <a:tc>
                  <a:txBody>
                    <a:bodyPr/>
                    <a:lstStyle/>
                    <a:p>
                      <a:pPr algn="ctr"/>
                      <a:r>
                        <a:rPr lang="en-US"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0735580"/>
                  </a:ext>
                </a:extLst>
              </a:tr>
              <a:tr h="370840">
                <a:tc>
                  <a:txBody>
                    <a:bodyPr/>
                    <a:lstStyle/>
                    <a:p>
                      <a:pPr algn="ctr"/>
                      <a:r>
                        <a:rPr lang="en-US"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52705316"/>
                  </a:ext>
                </a:extLst>
              </a:tr>
              <a:tr h="370840">
                <a:tc>
                  <a:txBody>
                    <a:bodyPr/>
                    <a:lstStyle/>
                    <a:p>
                      <a:pPr algn="ctr"/>
                      <a:r>
                        <a:rPr lang="en-US"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9908786"/>
                  </a:ext>
                </a:extLst>
              </a:tr>
              <a:tr h="370840">
                <a:tc>
                  <a:txBody>
                    <a:bodyPr/>
                    <a:lstStyle/>
                    <a:p>
                      <a:pPr algn="ctr"/>
                      <a:r>
                        <a:rPr lang="en-US" dirty="0"/>
                        <a:t>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33370665"/>
                  </a:ext>
                </a:extLst>
              </a:tr>
              <a:tr h="206657">
                <a:tc>
                  <a:txBody>
                    <a:bodyPr/>
                    <a:lstStyle/>
                    <a:p>
                      <a:pPr algn="ctr"/>
                      <a:r>
                        <a:rPr lang="en-US" dirty="0"/>
                        <a: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97089118"/>
                  </a:ext>
                </a:extLst>
              </a:tr>
            </a:tbl>
          </a:graphicData>
        </a:graphic>
      </p:graphicFrame>
      <p:sp>
        <p:nvSpPr>
          <p:cNvPr id="6" name="TextBox 5">
            <a:extLst>
              <a:ext uri="{FF2B5EF4-FFF2-40B4-BE49-F238E27FC236}">
                <a16:creationId xmlns:a16="http://schemas.microsoft.com/office/drawing/2014/main" id="{318EFD0F-F1BE-A77C-2DC6-99EEA86E9E69}"/>
              </a:ext>
            </a:extLst>
          </p:cNvPr>
          <p:cNvSpPr txBox="1"/>
          <p:nvPr/>
        </p:nvSpPr>
        <p:spPr>
          <a:xfrm>
            <a:off x="453701" y="1779427"/>
            <a:ext cx="712625" cy="461665"/>
          </a:xfrm>
          <a:prstGeom prst="rect">
            <a:avLst/>
          </a:prstGeom>
          <a:noFill/>
        </p:spPr>
        <p:txBody>
          <a:bodyPr wrap="square">
            <a:spAutoFit/>
          </a:bodyPr>
          <a:lstStyle/>
          <a:p>
            <a:r>
              <a:rPr lang="en-US" sz="2400" b="1" dirty="0">
                <a:solidFill>
                  <a:srgbClr val="C00000"/>
                </a:solidFill>
              </a:rPr>
              <a:t>C1</a:t>
            </a:r>
          </a:p>
        </p:txBody>
      </p:sp>
      <p:graphicFrame>
        <p:nvGraphicFramePr>
          <p:cNvPr id="7" name="Table 6">
            <a:extLst>
              <a:ext uri="{FF2B5EF4-FFF2-40B4-BE49-F238E27FC236}">
                <a16:creationId xmlns:a16="http://schemas.microsoft.com/office/drawing/2014/main" id="{1F47EB8F-6334-61ED-72DA-6E620C6BEA9C}"/>
              </a:ext>
            </a:extLst>
          </p:cNvPr>
          <p:cNvGraphicFramePr>
            <a:graphicFrameLocks noGrp="1"/>
          </p:cNvGraphicFramePr>
          <p:nvPr/>
        </p:nvGraphicFramePr>
        <p:xfrm>
          <a:off x="7110963" y="1554409"/>
          <a:ext cx="4051560" cy="1854200"/>
        </p:xfrm>
        <a:graphic>
          <a:graphicData uri="http://schemas.openxmlformats.org/drawingml/2006/table">
            <a:tbl>
              <a:tblPr firstRow="1" bandRow="1">
                <a:tableStyleId>{5C22544A-7EE6-4342-B048-85BDC9FD1C3A}</a:tableStyleId>
              </a:tblPr>
              <a:tblGrid>
                <a:gridCol w="1905519">
                  <a:extLst>
                    <a:ext uri="{9D8B030D-6E8A-4147-A177-3AD203B41FA5}">
                      <a16:colId xmlns:a16="http://schemas.microsoft.com/office/drawing/2014/main" val="2587484255"/>
                    </a:ext>
                  </a:extLst>
                </a:gridCol>
                <a:gridCol w="2146041">
                  <a:extLst>
                    <a:ext uri="{9D8B030D-6E8A-4147-A177-3AD203B41FA5}">
                      <a16:colId xmlns:a16="http://schemas.microsoft.com/office/drawing/2014/main" val="1288422709"/>
                    </a:ext>
                  </a:extLst>
                </a:gridCol>
              </a:tblGrid>
              <a:tr h="370840">
                <a:tc>
                  <a:txBody>
                    <a:bodyPr/>
                    <a:lstStyle/>
                    <a:p>
                      <a:pPr algn="ctr"/>
                      <a:r>
                        <a:rPr lang="en-US" dirty="0" err="1">
                          <a:solidFill>
                            <a:schemeClr val="tx1"/>
                          </a:solidFill>
                        </a:rPr>
                        <a:t>TId</a:t>
                      </a: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b="1" dirty="0">
                          <a:solidFill>
                            <a:schemeClr val="tx1"/>
                          </a:solidFill>
                        </a:rPr>
                        <a:t>Support Count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072729091"/>
                  </a:ext>
                </a:extLst>
              </a:tr>
              <a:tr h="370840">
                <a:tc>
                  <a:txBody>
                    <a:bodyPr/>
                    <a:lstStyle/>
                    <a:p>
                      <a:pPr algn="ctr"/>
                      <a:r>
                        <a:rPr lang="en-US" dirty="0"/>
                        <a:t>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0735580"/>
                  </a:ext>
                </a:extLst>
              </a:tr>
              <a:tr h="370840">
                <a:tc>
                  <a:txBody>
                    <a:bodyPr/>
                    <a:lstStyle/>
                    <a:p>
                      <a:pPr algn="ctr"/>
                      <a:r>
                        <a:rPr lang="en-US" dirty="0"/>
                        <a:t>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52705316"/>
                  </a:ext>
                </a:extLst>
              </a:tr>
              <a:tr h="370840">
                <a:tc>
                  <a:txBody>
                    <a:bodyPr/>
                    <a:lstStyle/>
                    <a:p>
                      <a:pPr algn="ctr"/>
                      <a:r>
                        <a:rPr lang="en-US" dirty="0"/>
                        <a:t>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9908786"/>
                  </a:ext>
                </a:extLst>
              </a:tr>
              <a:tr h="370840">
                <a:tc>
                  <a:txBody>
                    <a:bodyPr/>
                    <a:lstStyle/>
                    <a:p>
                      <a:pPr algn="ctr"/>
                      <a:r>
                        <a:rPr lang="en-US" dirty="0"/>
                        <a:t>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33370665"/>
                  </a:ext>
                </a:extLst>
              </a:tr>
            </a:tbl>
          </a:graphicData>
        </a:graphic>
      </p:graphicFrame>
      <p:sp>
        <p:nvSpPr>
          <p:cNvPr id="9" name="TextBox 8">
            <a:extLst>
              <a:ext uri="{FF2B5EF4-FFF2-40B4-BE49-F238E27FC236}">
                <a16:creationId xmlns:a16="http://schemas.microsoft.com/office/drawing/2014/main" id="{0CB7146A-4693-913A-B07F-BC347F05AEDF}"/>
              </a:ext>
            </a:extLst>
          </p:cNvPr>
          <p:cNvSpPr txBox="1"/>
          <p:nvPr/>
        </p:nvSpPr>
        <p:spPr>
          <a:xfrm>
            <a:off x="7017527" y="3449875"/>
            <a:ext cx="4238431" cy="707886"/>
          </a:xfrm>
          <a:prstGeom prst="rect">
            <a:avLst/>
          </a:prstGeom>
          <a:noFill/>
        </p:spPr>
        <p:txBody>
          <a:bodyPr wrap="square">
            <a:spAutoFit/>
          </a:bodyPr>
          <a:lstStyle/>
          <a:p>
            <a:r>
              <a:rPr lang="en-US" sz="2000" dirty="0"/>
              <a:t>All the </a:t>
            </a:r>
            <a:r>
              <a:rPr lang="en-US" sz="2000" dirty="0" err="1"/>
              <a:t>itemsets</a:t>
            </a:r>
            <a:r>
              <a:rPr lang="en-US" sz="2000" dirty="0"/>
              <a:t>  have greater or equal then the Min support.</a:t>
            </a:r>
          </a:p>
        </p:txBody>
      </p:sp>
      <p:sp>
        <p:nvSpPr>
          <p:cNvPr id="10" name="TextBox 9">
            <a:extLst>
              <a:ext uri="{FF2B5EF4-FFF2-40B4-BE49-F238E27FC236}">
                <a16:creationId xmlns:a16="http://schemas.microsoft.com/office/drawing/2014/main" id="{055F0CAC-FADC-E52C-E6A7-BB32BD2CDD00}"/>
              </a:ext>
            </a:extLst>
          </p:cNvPr>
          <p:cNvSpPr txBox="1"/>
          <p:nvPr/>
        </p:nvSpPr>
        <p:spPr>
          <a:xfrm>
            <a:off x="6304902" y="1779426"/>
            <a:ext cx="712625" cy="461665"/>
          </a:xfrm>
          <a:prstGeom prst="rect">
            <a:avLst/>
          </a:prstGeom>
          <a:noFill/>
        </p:spPr>
        <p:txBody>
          <a:bodyPr wrap="square">
            <a:spAutoFit/>
          </a:bodyPr>
          <a:lstStyle/>
          <a:p>
            <a:r>
              <a:rPr lang="en-US" sz="2400" b="1" dirty="0">
                <a:solidFill>
                  <a:srgbClr val="C00000"/>
                </a:solidFill>
              </a:rPr>
              <a:t>L1</a:t>
            </a:r>
          </a:p>
        </p:txBody>
      </p:sp>
      <p:sp>
        <p:nvSpPr>
          <p:cNvPr id="2" name="TextBox 1">
            <a:extLst>
              <a:ext uri="{FF2B5EF4-FFF2-40B4-BE49-F238E27FC236}">
                <a16:creationId xmlns:a16="http://schemas.microsoft.com/office/drawing/2014/main" id="{737C22C9-51F8-624D-C672-6CA76CCAB318}"/>
              </a:ext>
            </a:extLst>
          </p:cNvPr>
          <p:cNvSpPr txBox="1"/>
          <p:nvPr/>
        </p:nvSpPr>
        <p:spPr>
          <a:xfrm>
            <a:off x="810013" y="4390734"/>
            <a:ext cx="10702056" cy="2462213"/>
          </a:xfrm>
          <a:prstGeom prst="rect">
            <a:avLst/>
          </a:prstGeom>
          <a:noFill/>
        </p:spPr>
        <p:txBody>
          <a:bodyPr wrap="square">
            <a:spAutoFit/>
          </a:bodyPr>
          <a:lstStyle/>
          <a:p>
            <a:pPr marL="342900" indent="-342900">
              <a:buFont typeface="Arial" panose="020B0604020202020204" pitchFamily="34" charset="0"/>
              <a:buChar char="•"/>
            </a:pPr>
            <a:r>
              <a:rPr lang="en-US" sz="2200" b="1" dirty="0">
                <a:solidFill>
                  <a:srgbClr val="C00000"/>
                </a:solidFill>
              </a:rPr>
              <a:t>Candidate Set: </a:t>
            </a:r>
            <a:r>
              <a:rPr lang="en-US" sz="2200" b="1" dirty="0"/>
              <a:t>Indicates </a:t>
            </a:r>
            <a:r>
              <a:rPr lang="en-US" sz="2200" dirty="0"/>
              <a:t>how many time a particular item is present in the give transaction data set. </a:t>
            </a:r>
          </a:p>
          <a:p>
            <a:pPr marL="342900" indent="-342900">
              <a:buFont typeface="Arial" panose="020B0604020202020204" pitchFamily="34" charset="0"/>
              <a:buChar char="•"/>
            </a:pPr>
            <a:r>
              <a:rPr lang="en-US" sz="2200" dirty="0"/>
              <a:t>For example: the </a:t>
            </a:r>
            <a:r>
              <a:rPr lang="en-US" sz="2200" b="1" dirty="0">
                <a:solidFill>
                  <a:srgbClr val="C00000"/>
                </a:solidFill>
              </a:rPr>
              <a:t>Candidate Set </a:t>
            </a:r>
            <a:r>
              <a:rPr lang="en-US" sz="2200" b="1" dirty="0"/>
              <a:t>for </a:t>
            </a:r>
            <a:r>
              <a:rPr lang="en-US" sz="2200" dirty="0"/>
              <a:t>A is nothing but how many times or in how many transaction the item A is present which is called as </a:t>
            </a:r>
            <a:r>
              <a:rPr lang="en-US" sz="2200" b="1" dirty="0">
                <a:solidFill>
                  <a:srgbClr val="C00000"/>
                </a:solidFill>
              </a:rPr>
              <a:t>Support Count</a:t>
            </a:r>
            <a:r>
              <a:rPr lang="en-US" sz="2200" dirty="0"/>
              <a:t>.</a:t>
            </a:r>
          </a:p>
          <a:p>
            <a:pPr marL="342900" indent="-342900">
              <a:buFont typeface="Arial" panose="020B0604020202020204" pitchFamily="34" charset="0"/>
              <a:buChar char="•"/>
            </a:pPr>
            <a:r>
              <a:rPr lang="en-US" sz="2200" b="1" dirty="0">
                <a:solidFill>
                  <a:srgbClr val="C00000"/>
                </a:solidFill>
              </a:rPr>
              <a:t>Frequent Itemset: </a:t>
            </a:r>
            <a:r>
              <a:rPr lang="en-US" sz="2200" dirty="0"/>
              <a:t>All the </a:t>
            </a:r>
            <a:r>
              <a:rPr lang="en-US" sz="2200" dirty="0" err="1"/>
              <a:t>itemsets</a:t>
            </a:r>
            <a:r>
              <a:rPr lang="en-US" sz="2200" dirty="0"/>
              <a:t> which have greater or equal then the </a:t>
            </a:r>
            <a:r>
              <a:rPr lang="en-US" sz="2200" b="1" dirty="0">
                <a:solidFill>
                  <a:srgbClr val="C00000"/>
                </a:solidFill>
              </a:rPr>
              <a:t>Min support</a:t>
            </a:r>
            <a:r>
              <a:rPr lang="en-US" sz="2200" dirty="0"/>
              <a:t>.</a:t>
            </a:r>
          </a:p>
          <a:p>
            <a:endParaRPr lang="en-US" sz="2200" dirty="0"/>
          </a:p>
          <a:p>
            <a:endParaRPr lang="en-US" sz="2200" dirty="0"/>
          </a:p>
        </p:txBody>
      </p:sp>
    </p:spTree>
    <p:extLst>
      <p:ext uri="{BB962C8B-B14F-4D97-AF65-F5344CB8AC3E}">
        <p14:creationId xmlns:p14="http://schemas.microsoft.com/office/powerpoint/2010/main" val="200195006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084BA4-902F-AE6B-95A8-BAE3983C49D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D548C7E-75F5-99B8-402D-2A7D7FB6563B}"/>
              </a:ext>
            </a:extLst>
          </p:cNvPr>
          <p:cNvSpPr txBox="1"/>
          <p:nvPr/>
        </p:nvSpPr>
        <p:spPr>
          <a:xfrm>
            <a:off x="645756" y="624287"/>
            <a:ext cx="10900487" cy="1200329"/>
          </a:xfrm>
          <a:prstGeom prst="rect">
            <a:avLst/>
          </a:prstGeom>
          <a:noFill/>
        </p:spPr>
        <p:txBody>
          <a:bodyPr wrap="square">
            <a:spAutoFit/>
          </a:bodyPr>
          <a:lstStyle/>
          <a:p>
            <a:r>
              <a:rPr lang="en-US" sz="2400" b="1" dirty="0"/>
              <a:t>Step-2:  Candidate Generation C2 and L2</a:t>
            </a:r>
          </a:p>
          <a:p>
            <a:r>
              <a:rPr lang="en-US" sz="2400" b="1" dirty="0"/>
              <a:t>In this s</a:t>
            </a:r>
            <a:r>
              <a:rPr lang="en-US" sz="2400" dirty="0"/>
              <a:t>tep we have to </a:t>
            </a:r>
            <a:r>
              <a:rPr lang="en-US" sz="2400" b="1" dirty="0">
                <a:solidFill>
                  <a:srgbClr val="C00000"/>
                </a:solidFill>
              </a:rPr>
              <a:t>make a pair of the items </a:t>
            </a:r>
            <a:r>
              <a:rPr lang="en-US" sz="2400" dirty="0"/>
              <a:t>in order and find the </a:t>
            </a:r>
            <a:r>
              <a:rPr lang="en-US" sz="2400" b="1" dirty="0"/>
              <a:t>number </a:t>
            </a:r>
            <a:r>
              <a:rPr lang="en-US" sz="2400" b="1" dirty="0" err="1"/>
              <a:t>occurences</a:t>
            </a:r>
            <a:r>
              <a:rPr lang="en-US" sz="2400" b="1" dirty="0"/>
              <a:t> of those pairs </a:t>
            </a:r>
            <a:r>
              <a:rPr lang="en-US" sz="2400" dirty="0"/>
              <a:t>in the given transaction.</a:t>
            </a:r>
            <a:endParaRPr lang="en-US" sz="2400" b="1" dirty="0"/>
          </a:p>
        </p:txBody>
      </p:sp>
      <p:graphicFrame>
        <p:nvGraphicFramePr>
          <p:cNvPr id="4" name="Table 3">
            <a:extLst>
              <a:ext uri="{FF2B5EF4-FFF2-40B4-BE49-F238E27FC236}">
                <a16:creationId xmlns:a16="http://schemas.microsoft.com/office/drawing/2014/main" id="{8F87947B-88A6-E701-4434-6510082BA317}"/>
              </a:ext>
            </a:extLst>
          </p:cNvPr>
          <p:cNvGraphicFramePr>
            <a:graphicFrameLocks noGrp="1"/>
          </p:cNvGraphicFramePr>
          <p:nvPr/>
        </p:nvGraphicFramePr>
        <p:xfrm>
          <a:off x="786233" y="2131060"/>
          <a:ext cx="4051560" cy="2595880"/>
        </p:xfrm>
        <a:graphic>
          <a:graphicData uri="http://schemas.openxmlformats.org/drawingml/2006/table">
            <a:tbl>
              <a:tblPr firstRow="1" bandRow="1">
                <a:tableStyleId>{5C22544A-7EE6-4342-B048-85BDC9FD1C3A}</a:tableStyleId>
              </a:tblPr>
              <a:tblGrid>
                <a:gridCol w="1882322">
                  <a:extLst>
                    <a:ext uri="{9D8B030D-6E8A-4147-A177-3AD203B41FA5}">
                      <a16:colId xmlns:a16="http://schemas.microsoft.com/office/drawing/2014/main" val="2587484255"/>
                    </a:ext>
                  </a:extLst>
                </a:gridCol>
                <a:gridCol w="2169238">
                  <a:extLst>
                    <a:ext uri="{9D8B030D-6E8A-4147-A177-3AD203B41FA5}">
                      <a16:colId xmlns:a16="http://schemas.microsoft.com/office/drawing/2014/main" val="1288422709"/>
                    </a:ext>
                  </a:extLst>
                </a:gridCol>
              </a:tblGrid>
              <a:tr h="370840">
                <a:tc>
                  <a:txBody>
                    <a:bodyPr/>
                    <a:lstStyle/>
                    <a:p>
                      <a:pPr algn="ctr"/>
                      <a:r>
                        <a:rPr lang="en-US" dirty="0">
                          <a:solidFill>
                            <a:schemeClr val="tx1"/>
                          </a:solidFill>
                        </a:rPr>
                        <a:t>Itemset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b="1" dirty="0" err="1">
                          <a:solidFill>
                            <a:schemeClr val="tx1"/>
                          </a:solidFill>
                        </a:rPr>
                        <a:t>Support_count</a:t>
                      </a:r>
                      <a:endParaRPr lang="en-US" b="1"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072729091"/>
                  </a:ext>
                </a:extLst>
              </a:tr>
              <a:tr h="370840">
                <a:tc>
                  <a:txBody>
                    <a:bodyPr/>
                    <a:lstStyle/>
                    <a:p>
                      <a:pPr algn="ctr"/>
                      <a:r>
                        <a:rPr lang="en-US" dirty="0"/>
                        <a:t>[A,B]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0735580"/>
                  </a:ext>
                </a:extLst>
              </a:tr>
              <a:tr h="370840">
                <a:tc>
                  <a:txBody>
                    <a:bodyPr/>
                    <a:lstStyle/>
                    <a:p>
                      <a:pPr algn="ctr"/>
                      <a:r>
                        <a:rPr lang="en-US" dirty="0"/>
                        <a:t>[A,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52705316"/>
                  </a:ext>
                </a:extLst>
              </a:tr>
              <a:tr h="370840">
                <a:tc>
                  <a:txBody>
                    <a:bodyPr/>
                    <a:lstStyle/>
                    <a:p>
                      <a:pPr algn="ctr"/>
                      <a:r>
                        <a:rPr lang="en-US" dirty="0"/>
                        <a:t>[A, 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9908786"/>
                  </a:ext>
                </a:extLst>
              </a:tr>
              <a:tr h="370840">
                <a:tc>
                  <a:txBody>
                    <a:bodyPr/>
                    <a:lstStyle/>
                    <a:p>
                      <a:pPr algn="ctr"/>
                      <a:r>
                        <a:rPr lang="en-US" dirty="0"/>
                        <a:t>[B,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33370665"/>
                  </a:ext>
                </a:extLst>
              </a:tr>
              <a:tr h="370840">
                <a:tc>
                  <a:txBody>
                    <a:bodyPr/>
                    <a:lstStyle/>
                    <a:p>
                      <a:pPr algn="ctr"/>
                      <a:r>
                        <a:rPr lang="en-US" dirty="0"/>
                        <a:t>[B, 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97089118"/>
                  </a:ext>
                </a:extLst>
              </a:tr>
              <a:tr h="370840">
                <a:tc>
                  <a:txBody>
                    <a:bodyPr/>
                    <a:lstStyle/>
                    <a:p>
                      <a:pPr algn="ctr"/>
                      <a:r>
                        <a:rPr lang="en-US" dirty="0"/>
                        <a:t>[C, 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468494041"/>
                  </a:ext>
                </a:extLst>
              </a:tr>
            </a:tbl>
          </a:graphicData>
        </a:graphic>
      </p:graphicFrame>
      <p:sp>
        <p:nvSpPr>
          <p:cNvPr id="6" name="TextBox 5">
            <a:extLst>
              <a:ext uri="{FF2B5EF4-FFF2-40B4-BE49-F238E27FC236}">
                <a16:creationId xmlns:a16="http://schemas.microsoft.com/office/drawing/2014/main" id="{F567C63C-83F3-68D8-3DB5-9E2F92556894}"/>
              </a:ext>
            </a:extLst>
          </p:cNvPr>
          <p:cNvSpPr txBox="1"/>
          <p:nvPr/>
        </p:nvSpPr>
        <p:spPr>
          <a:xfrm>
            <a:off x="2554255" y="4970497"/>
            <a:ext cx="515516" cy="400110"/>
          </a:xfrm>
          <a:prstGeom prst="rect">
            <a:avLst/>
          </a:prstGeom>
          <a:noFill/>
        </p:spPr>
        <p:txBody>
          <a:bodyPr wrap="square">
            <a:spAutoFit/>
          </a:bodyPr>
          <a:lstStyle/>
          <a:p>
            <a:r>
              <a:rPr lang="en-US" sz="2000" b="1" dirty="0">
                <a:solidFill>
                  <a:srgbClr val="C00000"/>
                </a:solidFill>
              </a:rPr>
              <a:t>C2</a:t>
            </a:r>
            <a:endParaRPr lang="en-US" sz="2000" dirty="0">
              <a:solidFill>
                <a:srgbClr val="C00000"/>
              </a:solidFill>
            </a:endParaRPr>
          </a:p>
        </p:txBody>
      </p:sp>
      <p:graphicFrame>
        <p:nvGraphicFramePr>
          <p:cNvPr id="7" name="Table 6">
            <a:extLst>
              <a:ext uri="{FF2B5EF4-FFF2-40B4-BE49-F238E27FC236}">
                <a16:creationId xmlns:a16="http://schemas.microsoft.com/office/drawing/2014/main" id="{2DEB4434-9FB9-3F35-ABB3-C1CDED262F48}"/>
              </a:ext>
            </a:extLst>
          </p:cNvPr>
          <p:cNvGraphicFramePr>
            <a:graphicFrameLocks noGrp="1"/>
          </p:cNvGraphicFramePr>
          <p:nvPr/>
        </p:nvGraphicFramePr>
        <p:xfrm>
          <a:off x="7054979" y="2167118"/>
          <a:ext cx="4051560" cy="1854200"/>
        </p:xfrm>
        <a:graphic>
          <a:graphicData uri="http://schemas.openxmlformats.org/drawingml/2006/table">
            <a:tbl>
              <a:tblPr firstRow="1" bandRow="1">
                <a:tableStyleId>{5C22544A-7EE6-4342-B048-85BDC9FD1C3A}</a:tableStyleId>
              </a:tblPr>
              <a:tblGrid>
                <a:gridCol w="1905519">
                  <a:extLst>
                    <a:ext uri="{9D8B030D-6E8A-4147-A177-3AD203B41FA5}">
                      <a16:colId xmlns:a16="http://schemas.microsoft.com/office/drawing/2014/main" val="2587484255"/>
                    </a:ext>
                  </a:extLst>
                </a:gridCol>
                <a:gridCol w="2146041">
                  <a:extLst>
                    <a:ext uri="{9D8B030D-6E8A-4147-A177-3AD203B41FA5}">
                      <a16:colId xmlns:a16="http://schemas.microsoft.com/office/drawing/2014/main" val="1288422709"/>
                    </a:ext>
                  </a:extLst>
                </a:gridCol>
              </a:tblGrid>
              <a:tr h="370840">
                <a:tc>
                  <a:txBody>
                    <a:bodyPr/>
                    <a:lstStyle/>
                    <a:p>
                      <a:pPr algn="ctr"/>
                      <a:r>
                        <a:rPr lang="en-US" dirty="0" err="1">
                          <a:solidFill>
                            <a:schemeClr val="tx1"/>
                          </a:solidFill>
                        </a:rPr>
                        <a:t>TId</a:t>
                      </a: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b="1" dirty="0">
                          <a:solidFill>
                            <a:schemeClr val="tx1"/>
                          </a:solidFill>
                        </a:rPr>
                        <a:t>Support Count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072729091"/>
                  </a:ext>
                </a:extLst>
              </a:tr>
              <a:tr h="370840">
                <a:tc>
                  <a:txBody>
                    <a:bodyPr/>
                    <a:lstStyle/>
                    <a:p>
                      <a:pPr algn="ctr"/>
                      <a:r>
                        <a:rPr lang="en-US" dirty="0"/>
                        <a:t>[A,B]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0735580"/>
                  </a:ext>
                </a:extLst>
              </a:tr>
              <a:tr h="370840">
                <a:tc>
                  <a:txBody>
                    <a:bodyPr/>
                    <a:lstStyle/>
                    <a:p>
                      <a:pPr algn="ctr"/>
                      <a:r>
                        <a:rPr lang="en-US" dirty="0"/>
                        <a:t>[A,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52705316"/>
                  </a:ext>
                </a:extLst>
              </a:tr>
              <a:tr h="370840">
                <a:tc>
                  <a:txBody>
                    <a:bodyPr/>
                    <a:lstStyle/>
                    <a:p>
                      <a:pPr algn="ctr"/>
                      <a:r>
                        <a:rPr lang="en-US" dirty="0"/>
                        <a:t>[B,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9908786"/>
                  </a:ext>
                </a:extLst>
              </a:tr>
              <a:tr h="370840">
                <a:tc>
                  <a:txBody>
                    <a:bodyPr/>
                    <a:lstStyle/>
                    <a:p>
                      <a:pPr algn="ctr"/>
                      <a:r>
                        <a:rPr lang="en-US" dirty="0"/>
                        <a:t>[B, 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33370665"/>
                  </a:ext>
                </a:extLst>
              </a:tr>
            </a:tbl>
          </a:graphicData>
        </a:graphic>
      </p:graphicFrame>
      <p:sp>
        <p:nvSpPr>
          <p:cNvPr id="8" name="TextBox 7">
            <a:extLst>
              <a:ext uri="{FF2B5EF4-FFF2-40B4-BE49-F238E27FC236}">
                <a16:creationId xmlns:a16="http://schemas.microsoft.com/office/drawing/2014/main" id="{F4E3B65F-E33B-88D0-6DA8-58FAEF3F0BF9}"/>
              </a:ext>
            </a:extLst>
          </p:cNvPr>
          <p:cNvSpPr txBox="1"/>
          <p:nvPr/>
        </p:nvSpPr>
        <p:spPr>
          <a:xfrm>
            <a:off x="8824167" y="4099637"/>
            <a:ext cx="712625" cy="461665"/>
          </a:xfrm>
          <a:prstGeom prst="rect">
            <a:avLst/>
          </a:prstGeom>
          <a:noFill/>
        </p:spPr>
        <p:txBody>
          <a:bodyPr wrap="square">
            <a:spAutoFit/>
          </a:bodyPr>
          <a:lstStyle/>
          <a:p>
            <a:r>
              <a:rPr lang="en-US" sz="2400" b="1" dirty="0">
                <a:solidFill>
                  <a:srgbClr val="C00000"/>
                </a:solidFill>
              </a:rPr>
              <a:t>L2</a:t>
            </a:r>
          </a:p>
        </p:txBody>
      </p:sp>
      <p:sp>
        <p:nvSpPr>
          <p:cNvPr id="12" name="TextBox 11">
            <a:extLst>
              <a:ext uri="{FF2B5EF4-FFF2-40B4-BE49-F238E27FC236}">
                <a16:creationId xmlns:a16="http://schemas.microsoft.com/office/drawing/2014/main" id="{D29E2E72-840F-EF10-09F0-3E91D5035672}"/>
              </a:ext>
            </a:extLst>
          </p:cNvPr>
          <p:cNvSpPr txBox="1"/>
          <p:nvPr/>
        </p:nvSpPr>
        <p:spPr>
          <a:xfrm>
            <a:off x="7137918" y="4639621"/>
            <a:ext cx="4674638" cy="707886"/>
          </a:xfrm>
          <a:prstGeom prst="rect">
            <a:avLst/>
          </a:prstGeom>
          <a:noFill/>
        </p:spPr>
        <p:txBody>
          <a:bodyPr wrap="square">
            <a:spAutoFit/>
          </a:bodyPr>
          <a:lstStyle/>
          <a:p>
            <a:r>
              <a:rPr lang="en-US" sz="2000" dirty="0"/>
              <a:t>All the </a:t>
            </a:r>
            <a:r>
              <a:rPr lang="en-US" sz="2000" dirty="0" err="1"/>
              <a:t>itemsets</a:t>
            </a:r>
            <a:r>
              <a:rPr lang="en-US" sz="2000" dirty="0"/>
              <a:t>  in C2 which have greater or equal then the Min support.</a:t>
            </a:r>
          </a:p>
        </p:txBody>
      </p:sp>
    </p:spTree>
    <p:extLst>
      <p:ext uri="{BB962C8B-B14F-4D97-AF65-F5344CB8AC3E}">
        <p14:creationId xmlns:p14="http://schemas.microsoft.com/office/powerpoint/2010/main" val="239169299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A65FB-6709-A3B5-2C6C-432201DF9D5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02CA7D3-AD25-F4B3-EE58-E25A44DE1D6A}"/>
              </a:ext>
            </a:extLst>
          </p:cNvPr>
          <p:cNvSpPr txBox="1"/>
          <p:nvPr/>
        </p:nvSpPr>
        <p:spPr>
          <a:xfrm>
            <a:off x="1163994" y="776101"/>
            <a:ext cx="10255120" cy="1200329"/>
          </a:xfrm>
          <a:prstGeom prst="rect">
            <a:avLst/>
          </a:prstGeom>
          <a:noFill/>
        </p:spPr>
        <p:txBody>
          <a:bodyPr wrap="square">
            <a:spAutoFit/>
          </a:bodyPr>
          <a:lstStyle/>
          <a:p>
            <a:r>
              <a:rPr lang="en-US" sz="2400" b="1" dirty="0"/>
              <a:t>Step-3:  Candidate Generation C3 and L3</a:t>
            </a:r>
          </a:p>
          <a:p>
            <a:r>
              <a:rPr lang="en-US" sz="2400" b="1" dirty="0"/>
              <a:t>	In this s</a:t>
            </a:r>
            <a:r>
              <a:rPr lang="en-US" sz="2400" dirty="0"/>
              <a:t>tep we have to make a group of 3 items in order and find the number </a:t>
            </a:r>
            <a:r>
              <a:rPr lang="en-US" sz="2400" dirty="0" err="1"/>
              <a:t>occurences</a:t>
            </a:r>
            <a:r>
              <a:rPr lang="en-US" sz="2400" dirty="0"/>
              <a:t> of those pairs in the given transaction.</a:t>
            </a:r>
            <a:endParaRPr lang="en-US" sz="2400" b="1" dirty="0"/>
          </a:p>
        </p:txBody>
      </p:sp>
      <p:graphicFrame>
        <p:nvGraphicFramePr>
          <p:cNvPr id="4" name="Table 3">
            <a:extLst>
              <a:ext uri="{FF2B5EF4-FFF2-40B4-BE49-F238E27FC236}">
                <a16:creationId xmlns:a16="http://schemas.microsoft.com/office/drawing/2014/main" id="{8C78E2FC-7A86-A54A-70DC-81177917E42D}"/>
              </a:ext>
            </a:extLst>
          </p:cNvPr>
          <p:cNvGraphicFramePr>
            <a:graphicFrameLocks noGrp="1"/>
          </p:cNvGraphicFramePr>
          <p:nvPr/>
        </p:nvGraphicFramePr>
        <p:xfrm>
          <a:off x="1163994" y="2605657"/>
          <a:ext cx="4051560" cy="1854200"/>
        </p:xfrm>
        <a:graphic>
          <a:graphicData uri="http://schemas.openxmlformats.org/drawingml/2006/table">
            <a:tbl>
              <a:tblPr firstRow="1" bandRow="1">
                <a:tableStyleId>{5C22544A-7EE6-4342-B048-85BDC9FD1C3A}</a:tableStyleId>
              </a:tblPr>
              <a:tblGrid>
                <a:gridCol w="1905519">
                  <a:extLst>
                    <a:ext uri="{9D8B030D-6E8A-4147-A177-3AD203B41FA5}">
                      <a16:colId xmlns:a16="http://schemas.microsoft.com/office/drawing/2014/main" val="2587484255"/>
                    </a:ext>
                  </a:extLst>
                </a:gridCol>
                <a:gridCol w="2146041">
                  <a:extLst>
                    <a:ext uri="{9D8B030D-6E8A-4147-A177-3AD203B41FA5}">
                      <a16:colId xmlns:a16="http://schemas.microsoft.com/office/drawing/2014/main" val="1288422709"/>
                    </a:ext>
                  </a:extLst>
                </a:gridCol>
              </a:tblGrid>
              <a:tr h="370840">
                <a:tc>
                  <a:txBody>
                    <a:bodyPr/>
                    <a:lstStyle/>
                    <a:p>
                      <a:pPr algn="ctr"/>
                      <a:r>
                        <a:rPr lang="en-US" dirty="0" err="1">
                          <a:solidFill>
                            <a:schemeClr val="tx1"/>
                          </a:solidFill>
                        </a:rPr>
                        <a:t>TId</a:t>
                      </a: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b="1" dirty="0">
                          <a:solidFill>
                            <a:schemeClr val="tx1"/>
                          </a:solidFill>
                        </a:rPr>
                        <a:t>Support Count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072729091"/>
                  </a:ext>
                </a:extLst>
              </a:tr>
              <a:tr h="370840">
                <a:tc>
                  <a:txBody>
                    <a:bodyPr/>
                    <a:lstStyle/>
                    <a:p>
                      <a:pPr algn="ctr"/>
                      <a:r>
                        <a:rPr lang="en-US" dirty="0"/>
                        <a:t>[A,B,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0735580"/>
                  </a:ext>
                </a:extLst>
              </a:tr>
              <a:tr h="370840">
                <a:tc>
                  <a:txBody>
                    <a:bodyPr/>
                    <a:lstStyle/>
                    <a:p>
                      <a:pPr algn="ctr"/>
                      <a:r>
                        <a:rPr lang="en-US" dirty="0"/>
                        <a:t>[B, C, 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52705316"/>
                  </a:ext>
                </a:extLst>
              </a:tr>
              <a:tr h="370840">
                <a:tc>
                  <a:txBody>
                    <a:bodyPr/>
                    <a:lstStyle/>
                    <a:p>
                      <a:pPr algn="ctr"/>
                      <a:r>
                        <a:rPr lang="en-US" dirty="0"/>
                        <a:t>[A, C, 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9908786"/>
                  </a:ext>
                </a:extLst>
              </a:tr>
              <a:tr h="370840">
                <a:tc>
                  <a:txBody>
                    <a:bodyPr/>
                    <a:lstStyle/>
                    <a:p>
                      <a:pPr algn="ctr"/>
                      <a:r>
                        <a:rPr lang="en-US" dirty="0"/>
                        <a:t>[A, B, 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33370665"/>
                  </a:ext>
                </a:extLst>
              </a:tr>
            </a:tbl>
          </a:graphicData>
        </a:graphic>
      </p:graphicFrame>
      <p:sp>
        <p:nvSpPr>
          <p:cNvPr id="5" name="TextBox 4">
            <a:extLst>
              <a:ext uri="{FF2B5EF4-FFF2-40B4-BE49-F238E27FC236}">
                <a16:creationId xmlns:a16="http://schemas.microsoft.com/office/drawing/2014/main" id="{89123970-8608-02F6-F4CA-B39DA43B68F5}"/>
              </a:ext>
            </a:extLst>
          </p:cNvPr>
          <p:cNvSpPr txBox="1"/>
          <p:nvPr/>
        </p:nvSpPr>
        <p:spPr>
          <a:xfrm>
            <a:off x="2740867" y="4643926"/>
            <a:ext cx="515516" cy="400110"/>
          </a:xfrm>
          <a:prstGeom prst="rect">
            <a:avLst/>
          </a:prstGeom>
          <a:noFill/>
        </p:spPr>
        <p:txBody>
          <a:bodyPr wrap="square">
            <a:spAutoFit/>
          </a:bodyPr>
          <a:lstStyle/>
          <a:p>
            <a:r>
              <a:rPr lang="en-US" sz="2000" b="1" dirty="0">
                <a:solidFill>
                  <a:srgbClr val="C00000"/>
                </a:solidFill>
              </a:rPr>
              <a:t>C3</a:t>
            </a:r>
            <a:endParaRPr lang="en-US" sz="2000" dirty="0">
              <a:solidFill>
                <a:srgbClr val="C00000"/>
              </a:solidFill>
            </a:endParaRPr>
          </a:p>
        </p:txBody>
      </p:sp>
      <p:sp>
        <p:nvSpPr>
          <p:cNvPr id="7" name="TextBox 6">
            <a:extLst>
              <a:ext uri="{FF2B5EF4-FFF2-40B4-BE49-F238E27FC236}">
                <a16:creationId xmlns:a16="http://schemas.microsoft.com/office/drawing/2014/main" id="{53B59782-9894-C2EB-6456-D66D78DB3537}"/>
              </a:ext>
            </a:extLst>
          </p:cNvPr>
          <p:cNvSpPr txBox="1"/>
          <p:nvPr/>
        </p:nvSpPr>
        <p:spPr>
          <a:xfrm>
            <a:off x="8553904" y="3641317"/>
            <a:ext cx="712625" cy="461665"/>
          </a:xfrm>
          <a:prstGeom prst="rect">
            <a:avLst/>
          </a:prstGeom>
          <a:noFill/>
        </p:spPr>
        <p:txBody>
          <a:bodyPr wrap="square">
            <a:spAutoFit/>
          </a:bodyPr>
          <a:lstStyle/>
          <a:p>
            <a:r>
              <a:rPr lang="en-US" sz="2400" b="1">
                <a:solidFill>
                  <a:srgbClr val="C00000"/>
                </a:solidFill>
              </a:rPr>
              <a:t>L3</a:t>
            </a:r>
            <a:endParaRPr lang="en-US" sz="2400" b="1" dirty="0">
              <a:solidFill>
                <a:srgbClr val="C00000"/>
              </a:solidFill>
            </a:endParaRPr>
          </a:p>
        </p:txBody>
      </p:sp>
      <p:sp>
        <p:nvSpPr>
          <p:cNvPr id="8" name="TextBox 7">
            <a:extLst>
              <a:ext uri="{FF2B5EF4-FFF2-40B4-BE49-F238E27FC236}">
                <a16:creationId xmlns:a16="http://schemas.microsoft.com/office/drawing/2014/main" id="{9F8996EA-D24D-31E9-2DF9-22F86907B30C}"/>
              </a:ext>
            </a:extLst>
          </p:cNvPr>
          <p:cNvSpPr txBox="1"/>
          <p:nvPr/>
        </p:nvSpPr>
        <p:spPr>
          <a:xfrm>
            <a:off x="6204857" y="4974403"/>
            <a:ext cx="5529168" cy="830997"/>
          </a:xfrm>
          <a:prstGeom prst="rect">
            <a:avLst/>
          </a:prstGeom>
          <a:noFill/>
        </p:spPr>
        <p:txBody>
          <a:bodyPr wrap="square">
            <a:spAutoFit/>
          </a:bodyPr>
          <a:lstStyle/>
          <a:p>
            <a:r>
              <a:rPr lang="en-US" sz="2400" b="1" dirty="0">
                <a:solidFill>
                  <a:srgbClr val="C00000"/>
                </a:solidFill>
              </a:rPr>
              <a:t>Note: </a:t>
            </a:r>
            <a:r>
              <a:rPr lang="en-US" sz="2400" dirty="0"/>
              <a:t>Now, we cannot create further combination as we have only one item.</a:t>
            </a:r>
          </a:p>
        </p:txBody>
      </p:sp>
      <p:graphicFrame>
        <p:nvGraphicFramePr>
          <p:cNvPr id="9" name="Table 8">
            <a:extLst>
              <a:ext uri="{FF2B5EF4-FFF2-40B4-BE49-F238E27FC236}">
                <a16:creationId xmlns:a16="http://schemas.microsoft.com/office/drawing/2014/main" id="{A064CDFD-A22E-0E78-A25C-CA204BA3B05F}"/>
              </a:ext>
            </a:extLst>
          </p:cNvPr>
          <p:cNvGraphicFramePr>
            <a:graphicFrameLocks noGrp="1"/>
          </p:cNvGraphicFramePr>
          <p:nvPr/>
        </p:nvGraphicFramePr>
        <p:xfrm>
          <a:off x="6884437" y="2687320"/>
          <a:ext cx="4051560" cy="741680"/>
        </p:xfrm>
        <a:graphic>
          <a:graphicData uri="http://schemas.openxmlformats.org/drawingml/2006/table">
            <a:tbl>
              <a:tblPr firstRow="1" bandRow="1">
                <a:tableStyleId>{5C22544A-7EE6-4342-B048-85BDC9FD1C3A}</a:tableStyleId>
              </a:tblPr>
              <a:tblGrid>
                <a:gridCol w="1905519">
                  <a:extLst>
                    <a:ext uri="{9D8B030D-6E8A-4147-A177-3AD203B41FA5}">
                      <a16:colId xmlns:a16="http://schemas.microsoft.com/office/drawing/2014/main" val="2283660478"/>
                    </a:ext>
                  </a:extLst>
                </a:gridCol>
                <a:gridCol w="2146041">
                  <a:extLst>
                    <a:ext uri="{9D8B030D-6E8A-4147-A177-3AD203B41FA5}">
                      <a16:colId xmlns:a16="http://schemas.microsoft.com/office/drawing/2014/main" val="1669719784"/>
                    </a:ext>
                  </a:extLst>
                </a:gridCol>
              </a:tblGrid>
              <a:tr h="370840">
                <a:tc>
                  <a:txBody>
                    <a:bodyPr/>
                    <a:lstStyle/>
                    <a:p>
                      <a:pPr algn="ctr"/>
                      <a:r>
                        <a:rPr lang="en-US" dirty="0" err="1">
                          <a:solidFill>
                            <a:schemeClr val="tx1"/>
                          </a:solidFill>
                        </a:rPr>
                        <a:t>TId</a:t>
                      </a: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b="1" dirty="0">
                          <a:solidFill>
                            <a:schemeClr val="tx1"/>
                          </a:solidFill>
                        </a:rPr>
                        <a:t>Support Count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97970140"/>
                  </a:ext>
                </a:extLst>
              </a:tr>
              <a:tr h="370840">
                <a:tc>
                  <a:txBody>
                    <a:bodyPr/>
                    <a:lstStyle/>
                    <a:p>
                      <a:pPr algn="ctr"/>
                      <a:r>
                        <a:rPr lang="en-US" dirty="0"/>
                        <a:t>[A,B, 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710555198"/>
                  </a:ext>
                </a:extLst>
              </a:tr>
            </a:tbl>
          </a:graphicData>
        </a:graphic>
      </p:graphicFrame>
    </p:spTree>
    <p:extLst>
      <p:ext uri="{BB962C8B-B14F-4D97-AF65-F5344CB8AC3E}">
        <p14:creationId xmlns:p14="http://schemas.microsoft.com/office/powerpoint/2010/main" val="303561050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120E906-A12B-C9CE-B2B1-9C2359FE9EEC}"/>
              </a:ext>
            </a:extLst>
          </p:cNvPr>
          <p:cNvSpPr txBox="1"/>
          <p:nvPr/>
        </p:nvSpPr>
        <p:spPr>
          <a:xfrm>
            <a:off x="781440" y="226886"/>
            <a:ext cx="11410560" cy="1384995"/>
          </a:xfrm>
          <a:prstGeom prst="rect">
            <a:avLst/>
          </a:prstGeom>
          <a:noFill/>
        </p:spPr>
        <p:txBody>
          <a:bodyPr wrap="square">
            <a:spAutoFit/>
          </a:bodyPr>
          <a:lstStyle/>
          <a:p>
            <a:r>
              <a:rPr lang="en-US" sz="2000" b="1" dirty="0"/>
              <a:t>Step-4: </a:t>
            </a:r>
            <a:r>
              <a:rPr lang="en-US" sz="2400" b="1" dirty="0">
                <a:solidFill>
                  <a:srgbClr val="C00000"/>
                </a:solidFill>
              </a:rPr>
              <a:t>Finding the </a:t>
            </a:r>
            <a:r>
              <a:rPr lang="en-US" sz="2400" b="1" dirty="0" err="1">
                <a:solidFill>
                  <a:srgbClr val="C00000"/>
                </a:solidFill>
              </a:rPr>
              <a:t>Associaton</a:t>
            </a:r>
            <a:r>
              <a:rPr lang="en-US" sz="2400" b="1" dirty="0">
                <a:solidFill>
                  <a:srgbClr val="C00000"/>
                </a:solidFill>
              </a:rPr>
              <a:t> Rule for the Subset:</a:t>
            </a:r>
          </a:p>
          <a:p>
            <a:pPr marL="285750" indent="-285750">
              <a:buFont typeface="Arial" panose="020B0604020202020204" pitchFamily="34" charset="0"/>
              <a:buChar char="•"/>
            </a:pPr>
            <a:r>
              <a:rPr lang="en-US" sz="2000" b="1" dirty="0"/>
              <a:t>First </a:t>
            </a:r>
            <a:r>
              <a:rPr lang="en-US" sz="2000" dirty="0"/>
              <a:t> we will calculate the Confidence using </a:t>
            </a:r>
            <a:r>
              <a:rPr lang="en-US" sz="2000" b="1" dirty="0">
                <a:solidFill>
                  <a:schemeClr val="accent2">
                    <a:lumMod val="50000"/>
                  </a:schemeClr>
                </a:solidFill>
              </a:rPr>
              <a:t> </a:t>
            </a:r>
            <a:r>
              <a:rPr lang="en-US" sz="2400" b="1" dirty="0">
                <a:solidFill>
                  <a:schemeClr val="accent2">
                    <a:lumMod val="50000"/>
                  </a:schemeClr>
                </a:solidFill>
              </a:rPr>
              <a:t>A-&gt;B </a:t>
            </a:r>
            <a:r>
              <a:rPr lang="en-US" sz="2400" dirty="0"/>
              <a:t>= </a:t>
            </a:r>
            <a:r>
              <a:rPr lang="en-US" sz="2400" b="1" dirty="0">
                <a:solidFill>
                  <a:srgbClr val="C00000"/>
                </a:solidFill>
              </a:rPr>
              <a:t>support( A ^ B) / support( A)   </a:t>
            </a:r>
            <a:r>
              <a:rPr lang="en-US" sz="1600" b="1" dirty="0">
                <a:solidFill>
                  <a:srgbClr val="00B050"/>
                </a:solidFill>
              </a:rPr>
              <a:t>Check the definition of Support.</a:t>
            </a:r>
          </a:p>
          <a:p>
            <a:pPr marL="285750" indent="-285750">
              <a:buFont typeface="Arial" panose="020B0604020202020204" pitchFamily="34" charset="0"/>
              <a:buChar char="•"/>
            </a:pPr>
            <a:r>
              <a:rPr lang="en-US" sz="2000" dirty="0"/>
              <a:t>After calculating we will exclude rules that have less confidence than the min threshold (50%).</a:t>
            </a:r>
          </a:p>
        </p:txBody>
      </p:sp>
      <p:sp>
        <p:nvSpPr>
          <p:cNvPr id="8" name="TextBox 7">
            <a:extLst>
              <a:ext uri="{FF2B5EF4-FFF2-40B4-BE49-F238E27FC236}">
                <a16:creationId xmlns:a16="http://schemas.microsoft.com/office/drawing/2014/main" id="{1DC8AC3C-5FF3-F1DF-592B-7C45951E1083}"/>
              </a:ext>
            </a:extLst>
          </p:cNvPr>
          <p:cNvSpPr txBox="1"/>
          <p:nvPr/>
        </p:nvSpPr>
        <p:spPr>
          <a:xfrm>
            <a:off x="794561" y="5651674"/>
            <a:ext cx="10723205" cy="707886"/>
          </a:xfrm>
          <a:prstGeom prst="rect">
            <a:avLst/>
          </a:prstGeom>
          <a:noFill/>
        </p:spPr>
        <p:txBody>
          <a:bodyPr wrap="square">
            <a:spAutoFit/>
          </a:bodyPr>
          <a:lstStyle/>
          <a:p>
            <a:r>
              <a:rPr lang="en-US" sz="2000" b="1" dirty="0">
                <a:solidFill>
                  <a:srgbClr val="C00000"/>
                </a:solidFill>
              </a:rPr>
              <a:t>Note: </a:t>
            </a:r>
            <a:r>
              <a:rPr lang="en-US" sz="2000" dirty="0"/>
              <a:t>A ^ B -&gt; C This means if a customer </a:t>
            </a:r>
            <a:r>
              <a:rPr lang="en-US" sz="2000" dirty="0" err="1"/>
              <a:t>purchce</a:t>
            </a:r>
            <a:r>
              <a:rPr lang="en-US" sz="2000" dirty="0"/>
              <a:t> a Product A and B then there is a high chance that he/she  will </a:t>
            </a:r>
            <a:r>
              <a:rPr lang="en-US" sz="2000" dirty="0" err="1"/>
              <a:t>purchace</a:t>
            </a:r>
            <a:r>
              <a:rPr lang="en-US" sz="2000" dirty="0"/>
              <a:t> the product C as well.</a:t>
            </a:r>
          </a:p>
        </p:txBody>
      </p:sp>
      <p:graphicFrame>
        <p:nvGraphicFramePr>
          <p:cNvPr id="2" name="Table 1">
            <a:extLst>
              <a:ext uri="{FF2B5EF4-FFF2-40B4-BE49-F238E27FC236}">
                <a16:creationId xmlns:a16="http://schemas.microsoft.com/office/drawing/2014/main" id="{A68E7BE2-9C96-FBC0-B5F5-2F6053A3CCD4}"/>
              </a:ext>
            </a:extLst>
          </p:cNvPr>
          <p:cNvGraphicFramePr>
            <a:graphicFrameLocks noGrp="1"/>
          </p:cNvGraphicFramePr>
          <p:nvPr>
            <p:extLst>
              <p:ext uri="{D42A27DB-BD31-4B8C-83A1-F6EECF244321}">
                <p14:modId xmlns:p14="http://schemas.microsoft.com/office/powerpoint/2010/main" val="288653287"/>
              </p:ext>
            </p:extLst>
          </p:nvPr>
        </p:nvGraphicFramePr>
        <p:xfrm>
          <a:off x="1023844" y="1663905"/>
          <a:ext cx="10264641" cy="3844265"/>
        </p:xfrm>
        <a:graphic>
          <a:graphicData uri="http://schemas.openxmlformats.org/drawingml/2006/table">
            <a:tbl>
              <a:tblPr firstRow="1" firstCol="1" bandRow="1">
                <a:tableStyleId>{5C22544A-7EE6-4342-B048-85BDC9FD1C3A}</a:tableStyleId>
              </a:tblPr>
              <a:tblGrid>
                <a:gridCol w="2742613">
                  <a:extLst>
                    <a:ext uri="{9D8B030D-6E8A-4147-A177-3AD203B41FA5}">
                      <a16:colId xmlns:a16="http://schemas.microsoft.com/office/drawing/2014/main" val="949900095"/>
                    </a:ext>
                  </a:extLst>
                </a:gridCol>
                <a:gridCol w="1589314">
                  <a:extLst>
                    <a:ext uri="{9D8B030D-6E8A-4147-A177-3AD203B41FA5}">
                      <a16:colId xmlns:a16="http://schemas.microsoft.com/office/drawing/2014/main" val="4226645421"/>
                    </a:ext>
                  </a:extLst>
                </a:gridCol>
                <a:gridCol w="5932714">
                  <a:extLst>
                    <a:ext uri="{9D8B030D-6E8A-4147-A177-3AD203B41FA5}">
                      <a16:colId xmlns:a16="http://schemas.microsoft.com/office/drawing/2014/main" val="3055392450"/>
                    </a:ext>
                  </a:extLst>
                </a:gridCol>
              </a:tblGrid>
              <a:tr h="422035">
                <a:tc>
                  <a:txBody>
                    <a:bodyPr/>
                    <a:lstStyle/>
                    <a:p>
                      <a:pPr>
                        <a:lnSpc>
                          <a:spcPct val="115000"/>
                        </a:lnSpc>
                        <a:spcAft>
                          <a:spcPts val="800"/>
                        </a:spcAft>
                        <a:buNone/>
                      </a:pPr>
                      <a:r>
                        <a:rPr lang="en-IN" sz="2400" kern="100">
                          <a:effectLst/>
                        </a:rPr>
                        <a:t>TId</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Itemsets</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Confidence</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633069219"/>
                  </a:ext>
                </a:extLst>
              </a:tr>
              <a:tr h="867045">
                <a:tc>
                  <a:txBody>
                    <a:bodyPr/>
                    <a:lstStyle/>
                    <a:p>
                      <a:pPr>
                        <a:lnSpc>
                          <a:spcPct val="115000"/>
                        </a:lnSpc>
                        <a:spcAft>
                          <a:spcPts val="800"/>
                        </a:spcAft>
                        <a:buNone/>
                      </a:pPr>
                      <a:r>
                        <a:rPr lang="en-IN" sz="2400" kern="100">
                          <a:effectLst/>
                        </a:rPr>
                        <a:t>A ^ B -&gt; C</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2</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Sup((</a:t>
                      </a:r>
                      <a:r>
                        <a:rPr lang="en-IN" sz="2400" kern="100" dirty="0" err="1">
                          <a:effectLst/>
                        </a:rPr>
                        <a:t>A^b</a:t>
                      </a:r>
                      <a:r>
                        <a:rPr lang="en-IN" sz="2400" kern="100" dirty="0">
                          <a:effectLst/>
                        </a:rPr>
                        <a:t>)^C)/ Sup(A^B) = 2/4 = 50%</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18819337"/>
                  </a:ext>
                </a:extLst>
              </a:tr>
              <a:tr h="867045">
                <a:tc>
                  <a:txBody>
                    <a:bodyPr/>
                    <a:lstStyle/>
                    <a:p>
                      <a:pPr>
                        <a:lnSpc>
                          <a:spcPct val="115000"/>
                        </a:lnSpc>
                        <a:spcAft>
                          <a:spcPts val="800"/>
                        </a:spcAft>
                        <a:buNone/>
                      </a:pPr>
                      <a:r>
                        <a:rPr lang="en-IN" sz="2400" kern="100">
                          <a:effectLst/>
                        </a:rPr>
                        <a:t>B ^ C -&gt; A</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2</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Sup((B^C)^A)/Sup(B^C) = 2/4 = 50%</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141712352"/>
                  </a:ext>
                </a:extLst>
              </a:tr>
              <a:tr h="422035">
                <a:tc>
                  <a:txBody>
                    <a:bodyPr/>
                    <a:lstStyle/>
                    <a:p>
                      <a:pPr>
                        <a:lnSpc>
                          <a:spcPct val="115000"/>
                        </a:lnSpc>
                        <a:spcAft>
                          <a:spcPts val="800"/>
                        </a:spcAft>
                        <a:buNone/>
                      </a:pPr>
                      <a:r>
                        <a:rPr lang="en-IN" sz="2400" kern="100">
                          <a:effectLst/>
                        </a:rPr>
                        <a:t>A ^ C -&gt; B</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2</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 50%</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201368368"/>
                  </a:ext>
                </a:extLst>
              </a:tr>
              <a:tr h="422035">
                <a:tc>
                  <a:txBody>
                    <a:bodyPr/>
                    <a:lstStyle/>
                    <a:p>
                      <a:pPr>
                        <a:lnSpc>
                          <a:spcPct val="115000"/>
                        </a:lnSpc>
                        <a:spcAft>
                          <a:spcPts val="800"/>
                        </a:spcAft>
                        <a:buNone/>
                      </a:pPr>
                      <a:r>
                        <a:rPr lang="en-IN" sz="2400" kern="100">
                          <a:effectLst/>
                        </a:rPr>
                        <a:t>C -&gt; A ^ B</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2</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 40%</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502682771"/>
                  </a:ext>
                </a:extLst>
              </a:tr>
              <a:tr h="422035">
                <a:tc>
                  <a:txBody>
                    <a:bodyPr/>
                    <a:lstStyle/>
                    <a:p>
                      <a:pPr>
                        <a:lnSpc>
                          <a:spcPct val="115000"/>
                        </a:lnSpc>
                        <a:spcAft>
                          <a:spcPts val="800"/>
                        </a:spcAft>
                        <a:buNone/>
                      </a:pPr>
                      <a:r>
                        <a:rPr lang="en-IN" sz="2400" kern="100">
                          <a:effectLst/>
                        </a:rPr>
                        <a:t>A -&gt; B ^ C</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2</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 33.33%</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37386493"/>
                  </a:ext>
                </a:extLst>
              </a:tr>
              <a:tr h="422035">
                <a:tc>
                  <a:txBody>
                    <a:bodyPr/>
                    <a:lstStyle/>
                    <a:p>
                      <a:pPr>
                        <a:lnSpc>
                          <a:spcPct val="115000"/>
                        </a:lnSpc>
                        <a:spcAft>
                          <a:spcPts val="800"/>
                        </a:spcAft>
                        <a:buNone/>
                      </a:pPr>
                      <a:r>
                        <a:rPr lang="en-IN" sz="2400" kern="100">
                          <a:effectLst/>
                        </a:rPr>
                        <a:t>B-&gt; B ^ C</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a:effectLst/>
                        </a:rPr>
                        <a:t>2</a:t>
                      </a:r>
                      <a:endParaRPr lang="en-IN" sz="2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400" kern="100" dirty="0">
                          <a:effectLst/>
                        </a:rPr>
                        <a:t>28%</a:t>
                      </a:r>
                      <a:endParaRPr lang="en-IN" sz="2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1790561"/>
                  </a:ext>
                </a:extLst>
              </a:tr>
            </a:tbl>
          </a:graphicData>
        </a:graphic>
      </p:graphicFrame>
    </p:spTree>
    <p:extLst>
      <p:ext uri="{BB962C8B-B14F-4D97-AF65-F5344CB8AC3E}">
        <p14:creationId xmlns:p14="http://schemas.microsoft.com/office/powerpoint/2010/main" val="180725637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45DCED-B7E8-FACA-904A-741F6DD3B14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87DC32E-FCDD-F7F7-4DEE-AE12608E2AEE}"/>
              </a:ext>
            </a:extLst>
          </p:cNvPr>
          <p:cNvSpPr txBox="1"/>
          <p:nvPr/>
        </p:nvSpPr>
        <p:spPr>
          <a:xfrm>
            <a:off x="753446" y="804006"/>
            <a:ext cx="10891157" cy="4401205"/>
          </a:xfrm>
          <a:prstGeom prst="rect">
            <a:avLst/>
          </a:prstGeom>
          <a:noFill/>
        </p:spPr>
        <p:txBody>
          <a:bodyPr wrap="square">
            <a:spAutoFit/>
          </a:bodyPr>
          <a:lstStyle/>
          <a:p>
            <a:r>
              <a:rPr lang="en-US" sz="2800" b="1" dirty="0"/>
              <a:t>Step-5: </a:t>
            </a:r>
            <a:r>
              <a:rPr lang="en-US" sz="2800" b="1" dirty="0">
                <a:solidFill>
                  <a:srgbClr val="C00000"/>
                </a:solidFill>
              </a:rPr>
              <a:t>Conclusion</a:t>
            </a:r>
            <a:r>
              <a:rPr lang="en-US" sz="2800" b="1" dirty="0"/>
              <a:t>.</a:t>
            </a:r>
          </a:p>
          <a:p>
            <a:r>
              <a:rPr lang="en-US" sz="2800" dirty="0"/>
              <a:t>According to the previous table eliminate those association rule which has the </a:t>
            </a:r>
            <a:r>
              <a:rPr lang="en-US" sz="2800" b="1" dirty="0">
                <a:solidFill>
                  <a:srgbClr val="C00000"/>
                </a:solidFill>
              </a:rPr>
              <a:t>confidence level less than 50%. </a:t>
            </a:r>
          </a:p>
          <a:p>
            <a:r>
              <a:rPr lang="en-US" sz="2800" b="1" dirty="0">
                <a:solidFill>
                  <a:srgbClr val="C00000"/>
                </a:solidFill>
              </a:rPr>
              <a:t>	</a:t>
            </a:r>
            <a:r>
              <a:rPr lang="en-US" sz="2800" dirty="0"/>
              <a:t>So, we can conclude that the 1</a:t>
            </a:r>
            <a:r>
              <a:rPr lang="en-US" sz="2800" baseline="30000" dirty="0"/>
              <a:t>st</a:t>
            </a:r>
            <a:r>
              <a:rPr lang="en-US" sz="2800" dirty="0"/>
              <a:t> Three Association Rules </a:t>
            </a:r>
          </a:p>
          <a:p>
            <a:pPr marL="971550" lvl="1" indent="-514350">
              <a:buFont typeface="+mj-lt"/>
              <a:buAutoNum type="arabicPeriod"/>
            </a:pPr>
            <a:r>
              <a:rPr lang="en-US" sz="2800" b="1" dirty="0"/>
              <a:t>A ^ B -&gt; C</a:t>
            </a:r>
          </a:p>
          <a:p>
            <a:pPr marL="971550" lvl="1" indent="-514350">
              <a:buFont typeface="+mj-lt"/>
              <a:buAutoNum type="arabicPeriod"/>
            </a:pPr>
            <a:r>
              <a:rPr lang="en-US" sz="2800" b="1" dirty="0"/>
              <a:t>B ^ C -&gt; A</a:t>
            </a:r>
          </a:p>
          <a:p>
            <a:pPr marL="971550" lvl="1" indent="-514350">
              <a:buFont typeface="+mj-lt"/>
              <a:buAutoNum type="arabicPeriod"/>
            </a:pPr>
            <a:r>
              <a:rPr lang="en-US" sz="2800" b="1" dirty="0"/>
              <a:t>A ^ C -&gt; B </a:t>
            </a:r>
          </a:p>
          <a:p>
            <a:r>
              <a:rPr lang="en-US" sz="2800" b="1" dirty="0"/>
              <a:t>	</a:t>
            </a:r>
            <a:r>
              <a:rPr lang="en-US" sz="2800" dirty="0"/>
              <a:t>can be considered as the </a:t>
            </a:r>
            <a:r>
              <a:rPr lang="en-US" sz="2800" b="1" dirty="0">
                <a:solidFill>
                  <a:schemeClr val="tx2">
                    <a:lumMod val="75000"/>
                    <a:lumOff val="25000"/>
                  </a:schemeClr>
                </a:solidFill>
              </a:rPr>
              <a:t>strong association rule </a:t>
            </a:r>
            <a:r>
              <a:rPr lang="en-US" sz="2800" dirty="0"/>
              <a:t>for the given problem.</a:t>
            </a:r>
          </a:p>
          <a:p>
            <a:endParaRPr lang="en-US" sz="2800" dirty="0"/>
          </a:p>
        </p:txBody>
      </p:sp>
    </p:spTree>
    <p:extLst>
      <p:ext uri="{BB962C8B-B14F-4D97-AF65-F5344CB8AC3E}">
        <p14:creationId xmlns:p14="http://schemas.microsoft.com/office/powerpoint/2010/main" val="120685120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3CB578-9E14-2602-8E80-FECBE2ABF9A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A513252-8515-5192-5692-4098998FE324}"/>
              </a:ext>
            </a:extLst>
          </p:cNvPr>
          <p:cNvSpPr>
            <a:spLocks noGrp="1"/>
          </p:cNvSpPr>
          <p:nvPr>
            <p:ph idx="1"/>
          </p:nvPr>
        </p:nvSpPr>
        <p:spPr>
          <a:xfrm>
            <a:off x="743688" y="1088572"/>
            <a:ext cx="10900568" cy="4354286"/>
          </a:xfrm>
        </p:spPr>
        <p:txBody>
          <a:bodyPr>
            <a:normAutofit/>
          </a:bodyPr>
          <a:lstStyle/>
          <a:p>
            <a:pPr marL="0" indent="0">
              <a:buNone/>
            </a:pPr>
            <a:r>
              <a:rPr lang="en-US" sz="3200" b="1" dirty="0">
                <a:solidFill>
                  <a:srgbClr val="C00000"/>
                </a:solidFill>
              </a:rPr>
              <a:t>Module-3: </a:t>
            </a:r>
            <a:r>
              <a:rPr lang="en-US" sz="3200" b="1" dirty="0">
                <a:solidFill>
                  <a:schemeClr val="accent3">
                    <a:lumMod val="50000"/>
                  </a:schemeClr>
                </a:solidFill>
              </a:rPr>
              <a:t>Unsupervised Learning: </a:t>
            </a:r>
          </a:p>
          <a:p>
            <a:pPr marL="0" indent="0">
              <a:buNone/>
            </a:pPr>
            <a:r>
              <a:rPr lang="en-US" sz="3200" b="1" dirty="0"/>
              <a:t>Clustering: K-Means clustering</a:t>
            </a:r>
            <a:r>
              <a:rPr lang="en-US" sz="3200" dirty="0"/>
              <a:t>, </a:t>
            </a:r>
            <a:r>
              <a:rPr lang="en-US" sz="3200" b="1" dirty="0"/>
              <a:t>Hierarchical clustering</a:t>
            </a:r>
            <a:r>
              <a:rPr lang="en-US" sz="3200" dirty="0"/>
              <a:t>, </a:t>
            </a:r>
            <a:r>
              <a:rPr lang="en-US" sz="3200" b="1" dirty="0"/>
              <a:t>Evaluation of clustering results. </a:t>
            </a:r>
          </a:p>
          <a:p>
            <a:pPr marL="0" indent="0">
              <a:buNone/>
            </a:pPr>
            <a:r>
              <a:rPr lang="en-US" sz="3200" b="1" dirty="0"/>
              <a:t>Dimensionality Reduction: Principal Component Analysis (PCA), Linear Discriminant Analysis (LDA), t-Distributed Stochastic Neighbor Embedding (t-SNE). </a:t>
            </a:r>
            <a:r>
              <a:rPr lang="en-US" sz="3200" dirty="0"/>
              <a:t> </a:t>
            </a:r>
          </a:p>
          <a:p>
            <a:pPr marL="0" indent="0">
              <a:buNone/>
            </a:pPr>
            <a:r>
              <a:rPr lang="en-US" sz="3200" b="1" dirty="0"/>
              <a:t>Association Rule Learning: </a:t>
            </a:r>
            <a:r>
              <a:rPr lang="en-US" sz="3200" b="1" dirty="0" err="1"/>
              <a:t>Apriori</a:t>
            </a:r>
            <a:r>
              <a:rPr lang="en-US" sz="3200" b="1" dirty="0"/>
              <a:t> algorithm</a:t>
            </a:r>
            <a:r>
              <a:rPr lang="en-US" sz="3200" dirty="0"/>
              <a:t>, Market Basket Analysis, Evaluation metrics for association rules </a:t>
            </a:r>
            <a:endParaRPr lang="en-IN" sz="3200" dirty="0"/>
          </a:p>
        </p:txBody>
      </p:sp>
    </p:spTree>
    <p:extLst>
      <p:ext uri="{BB962C8B-B14F-4D97-AF65-F5344CB8AC3E}">
        <p14:creationId xmlns:p14="http://schemas.microsoft.com/office/powerpoint/2010/main" val="178816823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70DD98-FEF8-D173-3C1C-0982A439F1D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2B3EE8-1122-572D-3390-C170BAF0B246}"/>
              </a:ext>
            </a:extLst>
          </p:cNvPr>
          <p:cNvSpPr>
            <a:spLocks noGrp="1"/>
          </p:cNvSpPr>
          <p:nvPr>
            <p:ph idx="1"/>
          </p:nvPr>
        </p:nvSpPr>
        <p:spPr>
          <a:xfrm>
            <a:off x="702853" y="707571"/>
            <a:ext cx="10900568" cy="5486400"/>
          </a:xfrm>
        </p:spPr>
        <p:txBody>
          <a:bodyPr>
            <a:normAutofit/>
          </a:bodyPr>
          <a:lstStyle/>
          <a:p>
            <a:pPr marL="0" indent="0">
              <a:buNone/>
            </a:pPr>
            <a:endParaRPr lang="en-IN" sz="2400" dirty="0"/>
          </a:p>
        </p:txBody>
      </p:sp>
    </p:spTree>
    <p:extLst>
      <p:ext uri="{BB962C8B-B14F-4D97-AF65-F5344CB8AC3E}">
        <p14:creationId xmlns:p14="http://schemas.microsoft.com/office/powerpoint/2010/main" val="100035029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7D7A6-37BD-DEB2-B73A-993B9E48CA2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91EE14E-13DD-021C-F3FD-EF0CF2605D13}"/>
              </a:ext>
            </a:extLst>
          </p:cNvPr>
          <p:cNvSpPr>
            <a:spLocks noGrp="1"/>
          </p:cNvSpPr>
          <p:nvPr>
            <p:ph idx="1"/>
          </p:nvPr>
        </p:nvSpPr>
        <p:spPr>
          <a:xfrm>
            <a:off x="702853" y="707571"/>
            <a:ext cx="10900568" cy="5486400"/>
          </a:xfrm>
        </p:spPr>
        <p:txBody>
          <a:bodyPr>
            <a:normAutofit/>
          </a:bodyPr>
          <a:lstStyle/>
          <a:p>
            <a:pPr marL="0" indent="0">
              <a:buNone/>
            </a:pPr>
            <a:endParaRPr lang="en-IN" sz="2400" dirty="0"/>
          </a:p>
        </p:txBody>
      </p:sp>
    </p:spTree>
    <p:extLst>
      <p:ext uri="{BB962C8B-B14F-4D97-AF65-F5344CB8AC3E}">
        <p14:creationId xmlns:p14="http://schemas.microsoft.com/office/powerpoint/2010/main" val="219815709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00543A-2A9A-99C3-41D4-FA3FB79353A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9C6FB69-9D1F-BAB3-6FF7-52672910CDFA}"/>
              </a:ext>
            </a:extLst>
          </p:cNvPr>
          <p:cNvSpPr>
            <a:spLocks noGrp="1"/>
          </p:cNvSpPr>
          <p:nvPr>
            <p:ph idx="1"/>
          </p:nvPr>
        </p:nvSpPr>
        <p:spPr>
          <a:xfrm>
            <a:off x="702853" y="707571"/>
            <a:ext cx="10900568" cy="5486400"/>
          </a:xfrm>
        </p:spPr>
        <p:txBody>
          <a:bodyPr>
            <a:normAutofit/>
          </a:bodyPr>
          <a:lstStyle/>
          <a:p>
            <a:pPr marL="0" indent="0">
              <a:buNone/>
            </a:pPr>
            <a:endParaRPr lang="en-IN" sz="2400" dirty="0"/>
          </a:p>
        </p:txBody>
      </p:sp>
    </p:spTree>
    <p:extLst>
      <p:ext uri="{BB962C8B-B14F-4D97-AF65-F5344CB8AC3E}">
        <p14:creationId xmlns:p14="http://schemas.microsoft.com/office/powerpoint/2010/main" val="9178841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2BB31-82C0-3CAB-1E72-0E5B97CDC6C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860F1AF-0822-C1E4-6652-B77395283E06}"/>
              </a:ext>
            </a:extLst>
          </p:cNvPr>
          <p:cNvSpPr>
            <a:spLocks noGrp="1"/>
          </p:cNvSpPr>
          <p:nvPr>
            <p:ph idx="1"/>
          </p:nvPr>
        </p:nvSpPr>
        <p:spPr>
          <a:xfrm>
            <a:off x="702853" y="707571"/>
            <a:ext cx="10900568" cy="5486400"/>
          </a:xfrm>
        </p:spPr>
        <p:txBody>
          <a:bodyPr>
            <a:normAutofit/>
          </a:bodyPr>
          <a:lstStyle/>
          <a:p>
            <a:pPr marL="0" indent="0">
              <a:buNone/>
            </a:pPr>
            <a:endParaRPr lang="en-IN" sz="2400" dirty="0"/>
          </a:p>
        </p:txBody>
      </p:sp>
    </p:spTree>
    <p:extLst>
      <p:ext uri="{BB962C8B-B14F-4D97-AF65-F5344CB8AC3E}">
        <p14:creationId xmlns:p14="http://schemas.microsoft.com/office/powerpoint/2010/main" val="313427736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D91BF3-4D7A-2D19-542A-DEB2EA541D3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CF28CB9-BD11-553C-E9C5-7F80AC459311}"/>
              </a:ext>
            </a:extLst>
          </p:cNvPr>
          <p:cNvSpPr>
            <a:spLocks noGrp="1"/>
          </p:cNvSpPr>
          <p:nvPr>
            <p:ph idx="1"/>
          </p:nvPr>
        </p:nvSpPr>
        <p:spPr>
          <a:xfrm>
            <a:off x="702853" y="707571"/>
            <a:ext cx="10900568" cy="5486400"/>
          </a:xfrm>
        </p:spPr>
        <p:txBody>
          <a:bodyPr>
            <a:normAutofit/>
          </a:bodyPr>
          <a:lstStyle/>
          <a:p>
            <a:pPr marL="0" indent="0">
              <a:buNone/>
            </a:pPr>
            <a:endParaRPr lang="en-IN" sz="2400" dirty="0"/>
          </a:p>
        </p:txBody>
      </p:sp>
    </p:spTree>
    <p:extLst>
      <p:ext uri="{BB962C8B-B14F-4D97-AF65-F5344CB8AC3E}">
        <p14:creationId xmlns:p14="http://schemas.microsoft.com/office/powerpoint/2010/main" val="121349383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100F1D-99B3-98A4-F238-4E983BA3A26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6F682A0-C9A6-0F2D-0FFF-F547A12C9339}"/>
              </a:ext>
            </a:extLst>
          </p:cNvPr>
          <p:cNvSpPr>
            <a:spLocks noGrp="1"/>
          </p:cNvSpPr>
          <p:nvPr>
            <p:ph idx="1"/>
          </p:nvPr>
        </p:nvSpPr>
        <p:spPr>
          <a:xfrm>
            <a:off x="702853" y="707571"/>
            <a:ext cx="10900568" cy="5486400"/>
          </a:xfrm>
        </p:spPr>
        <p:txBody>
          <a:bodyPr>
            <a:normAutofit/>
          </a:bodyPr>
          <a:lstStyle/>
          <a:p>
            <a:pPr marL="0" indent="0">
              <a:buNone/>
            </a:pPr>
            <a:endParaRPr lang="en-IN" sz="2400" dirty="0"/>
          </a:p>
        </p:txBody>
      </p:sp>
    </p:spTree>
    <p:extLst>
      <p:ext uri="{BB962C8B-B14F-4D97-AF65-F5344CB8AC3E}">
        <p14:creationId xmlns:p14="http://schemas.microsoft.com/office/powerpoint/2010/main" val="3928362473"/>
      </p:ext>
    </p:extLst>
  </p:cSld>
  <p:clrMapOvr>
    <a:masterClrMapping/>
  </p:clrMapOvr>
</p:sld>
</file>

<file path=ppt/theme/theme1.xml><?xml version="1.0" encoding="utf-8"?>
<a:theme xmlns:a="http://schemas.openxmlformats.org/drawingml/2006/main" name="Theme1">
  <a:themeElements>
    <a:clrScheme name="Custom 30">
      <a:dk1>
        <a:sysClr val="windowText" lastClr="000000"/>
      </a:dk1>
      <a:lt1>
        <a:sysClr val="window" lastClr="FFFFFF"/>
      </a:lt1>
      <a:dk2>
        <a:srgbClr val="420023"/>
      </a:dk2>
      <a:lt2>
        <a:srgbClr val="FDFBF9"/>
      </a:lt2>
      <a:accent1>
        <a:srgbClr val="97446E"/>
      </a:accent1>
      <a:accent2>
        <a:srgbClr val="A40056"/>
      </a:accent2>
      <a:accent3>
        <a:srgbClr val="24BEEE"/>
      </a:accent3>
      <a:accent4>
        <a:srgbClr val="91274F"/>
      </a:accent4>
      <a:accent5>
        <a:srgbClr val="F39E29"/>
      </a:accent5>
      <a:accent6>
        <a:srgbClr val="E87450"/>
      </a:accent6>
      <a:hlink>
        <a:srgbClr val="F55D5D"/>
      </a:hlink>
      <a:folHlink>
        <a:srgbClr val="EA3A60"/>
      </a:folHlink>
    </a:clrScheme>
    <a:fontScheme name="Custom 10">
      <a:majorFont>
        <a:latin typeface="Gill Sans Nova"/>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heme1" id="{DD60039B-BC77-41DF-ACC8-C701D8198EB2}" vid="{DC443EE9-F046-42A5-BD1D-7585E7C79329}"/>
    </a:ext>
  </a:extLst>
</a:theme>
</file>

<file path=docProps/app.xml><?xml version="1.0" encoding="utf-8"?>
<Properties xmlns="http://schemas.openxmlformats.org/officeDocument/2006/extended-properties" xmlns:vt="http://schemas.openxmlformats.org/officeDocument/2006/docPropsVTypes">
  <Template>Theme1</Template>
  <TotalTime>864</TotalTime>
  <Words>7378</Words>
  <Application>Microsoft Office PowerPoint</Application>
  <PresentationFormat>Widescreen</PresentationFormat>
  <Paragraphs>921</Paragraphs>
  <Slides>98</Slides>
  <Notes>0</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98</vt:i4>
      </vt:variant>
    </vt:vector>
  </HeadingPairs>
  <TitlesOfParts>
    <vt:vector size="110" baseType="lpstr">
      <vt:lpstr>Aptos</vt:lpstr>
      <vt:lpstr>Arial</vt:lpstr>
      <vt:lpstr>Calibri</vt:lpstr>
      <vt:lpstr>Calibri (Body)</vt:lpstr>
      <vt:lpstr>erdana</vt:lpstr>
      <vt:lpstr>Gill Sans Nova</vt:lpstr>
      <vt:lpstr>inter-regular</vt:lpstr>
      <vt:lpstr>Nunito</vt:lpstr>
      <vt:lpstr>Söhne</vt:lpstr>
      <vt:lpstr>Studio-Feixen-Sans</vt:lpstr>
      <vt:lpstr>Wingdings</vt:lpstr>
      <vt:lpstr>Theme1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 Linkage Methods (How to measure distance between clusters):</vt:lpstr>
      <vt:lpstr>Dendrogram: The Tree of Clusters 🌳 </vt:lpstr>
      <vt:lpstr>PowerPoint Presentation</vt:lpstr>
      <vt:lpstr>PowerPoint Presentation</vt:lpstr>
      <vt:lpstr>Divisive Clustering: Step-by-Step Let’s say you have 5 animals, each described by their features (like weight and speed): </vt:lpstr>
      <vt:lpstr>PowerPoint Presentation</vt:lpstr>
      <vt:lpstr>Dendrogram: The Tree of Clusters 🌳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LDA vs PCA: What's the Difference?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PRAMOD NAIK</dc:creator>
  <cp:lastModifiedBy>Pramod Naik</cp:lastModifiedBy>
  <cp:revision>443</cp:revision>
  <dcterms:created xsi:type="dcterms:W3CDTF">2025-05-11T14:44:44Z</dcterms:created>
  <dcterms:modified xsi:type="dcterms:W3CDTF">2025-07-13T18:44:50Z</dcterms:modified>
</cp:coreProperties>
</file>