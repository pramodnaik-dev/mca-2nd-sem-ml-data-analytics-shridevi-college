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428" r:id="rId2"/>
    <p:sldId id="846" r:id="rId3"/>
    <p:sldId id="284" r:id="rId4"/>
    <p:sldId id="285" r:id="rId5"/>
    <p:sldId id="286" r:id="rId6"/>
    <p:sldId id="287" r:id="rId7"/>
    <p:sldId id="289" r:id="rId8"/>
    <p:sldId id="290" r:id="rId9"/>
    <p:sldId id="291" r:id="rId10"/>
    <p:sldId id="455" r:id="rId11"/>
    <p:sldId id="456" r:id="rId12"/>
    <p:sldId id="840" r:id="rId13"/>
    <p:sldId id="485" r:id="rId14"/>
    <p:sldId id="459" r:id="rId15"/>
    <p:sldId id="841" r:id="rId16"/>
    <p:sldId id="842" r:id="rId17"/>
    <p:sldId id="843" r:id="rId18"/>
    <p:sldId id="844" r:id="rId19"/>
    <p:sldId id="845" r:id="rId20"/>
    <p:sldId id="848" r:id="rId21"/>
    <p:sldId id="490" r:id="rId22"/>
    <p:sldId id="491" r:id="rId23"/>
    <p:sldId id="849" r:id="rId24"/>
    <p:sldId id="850" r:id="rId25"/>
    <p:sldId id="851" r:id="rId26"/>
    <p:sldId id="492" r:id="rId27"/>
    <p:sldId id="852" r:id="rId28"/>
    <p:sldId id="854" r:id="rId29"/>
    <p:sldId id="855" r:id="rId30"/>
    <p:sldId id="853" r:id="rId31"/>
    <p:sldId id="856" r:id="rId32"/>
    <p:sldId id="858" r:id="rId33"/>
    <p:sldId id="857" r:id="rId34"/>
    <p:sldId id="860" r:id="rId35"/>
    <p:sldId id="861" r:id="rId36"/>
    <p:sldId id="862" r:id="rId37"/>
    <p:sldId id="863" r:id="rId38"/>
    <p:sldId id="864" r:id="rId39"/>
    <p:sldId id="865" r:id="rId40"/>
    <p:sldId id="866" r:id="rId41"/>
    <p:sldId id="867" r:id="rId42"/>
    <p:sldId id="868" r:id="rId43"/>
    <p:sldId id="869" r:id="rId44"/>
    <p:sldId id="870" r:id="rId45"/>
    <p:sldId id="871" r:id="rId46"/>
    <p:sldId id="872" r:id="rId47"/>
    <p:sldId id="873" r:id="rId48"/>
    <p:sldId id="483" r:id="rId49"/>
    <p:sldId id="484" r:id="rId50"/>
    <p:sldId id="859" r:id="rId51"/>
    <p:sldId id="874" r:id="rId52"/>
    <p:sldId id="875" r:id="rId53"/>
    <p:sldId id="876" r:id="rId54"/>
    <p:sldId id="877" r:id="rId55"/>
    <p:sldId id="878" r:id="rId56"/>
    <p:sldId id="879" r:id="rId57"/>
    <p:sldId id="880" r:id="rId58"/>
    <p:sldId id="847" r:id="rId59"/>
    <p:sldId id="881" r:id="rId60"/>
    <p:sldId id="882" r:id="rId61"/>
    <p:sldId id="883" r:id="rId62"/>
    <p:sldId id="884" r:id="rId63"/>
    <p:sldId id="885" r:id="rId64"/>
    <p:sldId id="886" r:id="rId65"/>
    <p:sldId id="887" r:id="rId66"/>
    <p:sldId id="888" r:id="rId67"/>
    <p:sldId id="889"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8496C7-5C44-4372-99BE-D015FA3DC895}" v="19" dt="2025-07-04T17:35:16.8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mod Naik" userId="ceb6df04-ef15-4d9b-a141-998a03559d75" providerId="ADAL" clId="{8D8496C7-5C44-4372-99BE-D015FA3DC895}"/>
    <pc:docChg chg="undo custSel addSld delSld modSld sldOrd">
      <pc:chgData name="Pramod Naik" userId="ceb6df04-ef15-4d9b-a141-998a03559d75" providerId="ADAL" clId="{8D8496C7-5C44-4372-99BE-D015FA3DC895}" dt="2025-07-04T17:35:16.819" v="165"/>
      <pc:docMkLst>
        <pc:docMk/>
      </pc:docMkLst>
      <pc:sldChg chg="del">
        <pc:chgData name="Pramod Naik" userId="ceb6df04-ef15-4d9b-a141-998a03559d75" providerId="ADAL" clId="{8D8496C7-5C44-4372-99BE-D015FA3DC895}" dt="2025-07-04T17:10:29.302" v="0" actId="47"/>
        <pc:sldMkLst>
          <pc:docMk/>
          <pc:sldMk cId="832684643" sldId="264"/>
        </pc:sldMkLst>
      </pc:sldChg>
      <pc:sldChg chg="del">
        <pc:chgData name="Pramod Naik" userId="ceb6df04-ef15-4d9b-a141-998a03559d75" providerId="ADAL" clId="{8D8496C7-5C44-4372-99BE-D015FA3DC895}" dt="2025-07-04T17:10:29.794" v="1" actId="47"/>
        <pc:sldMkLst>
          <pc:docMk/>
          <pc:sldMk cId="3955975616" sldId="267"/>
        </pc:sldMkLst>
      </pc:sldChg>
      <pc:sldChg chg="del">
        <pc:chgData name="Pramod Naik" userId="ceb6df04-ef15-4d9b-a141-998a03559d75" providerId="ADAL" clId="{8D8496C7-5C44-4372-99BE-D015FA3DC895}" dt="2025-07-04T17:10:29.829" v="2" actId="47"/>
        <pc:sldMkLst>
          <pc:docMk/>
          <pc:sldMk cId="1109626230" sldId="269"/>
        </pc:sldMkLst>
      </pc:sldChg>
      <pc:sldChg chg="del">
        <pc:chgData name="Pramod Naik" userId="ceb6df04-ef15-4d9b-a141-998a03559d75" providerId="ADAL" clId="{8D8496C7-5C44-4372-99BE-D015FA3DC895}" dt="2025-07-04T17:10:29.891" v="4" actId="47"/>
        <pc:sldMkLst>
          <pc:docMk/>
          <pc:sldMk cId="2733430578" sldId="270"/>
        </pc:sldMkLst>
      </pc:sldChg>
      <pc:sldChg chg="del">
        <pc:chgData name="Pramod Naik" userId="ceb6df04-ef15-4d9b-a141-998a03559d75" providerId="ADAL" clId="{8D8496C7-5C44-4372-99BE-D015FA3DC895}" dt="2025-07-04T17:10:29.930" v="5" actId="47"/>
        <pc:sldMkLst>
          <pc:docMk/>
          <pc:sldMk cId="3764129581" sldId="271"/>
        </pc:sldMkLst>
      </pc:sldChg>
      <pc:sldChg chg="del">
        <pc:chgData name="Pramod Naik" userId="ceb6df04-ef15-4d9b-a141-998a03559d75" providerId="ADAL" clId="{8D8496C7-5C44-4372-99BE-D015FA3DC895}" dt="2025-07-04T17:10:29.871" v="3" actId="47"/>
        <pc:sldMkLst>
          <pc:docMk/>
          <pc:sldMk cId="2512855481" sldId="272"/>
        </pc:sldMkLst>
      </pc:sldChg>
      <pc:sldChg chg="del">
        <pc:chgData name="Pramod Naik" userId="ceb6df04-ef15-4d9b-a141-998a03559d75" providerId="ADAL" clId="{8D8496C7-5C44-4372-99BE-D015FA3DC895}" dt="2025-07-04T17:10:29.962" v="6" actId="47"/>
        <pc:sldMkLst>
          <pc:docMk/>
          <pc:sldMk cId="3390883758" sldId="273"/>
        </pc:sldMkLst>
      </pc:sldChg>
      <pc:sldChg chg="del">
        <pc:chgData name="Pramod Naik" userId="ceb6df04-ef15-4d9b-a141-998a03559d75" providerId="ADAL" clId="{8D8496C7-5C44-4372-99BE-D015FA3DC895}" dt="2025-07-04T17:10:30.026" v="7" actId="47"/>
        <pc:sldMkLst>
          <pc:docMk/>
          <pc:sldMk cId="1100455398" sldId="275"/>
        </pc:sldMkLst>
      </pc:sldChg>
      <pc:sldChg chg="del">
        <pc:chgData name="Pramod Naik" userId="ceb6df04-ef15-4d9b-a141-998a03559d75" providerId="ADAL" clId="{8D8496C7-5C44-4372-99BE-D015FA3DC895}" dt="2025-07-04T17:10:30.047" v="8" actId="47"/>
        <pc:sldMkLst>
          <pc:docMk/>
          <pc:sldMk cId="2595684074" sldId="281"/>
        </pc:sldMkLst>
      </pc:sldChg>
      <pc:sldChg chg="del">
        <pc:chgData name="Pramod Naik" userId="ceb6df04-ef15-4d9b-a141-998a03559d75" providerId="ADAL" clId="{8D8496C7-5C44-4372-99BE-D015FA3DC895}" dt="2025-07-04T17:10:30.158" v="11" actId="47"/>
        <pc:sldMkLst>
          <pc:docMk/>
          <pc:sldMk cId="2684928763" sldId="283"/>
        </pc:sldMkLst>
      </pc:sldChg>
      <pc:sldChg chg="modSp add mod">
        <pc:chgData name="Pramod Naik" userId="ceb6df04-ef15-4d9b-a141-998a03559d75" providerId="ADAL" clId="{8D8496C7-5C44-4372-99BE-D015FA3DC895}" dt="2025-07-04T17:25:39.726" v="118" actId="20577"/>
        <pc:sldMkLst>
          <pc:docMk/>
          <pc:sldMk cId="510186397" sldId="284"/>
        </pc:sldMkLst>
        <pc:spChg chg="mod">
          <ac:chgData name="Pramod Naik" userId="ceb6df04-ef15-4d9b-a141-998a03559d75" providerId="ADAL" clId="{8D8496C7-5C44-4372-99BE-D015FA3DC895}" dt="2025-07-04T17:25:39.726" v="118" actId="20577"/>
          <ac:spMkLst>
            <pc:docMk/>
            <pc:sldMk cId="510186397" sldId="284"/>
            <ac:spMk id="5" creationId="{D0E6A6E4-6022-9B36-9160-0CAA23778F36}"/>
          </ac:spMkLst>
        </pc:spChg>
      </pc:sldChg>
      <pc:sldChg chg="modSp add mod">
        <pc:chgData name="Pramod Naik" userId="ceb6df04-ef15-4d9b-a141-998a03559d75" providerId="ADAL" clId="{8D8496C7-5C44-4372-99BE-D015FA3DC895}" dt="2025-07-04T17:25:52.391" v="120" actId="403"/>
        <pc:sldMkLst>
          <pc:docMk/>
          <pc:sldMk cId="1426868896" sldId="285"/>
        </pc:sldMkLst>
        <pc:spChg chg="mod">
          <ac:chgData name="Pramod Naik" userId="ceb6df04-ef15-4d9b-a141-998a03559d75" providerId="ADAL" clId="{8D8496C7-5C44-4372-99BE-D015FA3DC895}" dt="2025-07-04T17:25:52.391" v="120" actId="403"/>
          <ac:spMkLst>
            <pc:docMk/>
            <pc:sldMk cId="1426868896" sldId="285"/>
            <ac:spMk id="3" creationId="{369707A5-2E68-CA04-71D6-68FEE8265E5B}"/>
          </ac:spMkLst>
        </pc:spChg>
      </pc:sldChg>
      <pc:sldChg chg="add">
        <pc:chgData name="Pramod Naik" userId="ceb6df04-ef15-4d9b-a141-998a03559d75" providerId="ADAL" clId="{8D8496C7-5C44-4372-99BE-D015FA3DC895}" dt="2025-07-04T17:19:35.535" v="69"/>
        <pc:sldMkLst>
          <pc:docMk/>
          <pc:sldMk cId="252194420" sldId="286"/>
        </pc:sldMkLst>
      </pc:sldChg>
      <pc:sldChg chg="modSp add mod">
        <pc:chgData name="Pramod Naik" userId="ceb6df04-ef15-4d9b-a141-998a03559d75" providerId="ADAL" clId="{8D8496C7-5C44-4372-99BE-D015FA3DC895}" dt="2025-07-04T17:29:04.485" v="133" actId="207"/>
        <pc:sldMkLst>
          <pc:docMk/>
          <pc:sldMk cId="1588033813" sldId="287"/>
        </pc:sldMkLst>
        <pc:spChg chg="mod">
          <ac:chgData name="Pramod Naik" userId="ceb6df04-ef15-4d9b-a141-998a03559d75" providerId="ADAL" clId="{8D8496C7-5C44-4372-99BE-D015FA3DC895}" dt="2025-07-04T17:29:04.485" v="133" actId="207"/>
          <ac:spMkLst>
            <pc:docMk/>
            <pc:sldMk cId="1588033813" sldId="287"/>
            <ac:spMk id="3" creationId="{DF5FFEAD-848B-E0E6-B115-9B8C6CBB5E7E}"/>
          </ac:spMkLst>
        </pc:spChg>
      </pc:sldChg>
      <pc:sldChg chg="modSp add mod">
        <pc:chgData name="Pramod Naik" userId="ceb6df04-ef15-4d9b-a141-998a03559d75" providerId="ADAL" clId="{8D8496C7-5C44-4372-99BE-D015FA3DC895}" dt="2025-07-04T17:33:02.552" v="145" actId="207"/>
        <pc:sldMkLst>
          <pc:docMk/>
          <pc:sldMk cId="1988997150" sldId="289"/>
        </pc:sldMkLst>
        <pc:spChg chg="mod">
          <ac:chgData name="Pramod Naik" userId="ceb6df04-ef15-4d9b-a141-998a03559d75" providerId="ADAL" clId="{8D8496C7-5C44-4372-99BE-D015FA3DC895}" dt="2025-07-04T17:33:02.552" v="145" actId="207"/>
          <ac:spMkLst>
            <pc:docMk/>
            <pc:sldMk cId="1988997150" sldId="289"/>
            <ac:spMk id="5" creationId="{A6465986-B2E3-9BAB-F08C-A9E187811D28}"/>
          </ac:spMkLst>
        </pc:spChg>
      </pc:sldChg>
      <pc:sldChg chg="add">
        <pc:chgData name="Pramod Naik" userId="ceb6df04-ef15-4d9b-a141-998a03559d75" providerId="ADAL" clId="{8D8496C7-5C44-4372-99BE-D015FA3DC895}" dt="2025-07-04T17:19:35.535" v="69"/>
        <pc:sldMkLst>
          <pc:docMk/>
          <pc:sldMk cId="1496530238" sldId="290"/>
        </pc:sldMkLst>
      </pc:sldChg>
      <pc:sldChg chg="modSp add mod">
        <pc:chgData name="Pramod Naik" userId="ceb6df04-ef15-4d9b-a141-998a03559d75" providerId="ADAL" clId="{8D8496C7-5C44-4372-99BE-D015FA3DC895}" dt="2025-07-04T17:35:02.845" v="164" actId="732"/>
        <pc:sldMkLst>
          <pc:docMk/>
          <pc:sldMk cId="564671573" sldId="291"/>
        </pc:sldMkLst>
        <pc:spChg chg="mod">
          <ac:chgData name="Pramod Naik" userId="ceb6df04-ef15-4d9b-a141-998a03559d75" providerId="ADAL" clId="{8D8496C7-5C44-4372-99BE-D015FA3DC895}" dt="2025-07-04T17:34:32.882" v="160" actId="255"/>
          <ac:spMkLst>
            <pc:docMk/>
            <pc:sldMk cId="564671573" sldId="291"/>
            <ac:spMk id="3" creationId="{9224384F-3F77-9504-3D30-F05F39AA2358}"/>
          </ac:spMkLst>
        </pc:spChg>
        <pc:spChg chg="mod">
          <ac:chgData name="Pramod Naik" userId="ceb6df04-ef15-4d9b-a141-998a03559d75" providerId="ADAL" clId="{8D8496C7-5C44-4372-99BE-D015FA3DC895}" dt="2025-07-04T17:35:02.845" v="164" actId="732"/>
          <ac:spMkLst>
            <pc:docMk/>
            <pc:sldMk cId="564671573" sldId="291"/>
            <ac:spMk id="7" creationId="{77F4F15F-7B17-2ADA-85D2-4689AE03D333}"/>
          </ac:spMkLst>
        </pc:spChg>
        <pc:grpChg chg="mod">
          <ac:chgData name="Pramod Naik" userId="ceb6df04-ef15-4d9b-a141-998a03559d75" providerId="ADAL" clId="{8D8496C7-5C44-4372-99BE-D015FA3DC895}" dt="2025-07-04T17:35:02.845" v="164" actId="732"/>
          <ac:grpSpMkLst>
            <pc:docMk/>
            <pc:sldMk cId="564671573" sldId="291"/>
            <ac:grpSpMk id="8" creationId="{2EAE9C6E-EDFF-4BE2-A08E-1C978537B749}"/>
          </ac:grpSpMkLst>
        </pc:grpChg>
        <pc:picChg chg="mod">
          <ac:chgData name="Pramod Naik" userId="ceb6df04-ef15-4d9b-a141-998a03559d75" providerId="ADAL" clId="{8D8496C7-5C44-4372-99BE-D015FA3DC895}" dt="2025-07-04T17:35:02.845" v="164" actId="732"/>
          <ac:picMkLst>
            <pc:docMk/>
            <pc:sldMk cId="564671573" sldId="291"/>
            <ac:picMk id="6" creationId="{3D5B2E4D-DA19-D405-7FD2-88FDCF85F977}"/>
          </ac:picMkLst>
        </pc:picChg>
        <pc:picChg chg="mod">
          <ac:chgData name="Pramod Naik" userId="ceb6df04-ef15-4d9b-a141-998a03559d75" providerId="ADAL" clId="{8D8496C7-5C44-4372-99BE-D015FA3DC895}" dt="2025-07-04T17:35:02.845" v="164" actId="732"/>
          <ac:picMkLst>
            <pc:docMk/>
            <pc:sldMk cId="564671573" sldId="291"/>
            <ac:picMk id="23556" creationId="{ED901057-A993-C011-2A11-593CE9D4C7E0}"/>
          </ac:picMkLst>
        </pc:picChg>
      </pc:sldChg>
      <pc:sldChg chg="del">
        <pc:chgData name="Pramod Naik" userId="ceb6df04-ef15-4d9b-a141-998a03559d75" providerId="ADAL" clId="{8D8496C7-5C44-4372-99BE-D015FA3DC895}" dt="2025-07-04T17:10:57.694" v="65" actId="47"/>
        <pc:sldMkLst>
          <pc:docMk/>
          <pc:sldMk cId="1148078753" sldId="427"/>
        </pc:sldMkLst>
      </pc:sldChg>
      <pc:sldChg chg="del">
        <pc:chgData name="Pramod Naik" userId="ceb6df04-ef15-4d9b-a141-998a03559d75" providerId="ADAL" clId="{8D8496C7-5C44-4372-99BE-D015FA3DC895}" dt="2025-07-04T17:10:30.202" v="13" actId="47"/>
        <pc:sldMkLst>
          <pc:docMk/>
          <pc:sldMk cId="1986873317" sldId="428"/>
        </pc:sldMkLst>
      </pc:sldChg>
      <pc:sldChg chg="add ord">
        <pc:chgData name="Pramod Naik" userId="ceb6df04-ef15-4d9b-a141-998a03559d75" providerId="ADAL" clId="{8D8496C7-5C44-4372-99BE-D015FA3DC895}" dt="2025-07-04T17:10:59.381" v="68"/>
        <pc:sldMkLst>
          <pc:docMk/>
          <pc:sldMk cId="3664504081" sldId="428"/>
        </pc:sldMkLst>
      </pc:sldChg>
      <pc:sldChg chg="del">
        <pc:chgData name="Pramod Naik" userId="ceb6df04-ef15-4d9b-a141-998a03559d75" providerId="ADAL" clId="{8D8496C7-5C44-4372-99BE-D015FA3DC895}" dt="2025-07-04T17:10:30.177" v="12" actId="47"/>
        <pc:sldMkLst>
          <pc:docMk/>
          <pc:sldMk cId="3073614793" sldId="429"/>
        </pc:sldMkLst>
      </pc:sldChg>
      <pc:sldChg chg="del">
        <pc:chgData name="Pramod Naik" userId="ceb6df04-ef15-4d9b-a141-998a03559d75" providerId="ADAL" clId="{8D8496C7-5C44-4372-99BE-D015FA3DC895}" dt="2025-07-04T17:10:30.228" v="14" actId="47"/>
        <pc:sldMkLst>
          <pc:docMk/>
          <pc:sldMk cId="4029198354" sldId="430"/>
        </pc:sldMkLst>
      </pc:sldChg>
      <pc:sldChg chg="del">
        <pc:chgData name="Pramod Naik" userId="ceb6df04-ef15-4d9b-a141-998a03559d75" providerId="ADAL" clId="{8D8496C7-5C44-4372-99BE-D015FA3DC895}" dt="2025-07-04T17:10:30.278" v="15" actId="47"/>
        <pc:sldMkLst>
          <pc:docMk/>
          <pc:sldMk cId="3668359328" sldId="431"/>
        </pc:sldMkLst>
      </pc:sldChg>
      <pc:sldChg chg="del">
        <pc:chgData name="Pramod Naik" userId="ceb6df04-ef15-4d9b-a141-998a03559d75" providerId="ADAL" clId="{8D8496C7-5C44-4372-99BE-D015FA3DC895}" dt="2025-07-04T17:10:31.793" v="37" actId="47"/>
        <pc:sldMkLst>
          <pc:docMk/>
          <pc:sldMk cId="2812883948" sldId="443"/>
        </pc:sldMkLst>
      </pc:sldChg>
      <pc:sldChg chg="del">
        <pc:chgData name="Pramod Naik" userId="ceb6df04-ef15-4d9b-a141-998a03559d75" providerId="ADAL" clId="{8D8496C7-5C44-4372-99BE-D015FA3DC895}" dt="2025-07-04T17:10:31.834" v="38" actId="47"/>
        <pc:sldMkLst>
          <pc:docMk/>
          <pc:sldMk cId="4238744531" sldId="444"/>
        </pc:sldMkLst>
      </pc:sldChg>
      <pc:sldChg chg="del">
        <pc:chgData name="Pramod Naik" userId="ceb6df04-ef15-4d9b-a141-998a03559d75" providerId="ADAL" clId="{8D8496C7-5C44-4372-99BE-D015FA3DC895}" dt="2025-07-04T17:10:30.075" v="9" actId="47"/>
        <pc:sldMkLst>
          <pc:docMk/>
          <pc:sldMk cId="3758266961" sldId="802"/>
        </pc:sldMkLst>
      </pc:sldChg>
      <pc:sldChg chg="del">
        <pc:chgData name="Pramod Naik" userId="ceb6df04-ef15-4d9b-a141-998a03559d75" providerId="ADAL" clId="{8D8496C7-5C44-4372-99BE-D015FA3DC895}" dt="2025-07-04T17:10:30.126" v="10" actId="47"/>
        <pc:sldMkLst>
          <pc:docMk/>
          <pc:sldMk cId="2389883007" sldId="803"/>
        </pc:sldMkLst>
      </pc:sldChg>
      <pc:sldChg chg="del">
        <pc:chgData name="Pramod Naik" userId="ceb6df04-ef15-4d9b-a141-998a03559d75" providerId="ADAL" clId="{8D8496C7-5C44-4372-99BE-D015FA3DC895}" dt="2025-07-04T17:10:33.449" v="57" actId="47"/>
        <pc:sldMkLst>
          <pc:docMk/>
          <pc:sldMk cId="725509964" sldId="804"/>
        </pc:sldMkLst>
      </pc:sldChg>
      <pc:sldChg chg="del">
        <pc:chgData name="Pramod Naik" userId="ceb6df04-ef15-4d9b-a141-998a03559d75" providerId="ADAL" clId="{8D8496C7-5C44-4372-99BE-D015FA3DC895}" dt="2025-07-04T17:10:30.317" v="17" actId="47"/>
        <pc:sldMkLst>
          <pc:docMk/>
          <pc:sldMk cId="2821186392" sldId="805"/>
        </pc:sldMkLst>
      </pc:sldChg>
      <pc:sldChg chg="del">
        <pc:chgData name="Pramod Naik" userId="ceb6df04-ef15-4d9b-a141-998a03559d75" providerId="ADAL" clId="{8D8496C7-5C44-4372-99BE-D015FA3DC895}" dt="2025-07-04T17:10:30.353" v="18" actId="47"/>
        <pc:sldMkLst>
          <pc:docMk/>
          <pc:sldMk cId="2628583211" sldId="806"/>
        </pc:sldMkLst>
      </pc:sldChg>
      <pc:sldChg chg="del">
        <pc:chgData name="Pramod Naik" userId="ceb6df04-ef15-4d9b-a141-998a03559d75" providerId="ADAL" clId="{8D8496C7-5C44-4372-99BE-D015FA3DC895}" dt="2025-07-04T17:10:30.409" v="19" actId="47"/>
        <pc:sldMkLst>
          <pc:docMk/>
          <pc:sldMk cId="3689612021" sldId="807"/>
        </pc:sldMkLst>
      </pc:sldChg>
      <pc:sldChg chg="del">
        <pc:chgData name="Pramod Naik" userId="ceb6df04-ef15-4d9b-a141-998a03559d75" providerId="ADAL" clId="{8D8496C7-5C44-4372-99BE-D015FA3DC895}" dt="2025-07-04T17:10:30.424" v="20" actId="47"/>
        <pc:sldMkLst>
          <pc:docMk/>
          <pc:sldMk cId="1807050808" sldId="808"/>
        </pc:sldMkLst>
      </pc:sldChg>
      <pc:sldChg chg="del">
        <pc:chgData name="Pramod Naik" userId="ceb6df04-ef15-4d9b-a141-998a03559d75" providerId="ADAL" clId="{8D8496C7-5C44-4372-99BE-D015FA3DC895}" dt="2025-07-04T17:10:30.457" v="21" actId="47"/>
        <pc:sldMkLst>
          <pc:docMk/>
          <pc:sldMk cId="3984954686" sldId="809"/>
        </pc:sldMkLst>
      </pc:sldChg>
      <pc:sldChg chg="del">
        <pc:chgData name="Pramod Naik" userId="ceb6df04-ef15-4d9b-a141-998a03559d75" providerId="ADAL" clId="{8D8496C7-5C44-4372-99BE-D015FA3DC895}" dt="2025-07-04T17:10:30.497" v="22" actId="47"/>
        <pc:sldMkLst>
          <pc:docMk/>
          <pc:sldMk cId="565596243" sldId="810"/>
        </pc:sldMkLst>
      </pc:sldChg>
      <pc:sldChg chg="del">
        <pc:chgData name="Pramod Naik" userId="ceb6df04-ef15-4d9b-a141-998a03559d75" providerId="ADAL" clId="{8D8496C7-5C44-4372-99BE-D015FA3DC895}" dt="2025-07-04T17:10:30.300" v="16" actId="47"/>
        <pc:sldMkLst>
          <pc:docMk/>
          <pc:sldMk cId="3187916009" sldId="811"/>
        </pc:sldMkLst>
      </pc:sldChg>
      <pc:sldChg chg="del">
        <pc:chgData name="Pramod Naik" userId="ceb6df04-ef15-4d9b-a141-998a03559d75" providerId="ADAL" clId="{8D8496C7-5C44-4372-99BE-D015FA3DC895}" dt="2025-07-04T17:10:30.856" v="23" actId="47"/>
        <pc:sldMkLst>
          <pc:docMk/>
          <pc:sldMk cId="2765334203" sldId="812"/>
        </pc:sldMkLst>
      </pc:sldChg>
      <pc:sldChg chg="del">
        <pc:chgData name="Pramod Naik" userId="ceb6df04-ef15-4d9b-a141-998a03559d75" providerId="ADAL" clId="{8D8496C7-5C44-4372-99BE-D015FA3DC895}" dt="2025-07-04T17:10:31.372" v="24" actId="47"/>
        <pc:sldMkLst>
          <pc:docMk/>
          <pc:sldMk cId="1042934319" sldId="813"/>
        </pc:sldMkLst>
      </pc:sldChg>
      <pc:sldChg chg="del">
        <pc:chgData name="Pramod Naik" userId="ceb6df04-ef15-4d9b-a141-998a03559d75" providerId="ADAL" clId="{8D8496C7-5C44-4372-99BE-D015FA3DC895}" dt="2025-07-04T17:10:31.405" v="25" actId="47"/>
        <pc:sldMkLst>
          <pc:docMk/>
          <pc:sldMk cId="1947210015" sldId="814"/>
        </pc:sldMkLst>
      </pc:sldChg>
      <pc:sldChg chg="del">
        <pc:chgData name="Pramod Naik" userId="ceb6df04-ef15-4d9b-a141-998a03559d75" providerId="ADAL" clId="{8D8496C7-5C44-4372-99BE-D015FA3DC895}" dt="2025-07-04T17:10:31.433" v="26" actId="47"/>
        <pc:sldMkLst>
          <pc:docMk/>
          <pc:sldMk cId="3023744639" sldId="815"/>
        </pc:sldMkLst>
      </pc:sldChg>
      <pc:sldChg chg="del">
        <pc:chgData name="Pramod Naik" userId="ceb6df04-ef15-4d9b-a141-998a03559d75" providerId="ADAL" clId="{8D8496C7-5C44-4372-99BE-D015FA3DC895}" dt="2025-07-04T17:10:31.465" v="27" actId="47"/>
        <pc:sldMkLst>
          <pc:docMk/>
          <pc:sldMk cId="2232840958" sldId="816"/>
        </pc:sldMkLst>
      </pc:sldChg>
      <pc:sldChg chg="del">
        <pc:chgData name="Pramod Naik" userId="ceb6df04-ef15-4d9b-a141-998a03559d75" providerId="ADAL" clId="{8D8496C7-5C44-4372-99BE-D015FA3DC895}" dt="2025-07-04T17:10:31.497" v="28" actId="47"/>
        <pc:sldMkLst>
          <pc:docMk/>
          <pc:sldMk cId="1958908736" sldId="817"/>
        </pc:sldMkLst>
      </pc:sldChg>
      <pc:sldChg chg="del">
        <pc:chgData name="Pramod Naik" userId="ceb6df04-ef15-4d9b-a141-998a03559d75" providerId="ADAL" clId="{8D8496C7-5C44-4372-99BE-D015FA3DC895}" dt="2025-07-04T17:10:31.536" v="29" actId="47"/>
        <pc:sldMkLst>
          <pc:docMk/>
          <pc:sldMk cId="2603702130" sldId="818"/>
        </pc:sldMkLst>
      </pc:sldChg>
      <pc:sldChg chg="del">
        <pc:chgData name="Pramod Naik" userId="ceb6df04-ef15-4d9b-a141-998a03559d75" providerId="ADAL" clId="{8D8496C7-5C44-4372-99BE-D015FA3DC895}" dt="2025-07-04T17:10:31.565" v="30" actId="47"/>
        <pc:sldMkLst>
          <pc:docMk/>
          <pc:sldMk cId="1715032640" sldId="819"/>
        </pc:sldMkLst>
      </pc:sldChg>
      <pc:sldChg chg="del">
        <pc:chgData name="Pramod Naik" userId="ceb6df04-ef15-4d9b-a141-998a03559d75" providerId="ADAL" clId="{8D8496C7-5C44-4372-99BE-D015FA3DC895}" dt="2025-07-04T17:10:31.610" v="31" actId="47"/>
        <pc:sldMkLst>
          <pc:docMk/>
          <pc:sldMk cId="792769975" sldId="820"/>
        </pc:sldMkLst>
      </pc:sldChg>
      <pc:sldChg chg="del">
        <pc:chgData name="Pramod Naik" userId="ceb6df04-ef15-4d9b-a141-998a03559d75" providerId="ADAL" clId="{8D8496C7-5C44-4372-99BE-D015FA3DC895}" dt="2025-07-04T17:10:31.639" v="32" actId="47"/>
        <pc:sldMkLst>
          <pc:docMk/>
          <pc:sldMk cId="4279794649" sldId="821"/>
        </pc:sldMkLst>
      </pc:sldChg>
      <pc:sldChg chg="del">
        <pc:chgData name="Pramod Naik" userId="ceb6df04-ef15-4d9b-a141-998a03559d75" providerId="ADAL" clId="{8D8496C7-5C44-4372-99BE-D015FA3DC895}" dt="2025-07-04T17:10:31.674" v="33" actId="47"/>
        <pc:sldMkLst>
          <pc:docMk/>
          <pc:sldMk cId="72100597" sldId="822"/>
        </pc:sldMkLst>
      </pc:sldChg>
      <pc:sldChg chg="del">
        <pc:chgData name="Pramod Naik" userId="ceb6df04-ef15-4d9b-a141-998a03559d75" providerId="ADAL" clId="{8D8496C7-5C44-4372-99BE-D015FA3DC895}" dt="2025-07-04T17:10:31.702" v="34" actId="47"/>
        <pc:sldMkLst>
          <pc:docMk/>
          <pc:sldMk cId="1699470194" sldId="823"/>
        </pc:sldMkLst>
      </pc:sldChg>
      <pc:sldChg chg="del">
        <pc:chgData name="Pramod Naik" userId="ceb6df04-ef15-4d9b-a141-998a03559d75" providerId="ADAL" clId="{8D8496C7-5C44-4372-99BE-D015FA3DC895}" dt="2025-07-04T17:10:31.740" v="35" actId="47"/>
        <pc:sldMkLst>
          <pc:docMk/>
          <pc:sldMk cId="1862185883" sldId="824"/>
        </pc:sldMkLst>
      </pc:sldChg>
      <pc:sldChg chg="del">
        <pc:chgData name="Pramod Naik" userId="ceb6df04-ef15-4d9b-a141-998a03559d75" providerId="ADAL" clId="{8D8496C7-5C44-4372-99BE-D015FA3DC895}" dt="2025-07-04T17:10:31.766" v="36" actId="47"/>
        <pc:sldMkLst>
          <pc:docMk/>
          <pc:sldMk cId="1333217736" sldId="825"/>
        </pc:sldMkLst>
      </pc:sldChg>
      <pc:sldChg chg="del">
        <pc:chgData name="Pramod Naik" userId="ceb6df04-ef15-4d9b-a141-998a03559d75" providerId="ADAL" clId="{8D8496C7-5C44-4372-99BE-D015FA3DC895}" dt="2025-07-04T17:10:31.907" v="40" actId="47"/>
        <pc:sldMkLst>
          <pc:docMk/>
          <pc:sldMk cId="616466261" sldId="826"/>
        </pc:sldMkLst>
      </pc:sldChg>
      <pc:sldChg chg="del">
        <pc:chgData name="Pramod Naik" userId="ceb6df04-ef15-4d9b-a141-998a03559d75" providerId="ADAL" clId="{8D8496C7-5C44-4372-99BE-D015FA3DC895}" dt="2025-07-04T17:10:32.456" v="41" actId="47"/>
        <pc:sldMkLst>
          <pc:docMk/>
          <pc:sldMk cId="2494359165" sldId="827"/>
        </pc:sldMkLst>
      </pc:sldChg>
      <pc:sldChg chg="del">
        <pc:chgData name="Pramod Naik" userId="ceb6df04-ef15-4d9b-a141-998a03559d75" providerId="ADAL" clId="{8D8496C7-5C44-4372-99BE-D015FA3DC895}" dt="2025-07-04T17:10:32.966" v="42" actId="47"/>
        <pc:sldMkLst>
          <pc:docMk/>
          <pc:sldMk cId="3298173137" sldId="828"/>
        </pc:sldMkLst>
      </pc:sldChg>
      <pc:sldChg chg="del">
        <pc:chgData name="Pramod Naik" userId="ceb6df04-ef15-4d9b-a141-998a03559d75" providerId="ADAL" clId="{8D8496C7-5C44-4372-99BE-D015FA3DC895}" dt="2025-07-04T17:10:32.996" v="43" actId="47"/>
        <pc:sldMkLst>
          <pc:docMk/>
          <pc:sldMk cId="342539356" sldId="829"/>
        </pc:sldMkLst>
      </pc:sldChg>
      <pc:sldChg chg="del">
        <pc:chgData name="Pramod Naik" userId="ceb6df04-ef15-4d9b-a141-998a03559d75" providerId="ADAL" clId="{8D8496C7-5C44-4372-99BE-D015FA3DC895}" dt="2025-07-04T17:10:33.029" v="44" actId="47"/>
        <pc:sldMkLst>
          <pc:docMk/>
          <pc:sldMk cId="2668433924" sldId="830"/>
        </pc:sldMkLst>
      </pc:sldChg>
      <pc:sldChg chg="del">
        <pc:chgData name="Pramod Naik" userId="ceb6df04-ef15-4d9b-a141-998a03559d75" providerId="ADAL" clId="{8D8496C7-5C44-4372-99BE-D015FA3DC895}" dt="2025-07-04T17:10:31.863" v="39" actId="47"/>
        <pc:sldMkLst>
          <pc:docMk/>
          <pc:sldMk cId="495546321" sldId="831"/>
        </pc:sldMkLst>
      </pc:sldChg>
      <pc:sldChg chg="del">
        <pc:chgData name="Pramod Naik" userId="ceb6df04-ef15-4d9b-a141-998a03559d75" providerId="ADAL" clId="{8D8496C7-5C44-4372-99BE-D015FA3DC895}" dt="2025-07-04T17:10:33.067" v="45" actId="47"/>
        <pc:sldMkLst>
          <pc:docMk/>
          <pc:sldMk cId="4179786724" sldId="832"/>
        </pc:sldMkLst>
      </pc:sldChg>
      <pc:sldChg chg="del">
        <pc:chgData name="Pramod Naik" userId="ceb6df04-ef15-4d9b-a141-998a03559d75" providerId="ADAL" clId="{8D8496C7-5C44-4372-99BE-D015FA3DC895}" dt="2025-07-04T17:10:33.098" v="46" actId="47"/>
        <pc:sldMkLst>
          <pc:docMk/>
          <pc:sldMk cId="573588146" sldId="833"/>
        </pc:sldMkLst>
      </pc:sldChg>
      <pc:sldChg chg="del">
        <pc:chgData name="Pramod Naik" userId="ceb6df04-ef15-4d9b-a141-998a03559d75" providerId="ADAL" clId="{8D8496C7-5C44-4372-99BE-D015FA3DC895}" dt="2025-07-04T17:10:33.129" v="47" actId="47"/>
        <pc:sldMkLst>
          <pc:docMk/>
          <pc:sldMk cId="533626814" sldId="834"/>
        </pc:sldMkLst>
      </pc:sldChg>
      <pc:sldChg chg="del">
        <pc:chgData name="Pramod Naik" userId="ceb6df04-ef15-4d9b-a141-998a03559d75" providerId="ADAL" clId="{8D8496C7-5C44-4372-99BE-D015FA3DC895}" dt="2025-07-04T17:10:33.157" v="48" actId="47"/>
        <pc:sldMkLst>
          <pc:docMk/>
          <pc:sldMk cId="2408693022" sldId="835"/>
        </pc:sldMkLst>
      </pc:sldChg>
      <pc:sldChg chg="del">
        <pc:chgData name="Pramod Naik" userId="ceb6df04-ef15-4d9b-a141-998a03559d75" providerId="ADAL" clId="{8D8496C7-5C44-4372-99BE-D015FA3DC895}" dt="2025-07-04T17:10:33.192" v="49" actId="47"/>
        <pc:sldMkLst>
          <pc:docMk/>
          <pc:sldMk cId="3482729430" sldId="836"/>
        </pc:sldMkLst>
      </pc:sldChg>
      <pc:sldChg chg="del">
        <pc:chgData name="Pramod Naik" userId="ceb6df04-ef15-4d9b-a141-998a03559d75" providerId="ADAL" clId="{8D8496C7-5C44-4372-99BE-D015FA3DC895}" dt="2025-07-04T17:10:33.228" v="50" actId="47"/>
        <pc:sldMkLst>
          <pc:docMk/>
          <pc:sldMk cId="1425376494" sldId="837"/>
        </pc:sldMkLst>
      </pc:sldChg>
      <pc:sldChg chg="del">
        <pc:chgData name="Pramod Naik" userId="ceb6df04-ef15-4d9b-a141-998a03559d75" providerId="ADAL" clId="{8D8496C7-5C44-4372-99BE-D015FA3DC895}" dt="2025-07-04T17:10:33.253" v="51" actId="47"/>
        <pc:sldMkLst>
          <pc:docMk/>
          <pc:sldMk cId="152909076" sldId="838"/>
        </pc:sldMkLst>
      </pc:sldChg>
      <pc:sldChg chg="del">
        <pc:chgData name="Pramod Naik" userId="ceb6df04-ef15-4d9b-a141-998a03559d75" providerId="ADAL" clId="{8D8496C7-5C44-4372-99BE-D015FA3DC895}" dt="2025-07-04T17:10:33.287" v="52" actId="47"/>
        <pc:sldMkLst>
          <pc:docMk/>
          <pc:sldMk cId="1544694728" sldId="839"/>
        </pc:sldMkLst>
      </pc:sldChg>
      <pc:sldChg chg="add del">
        <pc:chgData name="Pramod Naik" userId="ceb6df04-ef15-4d9b-a141-998a03559d75" providerId="ADAL" clId="{8D8496C7-5C44-4372-99BE-D015FA3DC895}" dt="2025-07-04T17:10:34.984" v="59" actId="47"/>
        <pc:sldMkLst>
          <pc:docMk/>
          <pc:sldMk cId="2018463319" sldId="840"/>
        </pc:sldMkLst>
      </pc:sldChg>
      <pc:sldChg chg="del">
        <pc:chgData name="Pramod Naik" userId="ceb6df04-ef15-4d9b-a141-998a03559d75" providerId="ADAL" clId="{8D8496C7-5C44-4372-99BE-D015FA3DC895}" dt="2025-07-04T17:10:33.321" v="53" actId="47"/>
        <pc:sldMkLst>
          <pc:docMk/>
          <pc:sldMk cId="94651295" sldId="841"/>
        </pc:sldMkLst>
      </pc:sldChg>
      <pc:sldChg chg="add">
        <pc:chgData name="Pramod Naik" userId="ceb6df04-ef15-4d9b-a141-998a03559d75" providerId="ADAL" clId="{8D8496C7-5C44-4372-99BE-D015FA3DC895}" dt="2025-07-04T17:10:38.604" v="60"/>
        <pc:sldMkLst>
          <pc:docMk/>
          <pc:sldMk cId="4033221829" sldId="841"/>
        </pc:sldMkLst>
      </pc:sldChg>
      <pc:sldChg chg="del">
        <pc:chgData name="Pramod Naik" userId="ceb6df04-ef15-4d9b-a141-998a03559d75" providerId="ADAL" clId="{8D8496C7-5C44-4372-99BE-D015FA3DC895}" dt="2025-07-04T17:10:33.350" v="54" actId="47"/>
        <pc:sldMkLst>
          <pc:docMk/>
          <pc:sldMk cId="852940305" sldId="842"/>
        </pc:sldMkLst>
      </pc:sldChg>
      <pc:sldChg chg="add">
        <pc:chgData name="Pramod Naik" userId="ceb6df04-ef15-4d9b-a141-998a03559d75" providerId="ADAL" clId="{8D8496C7-5C44-4372-99BE-D015FA3DC895}" dt="2025-07-04T17:10:38.756" v="61"/>
        <pc:sldMkLst>
          <pc:docMk/>
          <pc:sldMk cId="2613572271" sldId="842"/>
        </pc:sldMkLst>
      </pc:sldChg>
      <pc:sldChg chg="del">
        <pc:chgData name="Pramod Naik" userId="ceb6df04-ef15-4d9b-a141-998a03559d75" providerId="ADAL" clId="{8D8496C7-5C44-4372-99BE-D015FA3DC895}" dt="2025-07-04T17:10:33.383" v="55" actId="47"/>
        <pc:sldMkLst>
          <pc:docMk/>
          <pc:sldMk cId="2870649011" sldId="843"/>
        </pc:sldMkLst>
      </pc:sldChg>
      <pc:sldChg chg="add">
        <pc:chgData name="Pramod Naik" userId="ceb6df04-ef15-4d9b-a141-998a03559d75" providerId="ADAL" clId="{8D8496C7-5C44-4372-99BE-D015FA3DC895}" dt="2025-07-04T17:10:38.908" v="62"/>
        <pc:sldMkLst>
          <pc:docMk/>
          <pc:sldMk cId="3457226269" sldId="843"/>
        </pc:sldMkLst>
      </pc:sldChg>
      <pc:sldChg chg="del">
        <pc:chgData name="Pramod Naik" userId="ceb6df04-ef15-4d9b-a141-998a03559d75" providerId="ADAL" clId="{8D8496C7-5C44-4372-99BE-D015FA3DC895}" dt="2025-07-04T17:10:33.417" v="56" actId="47"/>
        <pc:sldMkLst>
          <pc:docMk/>
          <pc:sldMk cId="2247688424" sldId="844"/>
        </pc:sldMkLst>
      </pc:sldChg>
      <pc:sldChg chg="add">
        <pc:chgData name="Pramod Naik" userId="ceb6df04-ef15-4d9b-a141-998a03559d75" providerId="ADAL" clId="{8D8496C7-5C44-4372-99BE-D015FA3DC895}" dt="2025-07-04T17:10:39.052" v="63"/>
        <pc:sldMkLst>
          <pc:docMk/>
          <pc:sldMk cId="3467366708" sldId="844"/>
        </pc:sldMkLst>
      </pc:sldChg>
      <pc:sldChg chg="add">
        <pc:chgData name="Pramod Naik" userId="ceb6df04-ef15-4d9b-a141-998a03559d75" providerId="ADAL" clId="{8D8496C7-5C44-4372-99BE-D015FA3DC895}" dt="2025-07-04T17:10:39.205" v="64"/>
        <pc:sldMkLst>
          <pc:docMk/>
          <pc:sldMk cId="2989589413" sldId="845"/>
        </pc:sldMkLst>
      </pc:sldChg>
      <pc:sldChg chg="modSp add mod ord">
        <pc:chgData name="Pramod Naik" userId="ceb6df04-ef15-4d9b-a141-998a03559d75" providerId="ADAL" clId="{8D8496C7-5C44-4372-99BE-D015FA3DC895}" dt="2025-07-04T17:23:52.879" v="79" actId="403"/>
        <pc:sldMkLst>
          <pc:docMk/>
          <pc:sldMk cId="1444396400" sldId="846"/>
        </pc:sldMkLst>
        <pc:spChg chg="mod">
          <ac:chgData name="Pramod Naik" userId="ceb6df04-ef15-4d9b-a141-998a03559d75" providerId="ADAL" clId="{8D8496C7-5C44-4372-99BE-D015FA3DC895}" dt="2025-07-04T17:23:52.879" v="79" actId="403"/>
          <ac:spMkLst>
            <pc:docMk/>
            <pc:sldMk cId="1444396400" sldId="846"/>
            <ac:spMk id="5" creationId="{13DCB72E-766B-31EA-0076-3684652D8089}"/>
          </ac:spMkLst>
        </pc:spChg>
      </pc:sldChg>
      <pc:sldChg chg="add">
        <pc:chgData name="Pramod Naik" userId="ceb6df04-ef15-4d9b-a141-998a03559d75" providerId="ADAL" clId="{8D8496C7-5C44-4372-99BE-D015FA3DC895}" dt="2025-07-04T17:35:16.819" v="165"/>
        <pc:sldMkLst>
          <pc:docMk/>
          <pc:sldMk cId="1788168237" sldId="84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050FF069-687C-4110-9C8F-B52BF36C2535}" type="datetimeFigureOut">
              <a:rPr lang="en-IN" smtClean="0"/>
              <a:t>06-07-2025</a:t>
            </a:fld>
            <a:endParaRPr lang="en-IN"/>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715299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050FF069-687C-4110-9C8F-B52BF36C2535}" type="datetimeFigureOut">
              <a:rPr lang="en-IN" smtClean="0"/>
              <a:t>06-07-2025</a:t>
            </a:fld>
            <a:endParaRPr lang="en-IN"/>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920705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050FF069-687C-4110-9C8F-B52BF36C2535}" type="datetimeFigureOut">
              <a:rPr lang="en-IN" smtClean="0"/>
              <a:t>06-07-2025</a:t>
            </a:fld>
            <a:endParaRPr lang="en-IN"/>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395773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050FF069-687C-4110-9C8F-B52BF36C2535}" type="datetimeFigureOut">
              <a:rPr lang="en-IN" smtClean="0"/>
              <a:t>06-07-2025</a:t>
            </a:fld>
            <a:endParaRPr lang="en-IN"/>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4223983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050FF069-687C-4110-9C8F-B52BF36C2535}" type="datetimeFigureOut">
              <a:rPr lang="en-IN" smtClean="0"/>
              <a:t>06-07-2025</a:t>
            </a:fld>
            <a:endParaRPr lang="en-IN"/>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2024475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050FF069-687C-4110-9C8F-B52BF36C2535}" type="datetimeFigureOut">
              <a:rPr lang="en-IN" smtClean="0"/>
              <a:t>06-07-2025</a:t>
            </a:fld>
            <a:endParaRPr lang="en-IN"/>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3647294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050FF069-687C-4110-9C8F-B52BF36C2535}" type="datetimeFigureOut">
              <a:rPr lang="en-IN" smtClean="0"/>
              <a:t>06-07-2025</a:t>
            </a:fld>
            <a:endParaRPr lang="en-IN"/>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2676652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050FF069-687C-4110-9C8F-B52BF36C2535}" type="datetimeFigureOut">
              <a:rPr lang="en-IN" smtClean="0"/>
              <a:t>06-07-2025</a:t>
            </a:fld>
            <a:endParaRPr lang="en-IN"/>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1375475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050FF069-687C-4110-9C8F-B52BF36C2535}" type="datetimeFigureOut">
              <a:rPr lang="en-IN" smtClean="0"/>
              <a:t>06-07-2025</a:t>
            </a:fld>
            <a:endParaRPr lang="en-IN"/>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2012265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050FF069-687C-4110-9C8F-B52BF36C2535}" type="datetimeFigureOut">
              <a:rPr lang="en-IN" smtClean="0"/>
              <a:t>06-07-2025</a:t>
            </a:fld>
            <a:endParaRPr lang="en-IN"/>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261756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0FF069-687C-4110-9C8F-B52BF36C2535}" type="datetimeFigureOut">
              <a:rPr lang="en-IN" smtClean="0"/>
              <a:t>06-07-2025</a:t>
            </a:fld>
            <a:endParaRPr lang="en-IN"/>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F012B93-754B-40E2-B673-F3825D75AA44}" type="slidenum">
              <a:rPr lang="en-IN" smtClean="0"/>
              <a:t>‹#›</a:t>
            </a:fld>
            <a:endParaRPr lang="en-IN"/>
          </a:p>
        </p:txBody>
      </p:sp>
    </p:spTree>
    <p:extLst>
      <p:ext uri="{BB962C8B-B14F-4D97-AF65-F5344CB8AC3E}">
        <p14:creationId xmlns:p14="http://schemas.microsoft.com/office/powerpoint/2010/main" val="3448049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050FF069-687C-4110-9C8F-B52BF36C2535}" type="datetimeFigureOut">
              <a:rPr lang="en-IN" smtClean="0"/>
              <a:t>06-07-2025</a:t>
            </a:fld>
            <a:endParaRPr lang="en-IN"/>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F012B93-754B-40E2-B673-F3825D75AA44}" type="slidenum">
              <a:rPr lang="en-IN" smtClean="0"/>
              <a:t>‹#›</a:t>
            </a:fld>
            <a:endParaRPr lang="en-IN"/>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9" name="Group 8">
            <a:extLst>
              <a:ext uri="{FF2B5EF4-FFF2-40B4-BE49-F238E27FC236}">
                <a16:creationId xmlns:a16="http://schemas.microsoft.com/office/drawing/2014/main" id="{3281849D-54CA-C13E-3D84-DB247AB9A268}"/>
              </a:ext>
            </a:extLst>
          </p:cNvPr>
          <p:cNvGrpSpPr/>
          <p:nvPr/>
        </p:nvGrpSpPr>
        <p:grpSpPr>
          <a:xfrm>
            <a:off x="130629" y="6291189"/>
            <a:ext cx="2743201" cy="495445"/>
            <a:chOff x="195943" y="6091967"/>
            <a:chExt cx="3506755" cy="629508"/>
          </a:xfrm>
        </p:grpSpPr>
        <p:sp>
          <p:nvSpPr>
            <p:cNvPr id="11" name="Oval 10">
              <a:extLst>
                <a:ext uri="{FF2B5EF4-FFF2-40B4-BE49-F238E27FC236}">
                  <a16:creationId xmlns:a16="http://schemas.microsoft.com/office/drawing/2014/main" id="{6401CC4C-E0EC-38D2-F7AA-61FC22E4D90D}"/>
                </a:ext>
              </a:extLst>
            </p:cNvPr>
            <p:cNvSpPr/>
            <p:nvPr/>
          </p:nvSpPr>
          <p:spPr>
            <a:xfrm>
              <a:off x="195943" y="6091967"/>
              <a:ext cx="642257" cy="629508"/>
            </a:xfrm>
            <a:prstGeom prst="ellipse">
              <a:avLst/>
            </a:prstGeom>
            <a:blipFill dpi="0" rotWithShape="1">
              <a:blip r:embed="rId1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875BEBF-DA68-8945-6205-DE7DE602B3BD}"/>
                </a:ext>
              </a:extLst>
            </p:cNvPr>
            <p:cNvSpPr txBox="1"/>
            <p:nvPr/>
          </p:nvSpPr>
          <p:spPr>
            <a:xfrm>
              <a:off x="838200" y="6163561"/>
              <a:ext cx="2864498" cy="369332"/>
            </a:xfrm>
            <a:prstGeom prst="rect">
              <a:avLst/>
            </a:prstGeom>
            <a:noFill/>
          </p:spPr>
          <p:txBody>
            <a:bodyPr wrap="square" rtlCol="0">
              <a:spAutoFit/>
            </a:bodyPr>
            <a:lstStyle/>
            <a:p>
              <a:r>
                <a:rPr lang="en-US" b="1" dirty="0"/>
                <a:t>PRAMOD NAIK</a:t>
              </a:r>
            </a:p>
          </p:txBody>
        </p:sp>
      </p:grpSp>
    </p:spTree>
    <p:extLst>
      <p:ext uri="{BB962C8B-B14F-4D97-AF65-F5344CB8AC3E}">
        <p14:creationId xmlns:p14="http://schemas.microsoft.com/office/powerpoint/2010/main" val="927997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datacamp.com/blog/supervised-machine-learning" TargetMode="External"/><Relationship Id="rId2" Type="http://schemas.openxmlformats.org/officeDocument/2006/relationships/hyperlink" Target="https://www.datacamp.com/blog/clustering-in-machine-learning-5-essential-clustering-algorithms" TargetMode="Externa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geeksforgeeks.org/clustering-in-machine-learnin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6BFA8-DC09-0939-AAEC-E1F79339EF7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6E923D-6429-9053-3B97-160F0D73FDCB}"/>
              </a:ext>
            </a:extLst>
          </p:cNvPr>
          <p:cNvSpPr>
            <a:spLocks noGrp="1"/>
          </p:cNvSpPr>
          <p:nvPr>
            <p:ph idx="1"/>
          </p:nvPr>
        </p:nvSpPr>
        <p:spPr>
          <a:xfrm>
            <a:off x="743688" y="1088572"/>
            <a:ext cx="10900568" cy="4354286"/>
          </a:xfrm>
        </p:spPr>
        <p:txBody>
          <a:bodyPr>
            <a:normAutofit/>
          </a:bodyPr>
          <a:lstStyle/>
          <a:p>
            <a:pPr marL="0" indent="0">
              <a:buNone/>
            </a:pPr>
            <a:r>
              <a:rPr lang="en-US" sz="3200" b="1" dirty="0">
                <a:solidFill>
                  <a:srgbClr val="C00000"/>
                </a:solidFill>
              </a:rPr>
              <a:t>Module-3: </a:t>
            </a:r>
            <a:r>
              <a:rPr lang="en-US" sz="3200" b="1" dirty="0">
                <a:solidFill>
                  <a:schemeClr val="accent3">
                    <a:lumMod val="50000"/>
                  </a:schemeClr>
                </a:solidFill>
              </a:rPr>
              <a:t>Unsupervised Learning: </a:t>
            </a:r>
          </a:p>
          <a:p>
            <a:pPr marL="0" indent="0">
              <a:buNone/>
            </a:pPr>
            <a:r>
              <a:rPr lang="en-US" sz="3200" b="1" dirty="0"/>
              <a:t>Clustering: </a:t>
            </a:r>
            <a:r>
              <a:rPr lang="en-US" sz="3200" dirty="0"/>
              <a:t>K-Means clustering, Hierarchical clustering, Evaluation of clustering results. </a:t>
            </a:r>
          </a:p>
          <a:p>
            <a:pPr marL="0" indent="0">
              <a:buNone/>
            </a:pPr>
            <a:r>
              <a:rPr lang="en-US" sz="3200" b="1" dirty="0"/>
              <a:t>Dimensionality Reduction: </a:t>
            </a:r>
            <a:r>
              <a:rPr lang="en-US" sz="3200" dirty="0"/>
              <a:t>Principal Component Analysis (PCA), Linear Discriminant Analysis (LDA) t-Distributed Stochastic Neighbor Embedding (t-SNE).  </a:t>
            </a:r>
          </a:p>
          <a:p>
            <a:pPr marL="0" indent="0">
              <a:buNone/>
            </a:pPr>
            <a:r>
              <a:rPr lang="en-US" sz="3200" b="1" dirty="0"/>
              <a:t>Association Rule Learning: </a:t>
            </a:r>
            <a:r>
              <a:rPr lang="en-US" sz="3200" dirty="0" err="1"/>
              <a:t>Apriori</a:t>
            </a:r>
            <a:r>
              <a:rPr lang="en-US" sz="3200" dirty="0"/>
              <a:t> algorithm, Market Basket Analysis, Evaluation metrics for association rules </a:t>
            </a:r>
            <a:endParaRPr lang="en-IN" sz="3200" dirty="0"/>
          </a:p>
        </p:txBody>
      </p:sp>
    </p:spTree>
    <p:extLst>
      <p:ext uri="{BB962C8B-B14F-4D97-AF65-F5344CB8AC3E}">
        <p14:creationId xmlns:p14="http://schemas.microsoft.com/office/powerpoint/2010/main" val="3664504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06FC8-0FBC-5281-7AAA-E2FA7D5BE39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3DCB72E-766B-31EA-0076-3684652D8089}"/>
              </a:ext>
            </a:extLst>
          </p:cNvPr>
          <p:cNvSpPr txBox="1"/>
          <p:nvPr/>
        </p:nvSpPr>
        <p:spPr>
          <a:xfrm>
            <a:off x="739302" y="394129"/>
            <a:ext cx="10924162" cy="6340197"/>
          </a:xfrm>
          <a:prstGeom prst="rect">
            <a:avLst/>
          </a:prstGeom>
          <a:noFill/>
        </p:spPr>
        <p:txBody>
          <a:bodyPr wrap="square">
            <a:spAutoFit/>
          </a:bodyPr>
          <a:lstStyle/>
          <a:p>
            <a:r>
              <a:rPr lang="en-US" sz="3200" b="1" dirty="0"/>
              <a:t>Unsupervised Learning:</a:t>
            </a:r>
          </a:p>
          <a:p>
            <a:r>
              <a:rPr lang="en-US" b="0" i="0" dirty="0">
                <a:solidFill>
                  <a:srgbClr val="374151"/>
                </a:solidFill>
                <a:effectLst/>
                <a:latin typeface="Söhne"/>
              </a:rPr>
              <a:t>	</a:t>
            </a:r>
            <a:r>
              <a:rPr lang="en-US" sz="2400" b="0" i="0" dirty="0">
                <a:solidFill>
                  <a:srgbClr val="374151"/>
                </a:solidFill>
                <a:effectLst/>
                <a:latin typeface="Söhne"/>
              </a:rPr>
              <a:t>Unsupervised Machine learning is a type of machine learning where the algorithm is trained on </a:t>
            </a:r>
            <a:r>
              <a:rPr lang="en-US" sz="2400" b="1" i="0" dirty="0">
                <a:solidFill>
                  <a:srgbClr val="374151"/>
                </a:solidFill>
                <a:effectLst/>
                <a:latin typeface="Söhne"/>
              </a:rPr>
              <a:t>unlabeled data</a:t>
            </a:r>
            <a:r>
              <a:rPr lang="en-US" sz="2400" b="0" i="0" dirty="0">
                <a:solidFill>
                  <a:srgbClr val="374151"/>
                </a:solidFill>
                <a:effectLst/>
                <a:latin typeface="Söhne"/>
              </a:rPr>
              <a:t>, and the </a:t>
            </a:r>
            <a:r>
              <a:rPr lang="en-US" sz="2400" b="1" i="0" dirty="0">
                <a:solidFill>
                  <a:srgbClr val="374151"/>
                </a:solidFill>
                <a:effectLst/>
                <a:latin typeface="Söhne"/>
              </a:rPr>
              <a:t>objective is to find patterns, relationships, or structures within the data</a:t>
            </a:r>
            <a:r>
              <a:rPr lang="en-US" sz="2400" b="0" i="0" dirty="0">
                <a:solidFill>
                  <a:srgbClr val="374151"/>
                </a:solidFill>
                <a:effectLst/>
                <a:latin typeface="Söhne"/>
              </a:rPr>
              <a:t> without explicit guidance or labeled outcomes. </a:t>
            </a:r>
            <a:r>
              <a:rPr lang="en-US" sz="2400" b="0" i="0" dirty="0" err="1">
                <a:solidFill>
                  <a:srgbClr val="374151"/>
                </a:solidFill>
                <a:effectLst/>
                <a:latin typeface="Söhne"/>
              </a:rPr>
              <a:t>i.e</a:t>
            </a:r>
            <a:r>
              <a:rPr lang="en-US" sz="2400" b="0" i="0" dirty="0">
                <a:solidFill>
                  <a:srgbClr val="374151"/>
                </a:solidFill>
                <a:effectLst/>
                <a:latin typeface="Söhne"/>
              </a:rPr>
              <a:t> </a:t>
            </a:r>
            <a:r>
              <a:rPr lang="en-US" sz="2400" dirty="0">
                <a:solidFill>
                  <a:srgbClr val="05192D"/>
                </a:solidFill>
                <a:latin typeface="Studio-Feixen-Sans"/>
              </a:rPr>
              <a:t>U</a:t>
            </a:r>
            <a:r>
              <a:rPr lang="en-US" sz="2400" b="0" i="0" dirty="0">
                <a:solidFill>
                  <a:srgbClr val="05192D"/>
                </a:solidFill>
                <a:effectLst/>
                <a:latin typeface="Studio-Feixen-Sans"/>
              </a:rPr>
              <a:t>nsupervised learning is a method we use to </a:t>
            </a:r>
            <a:r>
              <a:rPr lang="en-US" sz="2400" b="1" i="0" dirty="0">
                <a:solidFill>
                  <a:srgbClr val="05192D"/>
                </a:solidFill>
                <a:effectLst/>
                <a:latin typeface="Studio-Feixen-Sans"/>
              </a:rPr>
              <a:t>group</a:t>
            </a:r>
            <a:r>
              <a:rPr lang="en-US" sz="2400" b="0" i="0" dirty="0">
                <a:solidFill>
                  <a:srgbClr val="05192D"/>
                </a:solidFill>
                <a:effectLst/>
                <a:latin typeface="Studio-Feixen-Sans"/>
              </a:rPr>
              <a:t> </a:t>
            </a:r>
            <a:r>
              <a:rPr lang="en-US" sz="2400" b="1" i="0" dirty="0">
                <a:solidFill>
                  <a:srgbClr val="05192D"/>
                </a:solidFill>
                <a:effectLst/>
                <a:latin typeface="Studio-Feixen-Sans"/>
              </a:rPr>
              <a:t>data</a:t>
            </a:r>
            <a:r>
              <a:rPr lang="en-US" sz="2400" b="0" i="0" dirty="0">
                <a:solidFill>
                  <a:srgbClr val="05192D"/>
                </a:solidFill>
                <a:effectLst/>
                <a:latin typeface="Studio-Feixen-Sans"/>
              </a:rPr>
              <a:t> when no </a:t>
            </a:r>
            <a:r>
              <a:rPr lang="en-US" sz="2400" b="1" i="0" dirty="0">
                <a:solidFill>
                  <a:srgbClr val="05192D"/>
                </a:solidFill>
                <a:effectLst/>
                <a:latin typeface="Studio-Feixen-Sans"/>
              </a:rPr>
              <a:t>labels are present</a:t>
            </a:r>
            <a:r>
              <a:rPr lang="en-US" sz="2400" b="0" i="0" dirty="0">
                <a:solidFill>
                  <a:srgbClr val="05192D"/>
                </a:solidFill>
                <a:effectLst/>
                <a:latin typeface="Studio-Feixen-Sans"/>
              </a:rPr>
              <a:t>.</a:t>
            </a:r>
            <a:endParaRPr lang="en-US" sz="2400" b="1" dirty="0"/>
          </a:p>
          <a:p>
            <a:r>
              <a:rPr lang="en-US" sz="2400" dirty="0"/>
              <a:t>	As the </a:t>
            </a:r>
            <a:r>
              <a:rPr lang="en-US" sz="2400" b="1" dirty="0"/>
              <a:t>name suggests</a:t>
            </a:r>
            <a:r>
              <a:rPr lang="en-US" sz="2400" dirty="0"/>
              <a:t>, unsupervised learning is a machine learning technique in which models are </a:t>
            </a:r>
            <a:r>
              <a:rPr lang="en-US" sz="2400" b="1" dirty="0">
                <a:solidFill>
                  <a:srgbClr val="C00000"/>
                </a:solidFill>
              </a:rPr>
              <a:t>not</a:t>
            </a:r>
            <a:r>
              <a:rPr lang="en-US" sz="2400" dirty="0">
                <a:solidFill>
                  <a:srgbClr val="C00000"/>
                </a:solidFill>
              </a:rPr>
              <a:t> </a:t>
            </a:r>
            <a:r>
              <a:rPr lang="en-US" sz="2400" b="1" dirty="0">
                <a:solidFill>
                  <a:srgbClr val="C00000"/>
                </a:solidFill>
              </a:rPr>
              <a:t>supervised using training dataset</a:t>
            </a:r>
            <a:r>
              <a:rPr lang="en-US" sz="2400" dirty="0"/>
              <a:t>. Instead, </a:t>
            </a:r>
            <a:r>
              <a:rPr lang="en-US" sz="2400" b="1" dirty="0"/>
              <a:t>models itself find </a:t>
            </a:r>
            <a:r>
              <a:rPr lang="en-US" sz="2400" dirty="0"/>
              <a:t>the hidden patterns and insights from the given data. It can be compared to </a:t>
            </a:r>
            <a:r>
              <a:rPr lang="en-US" sz="2400" b="1" dirty="0"/>
              <a:t>learning which takes place in the human brain while learning new things</a:t>
            </a:r>
            <a:r>
              <a:rPr lang="en-US" sz="2400" dirty="0"/>
              <a:t>. </a:t>
            </a:r>
          </a:p>
          <a:p>
            <a:r>
              <a:rPr lang="en-US" sz="2400" dirty="0"/>
              <a:t>	It can be defined as: </a:t>
            </a:r>
            <a:r>
              <a:rPr lang="en-US" sz="2400" b="1" dirty="0"/>
              <a:t>“</a:t>
            </a:r>
            <a:r>
              <a:rPr lang="en-US" sz="2400" dirty="0"/>
              <a:t>Unsupervised learning is a type of machine learning in which models are trained using unlabeled dataset and are allowed to act on that data without any supervision.</a:t>
            </a:r>
            <a:r>
              <a:rPr lang="en-US" sz="2400" b="1" dirty="0"/>
              <a:t>”</a:t>
            </a:r>
            <a:r>
              <a:rPr lang="en-US" sz="2400" dirty="0"/>
              <a:t> </a:t>
            </a:r>
          </a:p>
          <a:p>
            <a:r>
              <a:rPr lang="en-US" sz="2400" dirty="0"/>
              <a:t>	Unsupervised learning cannot be directly applied to a regression or classification problem because unlike supervised learning, we have the input data but no corresponding output data.</a:t>
            </a:r>
          </a:p>
          <a:p>
            <a:endParaRPr lang="en-US" b="1" dirty="0"/>
          </a:p>
        </p:txBody>
      </p:sp>
    </p:spTree>
    <p:extLst>
      <p:ext uri="{BB962C8B-B14F-4D97-AF65-F5344CB8AC3E}">
        <p14:creationId xmlns:p14="http://schemas.microsoft.com/office/powerpoint/2010/main" val="1444396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E6A6E4-6022-9B36-9160-0CAA23778F36}"/>
              </a:ext>
            </a:extLst>
          </p:cNvPr>
          <p:cNvSpPr txBox="1"/>
          <p:nvPr/>
        </p:nvSpPr>
        <p:spPr>
          <a:xfrm>
            <a:off x="739302" y="394129"/>
            <a:ext cx="10924162" cy="6063198"/>
          </a:xfrm>
          <a:prstGeom prst="rect">
            <a:avLst/>
          </a:prstGeom>
          <a:noFill/>
        </p:spPr>
        <p:txBody>
          <a:bodyPr wrap="square">
            <a:spAutoFit/>
          </a:bodyPr>
          <a:lstStyle/>
          <a:p>
            <a:r>
              <a:rPr lang="en-US" sz="2800" b="1" dirty="0"/>
              <a:t>Example: </a:t>
            </a:r>
            <a:r>
              <a:rPr lang="en-US" sz="2800" b="0" i="0" dirty="0">
                <a:solidFill>
                  <a:srgbClr val="333333"/>
                </a:solidFill>
                <a:effectLst/>
                <a:latin typeface="inter-regular"/>
              </a:rPr>
              <a:t>Suppose the unsupervised learning algorithm is given an input dataset containing </a:t>
            </a:r>
            <a:r>
              <a:rPr lang="en-US" sz="2800" b="1" i="0" dirty="0">
                <a:solidFill>
                  <a:srgbClr val="333333"/>
                </a:solidFill>
                <a:effectLst/>
                <a:latin typeface="inter-regular"/>
              </a:rPr>
              <a:t>images of different types of cats and dogs</a:t>
            </a:r>
            <a:r>
              <a:rPr lang="en-US" sz="2800" b="0" i="0" dirty="0">
                <a:solidFill>
                  <a:srgbClr val="333333"/>
                </a:solidFill>
                <a:effectLst/>
                <a:latin typeface="inter-regular"/>
              </a:rPr>
              <a:t>. The algorithm is never trained upon the given dataset, which means it does not have any idea about the features of the dataset. The task of the unsupervised learning algorithm is to identify the image features on their own. Unsupervised learning algorithm will perform this task </a:t>
            </a:r>
            <a:r>
              <a:rPr lang="en-US" sz="2800" b="1" i="0" dirty="0">
                <a:solidFill>
                  <a:srgbClr val="333333"/>
                </a:solidFill>
                <a:effectLst/>
                <a:latin typeface="inter-regular"/>
              </a:rPr>
              <a:t>by clustering the image dataset into the groups according to similarities between images</a:t>
            </a:r>
            <a:r>
              <a:rPr lang="en-US" sz="2800" b="0" i="0" dirty="0">
                <a:solidFill>
                  <a:srgbClr val="333333"/>
                </a:solidFill>
                <a:effectLst/>
                <a:latin typeface="inter-regular"/>
              </a:rPr>
              <a:t>.</a:t>
            </a:r>
          </a:p>
          <a:p>
            <a:pPr algn="just">
              <a:lnSpc>
                <a:spcPct val="150000"/>
              </a:lnSpc>
            </a:pPr>
            <a:endParaRPr lang="en-US" sz="1600" dirty="0">
              <a:solidFill>
                <a:srgbClr val="000000"/>
              </a:solidFill>
              <a:latin typeface="inter-regular"/>
            </a:endParaRPr>
          </a:p>
          <a:p>
            <a:pPr algn="just"/>
            <a:r>
              <a:rPr lang="en-US" sz="2800" b="1" dirty="0">
                <a:solidFill>
                  <a:srgbClr val="C00000"/>
                </a:solidFill>
                <a:latin typeface="Söhne"/>
              </a:rPr>
              <a:t>Note: </a:t>
            </a:r>
            <a:r>
              <a:rPr lang="en-US" sz="2800" dirty="0">
                <a:solidFill>
                  <a:srgbClr val="000000"/>
                </a:solidFill>
                <a:latin typeface="inter-regular"/>
              </a:rPr>
              <a:t>Unsupervised machine learning (ML) works differently from supervised ML because it doesn't rely on labeled data to learn patterns or make predictions. Instead, unsupervised ML algorithms focus on finding hidden structure or patterns within the data without explicit guidance from predefined labels.</a:t>
            </a:r>
          </a:p>
        </p:txBody>
      </p:sp>
    </p:spTree>
    <p:extLst>
      <p:ext uri="{BB962C8B-B14F-4D97-AF65-F5344CB8AC3E}">
        <p14:creationId xmlns:p14="http://schemas.microsoft.com/office/powerpoint/2010/main" val="510186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9707A5-2E68-CA04-71D6-68FEE8265E5B}"/>
              </a:ext>
            </a:extLst>
          </p:cNvPr>
          <p:cNvSpPr txBox="1"/>
          <p:nvPr/>
        </p:nvSpPr>
        <p:spPr>
          <a:xfrm>
            <a:off x="671393" y="531404"/>
            <a:ext cx="11167266" cy="5909310"/>
          </a:xfrm>
          <a:prstGeom prst="rect">
            <a:avLst/>
          </a:prstGeom>
          <a:noFill/>
        </p:spPr>
        <p:txBody>
          <a:bodyPr wrap="square">
            <a:spAutoFit/>
          </a:bodyPr>
          <a:lstStyle/>
          <a:p>
            <a:pPr algn="just">
              <a:lnSpc>
                <a:spcPct val="150000"/>
              </a:lnSpc>
            </a:pPr>
            <a:r>
              <a:rPr lang="en-US" sz="2800" b="1" i="0" dirty="0">
                <a:solidFill>
                  <a:srgbClr val="000000"/>
                </a:solidFill>
                <a:effectLst/>
                <a:latin typeface="inter-regular"/>
              </a:rPr>
              <a:t>Why </a:t>
            </a:r>
            <a:r>
              <a:rPr lang="en-US" sz="2800" b="1" i="0" dirty="0">
                <a:solidFill>
                  <a:srgbClr val="610B38"/>
                </a:solidFill>
                <a:effectLst/>
                <a:latin typeface="erdana"/>
              </a:rPr>
              <a:t>use Unsupervised Learning?</a:t>
            </a:r>
            <a:endParaRPr lang="en-US" sz="2800" b="1" i="0" dirty="0">
              <a:solidFill>
                <a:srgbClr val="000000"/>
              </a:solidFill>
              <a:effectLst/>
              <a:latin typeface="inter-regular"/>
            </a:endParaRPr>
          </a:p>
          <a:p>
            <a:pPr marL="342900" indent="-342900" algn="just">
              <a:buAutoNum type="arabicPeriod"/>
            </a:pPr>
            <a:r>
              <a:rPr lang="en-US" sz="2800" b="0" i="0" dirty="0">
                <a:solidFill>
                  <a:srgbClr val="000000"/>
                </a:solidFill>
                <a:effectLst/>
                <a:latin typeface="inter-regular"/>
              </a:rPr>
              <a:t>Unsupervised learning is helpful for finding useful insights from the data.</a:t>
            </a:r>
          </a:p>
          <a:p>
            <a:pPr marL="342900" indent="-342900" algn="just">
              <a:buFontTx/>
              <a:buAutoNum type="arabicPeriod"/>
            </a:pPr>
            <a:r>
              <a:rPr lang="en-US" sz="2800" b="0" i="0" dirty="0">
                <a:solidFill>
                  <a:srgbClr val="000000"/>
                </a:solidFill>
                <a:effectLst/>
                <a:latin typeface="inter-regular"/>
              </a:rPr>
              <a:t>Unsupervised learning is much similar as a </a:t>
            </a:r>
            <a:r>
              <a:rPr lang="en-US" sz="2800" b="1" i="0" dirty="0">
                <a:solidFill>
                  <a:srgbClr val="000000"/>
                </a:solidFill>
                <a:effectLst/>
                <a:latin typeface="inter-regular"/>
              </a:rPr>
              <a:t>human learns to think by their own experiences</a:t>
            </a:r>
            <a:r>
              <a:rPr lang="en-US" sz="2800" b="0" i="0" dirty="0">
                <a:solidFill>
                  <a:srgbClr val="000000"/>
                </a:solidFill>
                <a:effectLst/>
                <a:latin typeface="inter-regular"/>
              </a:rPr>
              <a:t>, which makes it closer to the real AI.</a:t>
            </a:r>
          </a:p>
          <a:p>
            <a:pPr marL="342900" indent="-342900" algn="just">
              <a:buFontTx/>
              <a:buAutoNum type="arabicPeriod"/>
            </a:pPr>
            <a:r>
              <a:rPr lang="en-US" sz="2800" b="0" i="0" dirty="0">
                <a:solidFill>
                  <a:srgbClr val="000000"/>
                </a:solidFill>
                <a:effectLst/>
                <a:latin typeface="inter-regular"/>
              </a:rPr>
              <a:t>Unsupervised learning works on unlabeled and uncategorized data which make unsupervised learning more important.</a:t>
            </a:r>
          </a:p>
          <a:p>
            <a:pPr marL="342900" indent="-342900" algn="just">
              <a:buFontTx/>
              <a:buAutoNum type="arabicPeriod"/>
            </a:pPr>
            <a:r>
              <a:rPr lang="en-US" sz="2800" b="0" i="0" dirty="0">
                <a:solidFill>
                  <a:srgbClr val="000000"/>
                </a:solidFill>
                <a:effectLst/>
                <a:latin typeface="inter-regular"/>
              </a:rPr>
              <a:t>In real-world, we do not always have input data with the corresponding output so to solve such cases, we need unsupervised learning.</a:t>
            </a:r>
          </a:p>
          <a:p>
            <a:pPr marL="342900" indent="-342900" algn="just">
              <a:buFontTx/>
              <a:buAutoNum type="arabicPeriod"/>
            </a:pPr>
            <a:r>
              <a:rPr lang="en-US" sz="2800" b="1" i="0" dirty="0">
                <a:solidFill>
                  <a:srgbClr val="C00000"/>
                </a:solidFill>
                <a:effectLst/>
                <a:latin typeface="Söhne"/>
              </a:rPr>
              <a:t>Semi-supervised Learning:</a:t>
            </a:r>
            <a:r>
              <a:rPr lang="en-US" sz="2800" b="0" i="0" dirty="0">
                <a:solidFill>
                  <a:srgbClr val="C00000"/>
                </a:solidFill>
                <a:effectLst/>
                <a:latin typeface="Söhne"/>
              </a:rPr>
              <a:t> </a:t>
            </a:r>
            <a:r>
              <a:rPr lang="en-US" sz="2800" b="0" i="0" dirty="0">
                <a:solidFill>
                  <a:srgbClr val="0D0D0D"/>
                </a:solidFill>
                <a:effectLst/>
                <a:latin typeface="Söhne"/>
              </a:rPr>
              <a:t>Unsupervised ML techniques can also be combined with supervised ML in semi-supervised learning approaches. In this paradigm, a small amount of labeled data is augmented with a larger amount of unlabeled data to improve the performance of supervised models.</a:t>
            </a:r>
            <a:endParaRPr lang="en-US" sz="2800" b="0" i="0" dirty="0">
              <a:solidFill>
                <a:srgbClr val="000000"/>
              </a:solidFill>
              <a:effectLst/>
              <a:latin typeface="inter-regular"/>
            </a:endParaRPr>
          </a:p>
        </p:txBody>
      </p:sp>
    </p:spTree>
    <p:extLst>
      <p:ext uri="{BB962C8B-B14F-4D97-AF65-F5344CB8AC3E}">
        <p14:creationId xmlns:p14="http://schemas.microsoft.com/office/powerpoint/2010/main" val="1426868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38A2C3-D257-4E20-3003-95675D9C8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394" y="904038"/>
            <a:ext cx="11081211" cy="5049924"/>
          </a:xfrm>
          <a:prstGeom prst="rect">
            <a:avLst/>
          </a:prstGeom>
        </p:spPr>
      </p:pic>
    </p:spTree>
    <p:extLst>
      <p:ext uri="{BB962C8B-B14F-4D97-AF65-F5344CB8AC3E}">
        <p14:creationId xmlns:p14="http://schemas.microsoft.com/office/powerpoint/2010/main" val="252194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5FFEAD-848B-E0E6-B115-9B8C6CBB5E7E}"/>
              </a:ext>
            </a:extLst>
          </p:cNvPr>
          <p:cNvSpPr txBox="1"/>
          <p:nvPr/>
        </p:nvSpPr>
        <p:spPr>
          <a:xfrm>
            <a:off x="587982" y="341199"/>
            <a:ext cx="11299218" cy="6370975"/>
          </a:xfrm>
          <a:prstGeom prst="rect">
            <a:avLst/>
          </a:prstGeom>
          <a:noFill/>
        </p:spPr>
        <p:txBody>
          <a:bodyPr wrap="square">
            <a:spAutoFit/>
          </a:bodyPr>
          <a:lstStyle/>
          <a:p>
            <a:r>
              <a:rPr lang="en-US" sz="2400" dirty="0"/>
              <a:t>	</a:t>
            </a:r>
            <a:r>
              <a:rPr lang="en-US" sz="2800" dirty="0"/>
              <a:t>Here, we have taken an </a:t>
            </a:r>
            <a:r>
              <a:rPr lang="en-US" sz="2800" b="1" dirty="0">
                <a:solidFill>
                  <a:srgbClr val="C00000"/>
                </a:solidFill>
              </a:rPr>
              <a:t>unlabeled input data</a:t>
            </a:r>
            <a:r>
              <a:rPr lang="en-US" sz="2800" dirty="0"/>
              <a:t>, which means it is not categorized, and corresponding outputs are also not given. Now, this unlabeled input data is </a:t>
            </a:r>
            <a:r>
              <a:rPr lang="en-US" sz="2800" b="1" dirty="0">
                <a:solidFill>
                  <a:srgbClr val="C00000"/>
                </a:solidFill>
              </a:rPr>
              <a:t>fed to the machine learning</a:t>
            </a:r>
            <a:r>
              <a:rPr lang="en-US" sz="2800" b="1" dirty="0"/>
              <a:t> </a:t>
            </a:r>
            <a:r>
              <a:rPr lang="en-US" sz="2800" b="1" dirty="0">
                <a:solidFill>
                  <a:srgbClr val="C00000"/>
                </a:solidFill>
              </a:rPr>
              <a:t>model</a:t>
            </a:r>
            <a:r>
              <a:rPr lang="en-US" sz="2800" dirty="0"/>
              <a:t> in order to train it. Firstly, it will interpret the raw data to find the hidden patterns from the data and then will apply suitable algorithms such as </a:t>
            </a:r>
            <a:r>
              <a:rPr lang="en-US" sz="2800" b="1" dirty="0">
                <a:solidFill>
                  <a:srgbClr val="C00000"/>
                </a:solidFill>
              </a:rPr>
              <a:t>k-means clustering</a:t>
            </a:r>
            <a:r>
              <a:rPr lang="en-US" sz="2800" dirty="0"/>
              <a:t>, Decision tree, etc. Once it applies the suitable algorithm, the algorithm divides the data objects into groups according to the similarities and dissimilarities between the objects. </a:t>
            </a:r>
          </a:p>
          <a:p>
            <a:endParaRPr lang="en-US" sz="2400" dirty="0"/>
          </a:p>
          <a:p>
            <a:r>
              <a:rPr lang="en-US" sz="2800" b="1" dirty="0"/>
              <a:t>Working of Unsupervised learning models:</a:t>
            </a:r>
          </a:p>
          <a:p>
            <a:pPr marL="457200" indent="-457200">
              <a:buFont typeface="+mj-lt"/>
              <a:buAutoNum type="arabicPeriod"/>
            </a:pPr>
            <a:r>
              <a:rPr lang="en-US" sz="2800" dirty="0"/>
              <a:t>We feed the model data with no categories or outputs for training</a:t>
            </a:r>
          </a:p>
          <a:p>
            <a:pPr marL="457200" indent="-457200">
              <a:buFont typeface="+mj-lt"/>
              <a:buAutoNum type="arabicPeriod"/>
            </a:pPr>
            <a:r>
              <a:rPr lang="en-US" sz="2800" dirty="0"/>
              <a:t>Model interprets raw data to identify </a:t>
            </a:r>
            <a:r>
              <a:rPr lang="en-US" sz="2800" b="1" dirty="0">
                <a:solidFill>
                  <a:srgbClr val="C00000"/>
                </a:solidFill>
              </a:rPr>
              <a:t>hidden patterns</a:t>
            </a:r>
          </a:p>
          <a:p>
            <a:pPr marL="457200" indent="-457200">
              <a:buFont typeface="+mj-lt"/>
              <a:buAutoNum type="arabicPeriod"/>
            </a:pPr>
            <a:r>
              <a:rPr lang="en-US" sz="2800" dirty="0"/>
              <a:t>Depending on data, we use suitable algorithms</a:t>
            </a:r>
          </a:p>
          <a:p>
            <a:pPr marL="457200" indent="-457200">
              <a:buFont typeface="+mj-lt"/>
              <a:buAutoNum type="arabicPeriod"/>
            </a:pPr>
            <a:r>
              <a:rPr lang="en-US" sz="2800" dirty="0"/>
              <a:t>Algorithm groups data</a:t>
            </a:r>
          </a:p>
          <a:p>
            <a:endParaRPr lang="en-US" sz="2400" dirty="0"/>
          </a:p>
        </p:txBody>
      </p:sp>
    </p:spTree>
    <p:extLst>
      <p:ext uri="{BB962C8B-B14F-4D97-AF65-F5344CB8AC3E}">
        <p14:creationId xmlns:p14="http://schemas.microsoft.com/office/powerpoint/2010/main" val="1588033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6465986-B2E3-9BAB-F08C-A9E187811D28}"/>
              </a:ext>
            </a:extLst>
          </p:cNvPr>
          <p:cNvSpPr txBox="1"/>
          <p:nvPr/>
        </p:nvSpPr>
        <p:spPr>
          <a:xfrm>
            <a:off x="684213" y="616453"/>
            <a:ext cx="11145466" cy="5755422"/>
          </a:xfrm>
          <a:prstGeom prst="rect">
            <a:avLst/>
          </a:prstGeom>
          <a:noFill/>
        </p:spPr>
        <p:txBody>
          <a:bodyPr wrap="square">
            <a:spAutoFit/>
          </a:bodyPr>
          <a:lstStyle/>
          <a:p>
            <a:r>
              <a:rPr lang="en-US" sz="2400" b="1" dirty="0"/>
              <a:t>Disadvantages of Unsupervised Learning:</a:t>
            </a:r>
          </a:p>
          <a:p>
            <a:r>
              <a:rPr lang="en-US" sz="2200" dirty="0"/>
              <a:t>1. Unsupervised learning is fundamentally </a:t>
            </a:r>
            <a:r>
              <a:rPr lang="en-US" sz="2200" b="1" dirty="0">
                <a:solidFill>
                  <a:srgbClr val="C00000"/>
                </a:solidFill>
              </a:rPr>
              <a:t>more difficult </a:t>
            </a:r>
            <a:r>
              <a:rPr lang="en-US" sz="2200" dirty="0"/>
              <a:t>than supervised learning since </a:t>
            </a:r>
            <a:r>
              <a:rPr lang="en-US" sz="2200" b="1" dirty="0">
                <a:solidFill>
                  <a:srgbClr val="C00000"/>
                </a:solidFill>
              </a:rPr>
              <a:t>it lacks comparable results.</a:t>
            </a:r>
          </a:p>
          <a:p>
            <a:r>
              <a:rPr lang="en-US" sz="2200" dirty="0"/>
              <a:t>2. The outcome of an unsupervised learning approach may be </a:t>
            </a:r>
            <a:r>
              <a:rPr lang="en-US" sz="2200" b="1" dirty="0">
                <a:solidFill>
                  <a:srgbClr val="C00000"/>
                </a:solidFill>
              </a:rPr>
              <a:t>less accurate </a:t>
            </a:r>
            <a:r>
              <a:rPr lang="en-US" sz="2200" dirty="0"/>
              <a:t>since the input data does not have labels and algorithms do not know the precise output in advance.</a:t>
            </a:r>
          </a:p>
          <a:p>
            <a:r>
              <a:rPr lang="en-US" sz="2200" dirty="0"/>
              <a:t>3. We </a:t>
            </a:r>
            <a:r>
              <a:rPr lang="en-US" sz="2200" b="1" dirty="0"/>
              <a:t>need humans to validate the results </a:t>
            </a:r>
            <a:r>
              <a:rPr lang="en-US" sz="2200" dirty="0"/>
              <a:t>of unsupervised learning models which convolutes the process.</a:t>
            </a:r>
          </a:p>
          <a:p>
            <a:r>
              <a:rPr lang="en-US" sz="2200" dirty="0"/>
              <a:t>4. The operations involved </a:t>
            </a:r>
            <a:r>
              <a:rPr lang="en-US" sz="2200" b="1" dirty="0"/>
              <a:t>require a high level of </a:t>
            </a:r>
            <a:r>
              <a:rPr lang="en-US" sz="2200" b="1" dirty="0">
                <a:solidFill>
                  <a:srgbClr val="C00000"/>
                </a:solidFill>
              </a:rPr>
              <a:t>computational power </a:t>
            </a:r>
            <a:r>
              <a:rPr lang="en-US" sz="2200" b="1" dirty="0"/>
              <a:t>and also take up a </a:t>
            </a:r>
            <a:r>
              <a:rPr lang="en-US" sz="2200" b="1" dirty="0">
                <a:solidFill>
                  <a:srgbClr val="C00000"/>
                </a:solidFill>
              </a:rPr>
              <a:t>lot of time</a:t>
            </a:r>
            <a:r>
              <a:rPr lang="en-US" sz="2200" dirty="0">
                <a:solidFill>
                  <a:srgbClr val="C00000"/>
                </a:solidFill>
              </a:rPr>
              <a:t>.</a:t>
            </a:r>
          </a:p>
          <a:p>
            <a:endParaRPr lang="en-US" sz="2000" b="1" dirty="0"/>
          </a:p>
          <a:p>
            <a:r>
              <a:rPr lang="en-US" sz="2400" b="1" dirty="0"/>
              <a:t>Alternative to Unsupervised Learning:</a:t>
            </a:r>
          </a:p>
          <a:p>
            <a:r>
              <a:rPr lang="en-US" sz="2000" b="1" dirty="0"/>
              <a:t>	</a:t>
            </a:r>
            <a:r>
              <a:rPr lang="en-US" sz="2400" b="1" dirty="0">
                <a:solidFill>
                  <a:srgbClr val="0070C0"/>
                </a:solidFill>
              </a:rPr>
              <a:t>Semi-supervised learning </a:t>
            </a:r>
            <a:r>
              <a:rPr lang="en-US" sz="2000" dirty="0"/>
              <a:t>may be a viable alternative to unsupervised learning. It is a combination or even a min-and-match of both unsupervised and supervised learning methods. The primary benefit of this sort of training would be that it lowers errors.</a:t>
            </a:r>
          </a:p>
          <a:p>
            <a:endParaRPr lang="en-US" sz="2000" dirty="0"/>
          </a:p>
          <a:p>
            <a:r>
              <a:rPr lang="en-US" sz="2000" b="1" dirty="0"/>
              <a:t>For example, </a:t>
            </a:r>
            <a:r>
              <a:rPr lang="en-US" sz="2000" dirty="0"/>
              <a:t>it will only cluster the unlabeled data that fits the clustering criteria, and it will categorize the output automatically once it has labels. This uses less computer power and takes less time.</a:t>
            </a:r>
          </a:p>
        </p:txBody>
      </p:sp>
    </p:spTree>
    <p:extLst>
      <p:ext uri="{BB962C8B-B14F-4D97-AF65-F5344CB8AC3E}">
        <p14:creationId xmlns:p14="http://schemas.microsoft.com/office/powerpoint/2010/main" val="1988997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DB2D3E-89B3-D776-D9E0-C493FB829472}"/>
              </a:ext>
            </a:extLst>
          </p:cNvPr>
          <p:cNvSpPr txBox="1"/>
          <p:nvPr/>
        </p:nvSpPr>
        <p:spPr>
          <a:xfrm>
            <a:off x="926558" y="2613392"/>
            <a:ext cx="6094378" cy="1938992"/>
          </a:xfrm>
          <a:prstGeom prst="rect">
            <a:avLst/>
          </a:prstGeom>
          <a:noFill/>
        </p:spPr>
        <p:txBody>
          <a:bodyPr wrap="square">
            <a:spAutoFit/>
          </a:bodyPr>
          <a:lstStyle/>
          <a:p>
            <a:r>
              <a:rPr lang="en-US" sz="2400" b="1" dirty="0"/>
              <a:t>Types of Unsupervised Learning:</a:t>
            </a:r>
          </a:p>
          <a:p>
            <a:pPr algn="l"/>
            <a:r>
              <a:rPr lang="en-US" sz="2400" b="0" i="0" dirty="0">
                <a:solidFill>
                  <a:srgbClr val="05192D"/>
                </a:solidFill>
                <a:effectLst/>
                <a:latin typeface="Studio-Feixen-Sans"/>
              </a:rPr>
              <a:t>1. Clustering</a:t>
            </a:r>
          </a:p>
          <a:p>
            <a:pPr algn="l"/>
            <a:r>
              <a:rPr lang="en-US" sz="2400" b="0" i="0" dirty="0">
                <a:solidFill>
                  <a:srgbClr val="05192D"/>
                </a:solidFill>
                <a:effectLst/>
                <a:latin typeface="Studio-Feixen-Sans"/>
              </a:rPr>
              <a:t>2. Association rules</a:t>
            </a:r>
          </a:p>
          <a:p>
            <a:pPr algn="l"/>
            <a:r>
              <a:rPr lang="en-US" sz="2400" b="0" i="0" dirty="0">
                <a:solidFill>
                  <a:srgbClr val="05192D"/>
                </a:solidFill>
                <a:effectLst/>
                <a:latin typeface="Studio-Feixen-Sans"/>
              </a:rPr>
              <a:t>3. Dimensionality reduction.  </a:t>
            </a:r>
          </a:p>
          <a:p>
            <a:endParaRPr lang="en-US" sz="2400" b="1" dirty="0"/>
          </a:p>
        </p:txBody>
      </p:sp>
      <p:pic>
        <p:nvPicPr>
          <p:cNvPr id="25602" name="Picture 2" descr="Unsupervised Machine learning - Javatpoint">
            <a:extLst>
              <a:ext uri="{FF2B5EF4-FFF2-40B4-BE49-F238E27FC236}">
                <a16:creationId xmlns:a16="http://schemas.microsoft.com/office/drawing/2014/main" id="{5CC8B27E-F62B-559D-3A52-3EBBF47594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4570" y="910471"/>
            <a:ext cx="5851187" cy="4388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6530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24384F-3F77-9504-3D30-F05F39AA2358}"/>
              </a:ext>
            </a:extLst>
          </p:cNvPr>
          <p:cNvSpPr txBox="1"/>
          <p:nvPr/>
        </p:nvSpPr>
        <p:spPr>
          <a:xfrm>
            <a:off x="517997" y="554875"/>
            <a:ext cx="11223287" cy="3447098"/>
          </a:xfrm>
          <a:prstGeom prst="rect">
            <a:avLst/>
          </a:prstGeom>
          <a:noFill/>
        </p:spPr>
        <p:txBody>
          <a:bodyPr wrap="square">
            <a:spAutoFit/>
          </a:bodyPr>
          <a:lstStyle/>
          <a:p>
            <a:r>
              <a:rPr lang="en-US" sz="2400" b="1" dirty="0"/>
              <a:t>Clustering:</a:t>
            </a:r>
          </a:p>
          <a:p>
            <a:r>
              <a:rPr lang="en-US" sz="2200" b="1" i="0" u="none" strike="noStrike" dirty="0">
                <a:solidFill>
                  <a:srgbClr val="0075AD"/>
                </a:solidFill>
                <a:effectLst/>
                <a:latin typeface="Studio-Feixen-Sans"/>
                <a:hlinkClick r:id="rId2"/>
              </a:rPr>
              <a:t>Clustering methods</a:t>
            </a:r>
            <a:r>
              <a:rPr lang="en-US" sz="2200" b="0" i="0" dirty="0">
                <a:solidFill>
                  <a:srgbClr val="05192D"/>
                </a:solidFill>
                <a:effectLst/>
                <a:latin typeface="Studio-Feixen-Sans"/>
              </a:rPr>
              <a:t> involve </a:t>
            </a:r>
            <a:r>
              <a:rPr lang="en-US" sz="2200" b="1" i="0" dirty="0">
                <a:solidFill>
                  <a:srgbClr val="C00000"/>
                </a:solidFill>
                <a:effectLst/>
                <a:latin typeface="Studio-Feixen-Sans"/>
              </a:rPr>
              <a:t>grouping</a:t>
            </a:r>
            <a:r>
              <a:rPr lang="en-US" sz="2200" b="1" i="0" dirty="0">
                <a:solidFill>
                  <a:srgbClr val="0070C0"/>
                </a:solidFill>
                <a:effectLst/>
                <a:latin typeface="Studio-Feixen-Sans"/>
              </a:rPr>
              <a:t> untagged data </a:t>
            </a:r>
            <a:r>
              <a:rPr lang="en-US" sz="2200" b="1" i="0" dirty="0">
                <a:solidFill>
                  <a:srgbClr val="05192D"/>
                </a:solidFill>
                <a:effectLst/>
                <a:latin typeface="Studio-Feixen-Sans"/>
              </a:rPr>
              <a:t>based on </a:t>
            </a:r>
            <a:r>
              <a:rPr lang="en-US" sz="2200" b="0" i="0" dirty="0">
                <a:solidFill>
                  <a:srgbClr val="05192D"/>
                </a:solidFill>
                <a:effectLst/>
                <a:latin typeface="Studio-Feixen-Sans"/>
              </a:rPr>
              <a:t>their </a:t>
            </a:r>
            <a:r>
              <a:rPr lang="en-US" sz="2200" b="1" i="0" dirty="0">
                <a:solidFill>
                  <a:schemeClr val="tx2">
                    <a:lumMod val="75000"/>
                    <a:lumOff val="25000"/>
                  </a:schemeClr>
                </a:solidFill>
                <a:effectLst/>
                <a:latin typeface="Studio-Feixen-Sans"/>
              </a:rPr>
              <a:t>similarities</a:t>
            </a:r>
            <a:r>
              <a:rPr lang="en-US" sz="2200" b="0" i="0" dirty="0">
                <a:solidFill>
                  <a:srgbClr val="05192D"/>
                </a:solidFill>
                <a:effectLst/>
                <a:latin typeface="Studio-Feixen-Sans"/>
              </a:rPr>
              <a:t> and </a:t>
            </a:r>
            <a:r>
              <a:rPr lang="en-US" sz="2200" b="1" i="0" dirty="0">
                <a:solidFill>
                  <a:schemeClr val="tx2">
                    <a:lumMod val="75000"/>
                    <a:lumOff val="25000"/>
                  </a:schemeClr>
                </a:solidFill>
                <a:effectLst/>
                <a:latin typeface="Studio-Feixen-Sans"/>
              </a:rPr>
              <a:t>differences</a:t>
            </a:r>
            <a:r>
              <a:rPr lang="en-US" sz="2200" b="0" i="0" dirty="0">
                <a:solidFill>
                  <a:srgbClr val="05192D"/>
                </a:solidFill>
                <a:effectLst/>
                <a:latin typeface="Studio-Feixen-Sans"/>
              </a:rPr>
              <a:t>. When two instances appear in different groups, we can infer they have </a:t>
            </a:r>
            <a:r>
              <a:rPr lang="en-US" sz="2200" b="1" i="0" dirty="0">
                <a:solidFill>
                  <a:srgbClr val="05192D"/>
                </a:solidFill>
                <a:effectLst/>
                <a:latin typeface="Studio-Feixen-Sans"/>
              </a:rPr>
              <a:t>dissimilar properties</a:t>
            </a:r>
            <a:r>
              <a:rPr lang="en-US" sz="2200" b="0" i="0" dirty="0">
                <a:solidFill>
                  <a:srgbClr val="05192D"/>
                </a:solidFill>
                <a:effectLst/>
                <a:latin typeface="Studio-Feixen-Sans"/>
              </a:rPr>
              <a:t>.</a:t>
            </a:r>
          </a:p>
          <a:p>
            <a:r>
              <a:rPr lang="en-US" sz="2200" b="1" dirty="0"/>
              <a:t>	Clustering</a:t>
            </a:r>
            <a:r>
              <a:rPr lang="en-US" sz="2200" b="0" i="0" dirty="0">
                <a:solidFill>
                  <a:srgbClr val="05192D"/>
                </a:solidFill>
                <a:effectLst/>
                <a:latin typeface="Studio-Feixen-Sans"/>
              </a:rPr>
              <a:t> is a type of unsupervised learning, meaning that we do not need labeled data for clustering algorithms; this is one of the biggest advantages of clustering over other </a:t>
            </a:r>
            <a:r>
              <a:rPr lang="en-US" sz="2200" b="1" i="0" u="none" strike="noStrike" dirty="0">
                <a:solidFill>
                  <a:srgbClr val="0075AD"/>
                </a:solidFill>
                <a:effectLst/>
                <a:latin typeface="Studio-Feixen-Sans"/>
                <a:hlinkClick r:id="rId3"/>
              </a:rPr>
              <a:t>supervised learning</a:t>
            </a:r>
            <a:r>
              <a:rPr lang="en-US" sz="2200" b="0" i="0" dirty="0">
                <a:solidFill>
                  <a:srgbClr val="05192D"/>
                </a:solidFill>
                <a:effectLst/>
                <a:latin typeface="Studio-Feixen-Sans"/>
              </a:rPr>
              <a:t> like Classification.</a:t>
            </a:r>
            <a:endParaRPr lang="en-US" sz="2200" dirty="0">
              <a:solidFill>
                <a:srgbClr val="05192D"/>
              </a:solidFill>
              <a:latin typeface="Studio-Feixen-Sans"/>
            </a:endParaRPr>
          </a:p>
          <a:p>
            <a:r>
              <a:rPr lang="en-US" sz="2200" b="0" i="0" dirty="0">
                <a:solidFill>
                  <a:srgbClr val="05192D"/>
                </a:solidFill>
                <a:effectLst/>
                <a:latin typeface="Studio-Feixen-Sans"/>
              </a:rPr>
              <a:t>	Clustering is the process of </a:t>
            </a:r>
            <a:r>
              <a:rPr lang="en-US" sz="2200" b="1" i="0" dirty="0">
                <a:solidFill>
                  <a:srgbClr val="05192D"/>
                </a:solidFill>
                <a:effectLst/>
                <a:latin typeface="Studio-Feixen-Sans"/>
              </a:rPr>
              <a:t>arranging</a:t>
            </a:r>
            <a:r>
              <a:rPr lang="en-US" sz="2200" b="0" i="0" dirty="0">
                <a:solidFill>
                  <a:srgbClr val="05192D"/>
                </a:solidFill>
                <a:effectLst/>
                <a:latin typeface="Studio-Feixen-Sans"/>
              </a:rPr>
              <a:t> a group of objects in such a manner that the objects in the same group (which is referred to as a cluster) are more </a:t>
            </a:r>
            <a:r>
              <a:rPr lang="en-US" sz="2200" b="1" i="0" dirty="0">
                <a:solidFill>
                  <a:schemeClr val="tx2">
                    <a:lumMod val="75000"/>
                    <a:lumOff val="25000"/>
                  </a:schemeClr>
                </a:solidFill>
                <a:effectLst/>
                <a:latin typeface="Studio-Feixen-Sans"/>
              </a:rPr>
              <a:t>similar</a:t>
            </a:r>
            <a:r>
              <a:rPr lang="en-US" sz="2200" b="0" i="0" dirty="0">
                <a:solidFill>
                  <a:srgbClr val="05192D"/>
                </a:solidFill>
                <a:effectLst/>
                <a:latin typeface="Studio-Feixen-Sans"/>
              </a:rPr>
              <a:t> </a:t>
            </a:r>
            <a:r>
              <a:rPr lang="en-US" sz="2200" b="1" i="0" dirty="0">
                <a:solidFill>
                  <a:schemeClr val="tx2">
                    <a:lumMod val="75000"/>
                    <a:lumOff val="25000"/>
                  </a:schemeClr>
                </a:solidFill>
                <a:effectLst/>
                <a:latin typeface="Studio-Feixen-Sans"/>
              </a:rPr>
              <a:t>to</a:t>
            </a:r>
            <a:r>
              <a:rPr lang="en-US" sz="2200" b="0" i="0" dirty="0">
                <a:solidFill>
                  <a:srgbClr val="05192D"/>
                </a:solidFill>
                <a:effectLst/>
                <a:latin typeface="Studio-Feixen-Sans"/>
              </a:rPr>
              <a:t> </a:t>
            </a:r>
            <a:r>
              <a:rPr lang="en-US" sz="2200" b="1" i="0" dirty="0">
                <a:solidFill>
                  <a:schemeClr val="tx2">
                    <a:lumMod val="75000"/>
                    <a:lumOff val="25000"/>
                  </a:schemeClr>
                </a:solidFill>
                <a:effectLst/>
                <a:latin typeface="Studio-Feixen-Sans"/>
              </a:rPr>
              <a:t>each</a:t>
            </a:r>
            <a:r>
              <a:rPr lang="en-US" sz="2200" b="0" i="0" dirty="0">
                <a:solidFill>
                  <a:srgbClr val="05192D"/>
                </a:solidFill>
                <a:effectLst/>
                <a:latin typeface="Studio-Feixen-Sans"/>
              </a:rPr>
              <a:t> </a:t>
            </a:r>
            <a:r>
              <a:rPr lang="en-US" sz="2200" b="1" i="0" dirty="0">
                <a:solidFill>
                  <a:schemeClr val="tx2">
                    <a:lumMod val="75000"/>
                    <a:lumOff val="25000"/>
                  </a:schemeClr>
                </a:solidFill>
                <a:effectLst/>
                <a:latin typeface="Studio-Feixen-Sans"/>
              </a:rPr>
              <a:t>other</a:t>
            </a:r>
            <a:r>
              <a:rPr lang="en-US" sz="2200" b="0" i="0" dirty="0">
                <a:solidFill>
                  <a:srgbClr val="05192D"/>
                </a:solidFill>
                <a:effectLst/>
                <a:latin typeface="Studio-Feixen-Sans"/>
              </a:rPr>
              <a:t> than to the objects in any </a:t>
            </a:r>
            <a:r>
              <a:rPr lang="en-US" sz="2200" b="1" i="0" dirty="0">
                <a:solidFill>
                  <a:srgbClr val="05192D"/>
                </a:solidFill>
                <a:effectLst/>
                <a:latin typeface="Studio-Feixen-Sans"/>
              </a:rPr>
              <a:t>other group</a:t>
            </a:r>
            <a:r>
              <a:rPr lang="en-US" sz="2200" b="0" i="0" dirty="0">
                <a:solidFill>
                  <a:srgbClr val="05192D"/>
                </a:solidFill>
                <a:effectLst/>
                <a:latin typeface="Studio-Feixen-Sans"/>
              </a:rPr>
              <a:t>. </a:t>
            </a:r>
            <a:endParaRPr lang="en-US" sz="2200" dirty="0"/>
          </a:p>
          <a:p>
            <a:endParaRPr lang="en-US" dirty="0"/>
          </a:p>
        </p:txBody>
      </p:sp>
      <p:grpSp>
        <p:nvGrpSpPr>
          <p:cNvPr id="8" name="Group 7">
            <a:extLst>
              <a:ext uri="{FF2B5EF4-FFF2-40B4-BE49-F238E27FC236}">
                <a16:creationId xmlns:a16="http://schemas.microsoft.com/office/drawing/2014/main" id="{2EAE9C6E-EDFF-4BE2-A08E-1C978537B749}"/>
              </a:ext>
            </a:extLst>
          </p:cNvPr>
          <p:cNvGrpSpPr/>
          <p:nvPr/>
        </p:nvGrpSpPr>
        <p:grpSpPr>
          <a:xfrm>
            <a:off x="517997" y="4001973"/>
            <a:ext cx="10931464" cy="1985170"/>
            <a:chOff x="313711" y="3709081"/>
            <a:chExt cx="10931464" cy="1985170"/>
          </a:xfrm>
        </p:grpSpPr>
        <p:pic>
          <p:nvPicPr>
            <p:cNvPr id="23556" name="Picture 4" descr="Introduction to Unsupervised Learning: Overview and applications">
              <a:extLst>
                <a:ext uri="{FF2B5EF4-FFF2-40B4-BE49-F238E27FC236}">
                  <a16:creationId xmlns:a16="http://schemas.microsoft.com/office/drawing/2014/main" id="{ED901057-A993-C011-2A11-593CE9D4C7E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6241" b="11501"/>
            <a:stretch>
              <a:fillRect/>
            </a:stretch>
          </p:blipFill>
          <p:spPr bwMode="auto">
            <a:xfrm>
              <a:off x="313711" y="3709081"/>
              <a:ext cx="6340004" cy="198517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D5B2E4D-DA19-D405-7FD2-88FDCF85F9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3294" y="3820969"/>
              <a:ext cx="3861881" cy="1631192"/>
            </a:xfrm>
            <a:prstGeom prst="rect">
              <a:avLst/>
            </a:prstGeom>
          </p:spPr>
        </p:pic>
        <p:sp>
          <p:nvSpPr>
            <p:cNvPr id="7" name="TextBox 6">
              <a:extLst>
                <a:ext uri="{FF2B5EF4-FFF2-40B4-BE49-F238E27FC236}">
                  <a16:creationId xmlns:a16="http://schemas.microsoft.com/office/drawing/2014/main" id="{77F4F15F-7B17-2ADA-85D2-4689AE03D333}"/>
                </a:ext>
              </a:extLst>
            </p:cNvPr>
            <p:cNvSpPr txBox="1"/>
            <p:nvPr/>
          </p:nvSpPr>
          <p:spPr>
            <a:xfrm>
              <a:off x="6468894" y="4451899"/>
              <a:ext cx="914400" cy="369332"/>
            </a:xfrm>
            <a:prstGeom prst="rect">
              <a:avLst/>
            </a:prstGeom>
            <a:noFill/>
          </p:spPr>
          <p:txBody>
            <a:bodyPr wrap="square" rtlCol="0">
              <a:spAutoFit/>
            </a:bodyPr>
            <a:lstStyle/>
            <a:p>
              <a:r>
                <a:rPr lang="en-US" b="1" dirty="0"/>
                <a:t>OR</a:t>
              </a:r>
            </a:p>
          </p:txBody>
        </p:sp>
      </p:grpSp>
    </p:spTree>
    <p:extLst>
      <p:ext uri="{BB962C8B-B14F-4D97-AF65-F5344CB8AC3E}">
        <p14:creationId xmlns:p14="http://schemas.microsoft.com/office/powerpoint/2010/main" val="564671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7A7F9-0D0C-329D-25DC-8DBDD4A563A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93DFBB5-F703-60DB-6DCD-FAA31092D776}"/>
              </a:ext>
            </a:extLst>
          </p:cNvPr>
          <p:cNvSpPr txBox="1"/>
          <p:nvPr/>
        </p:nvSpPr>
        <p:spPr>
          <a:xfrm>
            <a:off x="1349829" y="997566"/>
            <a:ext cx="8389857" cy="5509200"/>
          </a:xfrm>
          <a:prstGeom prst="rect">
            <a:avLst/>
          </a:prstGeom>
          <a:noFill/>
        </p:spPr>
        <p:txBody>
          <a:bodyPr wrap="square">
            <a:spAutoFit/>
          </a:bodyPr>
          <a:lstStyle/>
          <a:p>
            <a:r>
              <a:rPr lang="en-US" sz="3200" dirty="0"/>
              <a:t>The major clustering techniques are </a:t>
            </a:r>
          </a:p>
          <a:p>
            <a:pPr marL="342900" indent="-342900">
              <a:buAutoNum type="arabicPeriod"/>
            </a:pPr>
            <a:r>
              <a:rPr lang="en-US" sz="3200" b="1" dirty="0"/>
              <a:t>Partitioning methods</a:t>
            </a:r>
          </a:p>
          <a:p>
            <a:pPr marL="800100" lvl="1" indent="-342900">
              <a:buAutoNum type="arabicPeriod"/>
            </a:pPr>
            <a:r>
              <a:rPr lang="en-US" sz="3200" b="1" dirty="0">
                <a:solidFill>
                  <a:schemeClr val="tx2">
                    <a:lumMod val="75000"/>
                    <a:lumOff val="25000"/>
                  </a:schemeClr>
                </a:solidFill>
                <a:latin typeface="Söhne"/>
              </a:rPr>
              <a:t>K-Means </a:t>
            </a:r>
          </a:p>
          <a:p>
            <a:pPr marL="800100" lvl="1" indent="-342900">
              <a:buAutoNum type="arabicPeriod"/>
            </a:pPr>
            <a:r>
              <a:rPr lang="en-US" sz="3200" dirty="0" err="1"/>
              <a:t>kmedoid</a:t>
            </a:r>
            <a:r>
              <a:rPr lang="en-US" sz="3200" dirty="0"/>
              <a:t>.</a:t>
            </a:r>
          </a:p>
          <a:p>
            <a:pPr marL="800100" lvl="1" indent="-342900">
              <a:buAutoNum type="arabicPeriod"/>
            </a:pPr>
            <a:endParaRPr lang="en-US" sz="3200" dirty="0"/>
          </a:p>
          <a:p>
            <a:pPr marL="342900" indent="-342900">
              <a:buAutoNum type="arabicPeriod"/>
            </a:pPr>
            <a:r>
              <a:rPr lang="en-US" sz="3200" b="1" dirty="0"/>
              <a:t>Hierarchical methods </a:t>
            </a:r>
          </a:p>
          <a:p>
            <a:pPr marL="800100" lvl="1" indent="-342900">
              <a:buAutoNum type="arabicPeriod"/>
            </a:pPr>
            <a:r>
              <a:rPr lang="en-US" sz="3200" b="1" i="0" dirty="0">
                <a:solidFill>
                  <a:schemeClr val="tx2">
                    <a:lumMod val="75000"/>
                    <a:lumOff val="25000"/>
                  </a:schemeClr>
                </a:solidFill>
                <a:effectLst/>
                <a:latin typeface="Söhne"/>
              </a:rPr>
              <a:t>Agglomerative Hierarchical Clustering</a:t>
            </a:r>
          </a:p>
          <a:p>
            <a:pPr marL="800100" lvl="1" indent="-342900">
              <a:buFontTx/>
              <a:buAutoNum type="arabicPeriod"/>
            </a:pPr>
            <a:r>
              <a:rPr lang="en-US" sz="3200" i="0" dirty="0">
                <a:solidFill>
                  <a:srgbClr val="0D0D0D"/>
                </a:solidFill>
                <a:effectLst/>
                <a:latin typeface="Söhne"/>
              </a:rPr>
              <a:t>Divisive Hierarchical Clustering</a:t>
            </a:r>
          </a:p>
          <a:p>
            <a:pPr marL="800100" lvl="1" indent="-342900">
              <a:buFontTx/>
              <a:buAutoNum type="arabicPeriod"/>
            </a:pPr>
            <a:endParaRPr lang="en-US" sz="3200" dirty="0"/>
          </a:p>
          <a:p>
            <a:pPr marL="342900" indent="-342900">
              <a:buAutoNum type="arabicPeriod"/>
            </a:pPr>
            <a:r>
              <a:rPr lang="en-US" sz="3200" b="1" dirty="0"/>
              <a:t>Density-based methods</a:t>
            </a:r>
          </a:p>
          <a:p>
            <a:pPr marL="800100" lvl="1" indent="-342900">
              <a:buAutoNum type="arabicPeriod"/>
            </a:pPr>
            <a:r>
              <a:rPr lang="en-US" sz="3200" dirty="0"/>
              <a:t>DBSCAN</a:t>
            </a:r>
          </a:p>
        </p:txBody>
      </p:sp>
      <p:sp>
        <p:nvSpPr>
          <p:cNvPr id="3" name="TextBox 2">
            <a:extLst>
              <a:ext uri="{FF2B5EF4-FFF2-40B4-BE49-F238E27FC236}">
                <a16:creationId xmlns:a16="http://schemas.microsoft.com/office/drawing/2014/main" id="{BA4B06C4-92A7-DC82-64D5-95000A6AD6D0}"/>
              </a:ext>
            </a:extLst>
          </p:cNvPr>
          <p:cNvSpPr txBox="1"/>
          <p:nvPr/>
        </p:nvSpPr>
        <p:spPr>
          <a:xfrm>
            <a:off x="1219200" y="351234"/>
            <a:ext cx="8112816" cy="646331"/>
          </a:xfrm>
          <a:prstGeom prst="rect">
            <a:avLst/>
          </a:prstGeom>
          <a:noFill/>
        </p:spPr>
        <p:txBody>
          <a:bodyPr wrap="square">
            <a:spAutoFit/>
          </a:bodyPr>
          <a:lstStyle/>
          <a:p>
            <a:r>
              <a:rPr lang="en-US" sz="3600" b="1" dirty="0">
                <a:solidFill>
                  <a:srgbClr val="002060"/>
                </a:solidFill>
              </a:rPr>
              <a:t>Different Types of Clustering Techniques</a:t>
            </a:r>
            <a:r>
              <a:rPr lang="en-US" sz="3600" dirty="0">
                <a:solidFill>
                  <a:srgbClr val="002060"/>
                </a:solidFill>
              </a:rPr>
              <a:t> </a:t>
            </a:r>
          </a:p>
        </p:txBody>
      </p:sp>
    </p:spTree>
    <p:extLst>
      <p:ext uri="{BB962C8B-B14F-4D97-AF65-F5344CB8AC3E}">
        <p14:creationId xmlns:p14="http://schemas.microsoft.com/office/powerpoint/2010/main" val="3438584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CE02B-BEEF-95F7-ACB7-8B9D38B476E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7F0F61B-B69E-2BED-E271-6FAF3AC420CE}"/>
              </a:ext>
            </a:extLst>
          </p:cNvPr>
          <p:cNvSpPr txBox="1"/>
          <p:nvPr/>
        </p:nvSpPr>
        <p:spPr>
          <a:xfrm>
            <a:off x="564045" y="530951"/>
            <a:ext cx="11064738" cy="5324535"/>
          </a:xfrm>
          <a:prstGeom prst="rect">
            <a:avLst/>
          </a:prstGeom>
          <a:noFill/>
        </p:spPr>
        <p:txBody>
          <a:bodyPr wrap="square">
            <a:spAutoFit/>
          </a:bodyPr>
          <a:lstStyle/>
          <a:p>
            <a:r>
              <a:rPr lang="en-US" sz="2800" b="1" dirty="0">
                <a:solidFill>
                  <a:srgbClr val="C00000"/>
                </a:solidFill>
              </a:rPr>
              <a:t>Partitioning Methods:</a:t>
            </a:r>
          </a:p>
          <a:p>
            <a:r>
              <a:rPr lang="en-US" sz="2400" b="0" i="0" dirty="0">
                <a:solidFill>
                  <a:srgbClr val="0D0D0D"/>
                </a:solidFill>
                <a:effectLst/>
                <a:latin typeface="Söhne"/>
              </a:rPr>
              <a:t>	Partitioning methods aim to </a:t>
            </a:r>
            <a:r>
              <a:rPr lang="en-US" sz="2400" b="1" i="0" dirty="0">
                <a:solidFill>
                  <a:srgbClr val="0D0D0D"/>
                </a:solidFill>
                <a:effectLst/>
                <a:latin typeface="Söhne"/>
              </a:rPr>
              <a:t>divide the data points into </a:t>
            </a:r>
            <a:r>
              <a:rPr lang="en-US" sz="2400" b="1" i="0" dirty="0">
                <a:solidFill>
                  <a:srgbClr val="C00000"/>
                </a:solidFill>
                <a:effectLst/>
                <a:latin typeface="Söhne"/>
              </a:rPr>
              <a:t>distinct</a:t>
            </a:r>
            <a:r>
              <a:rPr lang="en-US" sz="2400" b="1" i="0" dirty="0">
                <a:solidFill>
                  <a:srgbClr val="0D0D0D"/>
                </a:solidFill>
                <a:effectLst/>
                <a:latin typeface="Söhne"/>
              </a:rPr>
              <a:t> </a:t>
            </a:r>
            <a:r>
              <a:rPr lang="en-US" sz="2400" b="1" i="0" dirty="0">
                <a:solidFill>
                  <a:srgbClr val="C00000"/>
                </a:solidFill>
                <a:effectLst/>
                <a:latin typeface="Söhne"/>
              </a:rPr>
              <a:t>non-overlapping </a:t>
            </a:r>
            <a:r>
              <a:rPr lang="en-US" sz="2400" b="1" i="0" dirty="0">
                <a:solidFill>
                  <a:srgbClr val="0D0D0D"/>
                </a:solidFill>
                <a:effectLst/>
                <a:latin typeface="Söhne"/>
              </a:rPr>
              <a:t>subgroups or clusters. </a:t>
            </a:r>
            <a:r>
              <a:rPr lang="en-US" sz="2400" b="1" i="0" dirty="0">
                <a:solidFill>
                  <a:srgbClr val="C00000"/>
                </a:solidFill>
                <a:effectLst/>
                <a:latin typeface="Söhne"/>
              </a:rPr>
              <a:t>Each data point belongs to exactly one cluster. </a:t>
            </a:r>
          </a:p>
          <a:p>
            <a:r>
              <a:rPr lang="en-US" sz="2400" dirty="0"/>
              <a:t>	</a:t>
            </a:r>
          </a:p>
          <a:p>
            <a:r>
              <a:rPr lang="en-US" sz="2400" dirty="0"/>
              <a:t>Two of the most important algorithms for partitioning-based clustering are:</a:t>
            </a:r>
          </a:p>
          <a:p>
            <a:pPr marL="342900" indent="-342900">
              <a:buAutoNum type="arabicPeriod"/>
            </a:pPr>
            <a:r>
              <a:rPr lang="en-US" sz="2400" b="1" dirty="0"/>
              <a:t>k-means (</a:t>
            </a:r>
            <a:r>
              <a:rPr lang="en-US" sz="2400" b="1" dirty="0">
                <a:solidFill>
                  <a:srgbClr val="C00000"/>
                </a:solidFill>
              </a:rPr>
              <a:t>A centroid-based technique)</a:t>
            </a:r>
            <a:endParaRPr lang="en-US" sz="2400" b="1" dirty="0"/>
          </a:p>
          <a:p>
            <a:pPr marL="342900" indent="-342900">
              <a:buAutoNum type="arabicPeriod"/>
            </a:pPr>
            <a:r>
              <a:rPr lang="en-US" sz="2400" b="1" dirty="0" err="1"/>
              <a:t>kmedoid</a:t>
            </a:r>
            <a:endParaRPr lang="en-US" sz="2400" b="1" dirty="0"/>
          </a:p>
          <a:p>
            <a:pPr marL="342900" indent="-342900">
              <a:buAutoNum type="arabicPeriod"/>
            </a:pPr>
            <a:endParaRPr lang="en-US" sz="2400" b="1" dirty="0">
              <a:solidFill>
                <a:srgbClr val="C00000"/>
              </a:solidFill>
            </a:endParaRPr>
          </a:p>
          <a:p>
            <a:pPr marL="342900" indent="-342900">
              <a:buAutoNum type="arabicPeriod"/>
            </a:pPr>
            <a:endParaRPr lang="en-US" sz="2400" b="1" dirty="0">
              <a:solidFill>
                <a:srgbClr val="C00000"/>
              </a:solidFill>
            </a:endParaRPr>
          </a:p>
          <a:p>
            <a:r>
              <a:rPr lang="en-US" sz="2400" dirty="0"/>
              <a:t>	In the k-means algorithm, the </a:t>
            </a:r>
            <a:r>
              <a:rPr lang="en-US" sz="2400" b="1" dirty="0">
                <a:solidFill>
                  <a:schemeClr val="tx2">
                    <a:lumMod val="75000"/>
                    <a:lumOff val="25000"/>
                  </a:schemeClr>
                </a:solidFill>
              </a:rPr>
              <a:t>centroid</a:t>
            </a:r>
            <a:r>
              <a:rPr lang="en-US" sz="2400" dirty="0"/>
              <a:t> of the prototype is identified for clustering, which is normally the </a:t>
            </a:r>
            <a:r>
              <a:rPr lang="en-US" sz="2400" b="1" dirty="0">
                <a:solidFill>
                  <a:schemeClr val="tx2">
                    <a:lumMod val="75000"/>
                    <a:lumOff val="25000"/>
                  </a:schemeClr>
                </a:solidFill>
              </a:rPr>
              <a:t>mean of a group of points</a:t>
            </a:r>
            <a:r>
              <a:rPr lang="en-US" sz="2400" dirty="0"/>
              <a:t>. Similarly, the k-medoid algorithm identifies the </a:t>
            </a:r>
            <a:r>
              <a:rPr lang="en-US" sz="2400" b="1" dirty="0">
                <a:solidFill>
                  <a:srgbClr val="C00000"/>
                </a:solidFill>
              </a:rPr>
              <a:t>medoid</a:t>
            </a:r>
            <a:r>
              <a:rPr lang="en-US" sz="2400" dirty="0"/>
              <a:t> which is the </a:t>
            </a:r>
            <a:r>
              <a:rPr lang="en-US" sz="2400" b="1" dirty="0">
                <a:solidFill>
                  <a:srgbClr val="C00000"/>
                </a:solidFill>
              </a:rPr>
              <a:t>most representative point</a:t>
            </a:r>
            <a:r>
              <a:rPr lang="en-US" sz="2400" dirty="0"/>
              <a:t> for a group of points. We can also infer that in most cases, the centroid does not correspond to an actual data point, whereas medoid is always an actual data point.</a:t>
            </a:r>
            <a:endParaRPr lang="en-US" sz="2400" b="1" dirty="0">
              <a:solidFill>
                <a:srgbClr val="C00000"/>
              </a:solidFill>
            </a:endParaRPr>
          </a:p>
        </p:txBody>
      </p:sp>
    </p:spTree>
    <p:extLst>
      <p:ext uri="{BB962C8B-B14F-4D97-AF65-F5344CB8AC3E}">
        <p14:creationId xmlns:p14="http://schemas.microsoft.com/office/powerpoint/2010/main" val="3978233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2A66C-C4A7-C7B7-6FAE-BB60108C07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79E964-629C-67B9-6A1B-3568A2697233}"/>
              </a:ext>
            </a:extLst>
          </p:cNvPr>
          <p:cNvSpPr>
            <a:spLocks noGrp="1"/>
          </p:cNvSpPr>
          <p:nvPr>
            <p:ph idx="1"/>
          </p:nvPr>
        </p:nvSpPr>
        <p:spPr>
          <a:xfrm>
            <a:off x="702853" y="968829"/>
            <a:ext cx="10900568" cy="4931228"/>
          </a:xfrm>
        </p:spPr>
        <p:txBody>
          <a:bodyPr>
            <a:normAutofit lnSpcReduction="10000"/>
          </a:bodyPr>
          <a:lstStyle/>
          <a:p>
            <a:pPr marL="0" indent="0">
              <a:buNone/>
            </a:pPr>
            <a:r>
              <a:rPr lang="en-US" sz="2800" b="1" dirty="0"/>
              <a:t>K-Means Clustering:</a:t>
            </a:r>
          </a:p>
          <a:p>
            <a:pPr marL="0" indent="0">
              <a:buNone/>
            </a:pPr>
            <a:r>
              <a:rPr lang="en-US" sz="2400" dirty="0"/>
              <a:t>K-Means is an unsupervised learning algorithm used to </a:t>
            </a:r>
            <a:r>
              <a:rPr lang="en-US" sz="2400" b="1" dirty="0">
                <a:solidFill>
                  <a:schemeClr val="tx2">
                    <a:lumMod val="50000"/>
                    <a:lumOff val="50000"/>
                  </a:schemeClr>
                </a:solidFill>
              </a:rPr>
              <a:t>group similar data points into K clusters</a:t>
            </a:r>
            <a:r>
              <a:rPr lang="en-US" sz="2400" dirty="0"/>
              <a:t>. Each cluster has a centroid (center point), and each data point belongs to the cluster with the nearest </a:t>
            </a:r>
            <a:r>
              <a:rPr lang="en-US" sz="2400" b="1" dirty="0">
                <a:solidFill>
                  <a:srgbClr val="C00000"/>
                </a:solidFill>
                <a:latin typeface="Söhne"/>
              </a:rPr>
              <a:t>mean </a:t>
            </a:r>
            <a:r>
              <a:rPr lang="en-US" sz="2400" dirty="0"/>
              <a:t>or </a:t>
            </a:r>
            <a:r>
              <a:rPr lang="en-US" sz="2400" b="1" dirty="0">
                <a:solidFill>
                  <a:srgbClr val="C00000"/>
                </a:solidFill>
                <a:latin typeface="Söhne"/>
              </a:rPr>
              <a:t>centroid</a:t>
            </a:r>
            <a:r>
              <a:rPr lang="en-US" sz="2400" dirty="0"/>
              <a:t>.</a:t>
            </a:r>
          </a:p>
          <a:p>
            <a:r>
              <a:rPr lang="en-US" sz="2400" dirty="0">
                <a:solidFill>
                  <a:srgbClr val="273239"/>
                </a:solidFill>
                <a:latin typeface="Calibri (Body)"/>
              </a:rPr>
              <a:t>The goal of </a:t>
            </a:r>
            <a:r>
              <a:rPr lang="en-US" sz="2400" u="sng" dirty="0">
                <a:latin typeface="Calibri (Body)"/>
                <a:hlinkClick r:id="rId2"/>
              </a:rPr>
              <a:t>clustering</a:t>
            </a:r>
            <a:r>
              <a:rPr lang="en-US" sz="2400" dirty="0">
                <a:solidFill>
                  <a:srgbClr val="273239"/>
                </a:solidFill>
                <a:latin typeface="Calibri (Body)"/>
              </a:rPr>
              <a:t> is to divide the </a:t>
            </a:r>
            <a:r>
              <a:rPr lang="en-US" sz="2400" b="1" dirty="0">
                <a:solidFill>
                  <a:srgbClr val="C00000"/>
                </a:solidFill>
                <a:latin typeface="Calibri (Body)"/>
              </a:rPr>
              <a:t>population</a:t>
            </a:r>
            <a:r>
              <a:rPr lang="en-US" sz="2400" dirty="0">
                <a:solidFill>
                  <a:srgbClr val="273239"/>
                </a:solidFill>
                <a:latin typeface="Calibri (Body)"/>
              </a:rPr>
              <a:t> or set of data points into a number of groups </a:t>
            </a:r>
            <a:r>
              <a:rPr lang="en-US" sz="2400" b="1" dirty="0">
                <a:solidFill>
                  <a:srgbClr val="273239"/>
                </a:solidFill>
                <a:latin typeface="Calibri (Body)"/>
              </a:rPr>
              <a:t>so that the data points within each group are more comparable to one another and different from the data points within the other groups</a:t>
            </a:r>
            <a:r>
              <a:rPr lang="en-US" sz="2400" dirty="0">
                <a:solidFill>
                  <a:srgbClr val="273239"/>
                </a:solidFill>
                <a:latin typeface="Calibri (Body)"/>
              </a:rPr>
              <a:t>.</a:t>
            </a:r>
            <a:r>
              <a:rPr lang="en-US" sz="2400" dirty="0">
                <a:solidFill>
                  <a:srgbClr val="C00000"/>
                </a:solidFill>
                <a:latin typeface="Calibri (Body)"/>
              </a:rPr>
              <a:t> It is essentially a grouping of things based on how similar and different they are to one another. </a:t>
            </a:r>
          </a:p>
          <a:p>
            <a:r>
              <a:rPr lang="en-US" sz="2400" dirty="0">
                <a:solidFill>
                  <a:srgbClr val="273239"/>
                </a:solidFill>
                <a:latin typeface="Calibri (Body)"/>
              </a:rPr>
              <a:t>	</a:t>
            </a:r>
            <a:r>
              <a:rPr lang="en-US" sz="2400" dirty="0">
                <a:solidFill>
                  <a:schemeClr val="accent6"/>
                </a:solidFill>
              </a:rPr>
              <a:t>The principle of the k-means algorithm is to assign each of the ‘n’ data points to one of the K clusters where ‘K’ is a </a:t>
            </a:r>
            <a:r>
              <a:rPr lang="en-US" sz="2400" b="1" dirty="0">
                <a:solidFill>
                  <a:schemeClr val="accent6"/>
                </a:solidFill>
              </a:rPr>
              <a:t>user-defined parameter </a:t>
            </a:r>
            <a:r>
              <a:rPr lang="en-US" sz="2400" dirty="0">
                <a:solidFill>
                  <a:schemeClr val="accent6"/>
                </a:solidFill>
              </a:rPr>
              <a:t>as the number of clusters desired</a:t>
            </a:r>
            <a:r>
              <a:rPr lang="en-US" sz="2400" dirty="0"/>
              <a:t>. The objective is to maximize the </a:t>
            </a:r>
            <a:r>
              <a:rPr lang="en-US" sz="2400" b="1" dirty="0">
                <a:solidFill>
                  <a:srgbClr val="C00000"/>
                </a:solidFill>
              </a:rPr>
              <a:t>Homogeneity</a:t>
            </a:r>
            <a:r>
              <a:rPr lang="en-US" sz="2400" dirty="0"/>
              <a:t> within the clusters and also to maximize the differences between the clusters. The homogeneity and differences are measured in terms of the distance between the objects or points in the data set. </a:t>
            </a:r>
            <a:endParaRPr lang="en-US" sz="2400" dirty="0">
              <a:solidFill>
                <a:srgbClr val="273239"/>
              </a:solidFill>
              <a:latin typeface="Calibri (Body)"/>
            </a:endParaRP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2018463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D124-782C-FBE6-B006-71A8E9F3202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FBA7F6-DA95-75DB-9DB6-00380EAF2C6D}"/>
              </a:ext>
            </a:extLst>
          </p:cNvPr>
          <p:cNvSpPr txBox="1"/>
          <p:nvPr/>
        </p:nvSpPr>
        <p:spPr>
          <a:xfrm>
            <a:off x="604935" y="305068"/>
            <a:ext cx="11383345" cy="6247864"/>
          </a:xfrm>
          <a:prstGeom prst="rect">
            <a:avLst/>
          </a:prstGeom>
          <a:noFill/>
        </p:spPr>
        <p:txBody>
          <a:bodyPr wrap="square">
            <a:spAutoFit/>
          </a:bodyPr>
          <a:lstStyle/>
          <a:p>
            <a:pPr algn="l"/>
            <a:r>
              <a:rPr lang="en-US" sz="2000" b="1" i="0" dirty="0">
                <a:solidFill>
                  <a:srgbClr val="002060"/>
                </a:solidFill>
                <a:effectLst/>
                <a:latin typeface="Söhne"/>
              </a:rPr>
              <a:t>What the “Means” indicates in the Name K-Means:</a:t>
            </a:r>
            <a:endParaRPr lang="en-US" sz="2000" b="0" i="0" dirty="0">
              <a:solidFill>
                <a:srgbClr val="002060"/>
              </a:solidFill>
              <a:effectLst/>
              <a:latin typeface="Söhne"/>
            </a:endParaRPr>
          </a:p>
          <a:p>
            <a:pPr algn="l"/>
            <a:r>
              <a:rPr lang="en-US" sz="2000" b="0" i="0" dirty="0">
                <a:solidFill>
                  <a:srgbClr val="0D0D0D"/>
                </a:solidFill>
                <a:effectLst/>
                <a:latin typeface="Söhne"/>
              </a:rPr>
              <a:t>	In the context of the k-Means algorithm, "</a:t>
            </a:r>
            <a:r>
              <a:rPr lang="en-US" sz="2000" b="1" i="0" dirty="0">
                <a:solidFill>
                  <a:srgbClr val="0D0D0D"/>
                </a:solidFill>
                <a:effectLst/>
                <a:latin typeface="Söhne"/>
              </a:rPr>
              <a:t>Means</a:t>
            </a:r>
            <a:r>
              <a:rPr lang="en-US" sz="2000" b="0" i="0" dirty="0">
                <a:solidFill>
                  <a:srgbClr val="0D0D0D"/>
                </a:solidFill>
                <a:effectLst/>
                <a:latin typeface="Söhne"/>
              </a:rPr>
              <a:t>" refers to the </a:t>
            </a:r>
            <a:r>
              <a:rPr lang="en-US" sz="2000" b="1" i="0" dirty="0">
                <a:solidFill>
                  <a:srgbClr val="C00000"/>
                </a:solidFill>
                <a:effectLst/>
                <a:latin typeface="Söhne"/>
              </a:rPr>
              <a:t>centroids</a:t>
            </a:r>
            <a:r>
              <a:rPr lang="en-US" sz="2000" b="0" i="0" dirty="0">
                <a:solidFill>
                  <a:srgbClr val="0D0D0D"/>
                </a:solidFill>
                <a:effectLst/>
                <a:latin typeface="Söhne"/>
              </a:rPr>
              <a:t> </a:t>
            </a:r>
            <a:r>
              <a:rPr lang="en-US" sz="2000" b="1" i="0" dirty="0">
                <a:solidFill>
                  <a:srgbClr val="0D0D0D"/>
                </a:solidFill>
                <a:effectLst/>
                <a:latin typeface="Söhne"/>
              </a:rPr>
              <a:t>of the clusters</a:t>
            </a:r>
            <a:r>
              <a:rPr lang="en-US" sz="2000" b="0" i="0" dirty="0">
                <a:solidFill>
                  <a:srgbClr val="0D0D0D"/>
                </a:solidFill>
                <a:effectLst/>
                <a:latin typeface="Söhne"/>
              </a:rPr>
              <a:t>.</a:t>
            </a:r>
          </a:p>
          <a:p>
            <a:pPr algn="l"/>
            <a:r>
              <a:rPr lang="en-US" sz="2000" b="0" i="0" dirty="0">
                <a:solidFill>
                  <a:srgbClr val="0D0D0D"/>
                </a:solidFill>
                <a:effectLst/>
                <a:latin typeface="Söhne"/>
              </a:rPr>
              <a:t>	The word "Means" comes from the fact that in the k-Means algorithm, each cluster is represented by the </a:t>
            </a:r>
            <a:r>
              <a:rPr lang="en-US" sz="2000" b="1" i="0" dirty="0">
                <a:solidFill>
                  <a:srgbClr val="C00000"/>
                </a:solidFill>
                <a:effectLst/>
                <a:latin typeface="Söhne"/>
              </a:rPr>
              <a:t>mean</a:t>
            </a:r>
            <a:r>
              <a:rPr lang="en-US" sz="2000" b="0" i="0" dirty="0">
                <a:solidFill>
                  <a:srgbClr val="0D0D0D"/>
                </a:solidFill>
                <a:effectLst/>
                <a:latin typeface="Söhne"/>
              </a:rPr>
              <a:t> or </a:t>
            </a:r>
            <a:r>
              <a:rPr lang="en-US" sz="2000" b="1" i="0" dirty="0">
                <a:solidFill>
                  <a:srgbClr val="C00000"/>
                </a:solidFill>
                <a:effectLst/>
                <a:latin typeface="Söhne"/>
              </a:rPr>
              <a:t>average</a:t>
            </a:r>
            <a:r>
              <a:rPr lang="en-US" sz="2000" b="0" i="0" dirty="0">
                <a:solidFill>
                  <a:srgbClr val="0D0D0D"/>
                </a:solidFill>
                <a:effectLst/>
                <a:latin typeface="Söhne"/>
              </a:rPr>
              <a:t>  of all the data points assigned to that cluster. These means are also called centroids.</a:t>
            </a:r>
          </a:p>
          <a:p>
            <a:pPr algn="l"/>
            <a:r>
              <a:rPr lang="en-US" sz="2000" b="0" i="0" dirty="0">
                <a:solidFill>
                  <a:srgbClr val="0D0D0D"/>
                </a:solidFill>
                <a:effectLst/>
                <a:latin typeface="Söhne"/>
              </a:rPr>
              <a:t>	During each iteration of the algorithm, the centroids are recalculated to update their positions based on the current assignment of data points to clusters. The centroids are computed as the average of the data points belonging to each cluster.</a:t>
            </a:r>
          </a:p>
          <a:p>
            <a:pPr algn="l"/>
            <a:endParaRPr lang="en-US" sz="2000" dirty="0">
              <a:solidFill>
                <a:srgbClr val="0D0D0D"/>
              </a:solidFill>
              <a:latin typeface="Söhne"/>
            </a:endParaRPr>
          </a:p>
          <a:p>
            <a:pPr algn="l"/>
            <a:r>
              <a:rPr lang="en-US" sz="2000" b="1" i="0" dirty="0">
                <a:solidFill>
                  <a:srgbClr val="C00000"/>
                </a:solidFill>
                <a:effectLst/>
                <a:latin typeface="Söhne"/>
              </a:rPr>
              <a:t>For example, </a:t>
            </a:r>
            <a:r>
              <a:rPr lang="en-US" sz="2000" b="0" i="0" dirty="0">
                <a:solidFill>
                  <a:srgbClr val="0D0D0D"/>
                </a:solidFill>
                <a:effectLst/>
                <a:latin typeface="Söhne"/>
              </a:rPr>
              <a:t>suppose you have a cluster of two-dimensional points with the following coordinates:</a:t>
            </a:r>
          </a:p>
          <a:p>
            <a:pPr algn="l"/>
            <a:endParaRPr lang="en-US" sz="2000" dirty="0">
              <a:solidFill>
                <a:srgbClr val="0D0D0D"/>
              </a:solidFill>
              <a:latin typeface="Söhne"/>
            </a:endParaRPr>
          </a:p>
          <a:p>
            <a:pPr algn="l"/>
            <a:r>
              <a:rPr lang="en-US" sz="2000" b="0" i="0" dirty="0">
                <a:solidFill>
                  <a:srgbClr val="0D0D0D"/>
                </a:solidFill>
                <a:effectLst/>
                <a:latin typeface="Söhne"/>
              </a:rPr>
              <a:t>	(1, 3), (2, 4), (3, 5)</a:t>
            </a:r>
          </a:p>
          <a:p>
            <a:pPr algn="l"/>
            <a:endParaRPr lang="en-US" sz="2000" b="0" i="0" dirty="0">
              <a:solidFill>
                <a:srgbClr val="0D0D0D"/>
              </a:solidFill>
              <a:effectLst/>
              <a:latin typeface="Söhne"/>
            </a:endParaRPr>
          </a:p>
          <a:p>
            <a:pPr algn="l"/>
            <a:r>
              <a:rPr lang="en-US" sz="2000" b="0" i="0" dirty="0">
                <a:solidFill>
                  <a:srgbClr val="0D0D0D"/>
                </a:solidFill>
                <a:effectLst/>
                <a:latin typeface="Söhne"/>
              </a:rPr>
              <a:t>	</a:t>
            </a:r>
            <a:r>
              <a:rPr lang="en-US" sz="2000" b="1" i="0" dirty="0">
                <a:solidFill>
                  <a:schemeClr val="accent6"/>
                </a:solidFill>
                <a:effectLst/>
                <a:latin typeface="Söhne"/>
              </a:rPr>
              <a:t>To find the centroid of this cluster, you would calculate the mean of the x-coordinates and the mean of the y-coordinates separately:</a:t>
            </a:r>
          </a:p>
          <a:p>
            <a:pPr algn="l"/>
            <a:r>
              <a:rPr lang="en-US" sz="2000" b="0" i="0" dirty="0">
                <a:solidFill>
                  <a:srgbClr val="0D0D0D"/>
                </a:solidFill>
                <a:effectLst/>
                <a:latin typeface="Söhne"/>
              </a:rPr>
              <a:t>Mean x-coordinate = (1 + 2 + 3) / 3 = 2</a:t>
            </a:r>
          </a:p>
          <a:p>
            <a:pPr algn="l"/>
            <a:r>
              <a:rPr lang="en-US" sz="2000" b="0" i="0" dirty="0">
                <a:solidFill>
                  <a:srgbClr val="0D0D0D"/>
                </a:solidFill>
                <a:effectLst/>
                <a:latin typeface="Söhne"/>
              </a:rPr>
              <a:t>Mean y-coordinate = (3 + 4 + 5) / 3 = 4</a:t>
            </a:r>
          </a:p>
          <a:p>
            <a:pPr algn="l"/>
            <a:endParaRPr lang="en-US" sz="2000" dirty="0">
              <a:solidFill>
                <a:srgbClr val="0D0D0D"/>
              </a:solidFill>
              <a:latin typeface="Söhne"/>
            </a:endParaRPr>
          </a:p>
          <a:p>
            <a:pPr algn="l"/>
            <a:r>
              <a:rPr lang="en-US" sz="2000" b="0" i="0" dirty="0">
                <a:solidFill>
                  <a:srgbClr val="0D0D0D"/>
                </a:solidFill>
                <a:effectLst/>
                <a:latin typeface="Söhne"/>
              </a:rPr>
              <a:t>	So, the centroid of this cluster would be the point (2, 4). This point represents the "</a:t>
            </a:r>
            <a:r>
              <a:rPr lang="en-US" sz="2000" b="1" i="0" dirty="0">
                <a:solidFill>
                  <a:srgbClr val="C00000"/>
                </a:solidFill>
                <a:effectLst/>
                <a:latin typeface="Söhne"/>
              </a:rPr>
              <a:t>mean</a:t>
            </a:r>
            <a:r>
              <a:rPr lang="en-US" sz="2000" b="0" i="0" dirty="0">
                <a:solidFill>
                  <a:srgbClr val="0D0D0D"/>
                </a:solidFill>
                <a:effectLst/>
                <a:latin typeface="Söhne"/>
              </a:rPr>
              <a:t>" or "</a:t>
            </a:r>
            <a:r>
              <a:rPr lang="en-US" sz="2000" b="1" i="0" dirty="0">
                <a:solidFill>
                  <a:srgbClr val="C00000"/>
                </a:solidFill>
                <a:effectLst/>
                <a:latin typeface="Söhne"/>
              </a:rPr>
              <a:t>average</a:t>
            </a:r>
            <a:r>
              <a:rPr lang="en-US" sz="2000" b="0" i="0" dirty="0">
                <a:solidFill>
                  <a:srgbClr val="0D0D0D"/>
                </a:solidFill>
                <a:effectLst/>
                <a:latin typeface="Söhne"/>
              </a:rPr>
              <a:t>" location of the data points in that cluster.</a:t>
            </a:r>
          </a:p>
        </p:txBody>
      </p:sp>
    </p:spTree>
    <p:extLst>
      <p:ext uri="{BB962C8B-B14F-4D97-AF65-F5344CB8AC3E}">
        <p14:creationId xmlns:p14="http://schemas.microsoft.com/office/powerpoint/2010/main" val="119090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36FAF-0AD9-20D3-9B96-B76D5C6C8E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2B92FB-B42E-05FD-05DE-641312D69F43}"/>
              </a:ext>
            </a:extLst>
          </p:cNvPr>
          <p:cNvSpPr txBox="1"/>
          <p:nvPr/>
        </p:nvSpPr>
        <p:spPr>
          <a:xfrm>
            <a:off x="500269" y="426030"/>
            <a:ext cx="11923644" cy="6005940"/>
          </a:xfrm>
          <a:prstGeom prst="rect">
            <a:avLst/>
          </a:prstGeom>
          <a:noFill/>
        </p:spPr>
        <p:txBody>
          <a:bodyPr wrap="square">
            <a:spAutoFit/>
          </a:bodyPr>
          <a:lstStyle/>
          <a:p>
            <a:r>
              <a:rPr lang="en-US" sz="2800" b="1" dirty="0"/>
              <a:t>Simple algorithm of K-means:</a:t>
            </a:r>
            <a:r>
              <a:rPr lang="en-US" sz="2400" b="1" dirty="0"/>
              <a:t> </a:t>
            </a:r>
          </a:p>
          <a:p>
            <a:pPr algn="l"/>
            <a:r>
              <a:rPr lang="en-US" sz="2400" b="1" dirty="0"/>
              <a:t>Step 1: </a:t>
            </a:r>
          </a:p>
          <a:p>
            <a:pPr algn="l"/>
            <a:r>
              <a:rPr lang="en-US" sz="2400" b="1" i="0" dirty="0">
                <a:solidFill>
                  <a:srgbClr val="0D0D0D"/>
                </a:solidFill>
                <a:effectLst/>
                <a:latin typeface="Söhne"/>
              </a:rPr>
              <a:t>	</a:t>
            </a:r>
            <a:r>
              <a:rPr lang="en-US" sz="2400" b="0" i="0" dirty="0">
                <a:solidFill>
                  <a:srgbClr val="0D0D0D"/>
                </a:solidFill>
                <a:effectLst/>
                <a:latin typeface="Söhne"/>
              </a:rPr>
              <a:t>Choose the number of clusters, 'k', that you want to identify.</a:t>
            </a:r>
          </a:p>
          <a:p>
            <a:pPr algn="l"/>
            <a:r>
              <a:rPr lang="en-US" sz="2400" b="0" i="0" dirty="0">
                <a:solidFill>
                  <a:srgbClr val="0D0D0D"/>
                </a:solidFill>
                <a:effectLst/>
                <a:latin typeface="Söhne"/>
              </a:rPr>
              <a:t>	Randomly initialize 'k' cluster centroids. </a:t>
            </a:r>
            <a:endParaRPr lang="en-US" sz="2400" dirty="0"/>
          </a:p>
          <a:p>
            <a:pPr>
              <a:lnSpc>
                <a:spcPct val="150000"/>
              </a:lnSpc>
            </a:pPr>
            <a:r>
              <a:rPr lang="en-US" sz="2400" b="1" dirty="0">
                <a:solidFill>
                  <a:srgbClr val="C00000"/>
                </a:solidFill>
              </a:rPr>
              <a:t>Loop </a:t>
            </a:r>
          </a:p>
          <a:p>
            <a:pPr lvl="1">
              <a:lnSpc>
                <a:spcPct val="150000"/>
              </a:lnSpc>
            </a:pPr>
            <a:r>
              <a:rPr lang="en-US" sz="2400" b="1" dirty="0"/>
              <a:t>Step 2: </a:t>
            </a:r>
            <a:r>
              <a:rPr lang="en-US" sz="2400" dirty="0"/>
              <a:t>Assign each point in the data space to the nearest centroid to form K clusters </a:t>
            </a:r>
          </a:p>
          <a:p>
            <a:pPr lvl="1">
              <a:lnSpc>
                <a:spcPct val="150000"/>
              </a:lnSpc>
            </a:pPr>
            <a:r>
              <a:rPr lang="en-US" sz="2400" b="1" dirty="0"/>
              <a:t>Step 3: </a:t>
            </a:r>
            <a:r>
              <a:rPr lang="en-US" sz="2400" dirty="0"/>
              <a:t>Measure the distance of each point in the cluster from the centroid </a:t>
            </a:r>
          </a:p>
          <a:p>
            <a:pPr lvl="1">
              <a:lnSpc>
                <a:spcPct val="150000"/>
              </a:lnSpc>
            </a:pPr>
            <a:r>
              <a:rPr lang="en-US" sz="2400" b="1" dirty="0"/>
              <a:t>Step 4: </a:t>
            </a:r>
            <a:r>
              <a:rPr lang="en-US" sz="2400" dirty="0"/>
              <a:t>Calculate the Sum of Squared Error (SSE) to measure the quality of the clusters. </a:t>
            </a:r>
          </a:p>
          <a:p>
            <a:pPr lvl="1">
              <a:lnSpc>
                <a:spcPct val="150000"/>
              </a:lnSpc>
            </a:pPr>
            <a:r>
              <a:rPr lang="en-US" sz="2400" dirty="0"/>
              <a:t>		This is to measure whether the K value is good or bad.</a:t>
            </a:r>
          </a:p>
          <a:p>
            <a:pPr lvl="1">
              <a:lnSpc>
                <a:spcPct val="150000"/>
              </a:lnSpc>
            </a:pPr>
            <a:r>
              <a:rPr lang="en-US" sz="2400" b="1" dirty="0"/>
              <a:t>Step 5: </a:t>
            </a:r>
            <a:r>
              <a:rPr lang="en-US" sz="2400" dirty="0"/>
              <a:t>Identify the new centroid of each cluster on the basis of distance between points </a:t>
            </a:r>
            <a:r>
              <a:rPr lang="en-US" sz="2400" b="1" dirty="0"/>
              <a:t>Step 6: </a:t>
            </a:r>
            <a:r>
              <a:rPr lang="en-US" sz="2400" dirty="0"/>
              <a:t>Repeat Steps 2 to 5 to refine until centroids do not change.</a:t>
            </a:r>
          </a:p>
          <a:p>
            <a:pPr>
              <a:lnSpc>
                <a:spcPct val="150000"/>
              </a:lnSpc>
            </a:pPr>
            <a:r>
              <a:rPr lang="en-US" sz="2400" b="1" dirty="0">
                <a:solidFill>
                  <a:srgbClr val="C00000"/>
                </a:solidFill>
              </a:rPr>
              <a:t>End Loop.</a:t>
            </a:r>
          </a:p>
        </p:txBody>
      </p:sp>
    </p:spTree>
    <p:extLst>
      <p:ext uri="{BB962C8B-B14F-4D97-AF65-F5344CB8AC3E}">
        <p14:creationId xmlns:p14="http://schemas.microsoft.com/office/powerpoint/2010/main" val="35010627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DE7E9-AEBC-7B84-7F13-B279A1307D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F4C7E6-767F-05EE-D23A-6DF828688D23}"/>
              </a:ext>
            </a:extLst>
          </p:cNvPr>
          <p:cNvSpPr>
            <a:spLocks noGrp="1"/>
          </p:cNvSpPr>
          <p:nvPr>
            <p:ph idx="1"/>
          </p:nvPr>
        </p:nvSpPr>
        <p:spPr>
          <a:xfrm>
            <a:off x="702853" y="968829"/>
            <a:ext cx="10900568" cy="4931228"/>
          </a:xfrm>
        </p:spPr>
        <p:txBody>
          <a:bodyPr>
            <a:normAutofit/>
          </a:bodyPr>
          <a:lstStyle/>
          <a:p>
            <a:pPr marL="0" indent="0">
              <a:buNone/>
            </a:pPr>
            <a:r>
              <a:rPr lang="en-US" sz="2800" b="1" dirty="0"/>
              <a:t>🔷 Real-Life Example:</a:t>
            </a:r>
          </a:p>
          <a:p>
            <a:pPr marL="0" indent="0">
              <a:buNone/>
            </a:pPr>
            <a:r>
              <a:rPr lang="en-US" sz="2400" dirty="0"/>
              <a:t>Let’s say you own a </a:t>
            </a:r>
            <a:r>
              <a:rPr lang="en-US" sz="2400" b="1" dirty="0"/>
              <a:t>shopping mall</a:t>
            </a:r>
            <a:r>
              <a:rPr lang="en-US" sz="2400" dirty="0"/>
              <a:t>, and you want to understand customer segments based on:</a:t>
            </a:r>
          </a:p>
          <a:p>
            <a:r>
              <a:rPr lang="en-US" sz="2400" dirty="0"/>
              <a:t>Age</a:t>
            </a:r>
          </a:p>
          <a:p>
            <a:r>
              <a:rPr lang="en-US" sz="2400" dirty="0"/>
              <a:t>Spending Score (1–100)</a:t>
            </a:r>
          </a:p>
          <a:p>
            <a:pPr marL="0" indent="0">
              <a:buNone/>
            </a:pPr>
            <a:r>
              <a:rPr lang="en-US" sz="2400" dirty="0"/>
              <a:t>You have no labels like “</a:t>
            </a:r>
            <a:r>
              <a:rPr lang="en-US" sz="2400" b="1" dirty="0">
                <a:solidFill>
                  <a:srgbClr val="002060"/>
                </a:solidFill>
              </a:rPr>
              <a:t>Student</a:t>
            </a:r>
            <a:r>
              <a:rPr lang="en-US" sz="2400" dirty="0"/>
              <a:t>”, “</a:t>
            </a:r>
            <a:r>
              <a:rPr lang="en-US" sz="2400" b="1" dirty="0">
                <a:solidFill>
                  <a:srgbClr val="002060"/>
                </a:solidFill>
              </a:rPr>
              <a:t>Worker</a:t>
            </a:r>
            <a:r>
              <a:rPr lang="en-US" sz="2400" dirty="0"/>
              <a:t>”, etc., but you want to </a:t>
            </a:r>
            <a:r>
              <a:rPr lang="en-US" sz="2400" b="1" dirty="0"/>
              <a:t>group similar customers together</a:t>
            </a:r>
            <a:r>
              <a:rPr lang="en-US" sz="2400" dirty="0"/>
              <a:t> — that's where </a:t>
            </a:r>
            <a:r>
              <a:rPr lang="en-US" sz="2400" b="1" dirty="0"/>
              <a:t>K-Means</a:t>
            </a:r>
            <a:r>
              <a:rPr lang="en-US" sz="2400" dirty="0"/>
              <a:t> helps.</a:t>
            </a:r>
          </a:p>
          <a:p>
            <a:pPr marL="0" indent="0">
              <a:buNone/>
            </a:pPr>
            <a:endParaRPr lang="en-IN" sz="2400" dirty="0"/>
          </a:p>
        </p:txBody>
      </p:sp>
    </p:spTree>
    <p:extLst>
      <p:ext uri="{BB962C8B-B14F-4D97-AF65-F5344CB8AC3E}">
        <p14:creationId xmlns:p14="http://schemas.microsoft.com/office/powerpoint/2010/main" val="4033221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AE3EE-20F9-B8B6-7CCB-D6C9E0FB6AA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10EA96-5D62-3E6A-779D-3717C480AF71}"/>
              </a:ext>
            </a:extLst>
          </p:cNvPr>
          <p:cNvSpPr>
            <a:spLocks noGrp="1"/>
          </p:cNvSpPr>
          <p:nvPr>
            <p:ph idx="1"/>
          </p:nvPr>
        </p:nvSpPr>
        <p:spPr>
          <a:xfrm>
            <a:off x="702853" y="391886"/>
            <a:ext cx="10900568" cy="5965371"/>
          </a:xfrm>
        </p:spPr>
        <p:txBody>
          <a:bodyPr>
            <a:normAutofit fontScale="92500" lnSpcReduction="10000"/>
          </a:bodyPr>
          <a:lstStyle/>
          <a:p>
            <a:pPr marL="0" indent="0">
              <a:buNone/>
            </a:pPr>
            <a:r>
              <a:rPr lang="en-US" sz="3000" b="1" dirty="0"/>
              <a:t>🔷 Step-by-Step K-Means Algorithm:</a:t>
            </a:r>
          </a:p>
          <a:p>
            <a:pPr marL="0" indent="0">
              <a:buNone/>
            </a:pPr>
            <a:r>
              <a:rPr lang="en-US" sz="2400" dirty="0"/>
              <a:t>Let’s assume we want to divide the customers into K = 2 clusters.</a:t>
            </a:r>
          </a:p>
          <a:p>
            <a:pPr marL="0" indent="0">
              <a:buNone/>
            </a:pPr>
            <a:r>
              <a:rPr lang="en-US" sz="2400" b="1" dirty="0"/>
              <a:t>Step 1: </a:t>
            </a:r>
            <a:r>
              <a:rPr lang="en-US" sz="2400" dirty="0"/>
              <a:t>Choose the number of clusters K</a:t>
            </a:r>
          </a:p>
          <a:p>
            <a:pPr lvl="1"/>
            <a:r>
              <a:rPr lang="en-US" sz="2200" dirty="0"/>
              <a:t>Let’s choose </a:t>
            </a:r>
            <a:r>
              <a:rPr lang="en-US" sz="2200" b="1" dirty="0">
                <a:solidFill>
                  <a:schemeClr val="tx2">
                    <a:lumMod val="75000"/>
                    <a:lumOff val="25000"/>
                  </a:schemeClr>
                </a:solidFill>
              </a:rPr>
              <a:t>K = 2 </a:t>
            </a:r>
            <a:r>
              <a:rPr lang="en-US" sz="2200" dirty="0"/>
              <a:t>for now.</a:t>
            </a:r>
          </a:p>
          <a:p>
            <a:pPr marL="0" indent="0">
              <a:buNone/>
            </a:pPr>
            <a:r>
              <a:rPr lang="en-US" sz="2400" b="1" dirty="0"/>
              <a:t>Step 2: </a:t>
            </a:r>
            <a:r>
              <a:rPr lang="en-US" sz="2400" dirty="0"/>
              <a:t>Initialize Centroids</a:t>
            </a:r>
          </a:p>
          <a:p>
            <a:pPr lvl="1"/>
            <a:r>
              <a:rPr lang="en-US" sz="2200" b="1" dirty="0">
                <a:solidFill>
                  <a:schemeClr val="tx2">
                    <a:lumMod val="75000"/>
                    <a:lumOff val="25000"/>
                  </a:schemeClr>
                </a:solidFill>
              </a:rPr>
              <a:t>Randomly pick </a:t>
            </a:r>
            <a:r>
              <a:rPr lang="en-US" sz="2200" dirty="0"/>
              <a:t>2 points as initial centroids (cluster centers).</a:t>
            </a:r>
          </a:p>
          <a:p>
            <a:pPr marL="0" indent="0">
              <a:buNone/>
            </a:pPr>
            <a:r>
              <a:rPr lang="en-US" sz="2400" b="1" dirty="0"/>
              <a:t> Step 3: </a:t>
            </a:r>
            <a:r>
              <a:rPr lang="en-US" sz="2400" dirty="0"/>
              <a:t>Assign Each Data Point to the Closest Centroid</a:t>
            </a:r>
          </a:p>
          <a:p>
            <a:pPr lvl="1"/>
            <a:r>
              <a:rPr lang="en-US" sz="2200" dirty="0"/>
              <a:t>For each customer (data point), calculate the </a:t>
            </a:r>
            <a:r>
              <a:rPr lang="en-US" sz="2200" b="1" dirty="0"/>
              <a:t>distance</a:t>
            </a:r>
            <a:r>
              <a:rPr lang="en-US" sz="2200" dirty="0"/>
              <a:t> (typically </a:t>
            </a:r>
            <a:r>
              <a:rPr lang="en-US" sz="2200" b="1" dirty="0">
                <a:solidFill>
                  <a:schemeClr val="tx2">
                    <a:lumMod val="75000"/>
                    <a:lumOff val="25000"/>
                  </a:schemeClr>
                </a:solidFill>
              </a:rPr>
              <a:t>Euclidean distance</a:t>
            </a:r>
            <a:r>
              <a:rPr lang="en-US" sz="2200" dirty="0"/>
              <a:t>) to each centroid.</a:t>
            </a:r>
          </a:p>
          <a:p>
            <a:pPr lvl="1"/>
            <a:r>
              <a:rPr lang="en-US" sz="2200" dirty="0"/>
              <a:t>Assign it to the cluster of the </a:t>
            </a:r>
            <a:r>
              <a:rPr lang="en-US" sz="2200" b="1" dirty="0">
                <a:solidFill>
                  <a:schemeClr val="tx2">
                    <a:lumMod val="75000"/>
                    <a:lumOff val="25000"/>
                  </a:schemeClr>
                </a:solidFill>
              </a:rPr>
              <a:t>nearest centroid</a:t>
            </a:r>
            <a:r>
              <a:rPr lang="en-US" sz="2200" dirty="0"/>
              <a:t>.</a:t>
            </a:r>
          </a:p>
          <a:p>
            <a:pPr marL="0" indent="0">
              <a:buNone/>
            </a:pPr>
            <a:r>
              <a:rPr lang="en-US" sz="2400" b="1" dirty="0"/>
              <a:t>Step 4: </a:t>
            </a:r>
            <a:r>
              <a:rPr lang="en-US" sz="2400" dirty="0"/>
              <a:t>Update Centroids</a:t>
            </a:r>
          </a:p>
          <a:p>
            <a:pPr lvl="1"/>
            <a:r>
              <a:rPr lang="en-US" sz="2200" dirty="0"/>
              <a:t>For each cluster, calculate the mean of all points in the cluster.</a:t>
            </a:r>
          </a:p>
          <a:p>
            <a:pPr lvl="1"/>
            <a:r>
              <a:rPr lang="en-US" sz="2200" dirty="0"/>
              <a:t>This becomes the new centroid.</a:t>
            </a:r>
          </a:p>
          <a:p>
            <a:pPr marL="0" indent="0">
              <a:buNone/>
            </a:pPr>
            <a:r>
              <a:rPr lang="en-US" sz="2400" b="1" dirty="0"/>
              <a:t>Step 5: </a:t>
            </a:r>
            <a:r>
              <a:rPr lang="en-US" sz="2400" dirty="0"/>
              <a:t>Repeat</a:t>
            </a:r>
          </a:p>
          <a:p>
            <a:pPr lvl="1"/>
            <a:r>
              <a:rPr lang="en-US" sz="2200" dirty="0"/>
              <a:t>Repeat Steps 3 and 4 until:</a:t>
            </a:r>
          </a:p>
          <a:p>
            <a:pPr lvl="2"/>
            <a:r>
              <a:rPr lang="en-US" sz="2000" dirty="0"/>
              <a:t>Centroids do not change significantly (convergence)</a:t>
            </a:r>
          </a:p>
          <a:p>
            <a:pPr lvl="2"/>
            <a:r>
              <a:rPr lang="en-US" sz="2000" dirty="0"/>
              <a:t>OR after a fixed number of iterations</a:t>
            </a:r>
            <a:endParaRPr lang="en-IN" sz="2000" dirty="0"/>
          </a:p>
        </p:txBody>
      </p:sp>
    </p:spTree>
    <p:extLst>
      <p:ext uri="{BB962C8B-B14F-4D97-AF65-F5344CB8AC3E}">
        <p14:creationId xmlns:p14="http://schemas.microsoft.com/office/powerpoint/2010/main" val="2613572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47CCF-B62C-38C7-A0AB-CB64E2EFE3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190202-4263-61E2-69AB-2BAC253C2360}"/>
              </a:ext>
            </a:extLst>
          </p:cNvPr>
          <p:cNvSpPr>
            <a:spLocks noGrp="1"/>
          </p:cNvSpPr>
          <p:nvPr>
            <p:ph idx="1"/>
          </p:nvPr>
        </p:nvSpPr>
        <p:spPr>
          <a:xfrm>
            <a:off x="702853" y="968829"/>
            <a:ext cx="10900568" cy="4931228"/>
          </a:xfrm>
        </p:spPr>
        <p:txBody>
          <a:bodyPr>
            <a:normAutofit/>
          </a:bodyPr>
          <a:lstStyle/>
          <a:p>
            <a:pPr marL="0" indent="0">
              <a:buNone/>
            </a:pPr>
            <a:r>
              <a:rPr lang="en-US" sz="2400" b="1" dirty="0"/>
              <a:t>Problem Statement:</a:t>
            </a:r>
          </a:p>
          <a:p>
            <a:pPr marL="0" indent="0">
              <a:buNone/>
            </a:pPr>
            <a:endParaRPr lang="en-IN" sz="2400" dirty="0"/>
          </a:p>
        </p:txBody>
      </p:sp>
      <p:graphicFrame>
        <p:nvGraphicFramePr>
          <p:cNvPr id="2" name="Table 1">
            <a:extLst>
              <a:ext uri="{FF2B5EF4-FFF2-40B4-BE49-F238E27FC236}">
                <a16:creationId xmlns:a16="http://schemas.microsoft.com/office/drawing/2014/main" id="{7BF820A9-AEAB-1CBE-E799-3C28ABE831E2}"/>
              </a:ext>
            </a:extLst>
          </p:cNvPr>
          <p:cNvGraphicFramePr>
            <a:graphicFrameLocks noGrp="1"/>
          </p:cNvGraphicFramePr>
          <p:nvPr>
            <p:extLst>
              <p:ext uri="{D42A27DB-BD31-4B8C-83A1-F6EECF244321}">
                <p14:modId xmlns:p14="http://schemas.microsoft.com/office/powerpoint/2010/main" val="3893678237"/>
              </p:ext>
            </p:extLst>
          </p:nvPr>
        </p:nvGraphicFramePr>
        <p:xfrm>
          <a:off x="1165360" y="1783437"/>
          <a:ext cx="7456124" cy="2679708"/>
        </p:xfrm>
        <a:graphic>
          <a:graphicData uri="http://schemas.openxmlformats.org/drawingml/2006/table">
            <a:tbl>
              <a:tblPr firstRow="1" firstCol="1" bandRow="1">
                <a:tableStyleId>{5C22544A-7EE6-4342-B048-85BDC9FD1C3A}</a:tableStyleId>
              </a:tblPr>
              <a:tblGrid>
                <a:gridCol w="2485099">
                  <a:extLst>
                    <a:ext uri="{9D8B030D-6E8A-4147-A177-3AD203B41FA5}">
                      <a16:colId xmlns:a16="http://schemas.microsoft.com/office/drawing/2014/main" val="4250616701"/>
                    </a:ext>
                  </a:extLst>
                </a:gridCol>
                <a:gridCol w="2485099">
                  <a:extLst>
                    <a:ext uri="{9D8B030D-6E8A-4147-A177-3AD203B41FA5}">
                      <a16:colId xmlns:a16="http://schemas.microsoft.com/office/drawing/2014/main" val="408921545"/>
                    </a:ext>
                  </a:extLst>
                </a:gridCol>
                <a:gridCol w="2485926">
                  <a:extLst>
                    <a:ext uri="{9D8B030D-6E8A-4147-A177-3AD203B41FA5}">
                      <a16:colId xmlns:a16="http://schemas.microsoft.com/office/drawing/2014/main" val="4122893870"/>
                    </a:ext>
                  </a:extLst>
                </a:gridCol>
              </a:tblGrid>
              <a:tr h="446618">
                <a:tc>
                  <a:txBody>
                    <a:bodyPr/>
                    <a:lstStyle/>
                    <a:p>
                      <a:pPr>
                        <a:lnSpc>
                          <a:spcPct val="107000"/>
                        </a:lnSpc>
                        <a:spcAft>
                          <a:spcPts val="800"/>
                        </a:spcAft>
                        <a:buNone/>
                      </a:pPr>
                      <a:r>
                        <a:rPr lang="en-IN" sz="2000" kern="100">
                          <a:effectLst/>
                        </a:rPr>
                        <a:t>Customer ID</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Age</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Spending Score</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022009319"/>
                  </a:ext>
                </a:extLst>
              </a:tr>
              <a:tr h="446618">
                <a:tc>
                  <a:txBody>
                    <a:bodyPr/>
                    <a:lstStyle/>
                    <a:p>
                      <a:pPr>
                        <a:lnSpc>
                          <a:spcPct val="107000"/>
                        </a:lnSpc>
                        <a:spcAft>
                          <a:spcPts val="800"/>
                        </a:spcAft>
                        <a:buNone/>
                      </a:pPr>
                      <a:r>
                        <a:rPr lang="en-IN" sz="2000" kern="100">
                          <a:effectLst/>
                        </a:rPr>
                        <a:t>1</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25</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80</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597455401"/>
                  </a:ext>
                </a:extLst>
              </a:tr>
              <a:tr h="446618">
                <a:tc>
                  <a:txBody>
                    <a:bodyPr/>
                    <a:lstStyle/>
                    <a:p>
                      <a:pPr>
                        <a:lnSpc>
                          <a:spcPct val="107000"/>
                        </a:lnSpc>
                        <a:spcAft>
                          <a:spcPts val="800"/>
                        </a:spcAft>
                        <a:buNone/>
                      </a:pPr>
                      <a:r>
                        <a:rPr lang="en-IN" sz="2000" kern="100">
                          <a:effectLst/>
                        </a:rPr>
                        <a:t>2</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34</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65</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548598037"/>
                  </a:ext>
                </a:extLst>
              </a:tr>
              <a:tr h="446618">
                <a:tc>
                  <a:txBody>
                    <a:bodyPr/>
                    <a:lstStyle/>
                    <a:p>
                      <a:pPr>
                        <a:lnSpc>
                          <a:spcPct val="107000"/>
                        </a:lnSpc>
                        <a:spcAft>
                          <a:spcPts val="800"/>
                        </a:spcAft>
                        <a:buNone/>
                      </a:pPr>
                      <a:r>
                        <a:rPr lang="en-IN" sz="2000" kern="100">
                          <a:effectLst/>
                        </a:rPr>
                        <a:t>3</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40</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20</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991682541"/>
                  </a:ext>
                </a:extLst>
              </a:tr>
              <a:tr h="446618">
                <a:tc>
                  <a:txBody>
                    <a:bodyPr/>
                    <a:lstStyle/>
                    <a:p>
                      <a:pPr>
                        <a:lnSpc>
                          <a:spcPct val="107000"/>
                        </a:lnSpc>
                        <a:spcAft>
                          <a:spcPts val="800"/>
                        </a:spcAft>
                        <a:buNone/>
                      </a:pPr>
                      <a:r>
                        <a:rPr lang="en-IN" sz="2000" kern="100">
                          <a:effectLst/>
                        </a:rPr>
                        <a:t>4</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22</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85</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220788093"/>
                  </a:ext>
                </a:extLst>
              </a:tr>
              <a:tr h="446618">
                <a:tc>
                  <a:txBody>
                    <a:bodyPr/>
                    <a:lstStyle/>
                    <a:p>
                      <a:pPr>
                        <a:lnSpc>
                          <a:spcPct val="107000"/>
                        </a:lnSpc>
                        <a:spcAft>
                          <a:spcPts val="800"/>
                        </a:spcAft>
                        <a:buNone/>
                      </a:pPr>
                      <a:r>
                        <a:rPr lang="en-IN" sz="2000" kern="100" dirty="0">
                          <a:effectLst/>
                        </a:rPr>
                        <a:t>5</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49</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10</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572278594"/>
                  </a:ext>
                </a:extLst>
              </a:tr>
            </a:tbl>
          </a:graphicData>
        </a:graphic>
      </p:graphicFrame>
    </p:spTree>
    <p:extLst>
      <p:ext uri="{BB962C8B-B14F-4D97-AF65-F5344CB8AC3E}">
        <p14:creationId xmlns:p14="http://schemas.microsoft.com/office/powerpoint/2010/main" val="3457226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16CFB-62B5-06D5-8A7A-59B46D7FA2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50FB92-4205-B258-6B8D-4E6E44E8CD15}"/>
              </a:ext>
            </a:extLst>
          </p:cNvPr>
          <p:cNvSpPr>
            <a:spLocks noGrp="1"/>
          </p:cNvSpPr>
          <p:nvPr>
            <p:ph idx="1"/>
          </p:nvPr>
        </p:nvSpPr>
        <p:spPr>
          <a:xfrm>
            <a:off x="702853" y="566057"/>
            <a:ext cx="10900568" cy="5736772"/>
          </a:xfrm>
        </p:spPr>
        <p:txBody>
          <a:bodyPr>
            <a:normAutofit/>
          </a:bodyPr>
          <a:lstStyle/>
          <a:p>
            <a:pPr marL="0" indent="0">
              <a:buNone/>
            </a:pPr>
            <a:r>
              <a:rPr lang="en-IN" sz="2800" b="1" dirty="0"/>
              <a:t>Solution: Apply K-Means Algorithm</a:t>
            </a:r>
          </a:p>
          <a:p>
            <a:pPr marL="0" indent="0">
              <a:buNone/>
            </a:pPr>
            <a:r>
              <a:rPr lang="en-IN" sz="2400" dirty="0"/>
              <a:t>Let’s assume </a:t>
            </a:r>
            <a:r>
              <a:rPr lang="en-IN" sz="2400" b="1" dirty="0">
                <a:solidFill>
                  <a:schemeClr val="tx2">
                    <a:lumMod val="75000"/>
                    <a:lumOff val="25000"/>
                  </a:schemeClr>
                </a:solidFill>
              </a:rPr>
              <a:t>K = 2</a:t>
            </a:r>
            <a:r>
              <a:rPr lang="en-IN" sz="2400" dirty="0"/>
              <a:t>.</a:t>
            </a:r>
          </a:p>
          <a:p>
            <a:pPr marL="457200" indent="-457200">
              <a:buFont typeface="+mj-lt"/>
              <a:buAutoNum type="arabicPeriod"/>
            </a:pPr>
            <a:r>
              <a:rPr lang="en-IN" sz="2800" b="1" dirty="0"/>
              <a:t>Initial centroids:</a:t>
            </a:r>
          </a:p>
          <a:p>
            <a:pPr lvl="1"/>
            <a:r>
              <a:rPr lang="en-IN" sz="2400" dirty="0"/>
              <a:t>Centroid A: (25, 80)</a:t>
            </a:r>
          </a:p>
          <a:p>
            <a:pPr lvl="1"/>
            <a:r>
              <a:rPr lang="en-IN" sz="2400" dirty="0"/>
              <a:t>Centroid B: (40, 20)</a:t>
            </a:r>
          </a:p>
          <a:p>
            <a:pPr marL="457200" indent="-457200">
              <a:buFont typeface="+mj-lt"/>
              <a:buAutoNum type="arabicPeriod"/>
            </a:pPr>
            <a:r>
              <a:rPr lang="en-IN" sz="2800" b="1" dirty="0"/>
              <a:t>Assign points to the closest centroid:</a:t>
            </a:r>
          </a:p>
          <a:p>
            <a:pPr lvl="1"/>
            <a:r>
              <a:rPr lang="en-IN" sz="2400" dirty="0"/>
              <a:t>Points 1, 2, 4 closer to Centroid A (Cluster 1)</a:t>
            </a:r>
          </a:p>
          <a:p>
            <a:pPr lvl="1"/>
            <a:r>
              <a:rPr lang="en-IN" sz="2400" dirty="0"/>
              <a:t>Points 3, 5 closer to Centroid B (Cluster 2)</a:t>
            </a:r>
          </a:p>
          <a:p>
            <a:pPr marL="457200" indent="-457200">
              <a:buFont typeface="+mj-lt"/>
              <a:buAutoNum type="arabicPeriod"/>
            </a:pPr>
            <a:r>
              <a:rPr lang="en-IN" sz="2800" b="1" dirty="0"/>
              <a:t>Recalculate centroids:</a:t>
            </a:r>
          </a:p>
          <a:p>
            <a:pPr lvl="1"/>
            <a:r>
              <a:rPr lang="en-IN" sz="2400" dirty="0"/>
              <a:t>Cluster 1 mean = </a:t>
            </a:r>
            <a:r>
              <a:rPr lang="en-IN" sz="2400" dirty="0" err="1"/>
              <a:t>avg</a:t>
            </a:r>
            <a:r>
              <a:rPr lang="en-IN" sz="2400" dirty="0"/>
              <a:t> of (25, 80), (34, 65), (22, 85)</a:t>
            </a:r>
          </a:p>
          <a:p>
            <a:pPr lvl="1"/>
            <a:r>
              <a:rPr lang="en-IN" sz="2400" dirty="0"/>
              <a:t>Cluster 2 mean = </a:t>
            </a:r>
            <a:r>
              <a:rPr lang="en-IN" sz="2400" dirty="0" err="1"/>
              <a:t>avg</a:t>
            </a:r>
            <a:r>
              <a:rPr lang="en-IN" sz="2400" dirty="0"/>
              <a:t> of (40, 20), (49, 10)</a:t>
            </a:r>
          </a:p>
          <a:p>
            <a:pPr marL="457200" indent="-457200">
              <a:buFont typeface="+mj-lt"/>
              <a:buAutoNum type="arabicPeriod"/>
            </a:pPr>
            <a:r>
              <a:rPr lang="en-IN" sz="2800" b="1" dirty="0"/>
              <a:t>Repeat</a:t>
            </a:r>
            <a:r>
              <a:rPr lang="en-IN" sz="2800" dirty="0"/>
              <a:t> this process until centroids don’t change.</a:t>
            </a:r>
          </a:p>
        </p:txBody>
      </p:sp>
    </p:spTree>
    <p:extLst>
      <p:ext uri="{BB962C8B-B14F-4D97-AF65-F5344CB8AC3E}">
        <p14:creationId xmlns:p14="http://schemas.microsoft.com/office/powerpoint/2010/main" val="34673667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67C17-8287-A5E3-79F6-05B1EF2665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9E398-F654-7B1B-3429-EC020A87BC5A}"/>
              </a:ext>
            </a:extLst>
          </p:cNvPr>
          <p:cNvSpPr>
            <a:spLocks noGrp="1"/>
          </p:cNvSpPr>
          <p:nvPr>
            <p:ph idx="1"/>
          </p:nvPr>
        </p:nvSpPr>
        <p:spPr>
          <a:xfrm>
            <a:off x="702853" y="707571"/>
            <a:ext cx="10900568" cy="5486400"/>
          </a:xfrm>
        </p:spPr>
        <p:txBody>
          <a:bodyPr>
            <a:normAutofit/>
          </a:bodyPr>
          <a:lstStyle/>
          <a:p>
            <a:pPr marL="0" indent="0">
              <a:buNone/>
            </a:pPr>
            <a:r>
              <a:rPr lang="en-US" sz="2400" b="1" dirty="0"/>
              <a:t>🔷 How to Choose K?</a:t>
            </a:r>
          </a:p>
          <a:p>
            <a:pPr marL="0" indent="0">
              <a:buNone/>
            </a:pPr>
            <a:r>
              <a:rPr lang="en-US" sz="2400" dirty="0"/>
              <a:t>Use the </a:t>
            </a:r>
            <a:r>
              <a:rPr lang="en-US" sz="2400" b="1" dirty="0">
                <a:solidFill>
                  <a:schemeClr val="tx2">
                    <a:lumMod val="75000"/>
                    <a:lumOff val="25000"/>
                  </a:schemeClr>
                </a:solidFill>
              </a:rPr>
              <a:t>Elbow</a:t>
            </a:r>
            <a:r>
              <a:rPr lang="en-US" sz="2400" dirty="0"/>
              <a:t> Method:</a:t>
            </a:r>
          </a:p>
          <a:p>
            <a:r>
              <a:rPr lang="en-US" sz="2400" dirty="0"/>
              <a:t>Run K-means for different values of K (e.g., 1 to 10)</a:t>
            </a:r>
          </a:p>
          <a:p>
            <a:r>
              <a:rPr lang="en-US" sz="2400" dirty="0"/>
              <a:t>Plot Within-Cluster Sum of Squares (WCSS)</a:t>
            </a:r>
          </a:p>
          <a:p>
            <a:r>
              <a:rPr lang="en-US" sz="2400" dirty="0"/>
              <a:t>The "</a:t>
            </a:r>
            <a:r>
              <a:rPr lang="en-US" sz="2400" b="1" dirty="0">
                <a:solidFill>
                  <a:schemeClr val="tx2">
                    <a:lumMod val="75000"/>
                    <a:lumOff val="25000"/>
                  </a:schemeClr>
                </a:solidFill>
              </a:rPr>
              <a:t>elbow point</a:t>
            </a:r>
            <a:r>
              <a:rPr lang="en-US" sz="2400" dirty="0"/>
              <a:t>" is where the decrease slows down</a:t>
            </a:r>
            <a:endParaRPr lang="en-IN" sz="2400" dirty="0"/>
          </a:p>
        </p:txBody>
      </p:sp>
      <p:grpSp>
        <p:nvGrpSpPr>
          <p:cNvPr id="2" name="Group 1">
            <a:extLst>
              <a:ext uri="{FF2B5EF4-FFF2-40B4-BE49-F238E27FC236}">
                <a16:creationId xmlns:a16="http://schemas.microsoft.com/office/drawing/2014/main" id="{85FE391D-3E5D-E891-A1C0-9BFE22400279}"/>
              </a:ext>
            </a:extLst>
          </p:cNvPr>
          <p:cNvGrpSpPr/>
          <p:nvPr/>
        </p:nvGrpSpPr>
        <p:grpSpPr>
          <a:xfrm>
            <a:off x="2447379" y="3253491"/>
            <a:ext cx="5978164" cy="3419452"/>
            <a:chOff x="858065" y="1032805"/>
            <a:chExt cx="9849080" cy="5568375"/>
          </a:xfrm>
        </p:grpSpPr>
        <p:pic>
          <p:nvPicPr>
            <p:cNvPr id="4" name="Picture 3">
              <a:extLst>
                <a:ext uri="{FF2B5EF4-FFF2-40B4-BE49-F238E27FC236}">
                  <a16:creationId xmlns:a16="http://schemas.microsoft.com/office/drawing/2014/main" id="{489EA389-3665-615F-6818-53D1158071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8065" y="1032805"/>
              <a:ext cx="9458753" cy="5498014"/>
            </a:xfrm>
            <a:prstGeom prst="rect">
              <a:avLst/>
            </a:prstGeom>
          </p:spPr>
        </p:pic>
        <p:sp>
          <p:nvSpPr>
            <p:cNvPr id="5" name="Rectangle 4">
              <a:extLst>
                <a:ext uri="{FF2B5EF4-FFF2-40B4-BE49-F238E27FC236}">
                  <a16:creationId xmlns:a16="http://schemas.microsoft.com/office/drawing/2014/main" id="{2F634B45-D11A-33C7-B734-E33B6DCF4408}"/>
                </a:ext>
              </a:extLst>
            </p:cNvPr>
            <p:cNvSpPr/>
            <p:nvPr/>
          </p:nvSpPr>
          <p:spPr>
            <a:xfrm>
              <a:off x="8672662" y="5693065"/>
              <a:ext cx="2034483" cy="9081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spTree>
    <p:extLst>
      <p:ext uri="{BB962C8B-B14F-4D97-AF65-F5344CB8AC3E}">
        <p14:creationId xmlns:p14="http://schemas.microsoft.com/office/powerpoint/2010/main" val="29895894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3A3B2-5A92-1F6A-0C42-FF050142EA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7929EA-180E-906F-5813-74FDC8341BFA}"/>
              </a:ext>
            </a:extLst>
          </p:cNvPr>
          <p:cNvSpPr>
            <a:spLocks noGrp="1"/>
          </p:cNvSpPr>
          <p:nvPr>
            <p:ph idx="1"/>
          </p:nvPr>
        </p:nvSpPr>
        <p:spPr>
          <a:xfrm>
            <a:off x="702853" y="707571"/>
            <a:ext cx="10900568" cy="5486400"/>
          </a:xfrm>
        </p:spPr>
        <p:txBody>
          <a:bodyPr>
            <a:normAutofit/>
          </a:bodyPr>
          <a:lstStyle/>
          <a:p>
            <a:pPr marL="0" indent="0">
              <a:buNone/>
            </a:pPr>
            <a:r>
              <a:rPr lang="en-US" sz="2800" b="1" dirty="0"/>
              <a:t>🔷 Applications of K-Means</a:t>
            </a:r>
          </a:p>
          <a:p>
            <a:r>
              <a:rPr lang="en-US" sz="2400" dirty="0"/>
              <a:t>Customer Segmentation</a:t>
            </a:r>
          </a:p>
          <a:p>
            <a:r>
              <a:rPr lang="en-US" sz="2400" dirty="0"/>
              <a:t>Document or News Clustering</a:t>
            </a:r>
          </a:p>
          <a:p>
            <a:r>
              <a:rPr lang="en-US" sz="2400" dirty="0"/>
              <a:t>Image Compression</a:t>
            </a:r>
          </a:p>
          <a:p>
            <a:r>
              <a:rPr lang="en-US" sz="2400" dirty="0"/>
              <a:t>Market Basket Analysis</a:t>
            </a:r>
          </a:p>
          <a:p>
            <a:pPr marL="0" indent="0">
              <a:buNone/>
            </a:pPr>
            <a:endParaRPr lang="en-IN" sz="2400" dirty="0"/>
          </a:p>
        </p:txBody>
      </p:sp>
    </p:spTree>
    <p:extLst>
      <p:ext uri="{BB962C8B-B14F-4D97-AF65-F5344CB8AC3E}">
        <p14:creationId xmlns:p14="http://schemas.microsoft.com/office/powerpoint/2010/main" val="965866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1DEED-810B-A299-51D9-210E7F59D73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0161B35-C5D2-BACC-FA5B-46C36C09D720}"/>
              </a:ext>
            </a:extLst>
          </p:cNvPr>
          <p:cNvSpPr txBox="1"/>
          <p:nvPr/>
        </p:nvSpPr>
        <p:spPr>
          <a:xfrm>
            <a:off x="603768" y="650424"/>
            <a:ext cx="10984463" cy="5386090"/>
          </a:xfrm>
          <a:prstGeom prst="rect">
            <a:avLst/>
          </a:prstGeom>
          <a:noFill/>
        </p:spPr>
        <p:txBody>
          <a:bodyPr wrap="square">
            <a:spAutoFit/>
          </a:bodyPr>
          <a:lstStyle/>
          <a:p>
            <a:r>
              <a:rPr lang="en-US" sz="2400" b="1" dirty="0">
                <a:solidFill>
                  <a:srgbClr val="C00000"/>
                </a:solidFill>
              </a:rPr>
              <a:t>2. Hierarchical clustering:</a:t>
            </a:r>
          </a:p>
          <a:p>
            <a:r>
              <a:rPr lang="en-US" sz="2000" b="0" i="0" dirty="0">
                <a:solidFill>
                  <a:srgbClr val="0D0D0D"/>
                </a:solidFill>
                <a:effectLst/>
                <a:latin typeface="Söhne"/>
              </a:rPr>
              <a:t>	Hierarchical clustering is a clustering technique used in unsupervised machine learning to </a:t>
            </a:r>
            <a:r>
              <a:rPr lang="en-US" sz="2000" b="1" i="0" dirty="0">
                <a:solidFill>
                  <a:srgbClr val="C00000"/>
                </a:solidFill>
                <a:effectLst/>
                <a:latin typeface="Söhne"/>
              </a:rPr>
              <a:t>group similar data points into </a:t>
            </a:r>
            <a:r>
              <a:rPr lang="en-US" sz="2000" b="1" i="0" dirty="0">
                <a:solidFill>
                  <a:srgbClr val="0D0D0D"/>
                </a:solidFill>
                <a:effectLst/>
                <a:latin typeface="Söhne"/>
              </a:rPr>
              <a:t>clusters </a:t>
            </a:r>
            <a:r>
              <a:rPr lang="en-US" sz="2000" b="1" i="0" dirty="0">
                <a:solidFill>
                  <a:srgbClr val="C00000"/>
                </a:solidFill>
                <a:effectLst/>
                <a:latin typeface="Söhne"/>
              </a:rPr>
              <a:t>that form a hierarchy</a:t>
            </a:r>
            <a:r>
              <a:rPr lang="en-US" sz="2000" b="0" i="0" dirty="0">
                <a:solidFill>
                  <a:srgbClr val="0D0D0D"/>
                </a:solidFill>
                <a:effectLst/>
                <a:latin typeface="Söhne"/>
              </a:rPr>
              <a:t>. Unlike k-Means, which requires the number of clusters to be specified </a:t>
            </a:r>
            <a:r>
              <a:rPr lang="en-US" sz="2000" b="1" i="0" dirty="0">
                <a:solidFill>
                  <a:srgbClr val="C00000"/>
                </a:solidFill>
                <a:effectLst/>
                <a:latin typeface="Söhne"/>
              </a:rPr>
              <a:t>beforehand</a:t>
            </a:r>
            <a:r>
              <a:rPr lang="en-US" sz="2000" b="0" i="0" dirty="0">
                <a:solidFill>
                  <a:srgbClr val="0D0D0D"/>
                </a:solidFill>
                <a:effectLst/>
                <a:latin typeface="Söhne"/>
              </a:rPr>
              <a:t>, hierarchical clustering </a:t>
            </a:r>
            <a:r>
              <a:rPr lang="en-US" sz="2000" b="1" i="0" dirty="0">
                <a:solidFill>
                  <a:srgbClr val="C00000"/>
                </a:solidFill>
                <a:effectLst/>
                <a:latin typeface="Söhne"/>
              </a:rPr>
              <a:t>does not require the number of clusters to be predefined</a:t>
            </a:r>
            <a:r>
              <a:rPr lang="en-US" sz="2000" b="0" i="0" dirty="0">
                <a:solidFill>
                  <a:srgbClr val="0D0D0D"/>
                </a:solidFill>
                <a:effectLst/>
                <a:latin typeface="Söhne"/>
              </a:rPr>
              <a:t>. Instead, it organizes the data points into a </a:t>
            </a:r>
            <a:r>
              <a:rPr lang="en-US" sz="2000" b="1" i="0" dirty="0">
                <a:solidFill>
                  <a:srgbClr val="0D0D0D"/>
                </a:solidFill>
                <a:effectLst/>
                <a:latin typeface="Söhne"/>
              </a:rPr>
              <a:t>tree-like structure</a:t>
            </a:r>
            <a:r>
              <a:rPr lang="en-US" sz="2000" b="0" i="0" dirty="0">
                <a:solidFill>
                  <a:srgbClr val="0D0D0D"/>
                </a:solidFill>
                <a:effectLst/>
                <a:latin typeface="Söhne"/>
              </a:rPr>
              <a:t>, called a </a:t>
            </a:r>
            <a:r>
              <a:rPr lang="en-US" sz="2000" b="1" i="0" dirty="0">
                <a:solidFill>
                  <a:srgbClr val="C00000"/>
                </a:solidFill>
                <a:effectLst/>
                <a:latin typeface="Söhne"/>
              </a:rPr>
              <a:t>dendrogram</a:t>
            </a:r>
            <a:r>
              <a:rPr lang="en-US" sz="2000" b="0" i="0" dirty="0">
                <a:solidFill>
                  <a:srgbClr val="0D0D0D"/>
                </a:solidFill>
                <a:effectLst/>
                <a:latin typeface="Söhne"/>
              </a:rPr>
              <a:t>, based on their similarities.</a:t>
            </a:r>
          </a:p>
          <a:p>
            <a:r>
              <a:rPr lang="en-US" sz="2000" dirty="0">
                <a:solidFill>
                  <a:srgbClr val="0D0D0D"/>
                </a:solidFill>
                <a:latin typeface="Söhne"/>
              </a:rPr>
              <a:t>	</a:t>
            </a:r>
            <a:r>
              <a:rPr lang="en-US" sz="2000" dirty="0"/>
              <a:t>The hierarchical clustering methods are used to group the data into hierarchy or tree-like structure. </a:t>
            </a:r>
          </a:p>
          <a:p>
            <a:r>
              <a:rPr lang="en-US" sz="2000" b="1" dirty="0"/>
              <a:t>For example, </a:t>
            </a:r>
            <a:r>
              <a:rPr lang="en-US" sz="2000" dirty="0"/>
              <a:t>in a machine learning problem of </a:t>
            </a:r>
            <a:r>
              <a:rPr lang="en-US" sz="2000" b="1" dirty="0">
                <a:solidFill>
                  <a:srgbClr val="C00000"/>
                </a:solidFill>
              </a:rPr>
              <a:t>organizing employees </a:t>
            </a:r>
            <a:r>
              <a:rPr lang="en-US" sz="2000" dirty="0"/>
              <a:t>of a university in different departments, first the employees are grouped under the </a:t>
            </a:r>
            <a:r>
              <a:rPr lang="en-US" sz="2000" b="1" dirty="0"/>
              <a:t>different departments </a:t>
            </a:r>
            <a:r>
              <a:rPr lang="en-US" sz="2000" dirty="0"/>
              <a:t>in the university, and then within each department, the employees can be grouped according to </a:t>
            </a:r>
            <a:r>
              <a:rPr lang="en-US" sz="2000" b="1" dirty="0"/>
              <a:t>their roles</a:t>
            </a:r>
            <a:r>
              <a:rPr lang="en-US" sz="2000" dirty="0"/>
              <a:t> such as professors, assistant professors, supervisors, lab assistants, etc. This creates a hierarchical structure of the employee data and eases visualization and analysis. Similarly, there may be a data set which has an underlying hierarchy structure that we want to discover and we can use the hierarchical clustering methods to achieve that.</a:t>
            </a:r>
          </a:p>
          <a:p>
            <a:endParaRPr lang="en-US" sz="2000" dirty="0"/>
          </a:p>
          <a:p>
            <a:endParaRPr lang="en-US" sz="2000" dirty="0"/>
          </a:p>
        </p:txBody>
      </p:sp>
    </p:spTree>
    <p:extLst>
      <p:ext uri="{BB962C8B-B14F-4D97-AF65-F5344CB8AC3E}">
        <p14:creationId xmlns:p14="http://schemas.microsoft.com/office/powerpoint/2010/main" val="34357322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8CCD8-F160-6B99-2C5C-A31ECE018BF4}"/>
            </a:ext>
          </a:extLst>
        </p:cNvPr>
        <p:cNvGrpSpPr/>
        <p:nvPr/>
      </p:nvGrpSpPr>
      <p:grpSpPr>
        <a:xfrm>
          <a:off x="0" y="0"/>
          <a:ext cx="0" cy="0"/>
          <a:chOff x="0" y="0"/>
          <a:chExt cx="0" cy="0"/>
        </a:xfrm>
      </p:grpSpPr>
      <p:pic>
        <p:nvPicPr>
          <p:cNvPr id="4098" name="Picture 2" descr="The Most Important Things You Need To Know About Agglomerative Clustering">
            <a:extLst>
              <a:ext uri="{FF2B5EF4-FFF2-40B4-BE49-F238E27FC236}">
                <a16:creationId xmlns:a16="http://schemas.microsoft.com/office/drawing/2014/main" id="{FAD738D5-A8BB-2EEA-7DA2-5F8B3BAAE6A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373" t="21912" r="21541" b="14437"/>
          <a:stretch>
            <a:fillRect/>
          </a:stretch>
        </p:blipFill>
        <p:spPr bwMode="auto">
          <a:xfrm>
            <a:off x="6749143" y="1634785"/>
            <a:ext cx="5442857" cy="463284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C6D5F4E-893B-AF2F-B59C-8B5004B68759}"/>
              </a:ext>
            </a:extLst>
          </p:cNvPr>
          <p:cNvSpPr txBox="1"/>
          <p:nvPr/>
        </p:nvSpPr>
        <p:spPr>
          <a:xfrm>
            <a:off x="650810" y="1634785"/>
            <a:ext cx="6449786" cy="4832092"/>
          </a:xfrm>
          <a:prstGeom prst="rect">
            <a:avLst/>
          </a:prstGeom>
          <a:noFill/>
        </p:spPr>
        <p:txBody>
          <a:bodyPr wrap="square">
            <a:spAutoFit/>
          </a:bodyPr>
          <a:lstStyle/>
          <a:p>
            <a:pPr algn="l">
              <a:buFont typeface="+mj-lt"/>
              <a:buAutoNum type="arabicPeriod"/>
            </a:pPr>
            <a:r>
              <a:rPr lang="en-US" sz="2400" b="1" i="0" dirty="0">
                <a:solidFill>
                  <a:srgbClr val="0D0D0D"/>
                </a:solidFill>
                <a:effectLst/>
                <a:latin typeface="Söhne"/>
              </a:rPr>
              <a:t>Agglomerative Hierarchical Clustering:</a:t>
            </a:r>
            <a:r>
              <a:rPr lang="en-US" sz="2400" b="0" i="0" dirty="0">
                <a:solidFill>
                  <a:srgbClr val="0D0D0D"/>
                </a:solidFill>
                <a:effectLst/>
                <a:latin typeface="Söhne"/>
              </a:rPr>
              <a:t>  </a:t>
            </a:r>
            <a:r>
              <a:rPr lang="en-US" sz="2400" b="1" i="0" dirty="0">
                <a:solidFill>
                  <a:srgbClr val="C00000"/>
                </a:solidFill>
                <a:effectLst/>
                <a:latin typeface="Söhne"/>
              </a:rPr>
              <a:t>(Bottom-Up)</a:t>
            </a:r>
          </a:p>
          <a:p>
            <a:pPr algn="l"/>
            <a:r>
              <a:rPr lang="en-US" sz="2000" dirty="0">
                <a:solidFill>
                  <a:srgbClr val="0D0D0D"/>
                </a:solidFill>
                <a:latin typeface="Söhne"/>
              </a:rPr>
              <a:t>	</a:t>
            </a:r>
            <a:r>
              <a:rPr lang="en-US" sz="2000" dirty="0"/>
              <a:t>The agglomerative hierarchical clustering method uses the </a:t>
            </a:r>
            <a:r>
              <a:rPr lang="en-US" sz="2000" b="1" dirty="0">
                <a:solidFill>
                  <a:srgbClr val="C00000"/>
                </a:solidFill>
              </a:rPr>
              <a:t>bottom-up strategy</a:t>
            </a:r>
            <a:r>
              <a:rPr lang="en-US" sz="2000" dirty="0"/>
              <a:t>. It starts with each object forming its </a:t>
            </a:r>
            <a:r>
              <a:rPr lang="en-US" sz="2000" b="1" dirty="0"/>
              <a:t>own cluster </a:t>
            </a:r>
            <a:r>
              <a:rPr lang="en-US" sz="2000" dirty="0"/>
              <a:t>and then iteratively merges the clusters </a:t>
            </a:r>
            <a:r>
              <a:rPr lang="en-US" sz="2000" b="1" dirty="0">
                <a:solidFill>
                  <a:srgbClr val="C00000"/>
                </a:solidFill>
              </a:rPr>
              <a:t>according to their similarity to form larger clusters.</a:t>
            </a:r>
            <a:r>
              <a:rPr lang="en-US" sz="2000" dirty="0"/>
              <a:t> It terminates either when a certain clustering condition imposed by the user is achieved or all the clusters merge into a single cluster.</a:t>
            </a:r>
          </a:p>
          <a:p>
            <a:pPr algn="l"/>
            <a:r>
              <a:rPr lang="en-US" sz="2000" b="0" i="0" dirty="0">
                <a:solidFill>
                  <a:srgbClr val="0D0D0D"/>
                </a:solidFill>
                <a:effectLst/>
                <a:latin typeface="Söhne"/>
              </a:rPr>
              <a:t>	This approach starts by considering </a:t>
            </a:r>
            <a:r>
              <a:rPr lang="en-US" sz="2000" b="1" i="0" dirty="0">
                <a:solidFill>
                  <a:srgbClr val="C00000"/>
                </a:solidFill>
                <a:effectLst/>
                <a:latin typeface="Söhne"/>
              </a:rPr>
              <a:t>each data point as a single-cluster.</a:t>
            </a:r>
            <a:r>
              <a:rPr lang="en-US" sz="2000" b="0" i="0" dirty="0">
                <a:solidFill>
                  <a:srgbClr val="0D0D0D"/>
                </a:solidFill>
                <a:effectLst/>
                <a:latin typeface="Söhne"/>
              </a:rPr>
              <a:t> Then, at each step, it merges the two closest clusters until all data points belong to a single cluster or until a stopping </a:t>
            </a:r>
            <a:r>
              <a:rPr lang="en-US" sz="2000" b="1" i="0" dirty="0">
                <a:solidFill>
                  <a:srgbClr val="C00000"/>
                </a:solidFill>
                <a:effectLst/>
                <a:latin typeface="Söhne"/>
              </a:rPr>
              <a:t>criterion is met</a:t>
            </a:r>
            <a:r>
              <a:rPr lang="en-US" sz="2000" b="0" i="0" dirty="0">
                <a:solidFill>
                  <a:srgbClr val="0D0D0D"/>
                </a:solidFill>
                <a:effectLst/>
                <a:latin typeface="Söhne"/>
              </a:rPr>
              <a:t>. The result is a </a:t>
            </a:r>
            <a:r>
              <a:rPr lang="en-US" sz="2000" b="1" i="0" dirty="0">
                <a:solidFill>
                  <a:schemeClr val="accent6"/>
                </a:solidFill>
                <a:effectLst/>
                <a:latin typeface="Söhne"/>
              </a:rPr>
              <a:t>dendrogram</a:t>
            </a:r>
            <a:r>
              <a:rPr lang="en-US" sz="2000" b="0" i="0" dirty="0">
                <a:solidFill>
                  <a:srgbClr val="0D0D0D"/>
                </a:solidFill>
                <a:effectLst/>
                <a:latin typeface="Söhne"/>
              </a:rPr>
              <a:t> that shows the merging process and allows us to identify clusters at different levels of granularity.</a:t>
            </a:r>
          </a:p>
        </p:txBody>
      </p:sp>
      <p:sp>
        <p:nvSpPr>
          <p:cNvPr id="5" name="TextBox 4">
            <a:extLst>
              <a:ext uri="{FF2B5EF4-FFF2-40B4-BE49-F238E27FC236}">
                <a16:creationId xmlns:a16="http://schemas.microsoft.com/office/drawing/2014/main" id="{F050A830-8C43-0CB1-48EA-3A845965F16D}"/>
              </a:ext>
            </a:extLst>
          </p:cNvPr>
          <p:cNvSpPr txBox="1"/>
          <p:nvPr/>
        </p:nvSpPr>
        <p:spPr>
          <a:xfrm>
            <a:off x="650810" y="434456"/>
            <a:ext cx="7793393" cy="1200329"/>
          </a:xfrm>
          <a:prstGeom prst="rect">
            <a:avLst/>
          </a:prstGeom>
          <a:noFill/>
        </p:spPr>
        <p:txBody>
          <a:bodyPr wrap="square">
            <a:spAutoFit/>
          </a:bodyPr>
          <a:lstStyle/>
          <a:p>
            <a:pPr algn="l"/>
            <a:r>
              <a:rPr lang="en-US" sz="2400" b="1" i="0" dirty="0">
                <a:solidFill>
                  <a:srgbClr val="0D0D0D"/>
                </a:solidFill>
                <a:effectLst/>
                <a:latin typeface="Söhne"/>
              </a:rPr>
              <a:t>There are two main approaches to hierarchical clustering:</a:t>
            </a:r>
          </a:p>
          <a:p>
            <a:pPr marL="342900" indent="-342900">
              <a:buAutoNum type="arabicPeriod"/>
            </a:pPr>
            <a:r>
              <a:rPr lang="en-US" sz="2400" b="1" i="0" dirty="0">
                <a:solidFill>
                  <a:schemeClr val="tx2">
                    <a:lumMod val="75000"/>
                    <a:lumOff val="25000"/>
                  </a:schemeClr>
                </a:solidFill>
                <a:effectLst/>
                <a:latin typeface="Söhne"/>
              </a:rPr>
              <a:t>Agglomerative</a:t>
            </a:r>
            <a:r>
              <a:rPr lang="en-US" sz="2400" b="1" i="0" dirty="0">
                <a:solidFill>
                  <a:srgbClr val="0D0D0D"/>
                </a:solidFill>
                <a:effectLst/>
                <a:latin typeface="Söhne"/>
              </a:rPr>
              <a:t> Hierarchical Clustering</a:t>
            </a:r>
          </a:p>
          <a:p>
            <a:pPr marL="342900" indent="-342900">
              <a:buFontTx/>
              <a:buAutoNum type="arabicPeriod"/>
            </a:pPr>
            <a:r>
              <a:rPr lang="en-US" sz="2400" b="1" i="0" dirty="0">
                <a:solidFill>
                  <a:schemeClr val="tx2">
                    <a:lumMod val="75000"/>
                    <a:lumOff val="25000"/>
                  </a:schemeClr>
                </a:solidFill>
                <a:effectLst/>
                <a:latin typeface="Söhne"/>
              </a:rPr>
              <a:t>Divisive</a:t>
            </a:r>
            <a:r>
              <a:rPr lang="en-US" sz="2400" b="1" i="0" dirty="0">
                <a:solidFill>
                  <a:srgbClr val="0D0D0D"/>
                </a:solidFill>
                <a:effectLst/>
                <a:latin typeface="Söhne"/>
              </a:rPr>
              <a:t> Hierarchical Clustering</a:t>
            </a:r>
            <a:endParaRPr lang="en-US" sz="2400" b="0" i="0" dirty="0">
              <a:solidFill>
                <a:srgbClr val="0D0D0D"/>
              </a:solidFill>
              <a:effectLst/>
              <a:latin typeface="Söhne"/>
            </a:endParaRPr>
          </a:p>
        </p:txBody>
      </p:sp>
    </p:spTree>
    <p:extLst>
      <p:ext uri="{BB962C8B-B14F-4D97-AF65-F5344CB8AC3E}">
        <p14:creationId xmlns:p14="http://schemas.microsoft.com/office/powerpoint/2010/main" val="3667093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BB6F8-D6AB-E98F-BDF2-0213C258BB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9B135F-7FDE-DA25-088D-998E309B42DD}"/>
              </a:ext>
            </a:extLst>
          </p:cNvPr>
          <p:cNvSpPr>
            <a:spLocks noGrp="1"/>
          </p:cNvSpPr>
          <p:nvPr>
            <p:ph idx="1"/>
          </p:nvPr>
        </p:nvSpPr>
        <p:spPr>
          <a:xfrm>
            <a:off x="702853" y="598714"/>
            <a:ext cx="10900568" cy="5595257"/>
          </a:xfrm>
        </p:spPr>
        <p:txBody>
          <a:bodyPr>
            <a:normAutofit fontScale="92500" lnSpcReduction="20000"/>
          </a:bodyPr>
          <a:lstStyle/>
          <a:p>
            <a:pPr marL="0" indent="0">
              <a:buNone/>
            </a:pPr>
            <a:r>
              <a:rPr lang="en-US" sz="3000" b="1" dirty="0"/>
              <a:t> Step-by-Step: Agglomerative Hierarchical Clustering</a:t>
            </a:r>
          </a:p>
          <a:p>
            <a:pPr marL="0" indent="0">
              <a:buNone/>
            </a:pPr>
            <a:r>
              <a:rPr lang="en-US" sz="2600" b="1" dirty="0"/>
              <a:t>Step 1: </a:t>
            </a:r>
            <a:r>
              <a:rPr lang="en-US" sz="2600" b="1" dirty="0">
                <a:solidFill>
                  <a:srgbClr val="002060"/>
                </a:solidFill>
              </a:rPr>
              <a:t>Treat</a:t>
            </a:r>
            <a:r>
              <a:rPr lang="en-US" sz="2600" dirty="0"/>
              <a:t> </a:t>
            </a:r>
            <a:r>
              <a:rPr lang="en-US" sz="2600" b="1" dirty="0">
                <a:solidFill>
                  <a:srgbClr val="002060"/>
                </a:solidFill>
              </a:rPr>
              <a:t>each point as its own cluster</a:t>
            </a:r>
          </a:p>
          <a:p>
            <a:pPr lvl="1"/>
            <a:r>
              <a:rPr lang="en-US" sz="2600" dirty="0"/>
              <a:t>A, B, C, D, E → 5 separate clusters</a:t>
            </a:r>
          </a:p>
          <a:p>
            <a:pPr marL="0" indent="0">
              <a:buNone/>
            </a:pPr>
            <a:endParaRPr lang="en-US" sz="2600" dirty="0"/>
          </a:p>
          <a:p>
            <a:pPr marL="0" indent="0">
              <a:buNone/>
            </a:pPr>
            <a:r>
              <a:rPr lang="en-US" sz="2600" b="1" dirty="0"/>
              <a:t>Step 2: </a:t>
            </a:r>
            <a:r>
              <a:rPr lang="en-US" sz="2600" b="1" dirty="0">
                <a:solidFill>
                  <a:srgbClr val="002060"/>
                </a:solidFill>
              </a:rPr>
              <a:t>Calculate distances between all clusters</a:t>
            </a:r>
          </a:p>
          <a:p>
            <a:pPr lvl="1"/>
            <a:r>
              <a:rPr lang="en-US" sz="2600" dirty="0"/>
              <a:t>Use a distance metric (usually Euclidean distance)</a:t>
            </a:r>
          </a:p>
          <a:p>
            <a:pPr marL="0" indent="0">
              <a:buNone/>
            </a:pPr>
            <a:endParaRPr lang="en-US" sz="2600" dirty="0"/>
          </a:p>
          <a:p>
            <a:pPr marL="0" indent="0">
              <a:buNone/>
            </a:pPr>
            <a:r>
              <a:rPr lang="en-US" sz="2600" b="1" dirty="0"/>
              <a:t>Step 3:</a:t>
            </a:r>
            <a:r>
              <a:rPr lang="en-US" sz="2600" dirty="0"/>
              <a:t> </a:t>
            </a:r>
            <a:r>
              <a:rPr lang="en-US" sz="2600" b="1" dirty="0">
                <a:solidFill>
                  <a:srgbClr val="002060"/>
                </a:solidFill>
              </a:rPr>
              <a:t>Merge the closest clusters</a:t>
            </a:r>
          </a:p>
          <a:p>
            <a:pPr lvl="1"/>
            <a:r>
              <a:rPr lang="en-US" sz="2600" dirty="0"/>
              <a:t>Merge the pair with the least distance</a:t>
            </a:r>
          </a:p>
          <a:p>
            <a:pPr marL="0" indent="0">
              <a:buNone/>
            </a:pPr>
            <a:endParaRPr lang="en-US" sz="2600" dirty="0"/>
          </a:p>
          <a:p>
            <a:pPr marL="0" indent="0">
              <a:buNone/>
            </a:pPr>
            <a:r>
              <a:rPr lang="en-US" sz="2600" b="1" dirty="0"/>
              <a:t>Step 4: </a:t>
            </a:r>
            <a:r>
              <a:rPr lang="en-US" sz="2600" b="1" dirty="0">
                <a:solidFill>
                  <a:srgbClr val="002060"/>
                </a:solidFill>
              </a:rPr>
              <a:t>Recalculate distances between the new cluster and all other clusters</a:t>
            </a:r>
          </a:p>
          <a:p>
            <a:pPr lvl="1"/>
            <a:r>
              <a:rPr lang="en-US" sz="2600" dirty="0"/>
              <a:t>Depends on </a:t>
            </a:r>
            <a:r>
              <a:rPr lang="en-US" sz="2600" b="1" dirty="0">
                <a:solidFill>
                  <a:schemeClr val="tx2">
                    <a:lumMod val="75000"/>
                    <a:lumOff val="25000"/>
                  </a:schemeClr>
                </a:solidFill>
              </a:rPr>
              <a:t>linkage method </a:t>
            </a:r>
            <a:r>
              <a:rPr lang="en-US" sz="2600" dirty="0"/>
              <a:t>(next slide)</a:t>
            </a:r>
          </a:p>
          <a:p>
            <a:pPr marL="0" indent="0">
              <a:buNone/>
            </a:pPr>
            <a:endParaRPr lang="en-US" sz="2600" dirty="0"/>
          </a:p>
          <a:p>
            <a:pPr marL="0" indent="0">
              <a:buNone/>
            </a:pPr>
            <a:r>
              <a:rPr lang="en-US" sz="2600" b="1" dirty="0"/>
              <a:t>Step 5: </a:t>
            </a:r>
            <a:r>
              <a:rPr lang="en-US" sz="2600" b="1" dirty="0">
                <a:solidFill>
                  <a:srgbClr val="002060"/>
                </a:solidFill>
              </a:rPr>
              <a:t>Repeat Steps 3–4 </a:t>
            </a:r>
            <a:r>
              <a:rPr lang="en-US" sz="2600" b="1" dirty="0">
                <a:solidFill>
                  <a:schemeClr val="tx2">
                    <a:lumMod val="75000"/>
                    <a:lumOff val="25000"/>
                  </a:schemeClr>
                </a:solidFill>
              </a:rPr>
              <a:t>until only one cluster remains</a:t>
            </a:r>
            <a:endParaRPr lang="en-IN" sz="2600" b="1" dirty="0">
              <a:solidFill>
                <a:schemeClr val="tx2">
                  <a:lumMod val="75000"/>
                  <a:lumOff val="25000"/>
                </a:schemeClr>
              </a:solidFill>
            </a:endParaRPr>
          </a:p>
        </p:txBody>
      </p:sp>
    </p:spTree>
    <p:extLst>
      <p:ext uri="{BB962C8B-B14F-4D97-AF65-F5344CB8AC3E}">
        <p14:creationId xmlns:p14="http://schemas.microsoft.com/office/powerpoint/2010/main" val="928423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4473A-B4A6-5F70-F0CC-86269743D1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9B8BBA-2857-79C8-3F5D-7F5FEC76B3BE}"/>
              </a:ext>
            </a:extLst>
          </p:cNvPr>
          <p:cNvSpPr>
            <a:spLocks noGrp="1"/>
          </p:cNvSpPr>
          <p:nvPr>
            <p:ph type="title"/>
          </p:nvPr>
        </p:nvSpPr>
        <p:spPr>
          <a:xfrm>
            <a:off x="777240" y="365125"/>
            <a:ext cx="11186160" cy="1325563"/>
          </a:xfrm>
        </p:spPr>
        <p:txBody>
          <a:bodyPr anchor="ctr">
            <a:noAutofit/>
          </a:bodyPr>
          <a:lstStyle/>
          <a:p>
            <a:r>
              <a:rPr lang="en-US" sz="2800" b="1" dirty="0"/>
              <a:t>🔷 Linkage Methods </a:t>
            </a:r>
            <a:r>
              <a:rPr lang="en-US" sz="2400" b="1" dirty="0"/>
              <a:t>(How to measure distance between clusters):</a:t>
            </a:r>
            <a:endParaRPr lang="en-US" sz="2800" b="1" dirty="0"/>
          </a:p>
        </p:txBody>
      </p:sp>
      <p:graphicFrame>
        <p:nvGraphicFramePr>
          <p:cNvPr id="5" name="Table 4">
            <a:extLst>
              <a:ext uri="{FF2B5EF4-FFF2-40B4-BE49-F238E27FC236}">
                <a16:creationId xmlns:a16="http://schemas.microsoft.com/office/drawing/2014/main" id="{A86CF2E0-0C2D-0218-B392-80D0E051D58B}"/>
              </a:ext>
            </a:extLst>
          </p:cNvPr>
          <p:cNvGraphicFramePr>
            <a:graphicFrameLocks noGrp="1"/>
          </p:cNvGraphicFramePr>
          <p:nvPr>
            <p:extLst>
              <p:ext uri="{D42A27DB-BD31-4B8C-83A1-F6EECF244321}">
                <p14:modId xmlns:p14="http://schemas.microsoft.com/office/powerpoint/2010/main" val="1775155407"/>
              </p:ext>
            </p:extLst>
          </p:nvPr>
        </p:nvGraphicFramePr>
        <p:xfrm>
          <a:off x="777240" y="2119269"/>
          <a:ext cx="10659108" cy="3764053"/>
        </p:xfrm>
        <a:graphic>
          <a:graphicData uri="http://schemas.openxmlformats.org/drawingml/2006/table">
            <a:tbl>
              <a:tblPr firstRow="1" firstCol="1" bandRow="1">
                <a:tableStyleId>{5C22544A-7EE6-4342-B048-85BDC9FD1C3A}</a:tableStyleId>
              </a:tblPr>
              <a:tblGrid>
                <a:gridCol w="3775329">
                  <a:extLst>
                    <a:ext uri="{9D8B030D-6E8A-4147-A177-3AD203B41FA5}">
                      <a16:colId xmlns:a16="http://schemas.microsoft.com/office/drawing/2014/main" val="679707189"/>
                    </a:ext>
                  </a:extLst>
                </a:gridCol>
                <a:gridCol w="6883779">
                  <a:extLst>
                    <a:ext uri="{9D8B030D-6E8A-4147-A177-3AD203B41FA5}">
                      <a16:colId xmlns:a16="http://schemas.microsoft.com/office/drawing/2014/main" val="2593696760"/>
                    </a:ext>
                  </a:extLst>
                </a:gridCol>
              </a:tblGrid>
              <a:tr h="496325">
                <a:tc>
                  <a:txBody>
                    <a:bodyPr/>
                    <a:lstStyle/>
                    <a:p>
                      <a:pPr>
                        <a:lnSpc>
                          <a:spcPct val="107000"/>
                        </a:lnSpc>
                        <a:spcAft>
                          <a:spcPts val="800"/>
                        </a:spcAft>
                        <a:buNone/>
                      </a:pPr>
                      <a:r>
                        <a:rPr lang="en-IN" sz="2600" kern="100">
                          <a:effectLst/>
                        </a:rPr>
                        <a:t>Linkage Type</a:t>
                      </a:r>
                      <a:endParaRPr lang="en-IN" sz="2600" kern="100">
                        <a:effectLst/>
                        <a:latin typeface="Aptos" panose="020B0004020202020204" pitchFamily="34" charset="0"/>
                        <a:ea typeface="Aptos" panose="020B0004020202020204" pitchFamily="34" charset="0"/>
                        <a:cs typeface="Tunga" panose="020B0502040204020203" pitchFamily="34" charset="0"/>
                      </a:endParaRPr>
                    </a:p>
                  </a:txBody>
                  <a:tcPr marL="163424" marR="163424" marT="0" marB="0"/>
                </a:tc>
                <a:tc>
                  <a:txBody>
                    <a:bodyPr/>
                    <a:lstStyle/>
                    <a:p>
                      <a:pPr>
                        <a:lnSpc>
                          <a:spcPct val="107000"/>
                        </a:lnSpc>
                        <a:spcAft>
                          <a:spcPts val="800"/>
                        </a:spcAft>
                        <a:buNone/>
                      </a:pPr>
                      <a:r>
                        <a:rPr lang="en-IN" sz="2600" kern="100">
                          <a:effectLst/>
                        </a:rPr>
                        <a:t>Description</a:t>
                      </a:r>
                      <a:endParaRPr lang="en-IN" sz="2600" kern="100">
                        <a:effectLst/>
                        <a:latin typeface="Aptos" panose="020B0004020202020204" pitchFamily="34" charset="0"/>
                        <a:ea typeface="Aptos" panose="020B0004020202020204" pitchFamily="34" charset="0"/>
                        <a:cs typeface="Tunga" panose="020B0502040204020203" pitchFamily="34" charset="0"/>
                      </a:endParaRPr>
                    </a:p>
                  </a:txBody>
                  <a:tcPr marL="163424" marR="163424" marT="0" marB="0"/>
                </a:tc>
                <a:extLst>
                  <a:ext uri="{0D108BD9-81ED-4DB2-BD59-A6C34878D82A}">
                    <a16:rowId xmlns:a16="http://schemas.microsoft.com/office/drawing/2014/main" val="1455256466"/>
                  </a:ext>
                </a:extLst>
              </a:tr>
              <a:tr h="923801">
                <a:tc>
                  <a:txBody>
                    <a:bodyPr/>
                    <a:lstStyle/>
                    <a:p>
                      <a:pPr>
                        <a:lnSpc>
                          <a:spcPct val="107000"/>
                        </a:lnSpc>
                        <a:spcAft>
                          <a:spcPts val="800"/>
                        </a:spcAft>
                        <a:buNone/>
                      </a:pPr>
                      <a:r>
                        <a:rPr lang="en-IN" sz="2600" kern="100">
                          <a:effectLst/>
                        </a:rPr>
                        <a:t>Single</a:t>
                      </a:r>
                      <a:endParaRPr lang="en-IN" sz="2600" kern="100">
                        <a:effectLst/>
                        <a:latin typeface="Aptos" panose="020B0004020202020204" pitchFamily="34" charset="0"/>
                        <a:ea typeface="Aptos" panose="020B0004020202020204" pitchFamily="34" charset="0"/>
                        <a:cs typeface="Tunga" panose="020B0502040204020203" pitchFamily="34" charset="0"/>
                      </a:endParaRPr>
                    </a:p>
                  </a:txBody>
                  <a:tcPr marL="163424" marR="163424" marT="0" marB="0"/>
                </a:tc>
                <a:tc>
                  <a:txBody>
                    <a:bodyPr/>
                    <a:lstStyle/>
                    <a:p>
                      <a:pPr>
                        <a:lnSpc>
                          <a:spcPct val="107000"/>
                        </a:lnSpc>
                        <a:spcAft>
                          <a:spcPts val="800"/>
                        </a:spcAft>
                        <a:buNone/>
                      </a:pPr>
                      <a:r>
                        <a:rPr lang="en-IN" sz="2600" kern="100" dirty="0">
                          <a:effectLst/>
                        </a:rPr>
                        <a:t>Distance between the closest points of two clusters</a:t>
                      </a:r>
                      <a:endParaRPr lang="en-IN" sz="2600" kern="100" dirty="0">
                        <a:effectLst/>
                        <a:latin typeface="Aptos" panose="020B0004020202020204" pitchFamily="34" charset="0"/>
                        <a:ea typeface="Aptos" panose="020B0004020202020204" pitchFamily="34" charset="0"/>
                        <a:cs typeface="Tunga" panose="020B0502040204020203" pitchFamily="34" charset="0"/>
                      </a:endParaRPr>
                    </a:p>
                  </a:txBody>
                  <a:tcPr marL="163424" marR="163424" marT="0" marB="0"/>
                </a:tc>
                <a:extLst>
                  <a:ext uri="{0D108BD9-81ED-4DB2-BD59-A6C34878D82A}">
                    <a16:rowId xmlns:a16="http://schemas.microsoft.com/office/drawing/2014/main" val="2543470977"/>
                  </a:ext>
                </a:extLst>
              </a:tr>
              <a:tr h="496325">
                <a:tc>
                  <a:txBody>
                    <a:bodyPr/>
                    <a:lstStyle/>
                    <a:p>
                      <a:pPr>
                        <a:lnSpc>
                          <a:spcPct val="107000"/>
                        </a:lnSpc>
                        <a:spcAft>
                          <a:spcPts val="800"/>
                        </a:spcAft>
                        <a:buNone/>
                      </a:pPr>
                      <a:r>
                        <a:rPr lang="en-IN" sz="2600" kern="100">
                          <a:effectLst/>
                        </a:rPr>
                        <a:t>Complete</a:t>
                      </a:r>
                      <a:endParaRPr lang="en-IN" sz="2600" kern="100">
                        <a:effectLst/>
                        <a:latin typeface="Aptos" panose="020B0004020202020204" pitchFamily="34" charset="0"/>
                        <a:ea typeface="Aptos" panose="020B0004020202020204" pitchFamily="34" charset="0"/>
                        <a:cs typeface="Tunga" panose="020B0502040204020203" pitchFamily="34" charset="0"/>
                      </a:endParaRPr>
                    </a:p>
                  </a:txBody>
                  <a:tcPr marL="163424" marR="163424" marT="0" marB="0"/>
                </a:tc>
                <a:tc>
                  <a:txBody>
                    <a:bodyPr/>
                    <a:lstStyle/>
                    <a:p>
                      <a:pPr>
                        <a:lnSpc>
                          <a:spcPct val="107000"/>
                        </a:lnSpc>
                        <a:spcAft>
                          <a:spcPts val="800"/>
                        </a:spcAft>
                        <a:buNone/>
                      </a:pPr>
                      <a:r>
                        <a:rPr lang="en-IN" sz="2600" kern="100">
                          <a:effectLst/>
                        </a:rPr>
                        <a:t>Distance between the farthest points</a:t>
                      </a:r>
                      <a:endParaRPr lang="en-IN" sz="2600" kern="100">
                        <a:effectLst/>
                        <a:latin typeface="Aptos" panose="020B0004020202020204" pitchFamily="34" charset="0"/>
                        <a:ea typeface="Aptos" panose="020B0004020202020204" pitchFamily="34" charset="0"/>
                        <a:cs typeface="Tunga" panose="020B0502040204020203" pitchFamily="34" charset="0"/>
                      </a:endParaRPr>
                    </a:p>
                  </a:txBody>
                  <a:tcPr marL="163424" marR="163424" marT="0" marB="0"/>
                </a:tc>
                <a:extLst>
                  <a:ext uri="{0D108BD9-81ED-4DB2-BD59-A6C34878D82A}">
                    <a16:rowId xmlns:a16="http://schemas.microsoft.com/office/drawing/2014/main" val="2533710684"/>
                  </a:ext>
                </a:extLst>
              </a:tr>
              <a:tr h="923801">
                <a:tc>
                  <a:txBody>
                    <a:bodyPr/>
                    <a:lstStyle/>
                    <a:p>
                      <a:pPr>
                        <a:lnSpc>
                          <a:spcPct val="107000"/>
                        </a:lnSpc>
                        <a:spcAft>
                          <a:spcPts val="800"/>
                        </a:spcAft>
                        <a:buNone/>
                      </a:pPr>
                      <a:r>
                        <a:rPr lang="en-IN" sz="2600" kern="100">
                          <a:effectLst/>
                        </a:rPr>
                        <a:t>Average</a:t>
                      </a:r>
                      <a:endParaRPr lang="en-IN" sz="2600" kern="100">
                        <a:effectLst/>
                        <a:latin typeface="Aptos" panose="020B0004020202020204" pitchFamily="34" charset="0"/>
                        <a:ea typeface="Aptos" panose="020B0004020202020204" pitchFamily="34" charset="0"/>
                        <a:cs typeface="Tunga" panose="020B0502040204020203" pitchFamily="34" charset="0"/>
                      </a:endParaRPr>
                    </a:p>
                  </a:txBody>
                  <a:tcPr marL="163424" marR="163424" marT="0" marB="0"/>
                </a:tc>
                <a:tc>
                  <a:txBody>
                    <a:bodyPr/>
                    <a:lstStyle/>
                    <a:p>
                      <a:pPr>
                        <a:lnSpc>
                          <a:spcPct val="107000"/>
                        </a:lnSpc>
                        <a:spcAft>
                          <a:spcPts val="800"/>
                        </a:spcAft>
                        <a:buNone/>
                      </a:pPr>
                      <a:r>
                        <a:rPr lang="en-IN" sz="2600" kern="100">
                          <a:effectLst/>
                        </a:rPr>
                        <a:t>Average distance between all points of the two clusters</a:t>
                      </a:r>
                      <a:endParaRPr lang="en-IN" sz="2600" kern="100">
                        <a:effectLst/>
                        <a:latin typeface="Aptos" panose="020B0004020202020204" pitchFamily="34" charset="0"/>
                        <a:ea typeface="Aptos" panose="020B0004020202020204" pitchFamily="34" charset="0"/>
                        <a:cs typeface="Tunga" panose="020B0502040204020203" pitchFamily="34" charset="0"/>
                      </a:endParaRPr>
                    </a:p>
                  </a:txBody>
                  <a:tcPr marL="163424" marR="163424" marT="0" marB="0"/>
                </a:tc>
                <a:extLst>
                  <a:ext uri="{0D108BD9-81ED-4DB2-BD59-A6C34878D82A}">
                    <a16:rowId xmlns:a16="http://schemas.microsoft.com/office/drawing/2014/main" val="1391478989"/>
                  </a:ext>
                </a:extLst>
              </a:tr>
              <a:tr h="923801">
                <a:tc>
                  <a:txBody>
                    <a:bodyPr/>
                    <a:lstStyle/>
                    <a:p>
                      <a:pPr>
                        <a:lnSpc>
                          <a:spcPct val="107000"/>
                        </a:lnSpc>
                        <a:spcAft>
                          <a:spcPts val="800"/>
                        </a:spcAft>
                        <a:buNone/>
                      </a:pPr>
                      <a:r>
                        <a:rPr lang="en-IN" sz="2600" kern="100">
                          <a:effectLst/>
                        </a:rPr>
                        <a:t>Ward</a:t>
                      </a:r>
                      <a:endParaRPr lang="en-IN" sz="2600" kern="100">
                        <a:effectLst/>
                        <a:latin typeface="Aptos" panose="020B0004020202020204" pitchFamily="34" charset="0"/>
                        <a:ea typeface="Aptos" panose="020B0004020202020204" pitchFamily="34" charset="0"/>
                        <a:cs typeface="Tunga" panose="020B0502040204020203" pitchFamily="34" charset="0"/>
                      </a:endParaRPr>
                    </a:p>
                  </a:txBody>
                  <a:tcPr marL="163424" marR="163424" marT="0" marB="0"/>
                </a:tc>
                <a:tc>
                  <a:txBody>
                    <a:bodyPr/>
                    <a:lstStyle/>
                    <a:p>
                      <a:pPr>
                        <a:lnSpc>
                          <a:spcPct val="107000"/>
                        </a:lnSpc>
                        <a:spcAft>
                          <a:spcPts val="800"/>
                        </a:spcAft>
                        <a:buNone/>
                      </a:pPr>
                      <a:r>
                        <a:rPr lang="en-IN" sz="2600" kern="100" dirty="0">
                          <a:effectLst/>
                        </a:rPr>
                        <a:t>Minimize variance between clusters (default in scikit-learn)</a:t>
                      </a:r>
                      <a:endParaRPr lang="en-IN" sz="2600" kern="100" dirty="0">
                        <a:effectLst/>
                        <a:latin typeface="Aptos" panose="020B0004020202020204" pitchFamily="34" charset="0"/>
                        <a:ea typeface="Aptos" panose="020B0004020202020204" pitchFamily="34" charset="0"/>
                        <a:cs typeface="Tunga" panose="020B0502040204020203" pitchFamily="34" charset="0"/>
                      </a:endParaRPr>
                    </a:p>
                  </a:txBody>
                  <a:tcPr marL="163424" marR="163424" marT="0" marB="0"/>
                </a:tc>
                <a:extLst>
                  <a:ext uri="{0D108BD9-81ED-4DB2-BD59-A6C34878D82A}">
                    <a16:rowId xmlns:a16="http://schemas.microsoft.com/office/drawing/2014/main" val="728695204"/>
                  </a:ext>
                </a:extLst>
              </a:tr>
            </a:tbl>
          </a:graphicData>
        </a:graphic>
      </p:graphicFrame>
    </p:spTree>
    <p:extLst>
      <p:ext uri="{BB962C8B-B14F-4D97-AF65-F5344CB8AC3E}">
        <p14:creationId xmlns:p14="http://schemas.microsoft.com/office/powerpoint/2010/main" val="972782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6E852-5A86-1A87-E8C1-73A1A8E8B126}"/>
            </a:ext>
          </a:extLst>
        </p:cNvPr>
        <p:cNvGrpSpPr/>
        <p:nvPr/>
      </p:nvGrpSpPr>
      <p:grpSpPr>
        <a:xfrm>
          <a:off x="0" y="0"/>
          <a:ext cx="0" cy="0"/>
          <a:chOff x="0" y="0"/>
          <a:chExt cx="0" cy="0"/>
        </a:xfrm>
      </p:grpSpPr>
      <p:sp>
        <p:nvSpPr>
          <p:cNvPr id="4103" name="Title 1">
            <a:extLst>
              <a:ext uri="{FF2B5EF4-FFF2-40B4-BE49-F238E27FC236}">
                <a16:creationId xmlns:a16="http://schemas.microsoft.com/office/drawing/2014/main" id="{52FF76B6-4F01-43CB-3B72-B26A00EDD666}"/>
              </a:ext>
            </a:extLst>
          </p:cNvPr>
          <p:cNvSpPr>
            <a:spLocks noGrp="1"/>
          </p:cNvSpPr>
          <p:nvPr>
            <p:ph type="title"/>
          </p:nvPr>
        </p:nvSpPr>
        <p:spPr>
          <a:xfrm>
            <a:off x="777240" y="457200"/>
            <a:ext cx="4790123" cy="2501900"/>
          </a:xfrm>
        </p:spPr>
        <p:txBody>
          <a:bodyPr>
            <a:normAutofit/>
          </a:bodyPr>
          <a:lstStyle/>
          <a:p>
            <a:r>
              <a:rPr lang="en-US" b="1" dirty="0"/>
              <a:t>Dendrogram: The Tree of Clusters 🌳</a:t>
            </a:r>
            <a:br>
              <a:rPr lang="en-US" b="1" dirty="0"/>
            </a:br>
            <a:endParaRPr lang="en-US" dirty="0"/>
          </a:p>
        </p:txBody>
      </p:sp>
      <p:sp>
        <p:nvSpPr>
          <p:cNvPr id="3" name="Content Placeholder 2">
            <a:extLst>
              <a:ext uri="{FF2B5EF4-FFF2-40B4-BE49-F238E27FC236}">
                <a16:creationId xmlns:a16="http://schemas.microsoft.com/office/drawing/2014/main" id="{9AA9EA31-59F0-551C-B58A-68C9D19873B3}"/>
              </a:ext>
            </a:extLst>
          </p:cNvPr>
          <p:cNvSpPr>
            <a:spLocks noGrp="1"/>
          </p:cNvSpPr>
          <p:nvPr>
            <p:ph type="body" sz="half" idx="2"/>
          </p:nvPr>
        </p:nvSpPr>
        <p:spPr>
          <a:xfrm>
            <a:off x="777240" y="2711450"/>
            <a:ext cx="4790123" cy="2776537"/>
          </a:xfrm>
        </p:spPr>
        <p:txBody>
          <a:bodyPr>
            <a:normAutofit fontScale="92500"/>
          </a:bodyPr>
          <a:lstStyle/>
          <a:p>
            <a:pPr marL="0" indent="0">
              <a:buNone/>
            </a:pPr>
            <a:r>
              <a:rPr lang="en-US" sz="2400" dirty="0"/>
              <a:t>A </a:t>
            </a:r>
            <a:r>
              <a:rPr lang="en-US" sz="2400" b="1" dirty="0"/>
              <a:t>dendrogram</a:t>
            </a:r>
            <a:r>
              <a:rPr lang="en-US" sz="2400" dirty="0"/>
              <a:t> is a diagram showing </a:t>
            </a:r>
            <a:r>
              <a:rPr lang="en-US" sz="2400" b="1" dirty="0"/>
              <a:t>how clusters were merged</a:t>
            </a:r>
            <a:r>
              <a:rPr lang="en-US" sz="2400" dirty="0"/>
              <a:t> or </a:t>
            </a:r>
            <a:r>
              <a:rPr lang="en-US" sz="2400" b="1" dirty="0"/>
              <a:t>split</a:t>
            </a:r>
            <a:r>
              <a:rPr lang="en-US" sz="2400" dirty="0"/>
              <a:t> </a:t>
            </a:r>
            <a:r>
              <a:rPr lang="en-US" sz="2400" b="1" dirty="0"/>
              <a:t>at</a:t>
            </a:r>
            <a:r>
              <a:rPr lang="en-US" sz="2400" dirty="0"/>
              <a:t> </a:t>
            </a:r>
            <a:r>
              <a:rPr lang="en-US" sz="2400" b="1" dirty="0"/>
              <a:t>each</a:t>
            </a:r>
            <a:r>
              <a:rPr lang="en-US" sz="2400" dirty="0"/>
              <a:t> </a:t>
            </a:r>
            <a:r>
              <a:rPr lang="en-US" sz="2400" b="1" dirty="0"/>
              <a:t>step</a:t>
            </a:r>
            <a:r>
              <a:rPr lang="en-US" sz="2400" dirty="0"/>
              <a:t>.</a:t>
            </a:r>
          </a:p>
          <a:p>
            <a:pPr marL="342900" indent="-342900">
              <a:buFont typeface="Arial" panose="020B0604020202020204" pitchFamily="34" charset="0"/>
              <a:buChar char="•"/>
            </a:pPr>
            <a:r>
              <a:rPr lang="en-US" sz="2200" dirty="0"/>
              <a:t>The height of the branches shows the distance (dissimilarity) between clusters.</a:t>
            </a:r>
          </a:p>
          <a:p>
            <a:pPr marL="342900" indent="-342900">
              <a:buFont typeface="Arial" panose="020B0604020202020204" pitchFamily="34" charset="0"/>
              <a:buChar char="•"/>
            </a:pPr>
            <a:r>
              <a:rPr lang="en-US" sz="2200" dirty="0"/>
              <a:t>You can cut the dendrogram at a certain height to choose the number of clusters.</a:t>
            </a:r>
            <a:endParaRPr lang="en-IN" sz="2200" dirty="0"/>
          </a:p>
        </p:txBody>
      </p:sp>
      <p:pic>
        <p:nvPicPr>
          <p:cNvPr id="4100" name="Picture 4" descr="What is hierarchical clustering? - mTab">
            <a:extLst>
              <a:ext uri="{FF2B5EF4-FFF2-40B4-BE49-F238E27FC236}">
                <a16:creationId xmlns:a16="http://schemas.microsoft.com/office/drawing/2014/main" id="{6039FF5D-42C8-1510-3C75-9E5A27D119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0854" y="717233"/>
            <a:ext cx="5423533" cy="5423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0487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2190C-BBA2-EB67-58BB-18E836C342DB}"/>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43209140-ADDA-EBB1-2152-3366962A652C}"/>
              </a:ext>
            </a:extLst>
          </p:cNvPr>
          <p:cNvGrpSpPr/>
          <p:nvPr/>
        </p:nvGrpSpPr>
        <p:grpSpPr>
          <a:xfrm>
            <a:off x="0" y="0"/>
            <a:ext cx="12192000" cy="6878206"/>
            <a:chOff x="0" y="0"/>
            <a:chExt cx="12192000" cy="6878206"/>
          </a:xfrm>
        </p:grpSpPr>
        <p:pic>
          <p:nvPicPr>
            <p:cNvPr id="7170" name="Picture 2" descr="An Introduction to Hierarchical Clustering in Python | DataCamp">
              <a:extLst>
                <a:ext uri="{FF2B5EF4-FFF2-40B4-BE49-F238E27FC236}">
                  <a16:creationId xmlns:a16="http://schemas.microsoft.com/office/drawing/2014/main" id="{9F6193B6-2A91-F022-CEB2-EFF39B0D0F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4253" y="0"/>
              <a:ext cx="8487747"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386897D-0F43-4E63-2883-EECB4C1045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206"/>
              <a:ext cx="3704253" cy="6858000"/>
            </a:xfrm>
            <a:prstGeom prst="rect">
              <a:avLst/>
            </a:prstGeom>
          </p:spPr>
        </p:pic>
      </p:grpSp>
      <p:sp>
        <p:nvSpPr>
          <p:cNvPr id="3" name="TextBox 2">
            <a:extLst>
              <a:ext uri="{FF2B5EF4-FFF2-40B4-BE49-F238E27FC236}">
                <a16:creationId xmlns:a16="http://schemas.microsoft.com/office/drawing/2014/main" id="{820618C5-227F-DF4A-520F-04F841D7B5B3}"/>
              </a:ext>
            </a:extLst>
          </p:cNvPr>
          <p:cNvSpPr txBox="1"/>
          <p:nvPr/>
        </p:nvSpPr>
        <p:spPr>
          <a:xfrm>
            <a:off x="73867" y="119466"/>
            <a:ext cx="3932075" cy="4832092"/>
          </a:xfrm>
          <a:prstGeom prst="rect">
            <a:avLst/>
          </a:prstGeom>
          <a:noFill/>
        </p:spPr>
        <p:txBody>
          <a:bodyPr wrap="square">
            <a:spAutoFit/>
          </a:bodyPr>
          <a:lstStyle/>
          <a:p>
            <a:pPr algn="l"/>
            <a:r>
              <a:rPr lang="en-US" sz="2400" b="1" i="0" dirty="0">
                <a:solidFill>
                  <a:srgbClr val="0D0D0D"/>
                </a:solidFill>
                <a:effectLst/>
                <a:latin typeface="Söhne"/>
              </a:rPr>
              <a:t>2. Divisive Hierarchical Clustering:</a:t>
            </a:r>
            <a:r>
              <a:rPr lang="en-US" sz="2400" b="0" i="0" dirty="0">
                <a:solidFill>
                  <a:srgbClr val="0D0D0D"/>
                </a:solidFill>
                <a:effectLst/>
                <a:latin typeface="Söhne"/>
              </a:rPr>
              <a:t>  </a:t>
            </a:r>
            <a:r>
              <a:rPr lang="en-US" sz="2400" b="1" i="0" dirty="0">
                <a:solidFill>
                  <a:srgbClr val="C00000"/>
                </a:solidFill>
                <a:effectLst/>
                <a:latin typeface="Söhne"/>
              </a:rPr>
              <a:t>(Top-Down)</a:t>
            </a:r>
          </a:p>
          <a:p>
            <a:pPr algn="l"/>
            <a:r>
              <a:rPr lang="en-US" sz="2000" dirty="0">
                <a:solidFill>
                  <a:srgbClr val="0D0D0D"/>
                </a:solidFill>
                <a:latin typeface="Söhne"/>
              </a:rPr>
              <a:t>	</a:t>
            </a:r>
            <a:r>
              <a:rPr lang="en-US" sz="2000" dirty="0"/>
              <a:t>The divisive hierarchical clustering method uses a top-down strategy. The starting point is the </a:t>
            </a:r>
            <a:r>
              <a:rPr lang="en-US" sz="2000" b="1" dirty="0">
                <a:solidFill>
                  <a:srgbClr val="C00000"/>
                </a:solidFill>
              </a:rPr>
              <a:t>largest cluster </a:t>
            </a:r>
            <a:r>
              <a:rPr lang="en-US" sz="2000" dirty="0"/>
              <a:t>with all the objects in it, and then, it is </a:t>
            </a:r>
            <a:r>
              <a:rPr lang="en-US" sz="2000" b="1" dirty="0">
                <a:solidFill>
                  <a:srgbClr val="C00000"/>
                </a:solidFill>
              </a:rPr>
              <a:t>split recursively </a:t>
            </a:r>
            <a:r>
              <a:rPr lang="en-US" sz="2000" dirty="0"/>
              <a:t>to form smaller and smaller clusters, thus forming the hierarchy. </a:t>
            </a:r>
            <a:r>
              <a:rPr lang="en-US" sz="2000" b="1" dirty="0">
                <a:solidFill>
                  <a:schemeClr val="accent6">
                    <a:lumMod val="50000"/>
                  </a:schemeClr>
                </a:solidFill>
              </a:rPr>
              <a:t>The end of iterations is achieved when the objects in the final clusters are sufficiently homogeneous to each other or the final clusters contain only one object or the user-defined clustering condition is achieved</a:t>
            </a:r>
            <a:r>
              <a:rPr lang="en-US" sz="2000" dirty="0"/>
              <a:t>.</a:t>
            </a:r>
            <a:endParaRPr lang="en-US" sz="2000" b="0" i="0" dirty="0">
              <a:solidFill>
                <a:srgbClr val="0D0D0D"/>
              </a:solidFill>
              <a:effectLst/>
              <a:latin typeface="Söhne"/>
            </a:endParaRPr>
          </a:p>
        </p:txBody>
      </p:sp>
    </p:spTree>
    <p:extLst>
      <p:ext uri="{BB962C8B-B14F-4D97-AF65-F5344CB8AC3E}">
        <p14:creationId xmlns:p14="http://schemas.microsoft.com/office/powerpoint/2010/main" val="212636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4076B-A0FA-AF73-1C57-D3D6F3822F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477268-4D21-FDDB-DA37-D18D1985DA74}"/>
              </a:ext>
            </a:extLst>
          </p:cNvPr>
          <p:cNvSpPr>
            <a:spLocks noGrp="1"/>
          </p:cNvSpPr>
          <p:nvPr>
            <p:ph idx="1"/>
          </p:nvPr>
        </p:nvSpPr>
        <p:spPr>
          <a:xfrm>
            <a:off x="702853" y="707571"/>
            <a:ext cx="10900568" cy="5486400"/>
          </a:xfrm>
        </p:spPr>
        <p:txBody>
          <a:bodyPr>
            <a:normAutofit fontScale="92500" lnSpcReduction="10000"/>
          </a:bodyPr>
          <a:lstStyle/>
          <a:p>
            <a:pPr marL="0" indent="0">
              <a:buNone/>
            </a:pPr>
            <a:r>
              <a:rPr lang="en-US" sz="2400" b="1" dirty="0"/>
              <a:t>What is Divisive Hierarchical Clustering?</a:t>
            </a:r>
          </a:p>
          <a:p>
            <a:pPr marL="0" indent="0">
              <a:buNone/>
            </a:pPr>
            <a:r>
              <a:rPr lang="en-US" sz="2400" dirty="0"/>
              <a:t>Divisive Clustering is a top-down approach:</a:t>
            </a:r>
          </a:p>
          <a:p>
            <a:pPr lvl="1"/>
            <a:r>
              <a:rPr lang="en-US" sz="2200" dirty="0"/>
              <a:t>Start with all data points in one big cluster</a:t>
            </a:r>
          </a:p>
          <a:p>
            <a:pPr lvl="1"/>
            <a:r>
              <a:rPr lang="en-US" sz="2200" dirty="0"/>
              <a:t>Recursively split the cluster into smaller sub-clusters</a:t>
            </a:r>
          </a:p>
          <a:p>
            <a:pPr lvl="1"/>
            <a:r>
              <a:rPr lang="en-US" sz="2200" dirty="0"/>
              <a:t>Continue until each point is in its own cluster</a:t>
            </a:r>
          </a:p>
          <a:p>
            <a:pPr marL="0" indent="0">
              <a:buNone/>
            </a:pPr>
            <a:r>
              <a:rPr lang="en-US" sz="2400" dirty="0"/>
              <a:t>📌 It’s the </a:t>
            </a:r>
            <a:r>
              <a:rPr lang="en-US" sz="2600" b="1" dirty="0">
                <a:solidFill>
                  <a:schemeClr val="tx2">
                    <a:lumMod val="75000"/>
                    <a:lumOff val="25000"/>
                  </a:schemeClr>
                </a:solidFill>
              </a:rPr>
              <a:t>reverse</a:t>
            </a:r>
            <a:r>
              <a:rPr lang="en-US" sz="2400" dirty="0"/>
              <a:t> </a:t>
            </a:r>
            <a:r>
              <a:rPr lang="en-US" sz="2600" b="1" dirty="0">
                <a:solidFill>
                  <a:schemeClr val="tx2">
                    <a:lumMod val="75000"/>
                    <a:lumOff val="25000"/>
                  </a:schemeClr>
                </a:solidFill>
              </a:rPr>
              <a:t>of</a:t>
            </a:r>
            <a:r>
              <a:rPr lang="en-US" sz="2400" dirty="0"/>
              <a:t> </a:t>
            </a:r>
            <a:r>
              <a:rPr lang="en-US" sz="2400" b="1" dirty="0">
                <a:solidFill>
                  <a:srgbClr val="002060"/>
                </a:solidFill>
              </a:rPr>
              <a:t>Agglomerative Clustering</a:t>
            </a:r>
            <a:r>
              <a:rPr lang="en-US" sz="2400" dirty="0"/>
              <a:t>, which builds clusters </a:t>
            </a:r>
            <a:r>
              <a:rPr lang="en-US" sz="2400" b="1" dirty="0">
                <a:solidFill>
                  <a:srgbClr val="C00000"/>
                </a:solidFill>
              </a:rPr>
              <a:t>bottom-up</a:t>
            </a:r>
            <a:r>
              <a:rPr lang="en-US" sz="2400" dirty="0"/>
              <a:t>.</a:t>
            </a:r>
          </a:p>
          <a:p>
            <a:pPr marL="0" indent="0">
              <a:buNone/>
            </a:pPr>
            <a:endParaRPr lang="en-US" sz="2400" dirty="0"/>
          </a:p>
          <a:p>
            <a:pPr marL="0" indent="0">
              <a:buNone/>
            </a:pPr>
            <a:r>
              <a:rPr lang="en-US" sz="2400" b="1" dirty="0"/>
              <a:t>Real-Life Analogy</a:t>
            </a:r>
          </a:p>
          <a:p>
            <a:pPr marL="0" indent="0">
              <a:buNone/>
            </a:pPr>
            <a:r>
              <a:rPr lang="en-US" sz="2400" dirty="0"/>
              <a:t>Imagine you’re organizing a conference with 100 participants.</a:t>
            </a:r>
          </a:p>
          <a:p>
            <a:pPr marL="0" indent="0">
              <a:buNone/>
            </a:pPr>
            <a:r>
              <a:rPr lang="en-US" sz="2400" dirty="0"/>
              <a:t>You start by </a:t>
            </a:r>
            <a:r>
              <a:rPr lang="en-US" sz="2400" b="1" dirty="0">
                <a:solidFill>
                  <a:srgbClr val="C00000"/>
                </a:solidFill>
              </a:rPr>
              <a:t>putting everyone in one big room</a:t>
            </a:r>
            <a:r>
              <a:rPr lang="en-US" sz="2400" dirty="0"/>
              <a:t>.</a:t>
            </a:r>
          </a:p>
          <a:p>
            <a:pPr marL="0" indent="0">
              <a:buNone/>
            </a:pPr>
            <a:r>
              <a:rPr lang="en-US" sz="2400" dirty="0"/>
              <a:t>Then you:</a:t>
            </a:r>
          </a:p>
          <a:p>
            <a:pPr lvl="1"/>
            <a:r>
              <a:rPr lang="en-US" sz="2200" dirty="0"/>
              <a:t>Split them </a:t>
            </a:r>
            <a:r>
              <a:rPr lang="en-US" sz="2200" b="1" dirty="0">
                <a:solidFill>
                  <a:srgbClr val="002060"/>
                </a:solidFill>
              </a:rPr>
              <a:t>based on role</a:t>
            </a:r>
            <a:r>
              <a:rPr lang="en-US" sz="2200" b="1" dirty="0"/>
              <a:t> </a:t>
            </a:r>
            <a:r>
              <a:rPr lang="en-US" sz="2200" dirty="0"/>
              <a:t>(e.g., Speaker vs. Attendee)</a:t>
            </a:r>
          </a:p>
          <a:p>
            <a:pPr lvl="1"/>
            <a:r>
              <a:rPr lang="en-US" sz="2200" dirty="0"/>
              <a:t>Split Attendees by </a:t>
            </a:r>
            <a:r>
              <a:rPr lang="en-US" sz="2200" b="1" dirty="0">
                <a:solidFill>
                  <a:srgbClr val="002060"/>
                </a:solidFill>
              </a:rPr>
              <a:t>experience</a:t>
            </a:r>
            <a:r>
              <a:rPr lang="en-US" sz="2200" dirty="0"/>
              <a:t> </a:t>
            </a:r>
            <a:r>
              <a:rPr lang="en-US" sz="2200" b="1" dirty="0">
                <a:solidFill>
                  <a:srgbClr val="002060"/>
                </a:solidFill>
              </a:rPr>
              <a:t>level</a:t>
            </a:r>
            <a:r>
              <a:rPr lang="en-US" sz="2200" dirty="0"/>
              <a:t> (Beginner vs. Advanced)</a:t>
            </a:r>
          </a:p>
          <a:p>
            <a:pPr lvl="1"/>
            <a:r>
              <a:rPr lang="en-US" sz="2200" dirty="0"/>
              <a:t>Further divide based on </a:t>
            </a:r>
            <a:r>
              <a:rPr lang="en-US" sz="2200" b="1" dirty="0">
                <a:solidFill>
                  <a:srgbClr val="002060"/>
                </a:solidFill>
              </a:rPr>
              <a:t>topics</a:t>
            </a:r>
            <a:r>
              <a:rPr lang="en-US" sz="2200" dirty="0"/>
              <a:t> </a:t>
            </a:r>
            <a:r>
              <a:rPr lang="en-US" sz="2200" b="1" dirty="0">
                <a:solidFill>
                  <a:srgbClr val="002060"/>
                </a:solidFill>
              </a:rPr>
              <a:t>of</a:t>
            </a:r>
            <a:r>
              <a:rPr lang="en-US" sz="2200" dirty="0"/>
              <a:t> </a:t>
            </a:r>
            <a:r>
              <a:rPr lang="en-US" sz="2200" b="1" dirty="0">
                <a:solidFill>
                  <a:srgbClr val="002060"/>
                </a:solidFill>
              </a:rPr>
              <a:t>interest</a:t>
            </a:r>
            <a:r>
              <a:rPr lang="en-US" sz="2200" dirty="0"/>
              <a:t> (e.g., AI, Web Dev)</a:t>
            </a:r>
          </a:p>
          <a:p>
            <a:pPr marL="0" indent="0">
              <a:buNone/>
            </a:pPr>
            <a:r>
              <a:rPr lang="en-US" sz="2400" dirty="0"/>
              <a:t>This </a:t>
            </a:r>
            <a:r>
              <a:rPr lang="en-US" sz="2400" b="1" dirty="0">
                <a:solidFill>
                  <a:schemeClr val="tx2">
                    <a:lumMod val="50000"/>
                    <a:lumOff val="50000"/>
                  </a:schemeClr>
                </a:solidFill>
              </a:rPr>
              <a:t>recursive</a:t>
            </a:r>
            <a:r>
              <a:rPr lang="en-US" sz="2400" dirty="0"/>
              <a:t> </a:t>
            </a:r>
            <a:r>
              <a:rPr lang="en-US" sz="2400" b="1" dirty="0">
                <a:solidFill>
                  <a:schemeClr val="tx2">
                    <a:lumMod val="50000"/>
                    <a:lumOff val="50000"/>
                  </a:schemeClr>
                </a:solidFill>
              </a:rPr>
              <a:t>splitting</a:t>
            </a:r>
            <a:r>
              <a:rPr lang="en-US" sz="2400" dirty="0"/>
              <a:t> continues until you form meaningful subgroups.</a:t>
            </a:r>
            <a:endParaRPr lang="en-IN" sz="2400" dirty="0"/>
          </a:p>
        </p:txBody>
      </p:sp>
    </p:spTree>
    <p:extLst>
      <p:ext uri="{BB962C8B-B14F-4D97-AF65-F5344CB8AC3E}">
        <p14:creationId xmlns:p14="http://schemas.microsoft.com/office/powerpoint/2010/main" val="41335685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87CF8-CBAD-CA34-08E4-D9080B5FD7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FDF9E3-B569-7920-48AD-EC7B37D88186}"/>
              </a:ext>
            </a:extLst>
          </p:cNvPr>
          <p:cNvSpPr>
            <a:spLocks noGrp="1"/>
          </p:cNvSpPr>
          <p:nvPr>
            <p:ph type="title"/>
          </p:nvPr>
        </p:nvSpPr>
        <p:spPr>
          <a:xfrm>
            <a:off x="899903" y="621603"/>
            <a:ext cx="10659110" cy="1325563"/>
          </a:xfrm>
        </p:spPr>
        <p:txBody>
          <a:bodyPr anchor="ctr">
            <a:normAutofit/>
          </a:bodyPr>
          <a:lstStyle/>
          <a:p>
            <a:pPr marL="0" indent="0">
              <a:buNone/>
            </a:pPr>
            <a:r>
              <a:rPr lang="en-US" sz="2600" b="1" dirty="0"/>
              <a:t>Divisive Clustering: Step-by-Step</a:t>
            </a:r>
          </a:p>
          <a:p>
            <a:pPr marL="0" indent="0">
              <a:buNone/>
            </a:pPr>
            <a:r>
              <a:rPr lang="en-US" sz="2600" dirty="0"/>
              <a:t>Let’s say you have </a:t>
            </a:r>
            <a:r>
              <a:rPr lang="en-US" sz="2600" b="1" dirty="0">
                <a:solidFill>
                  <a:srgbClr val="C00000"/>
                </a:solidFill>
              </a:rPr>
              <a:t>5 animals</a:t>
            </a:r>
            <a:r>
              <a:rPr lang="en-US" sz="2600" dirty="0"/>
              <a:t>, each described by their features (like weight and speed):</a:t>
            </a:r>
          </a:p>
          <a:p>
            <a:pPr marL="0" indent="0">
              <a:buNone/>
            </a:pPr>
            <a:endParaRPr lang="en-IN" sz="2600" dirty="0"/>
          </a:p>
        </p:txBody>
      </p:sp>
      <p:graphicFrame>
        <p:nvGraphicFramePr>
          <p:cNvPr id="2" name="Table 1">
            <a:extLst>
              <a:ext uri="{FF2B5EF4-FFF2-40B4-BE49-F238E27FC236}">
                <a16:creationId xmlns:a16="http://schemas.microsoft.com/office/drawing/2014/main" id="{76A8B238-90DD-BDC8-D8FA-7849B7A503FC}"/>
              </a:ext>
            </a:extLst>
          </p:cNvPr>
          <p:cNvGraphicFramePr>
            <a:graphicFrameLocks noGrp="1"/>
          </p:cNvGraphicFramePr>
          <p:nvPr>
            <p:extLst>
              <p:ext uri="{D42A27DB-BD31-4B8C-83A1-F6EECF244321}">
                <p14:modId xmlns:p14="http://schemas.microsoft.com/office/powerpoint/2010/main" val="1711782666"/>
              </p:ext>
            </p:extLst>
          </p:nvPr>
        </p:nvGraphicFramePr>
        <p:xfrm>
          <a:off x="1530055" y="2126774"/>
          <a:ext cx="9153481" cy="3749040"/>
        </p:xfrm>
        <a:graphic>
          <a:graphicData uri="http://schemas.openxmlformats.org/drawingml/2006/table">
            <a:tbl>
              <a:tblPr firstRow="1" firstCol="1" bandRow="1">
                <a:tableStyleId>{5C22544A-7EE6-4342-B048-85BDC9FD1C3A}</a:tableStyleId>
              </a:tblPr>
              <a:tblGrid>
                <a:gridCol w="3133151">
                  <a:extLst>
                    <a:ext uri="{9D8B030D-6E8A-4147-A177-3AD203B41FA5}">
                      <a16:colId xmlns:a16="http://schemas.microsoft.com/office/drawing/2014/main" val="2365835095"/>
                    </a:ext>
                  </a:extLst>
                </a:gridCol>
                <a:gridCol w="2863448">
                  <a:extLst>
                    <a:ext uri="{9D8B030D-6E8A-4147-A177-3AD203B41FA5}">
                      <a16:colId xmlns:a16="http://schemas.microsoft.com/office/drawing/2014/main" val="1119287340"/>
                    </a:ext>
                  </a:extLst>
                </a:gridCol>
                <a:gridCol w="3156882">
                  <a:extLst>
                    <a:ext uri="{9D8B030D-6E8A-4147-A177-3AD203B41FA5}">
                      <a16:colId xmlns:a16="http://schemas.microsoft.com/office/drawing/2014/main" val="1253508621"/>
                    </a:ext>
                  </a:extLst>
                </a:gridCol>
              </a:tblGrid>
              <a:tr h="624840">
                <a:tc>
                  <a:txBody>
                    <a:bodyPr/>
                    <a:lstStyle/>
                    <a:p>
                      <a:pPr>
                        <a:lnSpc>
                          <a:spcPct val="107000"/>
                        </a:lnSpc>
                        <a:spcAft>
                          <a:spcPts val="800"/>
                        </a:spcAft>
                        <a:buNone/>
                      </a:pPr>
                      <a:r>
                        <a:rPr lang="en-IN" sz="3300" kern="100">
                          <a:effectLst/>
                        </a:rPr>
                        <a:t>Animal</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tc>
                  <a:txBody>
                    <a:bodyPr/>
                    <a:lstStyle/>
                    <a:p>
                      <a:pPr>
                        <a:lnSpc>
                          <a:spcPct val="107000"/>
                        </a:lnSpc>
                        <a:spcAft>
                          <a:spcPts val="800"/>
                        </a:spcAft>
                        <a:buNone/>
                      </a:pPr>
                      <a:r>
                        <a:rPr lang="en-IN" sz="3300" kern="100">
                          <a:effectLst/>
                        </a:rPr>
                        <a:t>Speed</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tc>
                  <a:txBody>
                    <a:bodyPr/>
                    <a:lstStyle/>
                    <a:p>
                      <a:pPr>
                        <a:lnSpc>
                          <a:spcPct val="107000"/>
                        </a:lnSpc>
                        <a:spcAft>
                          <a:spcPts val="800"/>
                        </a:spcAft>
                        <a:buNone/>
                      </a:pPr>
                      <a:r>
                        <a:rPr lang="en-IN" sz="3300" kern="100">
                          <a:effectLst/>
                        </a:rPr>
                        <a:t>Weight</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extLst>
                  <a:ext uri="{0D108BD9-81ED-4DB2-BD59-A6C34878D82A}">
                    <a16:rowId xmlns:a16="http://schemas.microsoft.com/office/drawing/2014/main" val="3550372441"/>
                  </a:ext>
                </a:extLst>
              </a:tr>
              <a:tr h="624840">
                <a:tc>
                  <a:txBody>
                    <a:bodyPr/>
                    <a:lstStyle/>
                    <a:p>
                      <a:pPr>
                        <a:lnSpc>
                          <a:spcPct val="107000"/>
                        </a:lnSpc>
                        <a:spcAft>
                          <a:spcPts val="800"/>
                        </a:spcAft>
                        <a:buNone/>
                      </a:pPr>
                      <a:r>
                        <a:rPr lang="en-IN" sz="3300" kern="100">
                          <a:effectLst/>
                        </a:rPr>
                        <a:t>Tiger</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tc>
                  <a:txBody>
                    <a:bodyPr/>
                    <a:lstStyle/>
                    <a:p>
                      <a:pPr>
                        <a:lnSpc>
                          <a:spcPct val="107000"/>
                        </a:lnSpc>
                        <a:spcAft>
                          <a:spcPts val="800"/>
                        </a:spcAft>
                        <a:buNone/>
                      </a:pPr>
                      <a:r>
                        <a:rPr lang="en-IN" sz="3300" kern="100">
                          <a:effectLst/>
                        </a:rPr>
                        <a:t>80</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tc>
                  <a:txBody>
                    <a:bodyPr/>
                    <a:lstStyle/>
                    <a:p>
                      <a:pPr>
                        <a:lnSpc>
                          <a:spcPct val="107000"/>
                        </a:lnSpc>
                        <a:spcAft>
                          <a:spcPts val="800"/>
                        </a:spcAft>
                        <a:buNone/>
                      </a:pPr>
                      <a:r>
                        <a:rPr lang="en-IN" sz="3300" kern="100">
                          <a:effectLst/>
                        </a:rPr>
                        <a:t>200</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extLst>
                  <a:ext uri="{0D108BD9-81ED-4DB2-BD59-A6C34878D82A}">
                    <a16:rowId xmlns:a16="http://schemas.microsoft.com/office/drawing/2014/main" val="3379721395"/>
                  </a:ext>
                </a:extLst>
              </a:tr>
              <a:tr h="624840">
                <a:tc>
                  <a:txBody>
                    <a:bodyPr/>
                    <a:lstStyle/>
                    <a:p>
                      <a:pPr>
                        <a:lnSpc>
                          <a:spcPct val="107000"/>
                        </a:lnSpc>
                        <a:spcAft>
                          <a:spcPts val="800"/>
                        </a:spcAft>
                        <a:buNone/>
                      </a:pPr>
                      <a:r>
                        <a:rPr lang="en-IN" sz="3300" kern="100">
                          <a:effectLst/>
                        </a:rPr>
                        <a:t>Lion</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tc>
                  <a:txBody>
                    <a:bodyPr/>
                    <a:lstStyle/>
                    <a:p>
                      <a:pPr>
                        <a:lnSpc>
                          <a:spcPct val="107000"/>
                        </a:lnSpc>
                        <a:spcAft>
                          <a:spcPts val="800"/>
                        </a:spcAft>
                        <a:buNone/>
                      </a:pPr>
                      <a:r>
                        <a:rPr lang="en-IN" sz="3300" kern="100">
                          <a:effectLst/>
                        </a:rPr>
                        <a:t>75</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tc>
                  <a:txBody>
                    <a:bodyPr/>
                    <a:lstStyle/>
                    <a:p>
                      <a:pPr>
                        <a:lnSpc>
                          <a:spcPct val="107000"/>
                        </a:lnSpc>
                        <a:spcAft>
                          <a:spcPts val="800"/>
                        </a:spcAft>
                        <a:buNone/>
                      </a:pPr>
                      <a:r>
                        <a:rPr lang="en-IN" sz="3300" kern="100">
                          <a:effectLst/>
                        </a:rPr>
                        <a:t>190</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extLst>
                  <a:ext uri="{0D108BD9-81ED-4DB2-BD59-A6C34878D82A}">
                    <a16:rowId xmlns:a16="http://schemas.microsoft.com/office/drawing/2014/main" val="3692154523"/>
                  </a:ext>
                </a:extLst>
              </a:tr>
              <a:tr h="624840">
                <a:tc>
                  <a:txBody>
                    <a:bodyPr/>
                    <a:lstStyle/>
                    <a:p>
                      <a:pPr>
                        <a:lnSpc>
                          <a:spcPct val="107000"/>
                        </a:lnSpc>
                        <a:spcAft>
                          <a:spcPts val="800"/>
                        </a:spcAft>
                        <a:buNone/>
                      </a:pPr>
                      <a:r>
                        <a:rPr lang="en-IN" sz="3300" kern="100">
                          <a:effectLst/>
                        </a:rPr>
                        <a:t>Deer</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tc>
                  <a:txBody>
                    <a:bodyPr/>
                    <a:lstStyle/>
                    <a:p>
                      <a:pPr>
                        <a:lnSpc>
                          <a:spcPct val="107000"/>
                        </a:lnSpc>
                        <a:spcAft>
                          <a:spcPts val="800"/>
                        </a:spcAft>
                        <a:buNone/>
                      </a:pPr>
                      <a:r>
                        <a:rPr lang="en-IN" sz="3300" kern="100">
                          <a:effectLst/>
                        </a:rPr>
                        <a:t>60</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tc>
                  <a:txBody>
                    <a:bodyPr/>
                    <a:lstStyle/>
                    <a:p>
                      <a:pPr>
                        <a:lnSpc>
                          <a:spcPct val="107000"/>
                        </a:lnSpc>
                        <a:spcAft>
                          <a:spcPts val="800"/>
                        </a:spcAft>
                        <a:buNone/>
                      </a:pPr>
                      <a:r>
                        <a:rPr lang="en-IN" sz="3300" kern="100">
                          <a:effectLst/>
                        </a:rPr>
                        <a:t>90</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extLst>
                  <a:ext uri="{0D108BD9-81ED-4DB2-BD59-A6C34878D82A}">
                    <a16:rowId xmlns:a16="http://schemas.microsoft.com/office/drawing/2014/main" val="933417984"/>
                  </a:ext>
                </a:extLst>
              </a:tr>
              <a:tr h="624840">
                <a:tc>
                  <a:txBody>
                    <a:bodyPr/>
                    <a:lstStyle/>
                    <a:p>
                      <a:pPr>
                        <a:lnSpc>
                          <a:spcPct val="107000"/>
                        </a:lnSpc>
                        <a:spcAft>
                          <a:spcPts val="800"/>
                        </a:spcAft>
                        <a:buNone/>
                      </a:pPr>
                      <a:r>
                        <a:rPr lang="en-IN" sz="3300" kern="100">
                          <a:effectLst/>
                        </a:rPr>
                        <a:t>Rabbit</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tc>
                  <a:txBody>
                    <a:bodyPr/>
                    <a:lstStyle/>
                    <a:p>
                      <a:pPr>
                        <a:lnSpc>
                          <a:spcPct val="107000"/>
                        </a:lnSpc>
                        <a:spcAft>
                          <a:spcPts val="800"/>
                        </a:spcAft>
                        <a:buNone/>
                      </a:pPr>
                      <a:r>
                        <a:rPr lang="en-IN" sz="3300" kern="100">
                          <a:effectLst/>
                        </a:rPr>
                        <a:t>45</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tc>
                  <a:txBody>
                    <a:bodyPr/>
                    <a:lstStyle/>
                    <a:p>
                      <a:pPr>
                        <a:lnSpc>
                          <a:spcPct val="107000"/>
                        </a:lnSpc>
                        <a:spcAft>
                          <a:spcPts val="800"/>
                        </a:spcAft>
                        <a:buNone/>
                      </a:pPr>
                      <a:r>
                        <a:rPr lang="en-IN" sz="3300" kern="100">
                          <a:effectLst/>
                        </a:rPr>
                        <a:t>30</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extLst>
                  <a:ext uri="{0D108BD9-81ED-4DB2-BD59-A6C34878D82A}">
                    <a16:rowId xmlns:a16="http://schemas.microsoft.com/office/drawing/2014/main" val="848383182"/>
                  </a:ext>
                </a:extLst>
              </a:tr>
              <a:tr h="624840">
                <a:tc>
                  <a:txBody>
                    <a:bodyPr/>
                    <a:lstStyle/>
                    <a:p>
                      <a:pPr>
                        <a:lnSpc>
                          <a:spcPct val="107000"/>
                        </a:lnSpc>
                        <a:spcAft>
                          <a:spcPts val="800"/>
                        </a:spcAft>
                        <a:buNone/>
                      </a:pPr>
                      <a:r>
                        <a:rPr lang="en-IN" sz="3300" kern="100">
                          <a:effectLst/>
                        </a:rPr>
                        <a:t>Turtle</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tc>
                  <a:txBody>
                    <a:bodyPr/>
                    <a:lstStyle/>
                    <a:p>
                      <a:pPr>
                        <a:lnSpc>
                          <a:spcPct val="107000"/>
                        </a:lnSpc>
                        <a:spcAft>
                          <a:spcPts val="800"/>
                        </a:spcAft>
                        <a:buNone/>
                      </a:pPr>
                      <a:r>
                        <a:rPr lang="en-IN" sz="3300" kern="100">
                          <a:effectLst/>
                        </a:rPr>
                        <a:t>5</a:t>
                      </a:r>
                      <a:endParaRPr lang="en-IN" sz="3300" kern="10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tc>
                  <a:txBody>
                    <a:bodyPr/>
                    <a:lstStyle/>
                    <a:p>
                      <a:pPr>
                        <a:lnSpc>
                          <a:spcPct val="107000"/>
                        </a:lnSpc>
                        <a:spcAft>
                          <a:spcPts val="800"/>
                        </a:spcAft>
                        <a:buNone/>
                      </a:pPr>
                      <a:r>
                        <a:rPr lang="en-IN" sz="3300" kern="100" dirty="0">
                          <a:effectLst/>
                        </a:rPr>
                        <a:t>50</a:t>
                      </a:r>
                      <a:endParaRPr lang="en-IN" sz="3300" kern="100" dirty="0">
                        <a:effectLst/>
                        <a:latin typeface="Aptos" panose="020B0004020202020204" pitchFamily="34" charset="0"/>
                        <a:ea typeface="Aptos" panose="020B0004020202020204" pitchFamily="34" charset="0"/>
                        <a:cs typeface="Tunga" panose="020B0502040204020203" pitchFamily="34" charset="0"/>
                      </a:endParaRPr>
                    </a:p>
                  </a:txBody>
                  <a:tcPr marL="205740" marR="205740" marT="0" marB="0"/>
                </a:tc>
                <a:extLst>
                  <a:ext uri="{0D108BD9-81ED-4DB2-BD59-A6C34878D82A}">
                    <a16:rowId xmlns:a16="http://schemas.microsoft.com/office/drawing/2014/main" val="3719713551"/>
                  </a:ext>
                </a:extLst>
              </a:tr>
            </a:tbl>
          </a:graphicData>
        </a:graphic>
      </p:graphicFrame>
    </p:spTree>
    <p:extLst>
      <p:ext uri="{BB962C8B-B14F-4D97-AF65-F5344CB8AC3E}">
        <p14:creationId xmlns:p14="http://schemas.microsoft.com/office/powerpoint/2010/main" val="23484670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E4A5E-B9B8-F1CC-8B56-F67E2DBDF2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6120DD-8119-CC3D-D3B0-361B321D0BCA}"/>
              </a:ext>
            </a:extLst>
          </p:cNvPr>
          <p:cNvSpPr>
            <a:spLocks noGrp="1"/>
          </p:cNvSpPr>
          <p:nvPr>
            <p:ph idx="1"/>
          </p:nvPr>
        </p:nvSpPr>
        <p:spPr>
          <a:xfrm>
            <a:off x="702853" y="348342"/>
            <a:ext cx="10900568" cy="6052457"/>
          </a:xfrm>
        </p:spPr>
        <p:txBody>
          <a:bodyPr>
            <a:noAutofit/>
          </a:bodyPr>
          <a:lstStyle/>
          <a:p>
            <a:pPr marL="0" indent="0">
              <a:buNone/>
            </a:pPr>
            <a:r>
              <a:rPr lang="en-US" sz="2800" b="1" dirty="0"/>
              <a:t>Solution:</a:t>
            </a:r>
          </a:p>
          <a:p>
            <a:pPr marL="0" indent="0">
              <a:buNone/>
            </a:pPr>
            <a:r>
              <a:rPr lang="en-US" sz="2200" b="1" dirty="0"/>
              <a:t>Step 1: Start with all data in one cluster</a:t>
            </a:r>
          </a:p>
          <a:p>
            <a:pPr marL="0" indent="0">
              <a:buNone/>
            </a:pPr>
            <a:r>
              <a:rPr lang="en-US" sz="2200" b="1" dirty="0">
                <a:solidFill>
                  <a:schemeClr val="tx2">
                    <a:lumMod val="75000"/>
                    <a:lumOff val="25000"/>
                  </a:schemeClr>
                </a:solidFill>
              </a:rPr>
              <a:t>Cluster</a:t>
            </a:r>
            <a:r>
              <a:rPr lang="en-US" sz="2200" dirty="0"/>
              <a:t>: [Tiger, Lion, Deer, Rabbit, Turtle]</a:t>
            </a:r>
          </a:p>
          <a:p>
            <a:pPr marL="0" indent="0">
              <a:buNone/>
            </a:pPr>
            <a:r>
              <a:rPr lang="en-US" sz="2200" b="1" dirty="0"/>
              <a:t>Step 2: Split the cluster into 2 sub-clusters</a:t>
            </a:r>
          </a:p>
          <a:p>
            <a:pPr marL="0" indent="0">
              <a:buNone/>
            </a:pPr>
            <a:r>
              <a:rPr lang="en-US" sz="2200" dirty="0"/>
              <a:t>Use a </a:t>
            </a:r>
            <a:r>
              <a:rPr lang="en-US" sz="2200" b="1" dirty="0">
                <a:solidFill>
                  <a:schemeClr val="tx2">
                    <a:lumMod val="75000"/>
                    <a:lumOff val="25000"/>
                  </a:schemeClr>
                </a:solidFill>
              </a:rPr>
              <a:t>clustering algorithm </a:t>
            </a:r>
            <a:r>
              <a:rPr lang="en-US" sz="2200" dirty="0"/>
              <a:t>(like K-Means) to divide the cluster into 2 groups:</a:t>
            </a:r>
          </a:p>
          <a:p>
            <a:pPr lvl="1"/>
            <a:r>
              <a:rPr lang="en-US" sz="2200" b="1" dirty="0"/>
              <a:t>Cluster A: </a:t>
            </a:r>
            <a:r>
              <a:rPr lang="en-US" sz="2200" dirty="0"/>
              <a:t>[Tiger, Lion]</a:t>
            </a:r>
          </a:p>
          <a:p>
            <a:pPr lvl="1"/>
            <a:r>
              <a:rPr lang="en-US" sz="2200" b="1" dirty="0"/>
              <a:t>Cluster B: </a:t>
            </a:r>
            <a:r>
              <a:rPr lang="en-US" sz="2200" dirty="0"/>
              <a:t>[Deer, Rabbit, Turtle]</a:t>
            </a:r>
          </a:p>
          <a:p>
            <a:pPr marL="0" indent="0">
              <a:buNone/>
            </a:pPr>
            <a:r>
              <a:rPr lang="en-US" sz="2200" b="1" dirty="0"/>
              <a:t>Step 3: Recursively apply Step 2 on each sub-cluster</a:t>
            </a:r>
          </a:p>
          <a:p>
            <a:pPr marL="0" indent="0">
              <a:buNone/>
            </a:pPr>
            <a:r>
              <a:rPr lang="en-US" sz="2200" dirty="0"/>
              <a:t>Now split Cluster B further:</a:t>
            </a:r>
          </a:p>
          <a:p>
            <a:pPr lvl="1"/>
            <a:r>
              <a:rPr lang="en-US" sz="2200" b="1" dirty="0"/>
              <a:t>Cluster B1: </a:t>
            </a:r>
            <a:r>
              <a:rPr lang="en-US" sz="2200" dirty="0"/>
              <a:t>[Deer]</a:t>
            </a:r>
          </a:p>
          <a:p>
            <a:pPr lvl="1"/>
            <a:r>
              <a:rPr lang="en-US" sz="2200" b="1" dirty="0"/>
              <a:t>Cluster B2: </a:t>
            </a:r>
            <a:r>
              <a:rPr lang="en-US" sz="2200" dirty="0"/>
              <a:t>[Rabbit, Turtle]</a:t>
            </a:r>
          </a:p>
          <a:p>
            <a:pPr marL="0" indent="0">
              <a:buNone/>
            </a:pPr>
            <a:r>
              <a:rPr lang="en-US" sz="2200" b="1" dirty="0"/>
              <a:t>Then split B2:</a:t>
            </a:r>
          </a:p>
          <a:p>
            <a:pPr lvl="1"/>
            <a:r>
              <a:rPr lang="en-US" sz="2000" dirty="0"/>
              <a:t>[</a:t>
            </a:r>
            <a:r>
              <a:rPr lang="en-US" sz="2000" b="1" dirty="0"/>
              <a:t>Rabbit</a:t>
            </a:r>
            <a:r>
              <a:rPr lang="en-US" sz="2000" dirty="0"/>
              <a:t>] and [</a:t>
            </a:r>
            <a:r>
              <a:rPr lang="en-US" sz="2000" b="1" dirty="0"/>
              <a:t>Turtle</a:t>
            </a:r>
            <a:r>
              <a:rPr lang="en-US" sz="2000" dirty="0"/>
              <a:t>]</a:t>
            </a:r>
          </a:p>
          <a:p>
            <a:pPr marL="0" indent="0">
              <a:buNone/>
            </a:pPr>
            <a:r>
              <a:rPr lang="en-US" sz="2200" b="1" dirty="0">
                <a:solidFill>
                  <a:srgbClr val="002060"/>
                </a:solidFill>
              </a:rPr>
              <a:t>Keep doing this until all animals are in individual clusters or you reach a stopping criterion</a:t>
            </a:r>
            <a:r>
              <a:rPr lang="en-US" sz="2200" dirty="0"/>
              <a:t>.</a:t>
            </a:r>
            <a:endParaRPr lang="en-IN" sz="2200" dirty="0"/>
          </a:p>
        </p:txBody>
      </p:sp>
    </p:spTree>
    <p:extLst>
      <p:ext uri="{BB962C8B-B14F-4D97-AF65-F5344CB8AC3E}">
        <p14:creationId xmlns:p14="http://schemas.microsoft.com/office/powerpoint/2010/main" val="1790015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C5821-5E4B-0A54-56C9-617AB9F141E8}"/>
            </a:ext>
          </a:extLst>
        </p:cNvPr>
        <p:cNvGrpSpPr/>
        <p:nvPr/>
      </p:nvGrpSpPr>
      <p:grpSpPr>
        <a:xfrm>
          <a:off x="0" y="0"/>
          <a:ext cx="0" cy="0"/>
          <a:chOff x="0" y="0"/>
          <a:chExt cx="0" cy="0"/>
        </a:xfrm>
      </p:grpSpPr>
      <p:sp>
        <p:nvSpPr>
          <p:cNvPr id="4107" name="Title 1">
            <a:extLst>
              <a:ext uri="{FF2B5EF4-FFF2-40B4-BE49-F238E27FC236}">
                <a16:creationId xmlns:a16="http://schemas.microsoft.com/office/drawing/2014/main" id="{9BA0AA6B-6E95-F261-E69F-31824FE87672}"/>
              </a:ext>
            </a:extLst>
          </p:cNvPr>
          <p:cNvSpPr>
            <a:spLocks noGrp="1"/>
          </p:cNvSpPr>
          <p:nvPr>
            <p:ph type="title"/>
          </p:nvPr>
        </p:nvSpPr>
        <p:spPr>
          <a:xfrm>
            <a:off x="777240" y="457200"/>
            <a:ext cx="3994785" cy="2501900"/>
          </a:xfrm>
        </p:spPr>
        <p:txBody>
          <a:bodyPr/>
          <a:lstStyle/>
          <a:p>
            <a:r>
              <a:rPr lang="en-US" b="1" dirty="0"/>
              <a:t>Dendrogram: The Tree of Clusters 🌳</a:t>
            </a:r>
            <a:br>
              <a:rPr lang="en-US" b="1" dirty="0"/>
            </a:br>
            <a:endParaRPr lang="en-US" dirty="0"/>
          </a:p>
        </p:txBody>
      </p:sp>
      <p:pic>
        <p:nvPicPr>
          <p:cNvPr id="4102" name="Picture 6" descr="How the Hierarchical Clustering Algorithm Works">
            <a:extLst>
              <a:ext uri="{FF2B5EF4-FFF2-40B4-BE49-F238E27FC236}">
                <a16:creationId xmlns:a16="http://schemas.microsoft.com/office/drawing/2014/main" id="{E94D3CF2-7F56-7604-5A9F-A64F4470920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06985" y="867697"/>
            <a:ext cx="6735745" cy="5001290"/>
          </a:xfrm>
          <a:prstGeom prst="rect">
            <a:avLst/>
          </a:prstGeom>
          <a:solidFill>
            <a:srgbClr val="FFFFFF"/>
          </a:solidFill>
        </p:spPr>
      </p:pic>
      <p:sp>
        <p:nvSpPr>
          <p:cNvPr id="4109" name="Text Placeholder 3">
            <a:extLst>
              <a:ext uri="{FF2B5EF4-FFF2-40B4-BE49-F238E27FC236}">
                <a16:creationId xmlns:a16="http://schemas.microsoft.com/office/drawing/2014/main" id="{A6B0CEB0-1EB9-F692-3BFA-64EB0C3DAF0A}"/>
              </a:ext>
            </a:extLst>
          </p:cNvPr>
          <p:cNvSpPr>
            <a:spLocks noGrp="1"/>
          </p:cNvSpPr>
          <p:nvPr>
            <p:ph type="body" sz="half" idx="2"/>
          </p:nvPr>
        </p:nvSpPr>
        <p:spPr>
          <a:xfrm>
            <a:off x="777240" y="2722335"/>
            <a:ext cx="3994785" cy="2776537"/>
          </a:xfrm>
        </p:spPr>
        <p:txBody>
          <a:bodyPr>
            <a:normAutofit lnSpcReduction="10000"/>
          </a:bodyPr>
          <a:lstStyle/>
          <a:p>
            <a:r>
              <a:rPr lang="en-US" dirty="0"/>
              <a:t>A </a:t>
            </a:r>
            <a:r>
              <a:rPr lang="en-US" b="1" dirty="0"/>
              <a:t>dendrogram</a:t>
            </a:r>
            <a:r>
              <a:rPr lang="en-US" dirty="0"/>
              <a:t> is a diagram showing </a:t>
            </a:r>
            <a:r>
              <a:rPr lang="en-US" b="1" dirty="0"/>
              <a:t>how clusters were merged</a:t>
            </a:r>
            <a:r>
              <a:rPr lang="en-US" dirty="0"/>
              <a:t> or </a:t>
            </a:r>
            <a:r>
              <a:rPr lang="en-US" b="1" dirty="0"/>
              <a:t>split</a:t>
            </a:r>
            <a:r>
              <a:rPr lang="en-US" dirty="0"/>
              <a:t> </a:t>
            </a:r>
            <a:r>
              <a:rPr lang="en-US" b="1" dirty="0"/>
              <a:t>at</a:t>
            </a:r>
            <a:r>
              <a:rPr lang="en-US" dirty="0"/>
              <a:t> </a:t>
            </a:r>
            <a:r>
              <a:rPr lang="en-US" b="1" dirty="0"/>
              <a:t>each</a:t>
            </a:r>
            <a:r>
              <a:rPr lang="en-US" dirty="0"/>
              <a:t> </a:t>
            </a:r>
            <a:r>
              <a:rPr lang="en-US" b="1" dirty="0"/>
              <a:t>step</a:t>
            </a:r>
            <a:r>
              <a:rPr lang="en-US" dirty="0"/>
              <a:t>.</a:t>
            </a:r>
          </a:p>
          <a:p>
            <a:pPr marL="342900" indent="-342900">
              <a:buFont typeface="Arial" panose="020B0604020202020204" pitchFamily="34" charset="0"/>
              <a:buChar char="•"/>
            </a:pPr>
            <a:r>
              <a:rPr lang="en-US" dirty="0"/>
              <a:t>The height of the branches shows the distance (dissimilarity) between clusters.</a:t>
            </a:r>
          </a:p>
          <a:p>
            <a:pPr marL="342900" indent="-342900">
              <a:buFont typeface="Arial" panose="020B0604020202020204" pitchFamily="34" charset="0"/>
              <a:buChar char="•"/>
            </a:pPr>
            <a:r>
              <a:rPr lang="en-US" dirty="0"/>
              <a:t>You can cut the dendrogram at a certain height to choose the number of clusters.</a:t>
            </a:r>
            <a:endParaRPr lang="en-IN" dirty="0"/>
          </a:p>
          <a:p>
            <a:endParaRPr lang="en-US" dirty="0"/>
          </a:p>
        </p:txBody>
      </p:sp>
    </p:spTree>
    <p:extLst>
      <p:ext uri="{BB962C8B-B14F-4D97-AF65-F5344CB8AC3E}">
        <p14:creationId xmlns:p14="http://schemas.microsoft.com/office/powerpoint/2010/main" val="24267416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D8779-AC95-F04E-10D3-1F7FE44D2D0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F7B5A6-E7A5-AD58-274C-58370C0046D1}"/>
              </a:ext>
            </a:extLst>
          </p:cNvPr>
          <p:cNvSpPr>
            <a:spLocks noGrp="1"/>
          </p:cNvSpPr>
          <p:nvPr>
            <p:ph idx="1"/>
          </p:nvPr>
        </p:nvSpPr>
        <p:spPr>
          <a:xfrm>
            <a:off x="702853" y="707571"/>
            <a:ext cx="10900568" cy="5486400"/>
          </a:xfrm>
        </p:spPr>
        <p:txBody>
          <a:bodyPr>
            <a:normAutofit lnSpcReduction="10000"/>
          </a:bodyPr>
          <a:lstStyle/>
          <a:p>
            <a:pPr marL="0" indent="0">
              <a:buNone/>
            </a:pPr>
            <a:r>
              <a:rPr lang="en-IN" sz="2800" b="1" dirty="0"/>
              <a:t>Evaluation of Clustering Results:</a:t>
            </a:r>
          </a:p>
          <a:p>
            <a:pPr marL="0" indent="0">
              <a:buNone/>
            </a:pPr>
            <a:r>
              <a:rPr lang="en-US" sz="2800" dirty="0"/>
              <a:t>Once you perform clustering, the next big question is:</a:t>
            </a:r>
          </a:p>
          <a:p>
            <a:pPr lvl="1"/>
            <a:r>
              <a:rPr lang="en-US" sz="2400" b="1" dirty="0">
                <a:solidFill>
                  <a:srgbClr val="002060"/>
                </a:solidFill>
              </a:rPr>
              <a:t>How do I know if the clustering is good or meaningful?</a:t>
            </a:r>
          </a:p>
          <a:p>
            <a:pPr marL="0" indent="0">
              <a:buNone/>
            </a:pPr>
            <a:r>
              <a:rPr lang="en-US" sz="2800" dirty="0"/>
              <a:t>Since clustering is </a:t>
            </a:r>
            <a:r>
              <a:rPr lang="en-US" sz="2800" b="1" dirty="0"/>
              <a:t>unsupervised</a:t>
            </a:r>
            <a:r>
              <a:rPr lang="en-US" sz="2800" dirty="0"/>
              <a:t> (no true labels), </a:t>
            </a:r>
            <a:r>
              <a:rPr lang="en-US" sz="2800" b="1" dirty="0">
                <a:solidFill>
                  <a:srgbClr val="002060"/>
                </a:solidFill>
              </a:rPr>
              <a:t>we need special evaluation metrics</a:t>
            </a:r>
            <a:r>
              <a:rPr lang="en-US" sz="2800" dirty="0"/>
              <a:t>.</a:t>
            </a:r>
          </a:p>
          <a:p>
            <a:pPr marL="0" indent="0">
              <a:buNone/>
            </a:pPr>
            <a:endParaRPr lang="en-US" sz="1400" dirty="0"/>
          </a:p>
          <a:p>
            <a:pPr marL="0" indent="0">
              <a:buNone/>
            </a:pPr>
            <a:r>
              <a:rPr lang="en-US" sz="2800" dirty="0"/>
              <a:t>There are </a:t>
            </a:r>
            <a:r>
              <a:rPr lang="en-US" sz="2800" b="1" dirty="0">
                <a:solidFill>
                  <a:schemeClr val="tx2">
                    <a:lumMod val="75000"/>
                    <a:lumOff val="25000"/>
                  </a:schemeClr>
                </a:solidFill>
              </a:rPr>
              <a:t>two main types </a:t>
            </a:r>
            <a:r>
              <a:rPr lang="en-US" sz="2800" dirty="0"/>
              <a:t>of evaluation methods:</a:t>
            </a:r>
          </a:p>
          <a:p>
            <a:pPr marL="0" indent="0">
              <a:buNone/>
            </a:pPr>
            <a:r>
              <a:rPr lang="en-US" sz="2800" b="1" dirty="0"/>
              <a:t>1. Internal Evaluation</a:t>
            </a:r>
          </a:p>
          <a:p>
            <a:pPr marL="0" indent="0">
              <a:buNone/>
            </a:pPr>
            <a:r>
              <a:rPr lang="en-US" sz="2800" dirty="0"/>
              <a:t>Measures the quality of clustering </a:t>
            </a:r>
            <a:r>
              <a:rPr lang="en-US" sz="2800" b="1" dirty="0">
                <a:solidFill>
                  <a:schemeClr val="tx2">
                    <a:lumMod val="75000"/>
                    <a:lumOff val="25000"/>
                  </a:schemeClr>
                </a:solidFill>
              </a:rPr>
              <a:t>using the data itself </a:t>
            </a:r>
            <a:r>
              <a:rPr lang="en-US" sz="2800" dirty="0"/>
              <a:t>(without external labels).</a:t>
            </a:r>
          </a:p>
          <a:p>
            <a:pPr marL="0" indent="0">
              <a:buNone/>
            </a:pPr>
            <a:r>
              <a:rPr lang="en-US" sz="2800" b="1" dirty="0"/>
              <a:t>2. External Evaluation</a:t>
            </a:r>
          </a:p>
          <a:p>
            <a:pPr marL="0" indent="0">
              <a:buNone/>
            </a:pPr>
            <a:r>
              <a:rPr lang="en-US" sz="2800" dirty="0"/>
              <a:t>Compares the clustering result to </a:t>
            </a:r>
            <a:r>
              <a:rPr lang="en-US" sz="2800" b="1" dirty="0">
                <a:solidFill>
                  <a:srgbClr val="C00000"/>
                </a:solidFill>
              </a:rPr>
              <a:t>ground truth labels </a:t>
            </a:r>
            <a:r>
              <a:rPr lang="en-US" sz="2800" dirty="0"/>
              <a:t>(</a:t>
            </a:r>
            <a:r>
              <a:rPr lang="en-US" sz="2800" b="1" dirty="0">
                <a:solidFill>
                  <a:schemeClr val="tx2">
                    <a:lumMod val="75000"/>
                    <a:lumOff val="25000"/>
                  </a:schemeClr>
                </a:solidFill>
              </a:rPr>
              <a:t>actual</a:t>
            </a:r>
            <a:r>
              <a:rPr lang="en-US" sz="2800" dirty="0"/>
              <a:t>, </a:t>
            </a:r>
            <a:r>
              <a:rPr lang="en-US" sz="2800" b="1" dirty="0">
                <a:solidFill>
                  <a:schemeClr val="tx2">
                    <a:lumMod val="75000"/>
                    <a:lumOff val="25000"/>
                  </a:schemeClr>
                </a:solidFill>
              </a:rPr>
              <a:t>correct</a:t>
            </a:r>
            <a:r>
              <a:rPr lang="en-US" sz="2800" dirty="0"/>
              <a:t> </a:t>
            </a:r>
            <a:r>
              <a:rPr lang="en-US" sz="2800" b="1" dirty="0">
                <a:solidFill>
                  <a:schemeClr val="tx2">
                    <a:lumMod val="75000"/>
                    <a:lumOff val="25000"/>
                  </a:schemeClr>
                </a:solidFill>
              </a:rPr>
              <a:t>labels</a:t>
            </a:r>
            <a:r>
              <a:rPr lang="en-US" sz="2800" dirty="0"/>
              <a:t> or </a:t>
            </a:r>
            <a:r>
              <a:rPr lang="en-US" sz="2800" b="1" dirty="0">
                <a:solidFill>
                  <a:schemeClr val="tx2">
                    <a:lumMod val="75000"/>
                    <a:lumOff val="25000"/>
                  </a:schemeClr>
                </a:solidFill>
              </a:rPr>
              <a:t>categories</a:t>
            </a:r>
            <a:r>
              <a:rPr lang="en-US" sz="2800" dirty="0"/>
              <a:t> of the data, if available).</a:t>
            </a:r>
            <a:endParaRPr lang="en-IN" sz="2800" dirty="0"/>
          </a:p>
        </p:txBody>
      </p:sp>
    </p:spTree>
    <p:extLst>
      <p:ext uri="{BB962C8B-B14F-4D97-AF65-F5344CB8AC3E}">
        <p14:creationId xmlns:p14="http://schemas.microsoft.com/office/powerpoint/2010/main" val="249841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98EDE-8B7C-E5F8-D4FA-7CAE04851D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B43C22-7CF1-1705-D89E-BA0C110BE761}"/>
              </a:ext>
            </a:extLst>
          </p:cNvPr>
          <p:cNvSpPr>
            <a:spLocks noGrp="1"/>
          </p:cNvSpPr>
          <p:nvPr>
            <p:ph idx="1"/>
          </p:nvPr>
        </p:nvSpPr>
        <p:spPr>
          <a:xfrm>
            <a:off x="702853" y="707571"/>
            <a:ext cx="10900568" cy="5486400"/>
          </a:xfrm>
        </p:spPr>
        <p:txBody>
          <a:bodyPr>
            <a:normAutofit/>
          </a:bodyPr>
          <a:lstStyle/>
          <a:p>
            <a:pPr marL="0" indent="0">
              <a:buNone/>
            </a:pPr>
            <a:r>
              <a:rPr lang="en-US" sz="2800" b="1" dirty="0"/>
              <a:t>1. Internal Evaluation Metrics (most common)</a:t>
            </a:r>
          </a:p>
          <a:p>
            <a:pPr marL="0" indent="0">
              <a:buNone/>
            </a:pPr>
            <a:endParaRPr lang="en-IN" sz="2800" dirty="0"/>
          </a:p>
        </p:txBody>
      </p:sp>
      <p:graphicFrame>
        <p:nvGraphicFramePr>
          <p:cNvPr id="2" name="Table 1">
            <a:extLst>
              <a:ext uri="{FF2B5EF4-FFF2-40B4-BE49-F238E27FC236}">
                <a16:creationId xmlns:a16="http://schemas.microsoft.com/office/drawing/2014/main" id="{E30B3347-D90B-C591-B979-11CE2756C0EF}"/>
              </a:ext>
            </a:extLst>
          </p:cNvPr>
          <p:cNvGraphicFramePr>
            <a:graphicFrameLocks noGrp="1"/>
          </p:cNvGraphicFramePr>
          <p:nvPr>
            <p:extLst>
              <p:ext uri="{D42A27DB-BD31-4B8C-83A1-F6EECF244321}">
                <p14:modId xmlns:p14="http://schemas.microsoft.com/office/powerpoint/2010/main" val="2394256958"/>
              </p:ext>
            </p:extLst>
          </p:nvPr>
        </p:nvGraphicFramePr>
        <p:xfrm>
          <a:off x="914989" y="1432467"/>
          <a:ext cx="10155782" cy="3501359"/>
        </p:xfrm>
        <a:graphic>
          <a:graphicData uri="http://schemas.openxmlformats.org/drawingml/2006/table">
            <a:tbl>
              <a:tblPr firstRow="1" firstCol="1" bandRow="1">
                <a:tableStyleId>{5C22544A-7EE6-4342-B048-85BDC9FD1C3A}</a:tableStyleId>
              </a:tblPr>
              <a:tblGrid>
                <a:gridCol w="3657011">
                  <a:extLst>
                    <a:ext uri="{9D8B030D-6E8A-4147-A177-3AD203B41FA5}">
                      <a16:colId xmlns:a16="http://schemas.microsoft.com/office/drawing/2014/main" val="2499886717"/>
                    </a:ext>
                  </a:extLst>
                </a:gridCol>
                <a:gridCol w="6498771">
                  <a:extLst>
                    <a:ext uri="{9D8B030D-6E8A-4147-A177-3AD203B41FA5}">
                      <a16:colId xmlns:a16="http://schemas.microsoft.com/office/drawing/2014/main" val="1912106177"/>
                    </a:ext>
                  </a:extLst>
                </a:gridCol>
              </a:tblGrid>
              <a:tr h="483419">
                <a:tc>
                  <a:txBody>
                    <a:bodyPr/>
                    <a:lstStyle/>
                    <a:p>
                      <a:pPr>
                        <a:lnSpc>
                          <a:spcPct val="107000"/>
                        </a:lnSpc>
                        <a:spcAft>
                          <a:spcPts val="800"/>
                        </a:spcAft>
                        <a:buNone/>
                      </a:pPr>
                      <a:r>
                        <a:rPr lang="en-IN" sz="2000" kern="100" dirty="0">
                          <a:effectLst/>
                        </a:rPr>
                        <a:t>Metric Name</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Meaning</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070322252"/>
                  </a:ext>
                </a:extLst>
              </a:tr>
              <a:tr h="669273">
                <a:tc>
                  <a:txBody>
                    <a:bodyPr/>
                    <a:lstStyle/>
                    <a:p>
                      <a:pPr>
                        <a:lnSpc>
                          <a:spcPct val="107000"/>
                        </a:lnSpc>
                        <a:spcAft>
                          <a:spcPts val="800"/>
                        </a:spcAft>
                        <a:buNone/>
                      </a:pPr>
                      <a:r>
                        <a:rPr lang="en-IN" sz="2000" kern="100">
                          <a:effectLst/>
                        </a:rPr>
                        <a:t>Silhouette Score</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Measures how well a point fits into its cluster vs. others. Higher is better (range -1 to +1).</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260745313"/>
                  </a:ext>
                </a:extLst>
              </a:tr>
              <a:tr h="669273">
                <a:tc>
                  <a:txBody>
                    <a:bodyPr/>
                    <a:lstStyle/>
                    <a:p>
                      <a:pPr>
                        <a:lnSpc>
                          <a:spcPct val="107000"/>
                        </a:lnSpc>
                        <a:spcAft>
                          <a:spcPts val="800"/>
                        </a:spcAft>
                        <a:buNone/>
                      </a:pPr>
                      <a:r>
                        <a:rPr lang="en-IN" sz="2000" kern="100">
                          <a:effectLst/>
                        </a:rPr>
                        <a:t>Inertia (Within-cluster SSE)</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Sum of squared distances between points and their cluster centroid. Lower is better.</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09863377"/>
                  </a:ext>
                </a:extLst>
              </a:tr>
              <a:tr h="669273">
                <a:tc>
                  <a:txBody>
                    <a:bodyPr/>
                    <a:lstStyle/>
                    <a:p>
                      <a:pPr>
                        <a:lnSpc>
                          <a:spcPct val="107000"/>
                        </a:lnSpc>
                        <a:spcAft>
                          <a:spcPts val="800"/>
                        </a:spcAft>
                        <a:buNone/>
                      </a:pPr>
                      <a:r>
                        <a:rPr lang="en-IN" sz="2000" kern="100">
                          <a:effectLst/>
                        </a:rPr>
                        <a:t>Davies–Bouldin Index</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Ratio of intra-cluster to inter-cluster distance. Lower is better.</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1058170511"/>
                  </a:ext>
                </a:extLst>
              </a:tr>
              <a:tr h="1010121">
                <a:tc>
                  <a:txBody>
                    <a:bodyPr/>
                    <a:lstStyle/>
                    <a:p>
                      <a:pPr>
                        <a:lnSpc>
                          <a:spcPct val="107000"/>
                        </a:lnSpc>
                        <a:spcAft>
                          <a:spcPts val="800"/>
                        </a:spcAft>
                        <a:buNone/>
                      </a:pPr>
                      <a:r>
                        <a:rPr lang="en-IN" sz="2000" kern="100">
                          <a:effectLst/>
                        </a:rPr>
                        <a:t>Dunn Index</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Ratio of the smallest distance between clusters to the largest diameter of a cluster. Higher is better.</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138270784"/>
                  </a:ext>
                </a:extLst>
              </a:tr>
            </a:tbl>
          </a:graphicData>
        </a:graphic>
      </p:graphicFrame>
    </p:spTree>
    <p:extLst>
      <p:ext uri="{BB962C8B-B14F-4D97-AF65-F5344CB8AC3E}">
        <p14:creationId xmlns:p14="http://schemas.microsoft.com/office/powerpoint/2010/main" val="915010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E5430-BCBD-8225-44D7-603FA096493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32100B-512B-7D7B-A10A-879FC9A5343F}"/>
              </a:ext>
            </a:extLst>
          </p:cNvPr>
          <p:cNvSpPr>
            <a:spLocks noGrp="1"/>
          </p:cNvSpPr>
          <p:nvPr>
            <p:ph idx="1"/>
          </p:nvPr>
        </p:nvSpPr>
        <p:spPr>
          <a:xfrm>
            <a:off x="702853" y="587829"/>
            <a:ext cx="10900568" cy="5606142"/>
          </a:xfrm>
        </p:spPr>
        <p:txBody>
          <a:bodyPr>
            <a:normAutofit/>
          </a:bodyPr>
          <a:lstStyle/>
          <a:p>
            <a:pPr marL="0" indent="0">
              <a:buNone/>
            </a:pPr>
            <a:r>
              <a:rPr lang="en-US" sz="2800" b="1" dirty="0"/>
              <a:t>Silhouette Score:</a:t>
            </a:r>
          </a:p>
          <a:p>
            <a:pPr marL="0" indent="0">
              <a:buNone/>
            </a:pPr>
            <a:r>
              <a:rPr lang="en-US" sz="2400" dirty="0"/>
              <a:t>The </a:t>
            </a:r>
            <a:r>
              <a:rPr lang="en-US" sz="2400" b="1" dirty="0"/>
              <a:t>Silhouette Score</a:t>
            </a:r>
            <a:r>
              <a:rPr lang="en-US" sz="2400" dirty="0"/>
              <a:t> is a metric used to evaluate the quality of a clustering result. It </a:t>
            </a:r>
            <a:r>
              <a:rPr lang="en-US" sz="2400" b="1" dirty="0"/>
              <a:t>measures how well each data point fits within its cluster </a:t>
            </a:r>
            <a:r>
              <a:rPr lang="en-US" sz="2400" b="1" dirty="0">
                <a:solidFill>
                  <a:schemeClr val="tx2">
                    <a:lumMod val="75000"/>
                    <a:lumOff val="25000"/>
                  </a:schemeClr>
                </a:solidFill>
              </a:rPr>
              <a:t>compared to other clusters</a:t>
            </a:r>
            <a:r>
              <a:rPr lang="en-US" sz="2400" dirty="0"/>
              <a:t>.</a:t>
            </a:r>
          </a:p>
          <a:p>
            <a:pPr marL="0" indent="0">
              <a:buNone/>
            </a:pPr>
            <a:r>
              <a:rPr lang="en-US" sz="2400" b="1" dirty="0"/>
              <a:t>Definition</a:t>
            </a:r>
          </a:p>
          <a:p>
            <a:pPr marL="0" indent="0">
              <a:buNone/>
            </a:pPr>
            <a:r>
              <a:rPr lang="en-US" sz="2400" dirty="0"/>
              <a:t>For a data point i:</a:t>
            </a:r>
          </a:p>
          <a:p>
            <a:pPr lvl="1"/>
            <a:r>
              <a:rPr lang="en-US" sz="2200" b="1" dirty="0">
                <a:solidFill>
                  <a:schemeClr val="tx2">
                    <a:lumMod val="75000"/>
                    <a:lumOff val="25000"/>
                  </a:schemeClr>
                </a:solidFill>
              </a:rPr>
              <a:t>a(</a:t>
            </a:r>
            <a:r>
              <a:rPr lang="en-US" sz="2200" b="1" dirty="0" err="1">
                <a:solidFill>
                  <a:schemeClr val="tx2">
                    <a:lumMod val="75000"/>
                    <a:lumOff val="25000"/>
                  </a:schemeClr>
                </a:solidFill>
              </a:rPr>
              <a:t>i</a:t>
            </a:r>
            <a:r>
              <a:rPr lang="en-US" sz="2200" b="1" dirty="0">
                <a:solidFill>
                  <a:schemeClr val="tx2">
                    <a:lumMod val="75000"/>
                    <a:lumOff val="25000"/>
                  </a:schemeClr>
                </a:solidFill>
              </a:rPr>
              <a:t>) </a:t>
            </a:r>
            <a:r>
              <a:rPr lang="en-US" sz="2200" dirty="0"/>
              <a:t>= average distance between </a:t>
            </a:r>
            <a:r>
              <a:rPr lang="en-US" sz="2200" dirty="0" err="1"/>
              <a:t>i</a:t>
            </a:r>
            <a:r>
              <a:rPr lang="en-US" sz="2200" dirty="0"/>
              <a:t> and all other points in the same cluster</a:t>
            </a:r>
          </a:p>
          <a:p>
            <a:pPr lvl="1"/>
            <a:r>
              <a:rPr lang="en-US" sz="2200" b="1" dirty="0">
                <a:solidFill>
                  <a:schemeClr val="tx2">
                    <a:lumMod val="75000"/>
                    <a:lumOff val="25000"/>
                  </a:schemeClr>
                </a:solidFill>
              </a:rPr>
              <a:t>b(</a:t>
            </a:r>
            <a:r>
              <a:rPr lang="en-US" sz="2200" b="1" dirty="0" err="1">
                <a:solidFill>
                  <a:schemeClr val="tx2">
                    <a:lumMod val="75000"/>
                    <a:lumOff val="25000"/>
                  </a:schemeClr>
                </a:solidFill>
              </a:rPr>
              <a:t>i</a:t>
            </a:r>
            <a:r>
              <a:rPr lang="en-US" sz="2200" b="1" dirty="0">
                <a:solidFill>
                  <a:schemeClr val="tx2">
                    <a:lumMod val="75000"/>
                    <a:lumOff val="25000"/>
                  </a:schemeClr>
                </a:solidFill>
              </a:rPr>
              <a:t>) </a:t>
            </a:r>
            <a:r>
              <a:rPr lang="en-US" sz="2200" dirty="0"/>
              <a:t>= lowest average distance between </a:t>
            </a:r>
            <a:r>
              <a:rPr lang="en-US" sz="2200" dirty="0" err="1"/>
              <a:t>i</a:t>
            </a:r>
            <a:r>
              <a:rPr lang="en-US" sz="2200" dirty="0"/>
              <a:t> and points in any other cluster (i.e., the nearest cluster)</a:t>
            </a:r>
          </a:p>
          <a:p>
            <a:pPr marL="0" indent="0">
              <a:buNone/>
            </a:pPr>
            <a:r>
              <a:rPr lang="en-US" sz="2400" dirty="0"/>
              <a:t>The silhouette score s(</a:t>
            </a:r>
            <a:r>
              <a:rPr lang="en-US" sz="2400" dirty="0" err="1"/>
              <a:t>i</a:t>
            </a:r>
            <a:r>
              <a:rPr lang="en-US" sz="2400" dirty="0"/>
              <a:t>) for a single point is calculated as:</a:t>
            </a:r>
            <a:endParaRPr lang="en-IN" sz="2400" dirty="0"/>
          </a:p>
        </p:txBody>
      </p:sp>
      <p:pic>
        <p:nvPicPr>
          <p:cNvPr id="4" name="Picture 3">
            <a:extLst>
              <a:ext uri="{FF2B5EF4-FFF2-40B4-BE49-F238E27FC236}">
                <a16:creationId xmlns:a16="http://schemas.microsoft.com/office/drawing/2014/main" id="{7D1BA71F-5F35-9CBE-2C29-0A7448B0AE73}"/>
              </a:ext>
            </a:extLst>
          </p:cNvPr>
          <p:cNvPicPr>
            <a:picLocks noChangeAspect="1"/>
          </p:cNvPicPr>
          <p:nvPr/>
        </p:nvPicPr>
        <p:blipFill>
          <a:blip r:embed="rId2"/>
          <a:stretch>
            <a:fillRect/>
          </a:stretch>
        </p:blipFill>
        <p:spPr>
          <a:xfrm>
            <a:off x="2985859" y="4482372"/>
            <a:ext cx="4928056" cy="1955578"/>
          </a:xfrm>
          <a:prstGeom prst="rect">
            <a:avLst/>
          </a:prstGeom>
        </p:spPr>
      </p:pic>
    </p:spTree>
    <p:extLst>
      <p:ext uri="{BB962C8B-B14F-4D97-AF65-F5344CB8AC3E}">
        <p14:creationId xmlns:p14="http://schemas.microsoft.com/office/powerpoint/2010/main" val="2412775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492FE-B133-8891-3009-FF4F564033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72B455-A3A3-6EF4-A1B5-EACF05049175}"/>
              </a:ext>
            </a:extLst>
          </p:cNvPr>
          <p:cNvSpPr>
            <a:spLocks noGrp="1"/>
          </p:cNvSpPr>
          <p:nvPr>
            <p:ph idx="1"/>
          </p:nvPr>
        </p:nvSpPr>
        <p:spPr>
          <a:xfrm>
            <a:off x="702853" y="707571"/>
            <a:ext cx="10900568" cy="5486400"/>
          </a:xfrm>
        </p:spPr>
        <p:txBody>
          <a:bodyPr>
            <a:normAutofit/>
          </a:bodyPr>
          <a:lstStyle/>
          <a:p>
            <a:pPr marL="0" indent="0">
              <a:buNone/>
            </a:pPr>
            <a:r>
              <a:rPr lang="en-US" sz="2400" b="1" dirty="0"/>
              <a:t>Score Range &amp; Interpretation</a:t>
            </a:r>
          </a:p>
          <a:p>
            <a:r>
              <a:rPr lang="en-US" sz="2400" b="1" dirty="0"/>
              <a:t>+1</a:t>
            </a:r>
            <a:r>
              <a:rPr lang="en-US" sz="2400" dirty="0"/>
              <a:t> → </a:t>
            </a:r>
            <a:r>
              <a:rPr lang="en-US" sz="2400" b="1" dirty="0">
                <a:solidFill>
                  <a:srgbClr val="00B050"/>
                </a:solidFill>
              </a:rPr>
              <a:t>Perfectly clustered </a:t>
            </a:r>
            <a:r>
              <a:rPr lang="en-US" sz="2400" dirty="0"/>
              <a:t>(well matched to its own cluster, far from others)</a:t>
            </a:r>
          </a:p>
          <a:p>
            <a:r>
              <a:rPr lang="en-US" sz="2400" b="1" dirty="0"/>
              <a:t>0</a:t>
            </a:r>
            <a:r>
              <a:rPr lang="en-US" sz="2400" dirty="0"/>
              <a:t> → </a:t>
            </a:r>
            <a:r>
              <a:rPr lang="en-US" sz="2400" b="1" dirty="0">
                <a:solidFill>
                  <a:srgbClr val="FFC000"/>
                </a:solidFill>
              </a:rPr>
              <a:t>On</a:t>
            </a:r>
            <a:r>
              <a:rPr lang="en-US" sz="2400" dirty="0"/>
              <a:t> or </a:t>
            </a:r>
            <a:r>
              <a:rPr lang="en-US" sz="2400" b="1" dirty="0">
                <a:solidFill>
                  <a:srgbClr val="FFC000"/>
                </a:solidFill>
              </a:rPr>
              <a:t>very</a:t>
            </a:r>
            <a:r>
              <a:rPr lang="en-US" sz="2400" dirty="0"/>
              <a:t> </a:t>
            </a:r>
            <a:r>
              <a:rPr lang="en-US" sz="2400" b="1" dirty="0">
                <a:solidFill>
                  <a:srgbClr val="FFC000"/>
                </a:solidFill>
              </a:rPr>
              <a:t>close</a:t>
            </a:r>
            <a:r>
              <a:rPr lang="en-US" sz="2400" dirty="0"/>
              <a:t> to the boundary between clusters</a:t>
            </a:r>
          </a:p>
          <a:p>
            <a:r>
              <a:rPr lang="en-US" sz="2400" b="1" dirty="0"/>
              <a:t>-1</a:t>
            </a:r>
            <a:r>
              <a:rPr lang="en-US" sz="2400" dirty="0"/>
              <a:t> → </a:t>
            </a:r>
            <a:r>
              <a:rPr lang="en-US" sz="2400" b="1" dirty="0">
                <a:solidFill>
                  <a:srgbClr val="FF0000"/>
                </a:solidFill>
              </a:rPr>
              <a:t>Probably in the wrong cluster</a:t>
            </a:r>
          </a:p>
          <a:p>
            <a:pPr marL="0" indent="0">
              <a:buNone/>
            </a:pPr>
            <a:endParaRPr lang="en-US" sz="2400" b="1" dirty="0"/>
          </a:p>
          <a:p>
            <a:pPr marL="0" indent="0">
              <a:buNone/>
            </a:pPr>
            <a:r>
              <a:rPr lang="en-US" sz="2400" b="1" dirty="0"/>
              <a:t>Example (Intuitive)</a:t>
            </a:r>
          </a:p>
          <a:p>
            <a:r>
              <a:rPr lang="en-US" sz="2400" dirty="0"/>
              <a:t>Imagine you’re organizing books in a library:</a:t>
            </a:r>
          </a:p>
          <a:p>
            <a:r>
              <a:rPr lang="en-US" sz="2400" dirty="0"/>
              <a:t>If a book is grouped with very similar books and very different from books in other shelves → high silhouette score.</a:t>
            </a:r>
          </a:p>
          <a:p>
            <a:r>
              <a:rPr lang="en-US" sz="2400" dirty="0"/>
              <a:t>If a book is equally similar to books in multiple shelves → score around 0.</a:t>
            </a:r>
          </a:p>
          <a:p>
            <a:r>
              <a:rPr lang="en-US" sz="2400" dirty="0"/>
              <a:t>If a book is more similar to books in another shelf than its own → negative score.</a:t>
            </a:r>
          </a:p>
          <a:p>
            <a:pPr marL="0" indent="0">
              <a:buNone/>
            </a:pPr>
            <a:endParaRPr lang="en-IN" sz="2400" dirty="0"/>
          </a:p>
        </p:txBody>
      </p:sp>
    </p:spTree>
    <p:extLst>
      <p:ext uri="{BB962C8B-B14F-4D97-AF65-F5344CB8AC3E}">
        <p14:creationId xmlns:p14="http://schemas.microsoft.com/office/powerpoint/2010/main" val="870610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8AFBD-765A-29EA-C402-A2EED2615C4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0D60A9-4C4E-9EFF-E3DA-37633AE1B45F}"/>
              </a:ext>
            </a:extLst>
          </p:cNvPr>
          <p:cNvSpPr>
            <a:spLocks noGrp="1"/>
          </p:cNvSpPr>
          <p:nvPr>
            <p:ph idx="1"/>
          </p:nvPr>
        </p:nvSpPr>
        <p:spPr>
          <a:xfrm>
            <a:off x="702853" y="707571"/>
            <a:ext cx="10900568" cy="5486400"/>
          </a:xfrm>
        </p:spPr>
        <p:txBody>
          <a:bodyPr>
            <a:normAutofit/>
          </a:bodyPr>
          <a:lstStyle/>
          <a:p>
            <a:pPr marL="0" indent="0">
              <a:buNone/>
            </a:pPr>
            <a:r>
              <a:rPr lang="en-US" sz="2800" b="1" dirty="0"/>
              <a:t>Example: Simple 2D Data</a:t>
            </a:r>
          </a:p>
          <a:p>
            <a:pPr marL="0" indent="0">
              <a:buNone/>
            </a:pPr>
            <a:r>
              <a:rPr lang="en-US" sz="2800" dirty="0"/>
              <a:t>Assume we have </a:t>
            </a:r>
            <a:r>
              <a:rPr lang="en-US" sz="2800" b="1" dirty="0">
                <a:solidFill>
                  <a:schemeClr val="tx2">
                    <a:lumMod val="75000"/>
                    <a:lumOff val="25000"/>
                  </a:schemeClr>
                </a:solidFill>
              </a:rPr>
              <a:t>6 data points </a:t>
            </a:r>
            <a:r>
              <a:rPr lang="en-US" sz="2800" dirty="0"/>
              <a:t>clustered into 2 clusters:</a:t>
            </a:r>
          </a:p>
          <a:p>
            <a:pPr lvl="1"/>
            <a:r>
              <a:rPr lang="en-US" sz="2800" dirty="0"/>
              <a:t>Cluster A: A1(1,2), A2(2,1), A3(1,0)</a:t>
            </a:r>
          </a:p>
          <a:p>
            <a:pPr lvl="1"/>
            <a:r>
              <a:rPr lang="en-US" sz="2800" dirty="0"/>
              <a:t>Cluster B: B1(8,8), B2(9,10), B3(10,9)</a:t>
            </a:r>
          </a:p>
          <a:p>
            <a:pPr marL="0" indent="0">
              <a:buNone/>
            </a:pPr>
            <a:endParaRPr lang="en-US" sz="2800" dirty="0"/>
          </a:p>
          <a:p>
            <a:pPr marL="0" indent="0">
              <a:buNone/>
            </a:pPr>
            <a:r>
              <a:rPr lang="en-US" sz="2800" dirty="0"/>
              <a:t>Let’s compute the silhouette score for point A1(1,2).</a:t>
            </a:r>
            <a:endParaRPr lang="en-IN" sz="2800" dirty="0"/>
          </a:p>
        </p:txBody>
      </p:sp>
    </p:spTree>
    <p:extLst>
      <p:ext uri="{BB962C8B-B14F-4D97-AF65-F5344CB8AC3E}">
        <p14:creationId xmlns:p14="http://schemas.microsoft.com/office/powerpoint/2010/main" val="24516343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93EA1-9DEA-E53C-3A44-4E44D9E5D5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A461AC-1232-3C54-53CF-24FFAF570969}"/>
              </a:ext>
            </a:extLst>
          </p:cNvPr>
          <p:cNvSpPr>
            <a:spLocks noGrp="1"/>
          </p:cNvSpPr>
          <p:nvPr>
            <p:ph idx="1"/>
          </p:nvPr>
        </p:nvSpPr>
        <p:spPr>
          <a:xfrm>
            <a:off x="702853" y="500743"/>
            <a:ext cx="10900568" cy="5693228"/>
          </a:xfrm>
        </p:spPr>
        <p:txBody>
          <a:bodyPr>
            <a:normAutofit/>
          </a:bodyPr>
          <a:lstStyle/>
          <a:p>
            <a:pPr marL="0" indent="0">
              <a:buNone/>
            </a:pPr>
            <a:r>
              <a:rPr lang="en-US" sz="2800" b="1" dirty="0"/>
              <a:t>Step 1: Compute </a:t>
            </a:r>
            <a:r>
              <a:rPr lang="en-US" sz="2800" b="1" dirty="0">
                <a:solidFill>
                  <a:schemeClr val="tx2">
                    <a:lumMod val="75000"/>
                    <a:lumOff val="25000"/>
                  </a:schemeClr>
                </a:solidFill>
              </a:rPr>
              <a:t>a(</a:t>
            </a:r>
            <a:r>
              <a:rPr lang="en-US" sz="2800" b="1" dirty="0" err="1">
                <a:solidFill>
                  <a:schemeClr val="tx2">
                    <a:lumMod val="75000"/>
                    <a:lumOff val="25000"/>
                  </a:schemeClr>
                </a:solidFill>
              </a:rPr>
              <a:t>i</a:t>
            </a:r>
            <a:r>
              <a:rPr lang="en-US" sz="2800" b="1" dirty="0">
                <a:solidFill>
                  <a:schemeClr val="tx2">
                    <a:lumMod val="75000"/>
                    <a:lumOff val="25000"/>
                  </a:schemeClr>
                </a:solidFill>
              </a:rPr>
              <a:t>)</a:t>
            </a:r>
            <a:r>
              <a:rPr lang="en-US" sz="2800" b="1" dirty="0"/>
              <a:t> – average distance to points in the same cluster</a:t>
            </a:r>
          </a:p>
          <a:p>
            <a:pPr marL="0" indent="0">
              <a:buNone/>
            </a:pPr>
            <a:r>
              <a:rPr lang="en-US" sz="2400" dirty="0"/>
              <a:t>A1 is in </a:t>
            </a:r>
            <a:r>
              <a:rPr lang="en-US" sz="2400" b="1" dirty="0"/>
              <a:t>Cluster A</a:t>
            </a:r>
            <a:r>
              <a:rPr lang="en-US" sz="2400" dirty="0"/>
              <a:t>, so we compute distances to A2 and A3:</a:t>
            </a:r>
          </a:p>
          <a:p>
            <a:endParaRPr lang="en-US" sz="2400" b="1" dirty="0"/>
          </a:p>
          <a:p>
            <a:r>
              <a:rPr lang="en-US" sz="2400" b="1" dirty="0"/>
              <a:t>Distance A1 to A2:</a:t>
            </a:r>
          </a:p>
          <a:p>
            <a:pPr marL="457200" lvl="1" indent="0">
              <a:buNone/>
            </a:pPr>
            <a:endParaRPr lang="en-US" sz="2200" dirty="0"/>
          </a:p>
          <a:p>
            <a:pPr marL="0" indent="0">
              <a:buNone/>
            </a:pPr>
            <a:endParaRPr lang="en-IN" sz="2400" dirty="0"/>
          </a:p>
          <a:p>
            <a:r>
              <a:rPr lang="en-IN" sz="2400" b="1" dirty="0"/>
              <a:t>Distance A1 to A3:</a:t>
            </a:r>
          </a:p>
          <a:p>
            <a:endParaRPr lang="en-IN" sz="2400" b="1" dirty="0"/>
          </a:p>
          <a:p>
            <a:endParaRPr lang="en-IN" sz="2400" b="1" dirty="0"/>
          </a:p>
          <a:p>
            <a:endParaRPr lang="en-IN" sz="2400" b="1" dirty="0"/>
          </a:p>
          <a:p>
            <a:endParaRPr lang="en-IN" sz="2400" b="1" dirty="0"/>
          </a:p>
        </p:txBody>
      </p:sp>
      <p:pic>
        <p:nvPicPr>
          <p:cNvPr id="4" name="Picture 3">
            <a:extLst>
              <a:ext uri="{FF2B5EF4-FFF2-40B4-BE49-F238E27FC236}">
                <a16:creationId xmlns:a16="http://schemas.microsoft.com/office/drawing/2014/main" id="{A3964EB2-61ED-36C4-77FA-A3110CB131F7}"/>
              </a:ext>
            </a:extLst>
          </p:cNvPr>
          <p:cNvPicPr>
            <a:picLocks noChangeAspect="1"/>
          </p:cNvPicPr>
          <p:nvPr/>
        </p:nvPicPr>
        <p:blipFill>
          <a:blip r:embed="rId2"/>
          <a:srcRect t="15129"/>
          <a:stretch>
            <a:fillRect/>
          </a:stretch>
        </p:blipFill>
        <p:spPr>
          <a:xfrm>
            <a:off x="3692185" y="1681128"/>
            <a:ext cx="7796962" cy="760322"/>
          </a:xfrm>
          <a:prstGeom prst="rect">
            <a:avLst/>
          </a:prstGeom>
        </p:spPr>
      </p:pic>
      <p:pic>
        <p:nvPicPr>
          <p:cNvPr id="6" name="Picture 5">
            <a:extLst>
              <a:ext uri="{FF2B5EF4-FFF2-40B4-BE49-F238E27FC236}">
                <a16:creationId xmlns:a16="http://schemas.microsoft.com/office/drawing/2014/main" id="{5EC8DDA6-9D7A-1BD9-7FD4-D23A26C703AC}"/>
              </a:ext>
            </a:extLst>
          </p:cNvPr>
          <p:cNvPicPr>
            <a:picLocks noChangeAspect="1"/>
          </p:cNvPicPr>
          <p:nvPr/>
        </p:nvPicPr>
        <p:blipFill>
          <a:blip r:embed="rId3"/>
          <a:srcRect l="2847" t="16444" r="4759"/>
          <a:stretch>
            <a:fillRect/>
          </a:stretch>
        </p:blipFill>
        <p:spPr>
          <a:xfrm>
            <a:off x="3692185" y="3048958"/>
            <a:ext cx="7796962" cy="812452"/>
          </a:xfrm>
          <a:prstGeom prst="rect">
            <a:avLst/>
          </a:prstGeom>
        </p:spPr>
      </p:pic>
      <p:pic>
        <p:nvPicPr>
          <p:cNvPr id="8" name="Picture 7">
            <a:extLst>
              <a:ext uri="{FF2B5EF4-FFF2-40B4-BE49-F238E27FC236}">
                <a16:creationId xmlns:a16="http://schemas.microsoft.com/office/drawing/2014/main" id="{83DF8167-9429-1C70-1868-BC2A1B674205}"/>
              </a:ext>
            </a:extLst>
          </p:cNvPr>
          <p:cNvPicPr>
            <a:picLocks noChangeAspect="1"/>
          </p:cNvPicPr>
          <p:nvPr/>
        </p:nvPicPr>
        <p:blipFill>
          <a:blip r:embed="rId4"/>
          <a:stretch>
            <a:fillRect/>
          </a:stretch>
        </p:blipFill>
        <p:spPr>
          <a:xfrm>
            <a:off x="2378885" y="4641736"/>
            <a:ext cx="5714286" cy="1323810"/>
          </a:xfrm>
          <a:prstGeom prst="rect">
            <a:avLst/>
          </a:prstGeom>
        </p:spPr>
      </p:pic>
    </p:spTree>
    <p:extLst>
      <p:ext uri="{BB962C8B-B14F-4D97-AF65-F5344CB8AC3E}">
        <p14:creationId xmlns:p14="http://schemas.microsoft.com/office/powerpoint/2010/main" val="2166564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AD3E3-67A4-922F-DCE5-8897567726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0FEB52-736B-0EF2-E5B7-14047E491B3C}"/>
              </a:ext>
            </a:extLst>
          </p:cNvPr>
          <p:cNvSpPr>
            <a:spLocks noGrp="1"/>
          </p:cNvSpPr>
          <p:nvPr>
            <p:ph idx="1"/>
          </p:nvPr>
        </p:nvSpPr>
        <p:spPr>
          <a:xfrm>
            <a:off x="702853" y="707571"/>
            <a:ext cx="10900568" cy="5486400"/>
          </a:xfrm>
        </p:spPr>
        <p:txBody>
          <a:bodyPr>
            <a:normAutofit/>
          </a:bodyPr>
          <a:lstStyle/>
          <a:p>
            <a:pPr marL="0" indent="0">
              <a:buNone/>
            </a:pPr>
            <a:r>
              <a:rPr lang="en-US" sz="2800" b="1" dirty="0">
                <a:solidFill>
                  <a:srgbClr val="002060"/>
                </a:solidFill>
              </a:rPr>
              <a:t>Step 2: Compute b(</a:t>
            </a:r>
            <a:r>
              <a:rPr lang="en-US" sz="2800" b="1" dirty="0" err="1">
                <a:solidFill>
                  <a:srgbClr val="002060"/>
                </a:solidFill>
              </a:rPr>
              <a:t>i</a:t>
            </a:r>
            <a:r>
              <a:rPr lang="en-US" sz="2800" b="1" dirty="0">
                <a:solidFill>
                  <a:srgbClr val="002060"/>
                </a:solidFill>
              </a:rPr>
              <a:t>) – average distance to the nearest other cluster</a:t>
            </a:r>
          </a:p>
          <a:p>
            <a:pPr marL="0" indent="0">
              <a:buNone/>
            </a:pPr>
            <a:r>
              <a:rPr lang="en-US" sz="2400" b="1" dirty="0"/>
              <a:t>A1</a:t>
            </a:r>
            <a:r>
              <a:rPr lang="en-US" sz="2400" dirty="0"/>
              <a:t> is in </a:t>
            </a:r>
            <a:r>
              <a:rPr lang="en-US" sz="2400" b="1" dirty="0">
                <a:solidFill>
                  <a:schemeClr val="tx2">
                    <a:lumMod val="75000"/>
                    <a:lumOff val="25000"/>
                  </a:schemeClr>
                </a:solidFill>
              </a:rPr>
              <a:t>Cluster A</a:t>
            </a:r>
            <a:r>
              <a:rPr lang="en-US" sz="2400" dirty="0"/>
              <a:t>. The nearest other cluster is </a:t>
            </a:r>
            <a:r>
              <a:rPr lang="en-US" sz="2400" b="1" dirty="0">
                <a:solidFill>
                  <a:schemeClr val="tx2">
                    <a:lumMod val="75000"/>
                    <a:lumOff val="25000"/>
                  </a:schemeClr>
                </a:solidFill>
              </a:rPr>
              <a:t>Cluster B</a:t>
            </a:r>
            <a:r>
              <a:rPr lang="en-US" sz="2400" dirty="0"/>
              <a:t>. So compute average distance from A1 to all points in Cluster B:</a:t>
            </a:r>
          </a:p>
          <a:p>
            <a:pPr marL="0" indent="0">
              <a:buNone/>
            </a:pPr>
            <a:endParaRPr lang="en-US" sz="2400" dirty="0"/>
          </a:p>
          <a:p>
            <a:r>
              <a:rPr lang="en-US" sz="2400" b="1" dirty="0"/>
              <a:t>A1 to B1(8,8): </a:t>
            </a:r>
          </a:p>
          <a:p>
            <a:endParaRPr lang="en-US" sz="2400" b="1" dirty="0"/>
          </a:p>
          <a:p>
            <a:endParaRPr lang="en-US" sz="1050" b="1" dirty="0"/>
          </a:p>
          <a:p>
            <a:r>
              <a:rPr lang="en-IN" sz="2400" b="1" dirty="0"/>
              <a:t>A1 to B2(9,10):</a:t>
            </a:r>
          </a:p>
          <a:p>
            <a:endParaRPr lang="en-IN" sz="2400" b="1" dirty="0"/>
          </a:p>
          <a:p>
            <a:r>
              <a:rPr lang="en-IN" sz="2400" b="1" dirty="0"/>
              <a:t>A1 to B3(10,9):</a:t>
            </a:r>
          </a:p>
        </p:txBody>
      </p:sp>
      <p:pic>
        <p:nvPicPr>
          <p:cNvPr id="4" name="Picture 3">
            <a:extLst>
              <a:ext uri="{FF2B5EF4-FFF2-40B4-BE49-F238E27FC236}">
                <a16:creationId xmlns:a16="http://schemas.microsoft.com/office/drawing/2014/main" id="{ED2FBBCA-44EE-E962-C2EC-64D0D09004F6}"/>
              </a:ext>
            </a:extLst>
          </p:cNvPr>
          <p:cNvPicPr>
            <a:picLocks noChangeAspect="1"/>
          </p:cNvPicPr>
          <p:nvPr/>
        </p:nvPicPr>
        <p:blipFill>
          <a:blip r:embed="rId2"/>
          <a:srcRect t="60621" b="23532"/>
          <a:stretch>
            <a:fillRect/>
          </a:stretch>
        </p:blipFill>
        <p:spPr>
          <a:xfrm>
            <a:off x="3050689" y="4464241"/>
            <a:ext cx="8438457" cy="778904"/>
          </a:xfrm>
          <a:prstGeom prst="rect">
            <a:avLst/>
          </a:prstGeom>
        </p:spPr>
      </p:pic>
      <p:pic>
        <p:nvPicPr>
          <p:cNvPr id="5" name="Picture 4">
            <a:extLst>
              <a:ext uri="{FF2B5EF4-FFF2-40B4-BE49-F238E27FC236}">
                <a16:creationId xmlns:a16="http://schemas.microsoft.com/office/drawing/2014/main" id="{C717A7E0-751A-6C2A-B118-FEAAE25598BF}"/>
              </a:ext>
            </a:extLst>
          </p:cNvPr>
          <p:cNvPicPr>
            <a:picLocks noChangeAspect="1"/>
          </p:cNvPicPr>
          <p:nvPr/>
        </p:nvPicPr>
        <p:blipFill>
          <a:blip r:embed="rId2"/>
          <a:srcRect t="32398" b="51756"/>
          <a:stretch>
            <a:fillRect/>
          </a:stretch>
        </p:blipFill>
        <p:spPr>
          <a:xfrm>
            <a:off x="3050690" y="3324918"/>
            <a:ext cx="8438457" cy="778905"/>
          </a:xfrm>
          <a:prstGeom prst="rect">
            <a:avLst/>
          </a:prstGeom>
        </p:spPr>
      </p:pic>
      <p:pic>
        <p:nvPicPr>
          <p:cNvPr id="6" name="Picture 5">
            <a:extLst>
              <a:ext uri="{FF2B5EF4-FFF2-40B4-BE49-F238E27FC236}">
                <a16:creationId xmlns:a16="http://schemas.microsoft.com/office/drawing/2014/main" id="{B4B09E84-0476-A62D-03AE-6198E116B379}"/>
              </a:ext>
            </a:extLst>
          </p:cNvPr>
          <p:cNvPicPr>
            <a:picLocks noChangeAspect="1"/>
          </p:cNvPicPr>
          <p:nvPr/>
        </p:nvPicPr>
        <p:blipFill>
          <a:blip r:embed="rId2"/>
          <a:srcRect t="4821" b="79501"/>
          <a:stretch>
            <a:fillRect/>
          </a:stretch>
        </p:blipFill>
        <p:spPr>
          <a:xfrm>
            <a:off x="3050690" y="2313302"/>
            <a:ext cx="8438457" cy="770618"/>
          </a:xfrm>
          <a:prstGeom prst="rect">
            <a:avLst/>
          </a:prstGeom>
        </p:spPr>
      </p:pic>
    </p:spTree>
    <p:extLst>
      <p:ext uri="{BB962C8B-B14F-4D97-AF65-F5344CB8AC3E}">
        <p14:creationId xmlns:p14="http://schemas.microsoft.com/office/powerpoint/2010/main" val="17043272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6C586-2992-AC53-88CB-C149238044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F24B76-818A-5ADB-6A5C-893C10A458D9}"/>
              </a:ext>
            </a:extLst>
          </p:cNvPr>
          <p:cNvSpPr>
            <a:spLocks noGrp="1"/>
          </p:cNvSpPr>
          <p:nvPr>
            <p:ph idx="1"/>
          </p:nvPr>
        </p:nvSpPr>
        <p:spPr>
          <a:xfrm>
            <a:off x="702853" y="707571"/>
            <a:ext cx="10900568" cy="5486400"/>
          </a:xfrm>
        </p:spPr>
        <p:txBody>
          <a:bodyPr>
            <a:normAutofit/>
          </a:bodyPr>
          <a:lstStyle/>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800" b="1" dirty="0">
                <a:solidFill>
                  <a:srgbClr val="002060"/>
                </a:solidFill>
              </a:rPr>
              <a:t>Step 3: Apply the Silhouette Formula</a:t>
            </a:r>
            <a:endParaRPr lang="en-IN" sz="2800" b="1" dirty="0">
              <a:solidFill>
                <a:srgbClr val="002060"/>
              </a:solidFill>
            </a:endParaRPr>
          </a:p>
        </p:txBody>
      </p:sp>
      <p:pic>
        <p:nvPicPr>
          <p:cNvPr id="2" name="Picture 1">
            <a:extLst>
              <a:ext uri="{FF2B5EF4-FFF2-40B4-BE49-F238E27FC236}">
                <a16:creationId xmlns:a16="http://schemas.microsoft.com/office/drawing/2014/main" id="{DD268886-6529-2A44-DA01-5F83E429CEF0}"/>
              </a:ext>
            </a:extLst>
          </p:cNvPr>
          <p:cNvPicPr>
            <a:picLocks noChangeAspect="1"/>
          </p:cNvPicPr>
          <p:nvPr/>
        </p:nvPicPr>
        <p:blipFill>
          <a:blip r:embed="rId2"/>
          <a:srcRect t="74612" b="3448"/>
          <a:stretch>
            <a:fillRect/>
          </a:stretch>
        </p:blipFill>
        <p:spPr>
          <a:xfrm>
            <a:off x="1533871" y="892629"/>
            <a:ext cx="9124257" cy="1165998"/>
          </a:xfrm>
          <a:prstGeom prst="rect">
            <a:avLst/>
          </a:prstGeom>
        </p:spPr>
      </p:pic>
      <p:pic>
        <p:nvPicPr>
          <p:cNvPr id="5" name="Picture 4">
            <a:extLst>
              <a:ext uri="{FF2B5EF4-FFF2-40B4-BE49-F238E27FC236}">
                <a16:creationId xmlns:a16="http://schemas.microsoft.com/office/drawing/2014/main" id="{604D47EE-A35A-5FD0-57BB-B54AC37BC676}"/>
              </a:ext>
            </a:extLst>
          </p:cNvPr>
          <p:cNvPicPr>
            <a:picLocks noChangeAspect="1"/>
          </p:cNvPicPr>
          <p:nvPr/>
        </p:nvPicPr>
        <p:blipFill>
          <a:blip r:embed="rId3"/>
          <a:stretch>
            <a:fillRect/>
          </a:stretch>
        </p:blipFill>
        <p:spPr>
          <a:xfrm>
            <a:off x="822364" y="3703296"/>
            <a:ext cx="10781057" cy="1576276"/>
          </a:xfrm>
          <a:prstGeom prst="rect">
            <a:avLst/>
          </a:prstGeom>
        </p:spPr>
      </p:pic>
    </p:spTree>
    <p:extLst>
      <p:ext uri="{BB962C8B-B14F-4D97-AF65-F5344CB8AC3E}">
        <p14:creationId xmlns:p14="http://schemas.microsoft.com/office/powerpoint/2010/main" val="17853598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ECA48-B4A6-7339-060D-B2954206DE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655103-EFC8-7391-DDBD-A62440453084}"/>
              </a:ext>
            </a:extLst>
          </p:cNvPr>
          <p:cNvSpPr>
            <a:spLocks noGrp="1"/>
          </p:cNvSpPr>
          <p:nvPr>
            <p:ph idx="1"/>
          </p:nvPr>
        </p:nvSpPr>
        <p:spPr>
          <a:xfrm>
            <a:off x="702853" y="740229"/>
            <a:ext cx="10900568" cy="5453742"/>
          </a:xfrm>
        </p:spPr>
        <p:txBody>
          <a:bodyPr>
            <a:normAutofit lnSpcReduction="10000"/>
          </a:bodyPr>
          <a:lstStyle/>
          <a:p>
            <a:pPr marL="0" indent="0">
              <a:buNone/>
            </a:pPr>
            <a:r>
              <a:rPr lang="en-US" sz="2800" b="1" dirty="0"/>
              <a:t>✅ Final Result:</a:t>
            </a:r>
          </a:p>
          <a:p>
            <a:r>
              <a:rPr lang="en-US" sz="2800" dirty="0"/>
              <a:t>The silhouette score for point A1 is 0.84, which means:</a:t>
            </a:r>
          </a:p>
          <a:p>
            <a:r>
              <a:rPr lang="en-US" sz="2800" dirty="0"/>
              <a:t>It is well-clustered (far from the other cluster).</a:t>
            </a:r>
          </a:p>
          <a:p>
            <a:r>
              <a:rPr lang="en-US" sz="2800" dirty="0"/>
              <a:t>The clustering algorithm did a great job placing this point.</a:t>
            </a:r>
          </a:p>
          <a:p>
            <a:endParaRPr lang="en-US" sz="2800" dirty="0"/>
          </a:p>
          <a:p>
            <a:pPr marL="0" indent="0">
              <a:buNone/>
            </a:pPr>
            <a:r>
              <a:rPr lang="en-US" sz="2800" dirty="0"/>
              <a:t>To get the final performance (overall silhouette score) of your clustering result, you need to:</a:t>
            </a:r>
          </a:p>
          <a:p>
            <a:pPr marL="0" indent="0">
              <a:buNone/>
            </a:pPr>
            <a:r>
              <a:rPr lang="en-US" sz="2800" b="1" dirty="0">
                <a:solidFill>
                  <a:schemeClr val="tx2">
                    <a:lumMod val="75000"/>
                    <a:lumOff val="25000"/>
                  </a:schemeClr>
                </a:solidFill>
              </a:rPr>
              <a:t>Repeat</a:t>
            </a:r>
            <a:r>
              <a:rPr lang="en-US" sz="2800" dirty="0"/>
              <a:t> the following for every data point:</a:t>
            </a:r>
          </a:p>
          <a:p>
            <a:r>
              <a:rPr lang="en-US" sz="2800" b="1" dirty="0"/>
              <a:t>Compute a(</a:t>
            </a:r>
            <a:r>
              <a:rPr lang="en-US" sz="2800" b="1" dirty="0" err="1"/>
              <a:t>i</a:t>
            </a:r>
            <a:r>
              <a:rPr lang="en-US" sz="2800" b="1" dirty="0"/>
              <a:t>) </a:t>
            </a:r>
            <a:r>
              <a:rPr lang="en-US" sz="2800" dirty="0"/>
              <a:t>– average distance to all other points in the same cluster.</a:t>
            </a:r>
          </a:p>
          <a:p>
            <a:r>
              <a:rPr lang="en-US" sz="2800" b="1" dirty="0"/>
              <a:t>Compute b(</a:t>
            </a:r>
            <a:r>
              <a:rPr lang="en-US" sz="2800" b="1" dirty="0" err="1"/>
              <a:t>i</a:t>
            </a:r>
            <a:r>
              <a:rPr lang="en-US" sz="2800" b="1" dirty="0"/>
              <a:t>) </a:t>
            </a:r>
            <a:r>
              <a:rPr lang="en-US" sz="2800" dirty="0"/>
              <a:t>– average distance to all points in the nearest other cluster.</a:t>
            </a:r>
          </a:p>
          <a:p>
            <a:r>
              <a:rPr lang="en-US" sz="2800" dirty="0"/>
              <a:t>Apply the silhouette formula</a:t>
            </a:r>
            <a:endParaRPr lang="en-IN" sz="2800" dirty="0"/>
          </a:p>
        </p:txBody>
      </p:sp>
    </p:spTree>
    <p:extLst>
      <p:ext uri="{BB962C8B-B14F-4D97-AF65-F5344CB8AC3E}">
        <p14:creationId xmlns:p14="http://schemas.microsoft.com/office/powerpoint/2010/main" val="2891824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0475C-7859-5295-E4FB-A372E1B032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BA524E-170E-8B36-CF12-279A929395A1}"/>
              </a:ext>
            </a:extLst>
          </p:cNvPr>
          <p:cNvSpPr>
            <a:spLocks noGrp="1"/>
          </p:cNvSpPr>
          <p:nvPr>
            <p:ph idx="1"/>
          </p:nvPr>
        </p:nvSpPr>
        <p:spPr>
          <a:xfrm>
            <a:off x="702853" y="707571"/>
            <a:ext cx="10900568" cy="5486400"/>
          </a:xfrm>
        </p:spPr>
        <p:txBody>
          <a:bodyPr>
            <a:normAutofit/>
          </a:bodyPr>
          <a:lstStyle/>
          <a:p>
            <a:pPr marL="0" indent="0">
              <a:buNone/>
            </a:pPr>
            <a:r>
              <a:rPr lang="en-US" sz="2800" b="1" dirty="0">
                <a:solidFill>
                  <a:srgbClr val="002060"/>
                </a:solidFill>
              </a:rPr>
              <a:t>Then: </a:t>
            </a:r>
            <a:r>
              <a:rPr lang="en-US" sz="2800" b="1" dirty="0">
                <a:solidFill>
                  <a:schemeClr val="tx2">
                    <a:lumMod val="75000"/>
                    <a:lumOff val="25000"/>
                  </a:schemeClr>
                </a:solidFill>
              </a:rPr>
              <a:t>Average</a:t>
            </a:r>
            <a:r>
              <a:rPr lang="en-US" sz="2800" b="1" dirty="0">
                <a:solidFill>
                  <a:srgbClr val="002060"/>
                </a:solidFill>
              </a:rPr>
              <a:t> all the individual scores</a:t>
            </a:r>
          </a:p>
          <a:p>
            <a:pPr marL="0" indent="0">
              <a:buNone/>
            </a:pPr>
            <a:r>
              <a:rPr lang="en-US" sz="2400" dirty="0"/>
              <a:t>Once you compute s(</a:t>
            </a:r>
            <a:r>
              <a:rPr lang="en-US" sz="2400" dirty="0" err="1"/>
              <a:t>i</a:t>
            </a:r>
            <a:r>
              <a:rPr lang="en-US" sz="2400" dirty="0"/>
              <a:t>) for all points, take the average:</a:t>
            </a:r>
            <a:endParaRPr lang="en-IN" sz="2400" dirty="0"/>
          </a:p>
        </p:txBody>
      </p:sp>
      <p:pic>
        <p:nvPicPr>
          <p:cNvPr id="4" name="Picture 3">
            <a:extLst>
              <a:ext uri="{FF2B5EF4-FFF2-40B4-BE49-F238E27FC236}">
                <a16:creationId xmlns:a16="http://schemas.microsoft.com/office/drawing/2014/main" id="{626AA302-2E38-B065-6BAC-2E3C1C6A76E5}"/>
              </a:ext>
            </a:extLst>
          </p:cNvPr>
          <p:cNvPicPr>
            <a:picLocks noChangeAspect="1"/>
          </p:cNvPicPr>
          <p:nvPr/>
        </p:nvPicPr>
        <p:blipFill>
          <a:blip r:embed="rId2"/>
          <a:stretch>
            <a:fillRect/>
          </a:stretch>
        </p:blipFill>
        <p:spPr>
          <a:xfrm>
            <a:off x="1366009" y="2105781"/>
            <a:ext cx="8523809" cy="1209524"/>
          </a:xfrm>
          <a:prstGeom prst="rect">
            <a:avLst/>
          </a:prstGeom>
        </p:spPr>
      </p:pic>
    </p:spTree>
    <p:extLst>
      <p:ext uri="{BB962C8B-B14F-4D97-AF65-F5344CB8AC3E}">
        <p14:creationId xmlns:p14="http://schemas.microsoft.com/office/powerpoint/2010/main" val="30586315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8C9C5-B5C4-3DB1-C411-F06B645B7C2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31F09F-9C9F-E329-8B05-FE8E014A1746}"/>
              </a:ext>
            </a:extLst>
          </p:cNvPr>
          <p:cNvSpPr>
            <a:spLocks noGrp="1"/>
          </p:cNvSpPr>
          <p:nvPr>
            <p:ph idx="1"/>
          </p:nvPr>
        </p:nvSpPr>
        <p:spPr>
          <a:xfrm>
            <a:off x="702853" y="707571"/>
            <a:ext cx="10900568" cy="5486400"/>
          </a:xfrm>
        </p:spPr>
        <p:txBody>
          <a:bodyPr>
            <a:normAutofit/>
          </a:bodyPr>
          <a:lstStyle/>
          <a:p>
            <a:pPr marL="0" indent="0">
              <a:buNone/>
            </a:pPr>
            <a:r>
              <a:rPr lang="en-US" sz="2800" b="1" dirty="0"/>
              <a:t>2. Inertia (SSE – Sum of Squared Errors):</a:t>
            </a:r>
          </a:p>
          <a:p>
            <a:pPr marL="0" indent="0">
              <a:buNone/>
            </a:pPr>
            <a:r>
              <a:rPr lang="en-US" sz="2400" dirty="0"/>
              <a:t>Inertia (SSE) measures </a:t>
            </a:r>
            <a:r>
              <a:rPr lang="en-US" sz="2400" b="1" dirty="0">
                <a:solidFill>
                  <a:schemeClr val="tx2">
                    <a:lumMod val="75000"/>
                    <a:lumOff val="25000"/>
                  </a:schemeClr>
                </a:solidFill>
              </a:rPr>
              <a:t>how compact the clusters are</a:t>
            </a:r>
            <a:r>
              <a:rPr lang="en-US" sz="2400" dirty="0"/>
              <a:t>. It is the </a:t>
            </a:r>
            <a:r>
              <a:rPr lang="en-US" sz="2400" b="1" dirty="0">
                <a:solidFill>
                  <a:srgbClr val="002060"/>
                </a:solidFill>
              </a:rPr>
              <a:t>sum of squared distances</a:t>
            </a:r>
            <a:r>
              <a:rPr lang="en-US" sz="2400" dirty="0"/>
              <a:t> </a:t>
            </a:r>
            <a:r>
              <a:rPr lang="en-US" sz="2400" b="1" dirty="0">
                <a:solidFill>
                  <a:srgbClr val="002060"/>
                </a:solidFill>
              </a:rPr>
              <a:t>between</a:t>
            </a:r>
            <a:r>
              <a:rPr lang="en-US" sz="2400" dirty="0"/>
              <a:t> </a:t>
            </a:r>
            <a:r>
              <a:rPr lang="en-US" sz="2400" b="1" dirty="0"/>
              <a:t>each point and the </a:t>
            </a:r>
            <a:r>
              <a:rPr lang="en-US" sz="2400" b="1" dirty="0">
                <a:solidFill>
                  <a:schemeClr val="tx2">
                    <a:lumMod val="75000"/>
                    <a:lumOff val="25000"/>
                  </a:schemeClr>
                </a:solidFill>
              </a:rPr>
              <a:t>centroid</a:t>
            </a:r>
            <a:r>
              <a:rPr lang="en-US" sz="2400" b="1" dirty="0"/>
              <a:t> of its assigned cluster</a:t>
            </a:r>
            <a:r>
              <a:rPr lang="en-US" sz="2400" dirty="0"/>
              <a:t>.</a:t>
            </a:r>
          </a:p>
          <a:p>
            <a:pPr marL="0" indent="0">
              <a:buNone/>
            </a:pPr>
            <a:r>
              <a:rPr lang="en-IN" sz="2400" b="1" dirty="0"/>
              <a:t>Formula for Inertia (SSE)</a:t>
            </a:r>
            <a:r>
              <a:rPr lang="en-IN" sz="2400" dirty="0"/>
              <a:t>:</a:t>
            </a:r>
          </a:p>
          <a:p>
            <a:pPr marL="0" indent="0">
              <a:buNone/>
            </a:pPr>
            <a:endParaRPr lang="en-IN" sz="2400" dirty="0"/>
          </a:p>
          <a:p>
            <a:pPr marL="0" indent="0">
              <a:buNone/>
            </a:pPr>
            <a:endParaRPr lang="en-IN" sz="2400" dirty="0"/>
          </a:p>
          <a:p>
            <a:pPr marL="0" indent="0">
              <a:buNone/>
            </a:pPr>
            <a:endParaRPr lang="en-IN" sz="2400" dirty="0"/>
          </a:p>
          <a:p>
            <a:pPr marL="0" indent="0">
              <a:buNone/>
            </a:pPr>
            <a:endParaRPr lang="en-IN" sz="2400" dirty="0"/>
          </a:p>
          <a:p>
            <a:pPr marL="0" indent="0">
              <a:buNone/>
            </a:pPr>
            <a:r>
              <a:rPr lang="en-IN" sz="2400" b="1" dirty="0"/>
              <a:t>Where:</a:t>
            </a:r>
          </a:p>
          <a:p>
            <a:r>
              <a:rPr lang="en-IN" sz="2400" dirty="0"/>
              <a:t>𝑥𝑖 = data point</a:t>
            </a:r>
          </a:p>
          <a:p>
            <a:r>
              <a:rPr lang="en-US" sz="2400" dirty="0" err="1"/>
              <a:t>μCi</a:t>
            </a:r>
            <a:r>
              <a:rPr lang="en-US" sz="2400" dirty="0"/>
              <a:t> = centroid of the cluster that </a:t>
            </a:r>
          </a:p>
          <a:p>
            <a:r>
              <a:rPr lang="en-IN" sz="2400" dirty="0"/>
              <a:t>∥⋅∥</a:t>
            </a:r>
            <a:r>
              <a:rPr lang="en-US" sz="2800" b="1" baseline="30000" dirty="0"/>
              <a:t>2</a:t>
            </a:r>
            <a:r>
              <a:rPr lang="en-IN" sz="3200" b="1" dirty="0"/>
              <a:t>  </a:t>
            </a:r>
            <a:r>
              <a:rPr lang="en-IN" sz="2400" dirty="0"/>
              <a:t>= squared Euclidean distance</a:t>
            </a:r>
          </a:p>
          <a:p>
            <a:pPr marL="0" indent="0">
              <a:buNone/>
            </a:pPr>
            <a:endParaRPr lang="en-IN" sz="2400" dirty="0"/>
          </a:p>
        </p:txBody>
      </p:sp>
      <p:pic>
        <p:nvPicPr>
          <p:cNvPr id="4" name="Picture 3">
            <a:extLst>
              <a:ext uri="{FF2B5EF4-FFF2-40B4-BE49-F238E27FC236}">
                <a16:creationId xmlns:a16="http://schemas.microsoft.com/office/drawing/2014/main" id="{25A9E488-B372-606E-E439-C1AAAA4CCE25}"/>
              </a:ext>
            </a:extLst>
          </p:cNvPr>
          <p:cNvPicPr>
            <a:picLocks noChangeAspect="1"/>
          </p:cNvPicPr>
          <p:nvPr/>
        </p:nvPicPr>
        <p:blipFill>
          <a:blip r:embed="rId2"/>
          <a:stretch>
            <a:fillRect/>
          </a:stretch>
        </p:blipFill>
        <p:spPr>
          <a:xfrm>
            <a:off x="2906200" y="2576177"/>
            <a:ext cx="5682629" cy="1705646"/>
          </a:xfrm>
          <a:prstGeom prst="rect">
            <a:avLst/>
          </a:prstGeom>
        </p:spPr>
      </p:pic>
    </p:spTree>
    <p:extLst>
      <p:ext uri="{BB962C8B-B14F-4D97-AF65-F5344CB8AC3E}">
        <p14:creationId xmlns:p14="http://schemas.microsoft.com/office/powerpoint/2010/main" val="12134877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86368-1DB8-4813-FC5F-52DDBB199D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CA7574-FA8B-7EEC-D184-DDC6D8906861}"/>
              </a:ext>
            </a:extLst>
          </p:cNvPr>
          <p:cNvSpPr>
            <a:spLocks noGrp="1"/>
          </p:cNvSpPr>
          <p:nvPr>
            <p:ph idx="1"/>
          </p:nvPr>
        </p:nvSpPr>
        <p:spPr>
          <a:xfrm>
            <a:off x="702853" y="1230085"/>
            <a:ext cx="10900568" cy="4963885"/>
          </a:xfrm>
        </p:spPr>
        <p:txBody>
          <a:bodyPr>
            <a:normAutofit/>
          </a:bodyPr>
          <a:lstStyle/>
          <a:p>
            <a:pPr marL="0" indent="0">
              <a:buNone/>
            </a:pPr>
            <a:r>
              <a:rPr lang="en-US" sz="2800" b="1" dirty="0"/>
              <a:t>Interpretation</a:t>
            </a:r>
            <a:r>
              <a:rPr lang="en-US" sz="2800" dirty="0"/>
              <a:t>:</a:t>
            </a:r>
          </a:p>
          <a:p>
            <a:r>
              <a:rPr lang="en-US" sz="2400" b="1" dirty="0"/>
              <a:t>Lower Inertia </a:t>
            </a:r>
            <a:r>
              <a:rPr lang="en-US" sz="2400" dirty="0"/>
              <a:t>= tighter, more compact clusters → </a:t>
            </a:r>
            <a:r>
              <a:rPr lang="en-US" sz="2400" b="1" dirty="0">
                <a:solidFill>
                  <a:schemeClr val="tx2">
                    <a:lumMod val="75000"/>
                    <a:lumOff val="25000"/>
                  </a:schemeClr>
                </a:solidFill>
              </a:rPr>
              <a:t>good clustering</a:t>
            </a:r>
            <a:r>
              <a:rPr lang="en-US" sz="2400" dirty="0"/>
              <a:t>.</a:t>
            </a:r>
          </a:p>
          <a:p>
            <a:r>
              <a:rPr lang="en-US" sz="2400" b="1" dirty="0"/>
              <a:t>Higher Inertia </a:t>
            </a:r>
            <a:r>
              <a:rPr lang="en-US" sz="2400" dirty="0"/>
              <a:t>= points are spread out from their centroids → </a:t>
            </a:r>
            <a:r>
              <a:rPr lang="en-US" sz="2400" b="1" dirty="0">
                <a:solidFill>
                  <a:schemeClr val="tx2">
                    <a:lumMod val="75000"/>
                    <a:lumOff val="25000"/>
                  </a:schemeClr>
                </a:solidFill>
              </a:rPr>
              <a:t>poor clustering</a:t>
            </a:r>
            <a:r>
              <a:rPr lang="en-US" sz="2400" dirty="0"/>
              <a:t>.</a:t>
            </a:r>
          </a:p>
          <a:p>
            <a:pPr marL="0" indent="0">
              <a:buNone/>
            </a:pPr>
            <a:r>
              <a:rPr lang="en-US" sz="2400" dirty="0"/>
              <a:t>But too low inertia may mean </a:t>
            </a:r>
            <a:r>
              <a:rPr lang="en-US" sz="2400" b="1" dirty="0">
                <a:solidFill>
                  <a:srgbClr val="C00000"/>
                </a:solidFill>
              </a:rPr>
              <a:t>overfitting</a:t>
            </a:r>
            <a:r>
              <a:rPr lang="en-US" sz="2400" dirty="0"/>
              <a:t> with too many small clusters.</a:t>
            </a:r>
            <a:endParaRPr lang="en-IN" sz="2400" dirty="0"/>
          </a:p>
        </p:txBody>
      </p:sp>
    </p:spTree>
    <p:extLst>
      <p:ext uri="{BB962C8B-B14F-4D97-AF65-F5344CB8AC3E}">
        <p14:creationId xmlns:p14="http://schemas.microsoft.com/office/powerpoint/2010/main" val="17961459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1DE41-0F96-3F50-8D49-A225198459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549CB9-859B-D9AF-CD49-30D4DF52841B}"/>
              </a:ext>
            </a:extLst>
          </p:cNvPr>
          <p:cNvSpPr>
            <a:spLocks noGrp="1"/>
          </p:cNvSpPr>
          <p:nvPr>
            <p:ph idx="1"/>
          </p:nvPr>
        </p:nvSpPr>
        <p:spPr>
          <a:xfrm>
            <a:off x="702853" y="707571"/>
            <a:ext cx="10900568" cy="5486400"/>
          </a:xfrm>
        </p:spPr>
        <p:txBody>
          <a:bodyPr>
            <a:normAutofit/>
          </a:bodyPr>
          <a:lstStyle/>
          <a:p>
            <a:pPr marL="0" indent="0">
              <a:buNone/>
            </a:pPr>
            <a:r>
              <a:rPr lang="en-US" sz="2400" b="1" dirty="0"/>
              <a:t>Example: Same as Before</a:t>
            </a:r>
          </a:p>
          <a:p>
            <a:pPr marL="0" indent="0">
              <a:buNone/>
            </a:pPr>
            <a:r>
              <a:rPr lang="en-US" sz="2400" dirty="0"/>
              <a:t>Let’s reuse the </a:t>
            </a:r>
            <a:r>
              <a:rPr lang="en-US" sz="2400" b="1" dirty="0"/>
              <a:t>same 6 points</a:t>
            </a:r>
            <a:r>
              <a:rPr lang="en-US" sz="2400" dirty="0"/>
              <a:t> and compute Inertia for them.</a:t>
            </a:r>
          </a:p>
          <a:p>
            <a:r>
              <a:rPr lang="en-US" sz="2400" b="1" dirty="0"/>
              <a:t>➕ Cluster A: </a:t>
            </a:r>
            <a:r>
              <a:rPr lang="en-US" sz="2400" dirty="0"/>
              <a:t>A1(1,2), A2(2,1), A3(1,0)</a:t>
            </a:r>
          </a:p>
          <a:p>
            <a:pPr marL="0" indent="0">
              <a:buNone/>
            </a:pPr>
            <a:r>
              <a:rPr lang="en-US" sz="2400" b="1" dirty="0"/>
              <a:t>Step-1: First, compute the </a:t>
            </a:r>
            <a:r>
              <a:rPr lang="en-US" sz="2400" b="1" dirty="0">
                <a:solidFill>
                  <a:schemeClr val="tx2">
                    <a:lumMod val="75000"/>
                    <a:lumOff val="25000"/>
                  </a:schemeClr>
                </a:solidFill>
              </a:rPr>
              <a:t>centroid of Cluster A</a:t>
            </a:r>
            <a:r>
              <a:rPr lang="en-US" sz="2400" b="1" dirty="0"/>
              <a:t>:</a:t>
            </a:r>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b="1" dirty="0"/>
          </a:p>
          <a:p>
            <a:pPr marL="0" indent="0">
              <a:buNone/>
            </a:pPr>
            <a:endParaRPr lang="en-US" sz="2400" dirty="0"/>
          </a:p>
          <a:p>
            <a:pPr marL="0" indent="0">
              <a:buNone/>
            </a:pPr>
            <a:r>
              <a:rPr lang="en-US" sz="2400" dirty="0"/>
              <a:t>Now calculate </a:t>
            </a:r>
            <a:r>
              <a:rPr lang="en-US" sz="2400" b="1" dirty="0">
                <a:solidFill>
                  <a:schemeClr val="tx2">
                    <a:lumMod val="75000"/>
                    <a:lumOff val="25000"/>
                  </a:schemeClr>
                </a:solidFill>
              </a:rPr>
              <a:t>squared distances from each point </a:t>
            </a:r>
            <a:r>
              <a:rPr lang="en-US" sz="2400" dirty="0"/>
              <a:t>to the </a:t>
            </a:r>
            <a:r>
              <a:rPr lang="en-US" sz="2400" b="1" dirty="0">
                <a:solidFill>
                  <a:schemeClr val="tx2">
                    <a:lumMod val="75000"/>
                    <a:lumOff val="25000"/>
                  </a:schemeClr>
                </a:solidFill>
              </a:rPr>
              <a:t>centroid</a:t>
            </a:r>
            <a:r>
              <a:rPr lang="en-US" sz="2400" dirty="0"/>
              <a:t>:</a:t>
            </a:r>
            <a:endParaRPr lang="en-US" sz="2400" b="1" dirty="0"/>
          </a:p>
          <a:p>
            <a:pPr marL="0" indent="0">
              <a:buNone/>
            </a:pPr>
            <a:endParaRPr lang="en-IN" sz="2400" dirty="0"/>
          </a:p>
        </p:txBody>
      </p:sp>
      <p:pic>
        <p:nvPicPr>
          <p:cNvPr id="4" name="Picture 3">
            <a:extLst>
              <a:ext uri="{FF2B5EF4-FFF2-40B4-BE49-F238E27FC236}">
                <a16:creationId xmlns:a16="http://schemas.microsoft.com/office/drawing/2014/main" id="{208D819C-9B66-D83C-C15C-8B8A9D74E0A5}"/>
              </a:ext>
            </a:extLst>
          </p:cNvPr>
          <p:cNvPicPr>
            <a:picLocks noChangeAspect="1"/>
          </p:cNvPicPr>
          <p:nvPr/>
        </p:nvPicPr>
        <p:blipFill>
          <a:blip r:embed="rId2"/>
          <a:stretch>
            <a:fillRect/>
          </a:stretch>
        </p:blipFill>
        <p:spPr>
          <a:xfrm>
            <a:off x="2389400" y="2755380"/>
            <a:ext cx="7413200" cy="1347239"/>
          </a:xfrm>
          <a:prstGeom prst="rect">
            <a:avLst/>
          </a:prstGeom>
        </p:spPr>
      </p:pic>
    </p:spTree>
    <p:extLst>
      <p:ext uri="{BB962C8B-B14F-4D97-AF65-F5344CB8AC3E}">
        <p14:creationId xmlns:p14="http://schemas.microsoft.com/office/powerpoint/2010/main" val="4195129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8E34F-D472-D84C-FD9C-5DD1514C95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DC0BE6-E1C7-B71A-DB8D-A09275172BD6}"/>
              </a:ext>
            </a:extLst>
          </p:cNvPr>
          <p:cNvSpPr>
            <a:spLocks noGrp="1"/>
          </p:cNvSpPr>
          <p:nvPr>
            <p:ph idx="1"/>
          </p:nvPr>
        </p:nvSpPr>
        <p:spPr>
          <a:xfrm>
            <a:off x="702853" y="446314"/>
            <a:ext cx="10900568" cy="5747657"/>
          </a:xfrm>
        </p:spPr>
        <p:txBody>
          <a:bodyPr>
            <a:normAutofit/>
          </a:bodyPr>
          <a:lstStyle/>
          <a:p>
            <a:endParaRPr lang="en-IN" sz="2800" b="1" dirty="0"/>
          </a:p>
          <a:p>
            <a:r>
              <a:rPr lang="en-IN" sz="2800" b="1" dirty="0"/>
              <a:t>A1 to centroid:</a:t>
            </a:r>
          </a:p>
          <a:p>
            <a:endParaRPr lang="en-IN" sz="2800" b="1" dirty="0"/>
          </a:p>
          <a:p>
            <a:endParaRPr lang="en-IN" sz="500" b="1" dirty="0"/>
          </a:p>
          <a:p>
            <a:r>
              <a:rPr lang="en-IN" sz="2800" b="1" dirty="0"/>
              <a:t>A2 to centroid:</a:t>
            </a:r>
          </a:p>
          <a:p>
            <a:endParaRPr lang="en-IN" sz="2800" b="1" dirty="0"/>
          </a:p>
          <a:p>
            <a:endParaRPr lang="en-IN" sz="100" b="1" dirty="0"/>
          </a:p>
          <a:p>
            <a:endParaRPr lang="en-IN" sz="800" dirty="0"/>
          </a:p>
          <a:p>
            <a:r>
              <a:rPr lang="en-IN" sz="2800" b="1" dirty="0"/>
              <a:t>A3 to centroid:</a:t>
            </a:r>
          </a:p>
          <a:p>
            <a:endParaRPr lang="en-IN" sz="2800" b="1" dirty="0"/>
          </a:p>
          <a:p>
            <a:endParaRPr lang="en-IN" sz="2800" b="1" dirty="0"/>
          </a:p>
          <a:p>
            <a:pPr marL="0" indent="0">
              <a:buNone/>
            </a:pPr>
            <a:r>
              <a:rPr lang="en-IN" sz="2800" dirty="0"/>
              <a:t>👉 </a:t>
            </a:r>
            <a:r>
              <a:rPr lang="en-IN" sz="2800" b="1" dirty="0">
                <a:solidFill>
                  <a:schemeClr val="tx2">
                    <a:lumMod val="75000"/>
                    <a:lumOff val="25000"/>
                  </a:schemeClr>
                </a:solidFill>
              </a:rPr>
              <a:t>SSE</a:t>
            </a:r>
            <a:r>
              <a:rPr lang="en-IN" sz="2800" dirty="0"/>
              <a:t> for </a:t>
            </a:r>
            <a:r>
              <a:rPr lang="en-IN" sz="2800" b="1" dirty="0">
                <a:solidFill>
                  <a:schemeClr val="tx2">
                    <a:lumMod val="75000"/>
                    <a:lumOff val="25000"/>
                  </a:schemeClr>
                </a:solidFill>
              </a:rPr>
              <a:t>Cluster</a:t>
            </a:r>
            <a:r>
              <a:rPr lang="en-IN" sz="2800" dirty="0"/>
              <a:t> </a:t>
            </a:r>
            <a:r>
              <a:rPr lang="en-IN" sz="2800" b="1" dirty="0">
                <a:solidFill>
                  <a:schemeClr val="tx2">
                    <a:lumMod val="75000"/>
                    <a:lumOff val="25000"/>
                  </a:schemeClr>
                </a:solidFill>
              </a:rPr>
              <a:t>A</a:t>
            </a:r>
            <a:r>
              <a:rPr lang="en-IN" sz="2800" dirty="0"/>
              <a:t> = 1.11 + 0.44 + 1.11 = </a:t>
            </a:r>
            <a:r>
              <a:rPr lang="en-IN" sz="2800" b="1" dirty="0">
                <a:solidFill>
                  <a:schemeClr val="tx2">
                    <a:lumMod val="75000"/>
                    <a:lumOff val="25000"/>
                  </a:schemeClr>
                </a:solidFill>
              </a:rPr>
              <a:t>2.66</a:t>
            </a:r>
          </a:p>
          <a:p>
            <a:pPr marL="0" indent="0">
              <a:buNone/>
            </a:pPr>
            <a:endParaRPr lang="en-IN" sz="3200" dirty="0"/>
          </a:p>
        </p:txBody>
      </p:sp>
      <p:pic>
        <p:nvPicPr>
          <p:cNvPr id="4" name="Picture 3">
            <a:extLst>
              <a:ext uri="{FF2B5EF4-FFF2-40B4-BE49-F238E27FC236}">
                <a16:creationId xmlns:a16="http://schemas.microsoft.com/office/drawing/2014/main" id="{D481E12B-09AA-FF9A-51DA-86A9F117E8C9}"/>
              </a:ext>
            </a:extLst>
          </p:cNvPr>
          <p:cNvPicPr>
            <a:picLocks noChangeAspect="1"/>
          </p:cNvPicPr>
          <p:nvPr/>
        </p:nvPicPr>
        <p:blipFill>
          <a:blip r:embed="rId2"/>
          <a:srcRect t="4543" b="76577"/>
          <a:stretch>
            <a:fillRect/>
          </a:stretch>
        </p:blipFill>
        <p:spPr>
          <a:xfrm>
            <a:off x="3538382" y="807115"/>
            <a:ext cx="7477961" cy="697924"/>
          </a:xfrm>
          <a:prstGeom prst="rect">
            <a:avLst/>
          </a:prstGeom>
        </p:spPr>
      </p:pic>
      <p:pic>
        <p:nvPicPr>
          <p:cNvPr id="5" name="Picture 4">
            <a:extLst>
              <a:ext uri="{FF2B5EF4-FFF2-40B4-BE49-F238E27FC236}">
                <a16:creationId xmlns:a16="http://schemas.microsoft.com/office/drawing/2014/main" id="{AFA0B5ED-7879-79A8-DDD9-1DA1A9CD0836}"/>
              </a:ext>
            </a:extLst>
          </p:cNvPr>
          <p:cNvPicPr>
            <a:picLocks noChangeAspect="1"/>
          </p:cNvPicPr>
          <p:nvPr/>
        </p:nvPicPr>
        <p:blipFill>
          <a:blip r:embed="rId2"/>
          <a:srcRect t="39246" b="39470"/>
          <a:stretch>
            <a:fillRect/>
          </a:stretch>
        </p:blipFill>
        <p:spPr>
          <a:xfrm>
            <a:off x="3538382" y="2061278"/>
            <a:ext cx="7477961" cy="786741"/>
          </a:xfrm>
          <a:prstGeom prst="rect">
            <a:avLst/>
          </a:prstGeom>
        </p:spPr>
      </p:pic>
      <p:pic>
        <p:nvPicPr>
          <p:cNvPr id="6" name="Picture 5">
            <a:extLst>
              <a:ext uri="{FF2B5EF4-FFF2-40B4-BE49-F238E27FC236}">
                <a16:creationId xmlns:a16="http://schemas.microsoft.com/office/drawing/2014/main" id="{D8D3F221-A98D-17E5-B028-721B5B56D059}"/>
              </a:ext>
            </a:extLst>
          </p:cNvPr>
          <p:cNvPicPr>
            <a:picLocks noChangeAspect="1"/>
          </p:cNvPicPr>
          <p:nvPr/>
        </p:nvPicPr>
        <p:blipFill>
          <a:blip r:embed="rId2"/>
          <a:srcRect t="78378" b="2703"/>
          <a:stretch>
            <a:fillRect/>
          </a:stretch>
        </p:blipFill>
        <p:spPr>
          <a:xfrm>
            <a:off x="3538382" y="3472006"/>
            <a:ext cx="7477961" cy="699326"/>
          </a:xfrm>
          <a:prstGeom prst="rect">
            <a:avLst/>
          </a:prstGeom>
        </p:spPr>
      </p:pic>
    </p:spTree>
    <p:extLst>
      <p:ext uri="{BB962C8B-B14F-4D97-AF65-F5344CB8AC3E}">
        <p14:creationId xmlns:p14="http://schemas.microsoft.com/office/powerpoint/2010/main" val="4132450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AB568-9357-7A9C-9017-7037EB45D5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4960B8-5AE2-E906-364E-E11B7024E8BF}"/>
              </a:ext>
            </a:extLst>
          </p:cNvPr>
          <p:cNvSpPr>
            <a:spLocks noGrp="1"/>
          </p:cNvSpPr>
          <p:nvPr>
            <p:ph idx="1"/>
          </p:nvPr>
        </p:nvSpPr>
        <p:spPr>
          <a:xfrm>
            <a:off x="702853" y="707571"/>
            <a:ext cx="10900568" cy="5486400"/>
          </a:xfrm>
        </p:spPr>
        <p:txBody>
          <a:bodyPr>
            <a:normAutofit/>
          </a:bodyPr>
          <a:lstStyle/>
          <a:p>
            <a:pPr marL="0" indent="0">
              <a:buNone/>
            </a:pPr>
            <a:r>
              <a:rPr lang="en-US" sz="2400" b="1" dirty="0"/>
              <a:t>➕ Cluster B: </a:t>
            </a:r>
            <a:r>
              <a:rPr lang="en-US" sz="2400" dirty="0"/>
              <a:t>B1(8,8), B2(9,10), B3(10,9)</a:t>
            </a:r>
          </a:p>
          <a:p>
            <a:r>
              <a:rPr lang="en-US" sz="2400" b="1" dirty="0"/>
              <a:t>Centroid of Cluster B:</a:t>
            </a:r>
          </a:p>
          <a:p>
            <a:endParaRPr lang="en-US" sz="2400" b="1" dirty="0"/>
          </a:p>
          <a:p>
            <a:endParaRPr lang="en-US" sz="2400" b="1" dirty="0"/>
          </a:p>
          <a:p>
            <a:endParaRPr lang="en-US" sz="2400" b="1" dirty="0"/>
          </a:p>
          <a:p>
            <a:endParaRPr lang="en-US" sz="2400" b="1" dirty="0"/>
          </a:p>
          <a:p>
            <a:endParaRPr lang="en-US" sz="2400" b="1" dirty="0"/>
          </a:p>
          <a:p>
            <a:r>
              <a:rPr lang="en-US" sz="2800" dirty="0"/>
              <a:t>Now calculate </a:t>
            </a:r>
            <a:r>
              <a:rPr lang="en-US" sz="2800" b="1" dirty="0">
                <a:solidFill>
                  <a:schemeClr val="tx2">
                    <a:lumMod val="75000"/>
                    <a:lumOff val="25000"/>
                  </a:schemeClr>
                </a:solidFill>
              </a:rPr>
              <a:t>squared distances from each point </a:t>
            </a:r>
            <a:r>
              <a:rPr lang="en-US" sz="2800" dirty="0"/>
              <a:t>to the </a:t>
            </a:r>
            <a:r>
              <a:rPr lang="en-US" sz="2800" b="1" dirty="0">
                <a:solidFill>
                  <a:schemeClr val="tx2">
                    <a:lumMod val="75000"/>
                    <a:lumOff val="25000"/>
                  </a:schemeClr>
                </a:solidFill>
              </a:rPr>
              <a:t>centroid</a:t>
            </a:r>
            <a:r>
              <a:rPr lang="en-US" sz="2800" dirty="0"/>
              <a:t> for Cluster B</a:t>
            </a:r>
            <a:endParaRPr lang="en-US" sz="2800" b="1" dirty="0"/>
          </a:p>
          <a:p>
            <a:endParaRPr lang="en-IN" sz="2400" b="1" dirty="0"/>
          </a:p>
          <a:p>
            <a:endParaRPr lang="en-US" sz="2400" b="1" dirty="0"/>
          </a:p>
          <a:p>
            <a:pPr marL="0" indent="0">
              <a:buNone/>
            </a:pPr>
            <a:endParaRPr lang="en-IN" sz="2800" dirty="0"/>
          </a:p>
        </p:txBody>
      </p:sp>
      <p:pic>
        <p:nvPicPr>
          <p:cNvPr id="4" name="Picture 3">
            <a:extLst>
              <a:ext uri="{FF2B5EF4-FFF2-40B4-BE49-F238E27FC236}">
                <a16:creationId xmlns:a16="http://schemas.microsoft.com/office/drawing/2014/main" id="{02AE9942-342C-BF57-5C67-205B5C7E1A80}"/>
              </a:ext>
            </a:extLst>
          </p:cNvPr>
          <p:cNvPicPr>
            <a:picLocks noChangeAspect="1"/>
          </p:cNvPicPr>
          <p:nvPr/>
        </p:nvPicPr>
        <p:blipFill>
          <a:blip r:embed="rId2"/>
          <a:stretch>
            <a:fillRect/>
          </a:stretch>
        </p:blipFill>
        <p:spPr>
          <a:xfrm>
            <a:off x="2645724" y="1845228"/>
            <a:ext cx="6019305" cy="1215437"/>
          </a:xfrm>
          <a:prstGeom prst="rect">
            <a:avLst/>
          </a:prstGeom>
        </p:spPr>
      </p:pic>
    </p:spTree>
    <p:extLst>
      <p:ext uri="{BB962C8B-B14F-4D97-AF65-F5344CB8AC3E}">
        <p14:creationId xmlns:p14="http://schemas.microsoft.com/office/powerpoint/2010/main" val="28026439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A63FA-EE5F-5746-2365-0F2EEDD808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E2CC4C-D021-5080-651F-CEBB5632018F}"/>
              </a:ext>
            </a:extLst>
          </p:cNvPr>
          <p:cNvSpPr>
            <a:spLocks noGrp="1"/>
          </p:cNvSpPr>
          <p:nvPr>
            <p:ph idx="1"/>
          </p:nvPr>
        </p:nvSpPr>
        <p:spPr>
          <a:xfrm>
            <a:off x="702853" y="707571"/>
            <a:ext cx="10900568" cy="5486400"/>
          </a:xfrm>
        </p:spPr>
        <p:txBody>
          <a:bodyPr>
            <a:normAutofit/>
          </a:bodyPr>
          <a:lstStyle/>
          <a:p>
            <a:r>
              <a:rPr lang="en-IN" sz="2400" b="1" dirty="0"/>
              <a:t>B1 to centroid:</a:t>
            </a:r>
          </a:p>
          <a:p>
            <a:endParaRPr lang="en-IN" sz="2400" b="1" dirty="0"/>
          </a:p>
          <a:p>
            <a:endParaRPr lang="en-IN" sz="2400" b="1" dirty="0"/>
          </a:p>
          <a:p>
            <a:r>
              <a:rPr lang="en-IN" sz="2400" b="1" dirty="0"/>
              <a:t>B2 to centroid:</a:t>
            </a:r>
          </a:p>
          <a:p>
            <a:endParaRPr lang="en-IN" sz="2400" b="1" dirty="0"/>
          </a:p>
          <a:p>
            <a:endParaRPr lang="en-IN" sz="2400" b="1" dirty="0"/>
          </a:p>
          <a:p>
            <a:r>
              <a:rPr lang="en-IN" sz="2400" b="1" dirty="0"/>
              <a:t>B3 to centroid:</a:t>
            </a:r>
          </a:p>
          <a:p>
            <a:endParaRPr lang="en-IN" sz="2400" b="1" dirty="0"/>
          </a:p>
          <a:p>
            <a:endParaRPr lang="en-IN" sz="2400" b="1" dirty="0"/>
          </a:p>
          <a:p>
            <a:pPr marL="0" indent="0">
              <a:buNone/>
            </a:pPr>
            <a:r>
              <a:rPr lang="en-IN" sz="2400" b="1" dirty="0"/>
              <a:t>👉 </a:t>
            </a:r>
            <a:r>
              <a:rPr lang="en-IN" sz="2400" b="1" dirty="0">
                <a:solidFill>
                  <a:schemeClr val="tx2">
                    <a:lumMod val="75000"/>
                    <a:lumOff val="25000"/>
                  </a:schemeClr>
                </a:solidFill>
              </a:rPr>
              <a:t>SSE</a:t>
            </a:r>
            <a:r>
              <a:rPr lang="en-IN" sz="2400" b="1" dirty="0"/>
              <a:t> for </a:t>
            </a:r>
            <a:r>
              <a:rPr lang="en-IN" sz="2400" b="1" dirty="0">
                <a:solidFill>
                  <a:schemeClr val="tx2">
                    <a:lumMod val="75000"/>
                    <a:lumOff val="25000"/>
                  </a:schemeClr>
                </a:solidFill>
              </a:rPr>
              <a:t>Cluster</a:t>
            </a:r>
            <a:r>
              <a:rPr lang="en-IN" sz="2400" b="1" dirty="0"/>
              <a:t> </a:t>
            </a:r>
            <a:r>
              <a:rPr lang="en-IN" sz="2400" b="1" dirty="0">
                <a:solidFill>
                  <a:schemeClr val="tx2">
                    <a:lumMod val="75000"/>
                    <a:lumOff val="25000"/>
                  </a:schemeClr>
                </a:solidFill>
              </a:rPr>
              <a:t>B</a:t>
            </a:r>
            <a:r>
              <a:rPr lang="en-IN" sz="2400" b="1" dirty="0"/>
              <a:t> = 2 + 1 + 1 = </a:t>
            </a:r>
            <a:r>
              <a:rPr lang="en-IN" sz="2400" b="1" dirty="0">
                <a:solidFill>
                  <a:schemeClr val="tx2">
                    <a:lumMod val="75000"/>
                    <a:lumOff val="25000"/>
                  </a:schemeClr>
                </a:solidFill>
              </a:rPr>
              <a:t>4</a:t>
            </a:r>
          </a:p>
          <a:p>
            <a:endParaRPr lang="en-IN" sz="2400" b="1" dirty="0"/>
          </a:p>
          <a:p>
            <a:endParaRPr lang="en-IN" sz="2400" b="1" dirty="0"/>
          </a:p>
          <a:p>
            <a:pPr marL="0" indent="0">
              <a:buNone/>
            </a:pPr>
            <a:endParaRPr lang="en-IN" sz="2400" dirty="0"/>
          </a:p>
        </p:txBody>
      </p:sp>
      <p:pic>
        <p:nvPicPr>
          <p:cNvPr id="4" name="Picture 3">
            <a:extLst>
              <a:ext uri="{FF2B5EF4-FFF2-40B4-BE49-F238E27FC236}">
                <a16:creationId xmlns:a16="http://schemas.microsoft.com/office/drawing/2014/main" id="{A4012B9F-35B1-B7BE-973B-D8048CBE0675}"/>
              </a:ext>
            </a:extLst>
          </p:cNvPr>
          <p:cNvPicPr>
            <a:picLocks noChangeAspect="1"/>
          </p:cNvPicPr>
          <p:nvPr/>
        </p:nvPicPr>
        <p:blipFill>
          <a:blip r:embed="rId2"/>
          <a:srcRect t="77781" b="2375"/>
          <a:stretch>
            <a:fillRect/>
          </a:stretch>
        </p:blipFill>
        <p:spPr>
          <a:xfrm>
            <a:off x="3047772" y="3450771"/>
            <a:ext cx="7228571" cy="816428"/>
          </a:xfrm>
          <a:prstGeom prst="rect">
            <a:avLst/>
          </a:prstGeom>
        </p:spPr>
      </p:pic>
      <p:pic>
        <p:nvPicPr>
          <p:cNvPr id="5" name="Picture 4">
            <a:extLst>
              <a:ext uri="{FF2B5EF4-FFF2-40B4-BE49-F238E27FC236}">
                <a16:creationId xmlns:a16="http://schemas.microsoft.com/office/drawing/2014/main" id="{D5F71527-0A55-AE04-35F9-0F5E13EBFD5B}"/>
              </a:ext>
            </a:extLst>
          </p:cNvPr>
          <p:cNvPicPr>
            <a:picLocks noChangeAspect="1"/>
          </p:cNvPicPr>
          <p:nvPr/>
        </p:nvPicPr>
        <p:blipFill>
          <a:blip r:embed="rId2"/>
          <a:srcRect t="40475" b="39682"/>
          <a:stretch>
            <a:fillRect/>
          </a:stretch>
        </p:blipFill>
        <p:spPr>
          <a:xfrm>
            <a:off x="3047772" y="2005693"/>
            <a:ext cx="7228571" cy="816428"/>
          </a:xfrm>
          <a:prstGeom prst="rect">
            <a:avLst/>
          </a:prstGeom>
        </p:spPr>
      </p:pic>
      <p:pic>
        <p:nvPicPr>
          <p:cNvPr id="6" name="Picture 5">
            <a:extLst>
              <a:ext uri="{FF2B5EF4-FFF2-40B4-BE49-F238E27FC236}">
                <a16:creationId xmlns:a16="http://schemas.microsoft.com/office/drawing/2014/main" id="{A8BDC228-548A-E046-65AD-FCB07CFFD46B}"/>
              </a:ext>
            </a:extLst>
          </p:cNvPr>
          <p:cNvPicPr>
            <a:picLocks noChangeAspect="1"/>
          </p:cNvPicPr>
          <p:nvPr/>
        </p:nvPicPr>
        <p:blipFill>
          <a:blip r:embed="rId2"/>
          <a:srcRect t="3169" b="76987"/>
          <a:stretch>
            <a:fillRect/>
          </a:stretch>
        </p:blipFill>
        <p:spPr>
          <a:xfrm>
            <a:off x="3047772" y="664029"/>
            <a:ext cx="7228571" cy="816428"/>
          </a:xfrm>
          <a:prstGeom prst="rect">
            <a:avLst/>
          </a:prstGeom>
        </p:spPr>
      </p:pic>
    </p:spTree>
    <p:extLst>
      <p:ext uri="{BB962C8B-B14F-4D97-AF65-F5344CB8AC3E}">
        <p14:creationId xmlns:p14="http://schemas.microsoft.com/office/powerpoint/2010/main" val="1988245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4F2F0-A2B8-0189-23B0-7B4878CC8D9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644C78-2613-9265-AABF-3AFEA9DDCFFD}"/>
              </a:ext>
            </a:extLst>
          </p:cNvPr>
          <p:cNvSpPr>
            <a:spLocks noGrp="1"/>
          </p:cNvSpPr>
          <p:nvPr>
            <p:ph idx="1"/>
          </p:nvPr>
        </p:nvSpPr>
        <p:spPr>
          <a:xfrm>
            <a:off x="702853" y="707571"/>
            <a:ext cx="10900568" cy="5486400"/>
          </a:xfrm>
        </p:spPr>
        <p:txBody>
          <a:bodyPr>
            <a:normAutofit/>
          </a:bodyPr>
          <a:lstStyle/>
          <a:p>
            <a:pPr marL="0" indent="0">
              <a:buNone/>
            </a:pPr>
            <a:r>
              <a:rPr lang="en-IN" sz="2800" b="1" dirty="0">
                <a:solidFill>
                  <a:schemeClr val="tx2">
                    <a:lumMod val="75000"/>
                    <a:lumOff val="25000"/>
                  </a:schemeClr>
                </a:solidFill>
              </a:rPr>
              <a:t>Total Inertia (SSE) </a:t>
            </a:r>
            <a:r>
              <a:rPr lang="en-IN" sz="2800" dirty="0"/>
              <a:t>= 2.66 + 4 = </a:t>
            </a:r>
            <a:r>
              <a:rPr lang="en-IN" sz="2800" b="1" dirty="0">
                <a:solidFill>
                  <a:schemeClr val="tx2">
                    <a:lumMod val="75000"/>
                    <a:lumOff val="25000"/>
                  </a:schemeClr>
                </a:solidFill>
              </a:rPr>
              <a:t>6.66</a:t>
            </a:r>
          </a:p>
          <a:p>
            <a:pPr marL="0" indent="0">
              <a:buNone/>
            </a:pPr>
            <a:endParaRPr lang="en-IN" sz="2400" dirty="0"/>
          </a:p>
          <a:p>
            <a:pPr marL="0" indent="0">
              <a:buNone/>
            </a:pPr>
            <a:r>
              <a:rPr lang="en-IN" sz="2800" b="1" dirty="0"/>
              <a:t>Conclusion:</a:t>
            </a:r>
          </a:p>
          <a:p>
            <a:pPr marL="0" indent="0">
              <a:buNone/>
            </a:pPr>
            <a:endParaRPr lang="en-IN" sz="2400" dirty="0"/>
          </a:p>
          <a:p>
            <a:pPr marL="0" indent="0">
              <a:buNone/>
            </a:pPr>
            <a:endParaRPr lang="en-IN" sz="2800" dirty="0"/>
          </a:p>
        </p:txBody>
      </p:sp>
      <p:graphicFrame>
        <p:nvGraphicFramePr>
          <p:cNvPr id="2" name="Table 1">
            <a:extLst>
              <a:ext uri="{FF2B5EF4-FFF2-40B4-BE49-F238E27FC236}">
                <a16:creationId xmlns:a16="http://schemas.microsoft.com/office/drawing/2014/main" id="{0832A4A3-6F0D-949E-F36D-23F03DAAD87E}"/>
              </a:ext>
            </a:extLst>
          </p:cNvPr>
          <p:cNvGraphicFramePr>
            <a:graphicFrameLocks noGrp="1"/>
          </p:cNvGraphicFramePr>
          <p:nvPr>
            <p:extLst>
              <p:ext uri="{D42A27DB-BD31-4B8C-83A1-F6EECF244321}">
                <p14:modId xmlns:p14="http://schemas.microsoft.com/office/powerpoint/2010/main" val="2002789784"/>
              </p:ext>
            </p:extLst>
          </p:nvPr>
        </p:nvGraphicFramePr>
        <p:xfrm>
          <a:off x="1208904" y="2280158"/>
          <a:ext cx="9698582" cy="1616929"/>
        </p:xfrm>
        <a:graphic>
          <a:graphicData uri="http://schemas.openxmlformats.org/drawingml/2006/table">
            <a:tbl>
              <a:tblPr firstRow="1" firstCol="1" bandRow="1">
                <a:tableStyleId>{5C22544A-7EE6-4342-B048-85BDC9FD1C3A}</a:tableStyleId>
              </a:tblPr>
              <a:tblGrid>
                <a:gridCol w="2542873">
                  <a:extLst>
                    <a:ext uri="{9D8B030D-6E8A-4147-A177-3AD203B41FA5}">
                      <a16:colId xmlns:a16="http://schemas.microsoft.com/office/drawing/2014/main" val="1559825982"/>
                    </a:ext>
                  </a:extLst>
                </a:gridCol>
                <a:gridCol w="1375394">
                  <a:extLst>
                    <a:ext uri="{9D8B030D-6E8A-4147-A177-3AD203B41FA5}">
                      <a16:colId xmlns:a16="http://schemas.microsoft.com/office/drawing/2014/main" val="3615750455"/>
                    </a:ext>
                  </a:extLst>
                </a:gridCol>
                <a:gridCol w="5780315">
                  <a:extLst>
                    <a:ext uri="{9D8B030D-6E8A-4147-A177-3AD203B41FA5}">
                      <a16:colId xmlns:a16="http://schemas.microsoft.com/office/drawing/2014/main" val="1452286803"/>
                    </a:ext>
                  </a:extLst>
                </a:gridCol>
              </a:tblGrid>
              <a:tr h="400444">
                <a:tc>
                  <a:txBody>
                    <a:bodyPr/>
                    <a:lstStyle/>
                    <a:p>
                      <a:pPr>
                        <a:lnSpc>
                          <a:spcPct val="107000"/>
                        </a:lnSpc>
                        <a:spcAft>
                          <a:spcPts val="800"/>
                        </a:spcAft>
                        <a:buNone/>
                      </a:pPr>
                      <a:r>
                        <a:rPr lang="en-US" sz="2400" kern="100">
                          <a:effectLst/>
                        </a:rPr>
                        <a:t>A</a:t>
                      </a:r>
                      <a:r>
                        <a:rPr lang="en-IN" sz="2400" kern="100">
                          <a:effectLst/>
                        </a:rPr>
                        <a:t>Metric</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Value</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Meaning</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369521064"/>
                  </a:ext>
                </a:extLst>
              </a:tr>
              <a:tr h="400444">
                <a:tc>
                  <a:txBody>
                    <a:bodyPr/>
                    <a:lstStyle/>
                    <a:p>
                      <a:pPr>
                        <a:lnSpc>
                          <a:spcPct val="107000"/>
                        </a:lnSpc>
                        <a:spcAft>
                          <a:spcPts val="800"/>
                        </a:spcAft>
                        <a:buNone/>
                      </a:pPr>
                      <a:r>
                        <a:rPr lang="en-IN" sz="2400" kern="100">
                          <a:effectLst/>
                        </a:rPr>
                        <a:t>Inertia (SSE)</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6.66</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How compact all clusters are</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644347281"/>
                  </a:ext>
                </a:extLst>
              </a:tr>
              <a:tr h="816041">
                <a:tc>
                  <a:txBody>
                    <a:bodyPr/>
                    <a:lstStyle/>
                    <a:p>
                      <a:pPr>
                        <a:lnSpc>
                          <a:spcPct val="107000"/>
                        </a:lnSpc>
                        <a:spcAft>
                          <a:spcPts val="800"/>
                        </a:spcAft>
                        <a:buNone/>
                      </a:pPr>
                      <a:r>
                        <a:rPr lang="en-IN" sz="2400" kern="100">
                          <a:effectLst/>
                        </a:rPr>
                        <a:t>Lower is better</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a:effectLst/>
                        </a:rPr>
                        <a:t>✔</a:t>
                      </a:r>
                      <a:endParaRPr lang="en-IN" sz="24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400" kern="100" dirty="0">
                          <a:effectLst/>
                        </a:rPr>
                        <a:t>But don’t make too many clusters</a:t>
                      </a:r>
                      <a:endParaRPr lang="en-IN" sz="24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505430840"/>
                  </a:ext>
                </a:extLst>
              </a:tr>
            </a:tbl>
          </a:graphicData>
        </a:graphic>
      </p:graphicFrame>
    </p:spTree>
    <p:extLst>
      <p:ext uri="{BB962C8B-B14F-4D97-AF65-F5344CB8AC3E}">
        <p14:creationId xmlns:p14="http://schemas.microsoft.com/office/powerpoint/2010/main" val="12902501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CA548-D05F-D88F-69B1-1CA3F1C092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A8C71F-0EB3-C855-A476-343871A042B8}"/>
              </a:ext>
            </a:extLst>
          </p:cNvPr>
          <p:cNvSpPr txBox="1"/>
          <p:nvPr/>
        </p:nvSpPr>
        <p:spPr>
          <a:xfrm>
            <a:off x="437321" y="221676"/>
            <a:ext cx="11062253" cy="1815882"/>
          </a:xfrm>
          <a:prstGeom prst="rect">
            <a:avLst/>
          </a:prstGeom>
          <a:noFill/>
        </p:spPr>
        <p:txBody>
          <a:bodyPr wrap="square">
            <a:spAutoFit/>
          </a:bodyPr>
          <a:lstStyle/>
          <a:p>
            <a:r>
              <a:rPr lang="en-US" sz="2400" b="1" dirty="0">
                <a:solidFill>
                  <a:srgbClr val="002060"/>
                </a:solidFill>
              </a:rPr>
              <a:t>How to Determine Correct Number of Clusters (K): (</a:t>
            </a:r>
            <a:r>
              <a:rPr lang="en-US" sz="2400" b="1" dirty="0">
                <a:solidFill>
                  <a:schemeClr val="tx2">
                    <a:lumMod val="75000"/>
                    <a:lumOff val="25000"/>
                  </a:schemeClr>
                </a:solidFill>
              </a:rPr>
              <a:t>Elbow Method</a:t>
            </a:r>
            <a:r>
              <a:rPr lang="en-US" sz="2400" b="1" dirty="0"/>
              <a:t>)</a:t>
            </a:r>
          </a:p>
          <a:p>
            <a:r>
              <a:rPr lang="en-US" sz="2200" dirty="0"/>
              <a:t>Find </a:t>
            </a:r>
            <a:r>
              <a:rPr lang="en-US" sz="2200" b="1" dirty="0">
                <a:solidFill>
                  <a:schemeClr val="accent6"/>
                </a:solidFill>
              </a:rPr>
              <a:t>Sum of Squared Errors (SSE) </a:t>
            </a:r>
            <a:r>
              <a:rPr lang="en-US" sz="2200" b="1" dirty="0"/>
              <a:t>for Each Cluster in Each Iteration. </a:t>
            </a:r>
          </a:p>
          <a:p>
            <a:r>
              <a:rPr lang="en-US" sz="2200" dirty="0"/>
              <a:t>Which means For each of the cluster you try to </a:t>
            </a:r>
            <a:r>
              <a:rPr lang="en-US" sz="2200" b="1" dirty="0">
                <a:solidFill>
                  <a:srgbClr val="C00000"/>
                </a:solidFill>
              </a:rPr>
              <a:t>compute the distance of individual data point from the centroid and then square it and sum it up</a:t>
            </a:r>
            <a:r>
              <a:rPr lang="en-US" sz="2200" dirty="0"/>
              <a:t>. Do the same for all of the clusters you have and at the end you will get the following: </a:t>
            </a:r>
            <a:r>
              <a:rPr lang="en-US" sz="2200" b="1" dirty="0"/>
              <a:t>SSE1 + SSE2 + ………… + </a:t>
            </a:r>
            <a:r>
              <a:rPr lang="en-US" sz="2200" b="1" dirty="0" err="1"/>
              <a:t>SSEk</a:t>
            </a:r>
            <a:endParaRPr lang="en-US" sz="2200" b="1" dirty="0"/>
          </a:p>
        </p:txBody>
      </p:sp>
      <p:grpSp>
        <p:nvGrpSpPr>
          <p:cNvPr id="6" name="Group 5">
            <a:extLst>
              <a:ext uri="{FF2B5EF4-FFF2-40B4-BE49-F238E27FC236}">
                <a16:creationId xmlns:a16="http://schemas.microsoft.com/office/drawing/2014/main" id="{F912232D-209F-E237-1D76-0F879F5B9E0B}"/>
              </a:ext>
            </a:extLst>
          </p:cNvPr>
          <p:cNvGrpSpPr/>
          <p:nvPr/>
        </p:nvGrpSpPr>
        <p:grpSpPr>
          <a:xfrm>
            <a:off x="1514672" y="1976002"/>
            <a:ext cx="9162656" cy="4881998"/>
            <a:chOff x="1514672" y="1976002"/>
            <a:chExt cx="9162656" cy="4881998"/>
          </a:xfrm>
        </p:grpSpPr>
        <p:pic>
          <p:nvPicPr>
            <p:cNvPr id="4" name="Picture 3">
              <a:extLst>
                <a:ext uri="{FF2B5EF4-FFF2-40B4-BE49-F238E27FC236}">
                  <a16:creationId xmlns:a16="http://schemas.microsoft.com/office/drawing/2014/main" id="{0953A063-ED2B-A9C8-73CB-30F905594E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4672" y="1976002"/>
              <a:ext cx="8552727" cy="4881998"/>
            </a:xfrm>
            <a:prstGeom prst="rect">
              <a:avLst/>
            </a:prstGeom>
          </p:spPr>
        </p:pic>
        <p:sp>
          <p:nvSpPr>
            <p:cNvPr id="5" name="Rectangle 4">
              <a:extLst>
                <a:ext uri="{FF2B5EF4-FFF2-40B4-BE49-F238E27FC236}">
                  <a16:creationId xmlns:a16="http://schemas.microsoft.com/office/drawing/2014/main" id="{A497A2CB-0835-A1CC-D30A-65639A0D4FA7}"/>
                </a:ext>
              </a:extLst>
            </p:cNvPr>
            <p:cNvSpPr/>
            <p:nvPr/>
          </p:nvSpPr>
          <p:spPr>
            <a:xfrm>
              <a:off x="8642845" y="5949885"/>
              <a:ext cx="2034483" cy="9081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spTree>
    <p:extLst>
      <p:ext uri="{BB962C8B-B14F-4D97-AF65-F5344CB8AC3E}">
        <p14:creationId xmlns:p14="http://schemas.microsoft.com/office/powerpoint/2010/main" val="16262951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CE768-31BE-68AD-B4E9-F6A9338239B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CE9C6C3-2F7D-F427-426E-E99E0CAB4F08}"/>
              </a:ext>
            </a:extLst>
          </p:cNvPr>
          <p:cNvSpPr txBox="1"/>
          <p:nvPr/>
        </p:nvSpPr>
        <p:spPr>
          <a:xfrm>
            <a:off x="437321" y="221676"/>
            <a:ext cx="11062253" cy="830997"/>
          </a:xfrm>
          <a:prstGeom prst="rect">
            <a:avLst/>
          </a:prstGeom>
          <a:noFill/>
        </p:spPr>
        <p:txBody>
          <a:bodyPr wrap="square">
            <a:spAutoFit/>
          </a:bodyPr>
          <a:lstStyle/>
          <a:p>
            <a:r>
              <a:rPr lang="en-US" sz="2400" dirty="0"/>
              <a:t>	Once we get SSE for all the Clusters then we will </a:t>
            </a:r>
            <a:r>
              <a:rPr lang="en-US" sz="2400" b="1" dirty="0">
                <a:solidFill>
                  <a:srgbClr val="C00000"/>
                </a:solidFill>
              </a:rPr>
              <a:t>plot a graph </a:t>
            </a:r>
            <a:r>
              <a:rPr lang="en-US" sz="2400" dirty="0"/>
              <a:t>as below to find the </a:t>
            </a:r>
            <a:r>
              <a:rPr lang="en-US" sz="2400" b="1" dirty="0">
                <a:solidFill>
                  <a:srgbClr val="C00000"/>
                </a:solidFill>
              </a:rPr>
              <a:t>Elbow</a:t>
            </a:r>
            <a:r>
              <a:rPr lang="en-US" sz="2400" dirty="0"/>
              <a:t> which indicates the best number of cluster to consider or take initially.</a:t>
            </a:r>
          </a:p>
        </p:txBody>
      </p:sp>
      <p:sp>
        <p:nvSpPr>
          <p:cNvPr id="5" name="Rectangle 4">
            <a:extLst>
              <a:ext uri="{FF2B5EF4-FFF2-40B4-BE49-F238E27FC236}">
                <a16:creationId xmlns:a16="http://schemas.microsoft.com/office/drawing/2014/main" id="{CEB2A1D8-9019-B97E-6A28-D39D9B60DB0C}"/>
              </a:ext>
            </a:extLst>
          </p:cNvPr>
          <p:cNvSpPr/>
          <p:nvPr/>
        </p:nvSpPr>
        <p:spPr>
          <a:xfrm>
            <a:off x="8672662" y="5481981"/>
            <a:ext cx="2034483" cy="9081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ln>
                <a:solidFill>
                  <a:schemeClr val="bg1"/>
                </a:solidFill>
              </a:ln>
            </a:endParaRPr>
          </a:p>
        </p:txBody>
      </p:sp>
      <p:grpSp>
        <p:nvGrpSpPr>
          <p:cNvPr id="10" name="Group 9">
            <a:extLst>
              <a:ext uri="{FF2B5EF4-FFF2-40B4-BE49-F238E27FC236}">
                <a16:creationId xmlns:a16="http://schemas.microsoft.com/office/drawing/2014/main" id="{8D31FB51-2FFE-1016-ED21-F0BC0BED17B7}"/>
              </a:ext>
            </a:extLst>
          </p:cNvPr>
          <p:cNvGrpSpPr/>
          <p:nvPr/>
        </p:nvGrpSpPr>
        <p:grpSpPr>
          <a:xfrm>
            <a:off x="858065" y="1032805"/>
            <a:ext cx="9849080" cy="5568375"/>
            <a:chOff x="858065" y="1032805"/>
            <a:chExt cx="9849080" cy="5568375"/>
          </a:xfrm>
        </p:grpSpPr>
        <p:pic>
          <p:nvPicPr>
            <p:cNvPr id="8" name="Picture 7">
              <a:extLst>
                <a:ext uri="{FF2B5EF4-FFF2-40B4-BE49-F238E27FC236}">
                  <a16:creationId xmlns:a16="http://schemas.microsoft.com/office/drawing/2014/main" id="{5757498A-46E4-CFE7-96D8-FBD76C2224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8065" y="1032805"/>
              <a:ext cx="9458753" cy="5498014"/>
            </a:xfrm>
            <a:prstGeom prst="rect">
              <a:avLst/>
            </a:prstGeom>
          </p:spPr>
        </p:pic>
        <p:sp>
          <p:nvSpPr>
            <p:cNvPr id="9" name="Rectangle 8">
              <a:extLst>
                <a:ext uri="{FF2B5EF4-FFF2-40B4-BE49-F238E27FC236}">
                  <a16:creationId xmlns:a16="http://schemas.microsoft.com/office/drawing/2014/main" id="{7811E87F-B287-B672-54D1-942AE0663A62}"/>
                </a:ext>
              </a:extLst>
            </p:cNvPr>
            <p:cNvSpPr/>
            <p:nvPr/>
          </p:nvSpPr>
          <p:spPr>
            <a:xfrm>
              <a:off x="8672662" y="5693065"/>
              <a:ext cx="2034483" cy="90811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grpSp>
    </p:spTree>
    <p:extLst>
      <p:ext uri="{BB962C8B-B14F-4D97-AF65-F5344CB8AC3E}">
        <p14:creationId xmlns:p14="http://schemas.microsoft.com/office/powerpoint/2010/main" val="32538421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9C1F4-6269-B35F-F43A-CEC24380E4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380701-88D7-9CA1-836B-9C85B24767A3}"/>
              </a:ext>
            </a:extLst>
          </p:cNvPr>
          <p:cNvSpPr>
            <a:spLocks noGrp="1"/>
          </p:cNvSpPr>
          <p:nvPr>
            <p:ph idx="1"/>
          </p:nvPr>
        </p:nvSpPr>
        <p:spPr>
          <a:xfrm>
            <a:off x="702853" y="707571"/>
            <a:ext cx="10900568" cy="5486400"/>
          </a:xfrm>
        </p:spPr>
        <p:txBody>
          <a:bodyPr>
            <a:normAutofit/>
          </a:bodyPr>
          <a:lstStyle/>
          <a:p>
            <a:pPr marL="0" indent="0">
              <a:buNone/>
            </a:pPr>
            <a:r>
              <a:rPr lang="en-US" sz="2800" b="1" dirty="0"/>
              <a:t>2. External Evaluation Metrics (if true labels are known)</a:t>
            </a:r>
          </a:p>
          <a:p>
            <a:pPr marL="0" indent="0">
              <a:buNone/>
            </a:pPr>
            <a:endParaRPr lang="en-IN" sz="2800" b="1" dirty="0"/>
          </a:p>
        </p:txBody>
      </p:sp>
      <p:graphicFrame>
        <p:nvGraphicFramePr>
          <p:cNvPr id="2" name="Table 1">
            <a:extLst>
              <a:ext uri="{FF2B5EF4-FFF2-40B4-BE49-F238E27FC236}">
                <a16:creationId xmlns:a16="http://schemas.microsoft.com/office/drawing/2014/main" id="{4B28A8F8-01D7-C0CD-A0C4-582452A2B91E}"/>
              </a:ext>
            </a:extLst>
          </p:cNvPr>
          <p:cNvGraphicFramePr>
            <a:graphicFrameLocks noGrp="1"/>
          </p:cNvGraphicFramePr>
          <p:nvPr>
            <p:extLst>
              <p:ext uri="{D42A27DB-BD31-4B8C-83A1-F6EECF244321}">
                <p14:modId xmlns:p14="http://schemas.microsoft.com/office/powerpoint/2010/main" val="2135021600"/>
              </p:ext>
            </p:extLst>
          </p:nvPr>
        </p:nvGraphicFramePr>
        <p:xfrm>
          <a:off x="980303" y="1548678"/>
          <a:ext cx="10101354" cy="3116126"/>
        </p:xfrm>
        <a:graphic>
          <a:graphicData uri="http://schemas.openxmlformats.org/drawingml/2006/table">
            <a:tbl>
              <a:tblPr firstRow="1" firstCol="1" bandRow="1">
                <a:tableStyleId>{5C22544A-7EE6-4342-B048-85BDC9FD1C3A}</a:tableStyleId>
              </a:tblPr>
              <a:tblGrid>
                <a:gridCol w="4103326">
                  <a:extLst>
                    <a:ext uri="{9D8B030D-6E8A-4147-A177-3AD203B41FA5}">
                      <a16:colId xmlns:a16="http://schemas.microsoft.com/office/drawing/2014/main" val="2275536008"/>
                    </a:ext>
                  </a:extLst>
                </a:gridCol>
                <a:gridCol w="5998028">
                  <a:extLst>
                    <a:ext uri="{9D8B030D-6E8A-4147-A177-3AD203B41FA5}">
                      <a16:colId xmlns:a16="http://schemas.microsoft.com/office/drawing/2014/main" val="1280908205"/>
                    </a:ext>
                  </a:extLst>
                </a:gridCol>
              </a:tblGrid>
              <a:tr h="658861">
                <a:tc>
                  <a:txBody>
                    <a:bodyPr/>
                    <a:lstStyle/>
                    <a:p>
                      <a:pPr>
                        <a:lnSpc>
                          <a:spcPct val="107000"/>
                        </a:lnSpc>
                        <a:spcAft>
                          <a:spcPts val="800"/>
                        </a:spcAft>
                        <a:buNone/>
                      </a:pPr>
                      <a:r>
                        <a:rPr lang="en-IN" sz="2000" kern="100">
                          <a:effectLst/>
                        </a:rPr>
                        <a:t>Metric Name</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a:effectLst/>
                        </a:rPr>
                        <a:t>Meaning</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411824883"/>
                  </a:ext>
                </a:extLst>
              </a:tr>
              <a:tr h="764261">
                <a:tc>
                  <a:txBody>
                    <a:bodyPr/>
                    <a:lstStyle/>
                    <a:p>
                      <a:pPr>
                        <a:lnSpc>
                          <a:spcPct val="107000"/>
                        </a:lnSpc>
                        <a:spcAft>
                          <a:spcPts val="800"/>
                        </a:spcAft>
                        <a:buNone/>
                      </a:pPr>
                      <a:r>
                        <a:rPr lang="en-IN" sz="2000" kern="100" dirty="0">
                          <a:effectLst/>
                        </a:rPr>
                        <a:t>Adjusted Rand Index (ARI)</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Measures similarity between clustering and true labels.</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520767462"/>
                  </a:ext>
                </a:extLst>
              </a:tr>
              <a:tr h="1034143">
                <a:tc>
                  <a:txBody>
                    <a:bodyPr/>
                    <a:lstStyle/>
                    <a:p>
                      <a:pPr>
                        <a:lnSpc>
                          <a:spcPct val="107000"/>
                        </a:lnSpc>
                        <a:spcAft>
                          <a:spcPts val="800"/>
                        </a:spcAft>
                        <a:buNone/>
                      </a:pPr>
                      <a:r>
                        <a:rPr lang="en-IN" sz="2000" kern="100">
                          <a:effectLst/>
                        </a:rPr>
                        <a:t>Normalized Mutual Information (NMI)</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Measures mutual dependence between clusters and labels.</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990173030"/>
                  </a:ext>
                </a:extLst>
              </a:tr>
              <a:tr h="658861">
                <a:tc>
                  <a:txBody>
                    <a:bodyPr/>
                    <a:lstStyle/>
                    <a:p>
                      <a:pPr>
                        <a:lnSpc>
                          <a:spcPct val="107000"/>
                        </a:lnSpc>
                        <a:spcAft>
                          <a:spcPts val="800"/>
                        </a:spcAft>
                        <a:buNone/>
                      </a:pPr>
                      <a:r>
                        <a:rPr lang="en-IN" sz="2000" kern="100">
                          <a:effectLst/>
                        </a:rPr>
                        <a:t>Fowlkes–Mallows Index (FMI)</a:t>
                      </a:r>
                      <a:endParaRPr lang="en-IN" sz="20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000" kern="100" dirty="0">
                          <a:effectLst/>
                        </a:rPr>
                        <a:t>Geometric mean of precision and recall.</a:t>
                      </a:r>
                      <a:endParaRPr lang="en-IN" sz="20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635229628"/>
                  </a:ext>
                </a:extLst>
              </a:tr>
            </a:tbl>
          </a:graphicData>
        </a:graphic>
      </p:graphicFrame>
    </p:spTree>
    <p:extLst>
      <p:ext uri="{BB962C8B-B14F-4D97-AF65-F5344CB8AC3E}">
        <p14:creationId xmlns:p14="http://schemas.microsoft.com/office/powerpoint/2010/main" val="41061137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E2F96-366E-4A0E-6B43-2FDE0449767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14BADC-4C56-0E02-E8B9-DCB7CBBA2A7D}"/>
              </a:ext>
            </a:extLst>
          </p:cNvPr>
          <p:cNvSpPr>
            <a:spLocks noGrp="1"/>
          </p:cNvSpPr>
          <p:nvPr>
            <p:ph idx="1"/>
          </p:nvPr>
        </p:nvSpPr>
        <p:spPr>
          <a:xfrm>
            <a:off x="702853" y="707571"/>
            <a:ext cx="10900568" cy="5486400"/>
          </a:xfrm>
        </p:spPr>
        <p:txBody>
          <a:bodyPr>
            <a:normAutofit/>
          </a:bodyPr>
          <a:lstStyle/>
          <a:p>
            <a:pPr marL="0" indent="0">
              <a:buNone/>
            </a:pPr>
            <a:r>
              <a:rPr lang="en-IN" sz="2400" b="1" kern="100" dirty="0"/>
              <a:t>1. Adjusted Rand Index (ARI):</a:t>
            </a:r>
          </a:p>
          <a:p>
            <a:pPr marL="0" indent="0">
              <a:buNone/>
            </a:pPr>
            <a:r>
              <a:rPr lang="en-US" sz="2400" dirty="0"/>
              <a:t>ARI is used to evaluate </a:t>
            </a:r>
            <a:r>
              <a:rPr lang="en-US" sz="2400" b="1" dirty="0">
                <a:solidFill>
                  <a:schemeClr val="tx2">
                    <a:lumMod val="75000"/>
                    <a:lumOff val="25000"/>
                  </a:schemeClr>
                </a:solidFill>
              </a:rPr>
              <a:t>clustering performance </a:t>
            </a:r>
            <a:r>
              <a:rPr lang="en-US" sz="2400" dirty="0"/>
              <a:t>when you already know the </a:t>
            </a:r>
            <a:r>
              <a:rPr lang="en-US" sz="2400" b="1" dirty="0">
                <a:solidFill>
                  <a:srgbClr val="002060"/>
                </a:solidFill>
              </a:rPr>
              <a:t>true group labels </a:t>
            </a:r>
            <a:r>
              <a:rPr lang="en-US" sz="2400" dirty="0"/>
              <a:t>(called “</a:t>
            </a:r>
            <a:r>
              <a:rPr lang="en-US" sz="2400" b="1" dirty="0">
                <a:solidFill>
                  <a:schemeClr val="tx2">
                    <a:lumMod val="75000"/>
                    <a:lumOff val="25000"/>
                  </a:schemeClr>
                </a:solidFill>
              </a:rPr>
              <a:t>ground truth</a:t>
            </a:r>
            <a:r>
              <a:rPr lang="en-US" sz="2400" dirty="0"/>
              <a:t>”).</a:t>
            </a:r>
          </a:p>
          <a:p>
            <a:r>
              <a:rPr lang="en-US" sz="2400" b="1" dirty="0"/>
              <a:t>It checks how many pairs of points are:</a:t>
            </a:r>
          </a:p>
          <a:p>
            <a:pPr lvl="1"/>
            <a:r>
              <a:rPr lang="en-US" sz="2400" dirty="0"/>
              <a:t>correctly clustered together</a:t>
            </a:r>
          </a:p>
          <a:p>
            <a:pPr lvl="1"/>
            <a:r>
              <a:rPr lang="en-US" sz="2400" dirty="0"/>
              <a:t>correctly clustered apart</a:t>
            </a:r>
          </a:p>
          <a:p>
            <a:pPr lvl="1"/>
            <a:r>
              <a:rPr lang="en-US" sz="2400" dirty="0"/>
              <a:t>and adjusts for chance grouping</a:t>
            </a:r>
          </a:p>
          <a:p>
            <a:pPr marL="0" indent="0">
              <a:buNone/>
            </a:pPr>
            <a:endParaRPr lang="en-US" sz="1400" dirty="0"/>
          </a:p>
          <a:p>
            <a:pPr marL="0" indent="0">
              <a:buNone/>
            </a:pPr>
            <a:r>
              <a:rPr lang="en-US" sz="2400" dirty="0"/>
              <a:t>ARI range:</a:t>
            </a:r>
          </a:p>
          <a:p>
            <a:r>
              <a:rPr lang="en-US" sz="2400" b="1" dirty="0">
                <a:solidFill>
                  <a:schemeClr val="tx2">
                    <a:lumMod val="75000"/>
                    <a:lumOff val="25000"/>
                  </a:schemeClr>
                </a:solidFill>
              </a:rPr>
              <a:t>+1 </a:t>
            </a:r>
            <a:r>
              <a:rPr lang="en-US" sz="2400" dirty="0"/>
              <a:t>= </a:t>
            </a:r>
            <a:r>
              <a:rPr lang="en-US" sz="2400" b="1" dirty="0">
                <a:solidFill>
                  <a:srgbClr val="C00000"/>
                </a:solidFill>
              </a:rPr>
              <a:t>Perfect</a:t>
            </a:r>
            <a:r>
              <a:rPr lang="en-US" sz="2400" dirty="0"/>
              <a:t> clustering</a:t>
            </a:r>
          </a:p>
          <a:p>
            <a:r>
              <a:rPr lang="en-US" sz="2400" b="1" dirty="0">
                <a:solidFill>
                  <a:schemeClr val="tx2">
                    <a:lumMod val="75000"/>
                    <a:lumOff val="25000"/>
                  </a:schemeClr>
                </a:solidFill>
              </a:rPr>
              <a:t>0</a:t>
            </a:r>
            <a:r>
              <a:rPr lang="en-US" sz="2400" dirty="0"/>
              <a:t> = </a:t>
            </a:r>
            <a:r>
              <a:rPr lang="en-US" sz="2400" b="1" dirty="0">
                <a:solidFill>
                  <a:srgbClr val="C00000"/>
                </a:solidFill>
              </a:rPr>
              <a:t>Random</a:t>
            </a:r>
            <a:r>
              <a:rPr lang="en-US" sz="2400" dirty="0"/>
              <a:t> clustering</a:t>
            </a:r>
          </a:p>
          <a:p>
            <a:r>
              <a:rPr lang="en-US" sz="2400" b="1" dirty="0">
                <a:solidFill>
                  <a:schemeClr val="tx2">
                    <a:lumMod val="75000"/>
                    <a:lumOff val="25000"/>
                  </a:schemeClr>
                </a:solidFill>
              </a:rPr>
              <a:t>&lt; 0 </a:t>
            </a:r>
            <a:r>
              <a:rPr lang="en-US" sz="2400" dirty="0"/>
              <a:t>= </a:t>
            </a:r>
            <a:r>
              <a:rPr lang="en-US" sz="2400" b="1" dirty="0">
                <a:solidFill>
                  <a:srgbClr val="C00000"/>
                </a:solidFill>
              </a:rPr>
              <a:t>Worse</a:t>
            </a:r>
            <a:r>
              <a:rPr lang="en-US" sz="2400" dirty="0"/>
              <a:t> than random (bad)</a:t>
            </a:r>
          </a:p>
          <a:p>
            <a:pPr marL="0" indent="0">
              <a:buNone/>
            </a:pPr>
            <a:endParaRPr lang="en-IN" sz="2400" dirty="0"/>
          </a:p>
        </p:txBody>
      </p:sp>
    </p:spTree>
    <p:extLst>
      <p:ext uri="{BB962C8B-B14F-4D97-AF65-F5344CB8AC3E}">
        <p14:creationId xmlns:p14="http://schemas.microsoft.com/office/powerpoint/2010/main" val="31880121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C124D-C54A-DE44-8E7F-614C4A15A6A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A31D7E-0E45-4DC3-BFCE-B66A8F468A0C}"/>
              </a:ext>
            </a:extLst>
          </p:cNvPr>
          <p:cNvSpPr>
            <a:spLocks noGrp="1"/>
          </p:cNvSpPr>
          <p:nvPr>
            <p:ph idx="1"/>
          </p:nvPr>
        </p:nvSpPr>
        <p:spPr>
          <a:xfrm>
            <a:off x="702853" y="957943"/>
            <a:ext cx="10900568" cy="5236028"/>
          </a:xfrm>
        </p:spPr>
        <p:txBody>
          <a:bodyPr>
            <a:normAutofit/>
          </a:bodyPr>
          <a:lstStyle/>
          <a:p>
            <a:pPr marL="0" indent="0">
              <a:buNone/>
            </a:pPr>
            <a:r>
              <a:rPr lang="en-US" sz="2800" b="1" dirty="0"/>
              <a:t>🔍 Example:</a:t>
            </a:r>
          </a:p>
          <a:p>
            <a:pPr marL="0" indent="0">
              <a:buNone/>
            </a:pPr>
            <a:r>
              <a:rPr lang="en-US" sz="2800" b="1" dirty="0"/>
              <a:t>Let’s take 4 students: </a:t>
            </a:r>
            <a:r>
              <a:rPr lang="en-US" sz="2800" dirty="0"/>
              <a:t>A, B, C, D</a:t>
            </a:r>
          </a:p>
          <a:p>
            <a:r>
              <a:rPr lang="en-US" sz="2800" b="1" dirty="0"/>
              <a:t>True groups (</a:t>
            </a:r>
            <a:r>
              <a:rPr lang="en-IN" sz="2800" b="1" dirty="0"/>
              <a:t>Actual Known Groups or </a:t>
            </a:r>
            <a:r>
              <a:rPr lang="en-US" sz="2800" b="1" dirty="0"/>
              <a:t>labels):</a:t>
            </a:r>
          </a:p>
          <a:p>
            <a:pPr lvl="1">
              <a:buFont typeface="Wingdings" panose="05000000000000000000" pitchFamily="2" charset="2"/>
              <a:buChar char="§"/>
            </a:pPr>
            <a:r>
              <a:rPr lang="en-US" sz="2400" dirty="0"/>
              <a:t>Group 1: A, B</a:t>
            </a:r>
          </a:p>
          <a:p>
            <a:pPr lvl="1">
              <a:buFont typeface="Wingdings" panose="05000000000000000000" pitchFamily="2" charset="2"/>
              <a:buChar char="§"/>
            </a:pPr>
            <a:r>
              <a:rPr lang="en-US" sz="2400" dirty="0"/>
              <a:t>Group 2: C, D</a:t>
            </a:r>
          </a:p>
          <a:p>
            <a:r>
              <a:rPr lang="en-US" sz="2800" b="1" dirty="0"/>
              <a:t>Clustered result (</a:t>
            </a:r>
            <a:r>
              <a:rPr lang="en-IN" sz="2800" b="1" dirty="0"/>
              <a:t>Algorithm/Model Output</a:t>
            </a:r>
            <a:r>
              <a:rPr lang="en-IN" sz="2800" dirty="0"/>
              <a:t>)</a:t>
            </a:r>
            <a:r>
              <a:rPr lang="en-US" sz="2800" b="1" dirty="0"/>
              <a:t>:</a:t>
            </a:r>
          </a:p>
          <a:p>
            <a:pPr lvl="1">
              <a:buFont typeface="Wingdings" panose="05000000000000000000" pitchFamily="2" charset="2"/>
              <a:buChar char="§"/>
            </a:pPr>
            <a:r>
              <a:rPr lang="en-US" sz="2400" dirty="0"/>
              <a:t>Cluster 1: A, C</a:t>
            </a:r>
          </a:p>
          <a:p>
            <a:pPr lvl="1">
              <a:buFont typeface="Wingdings" panose="05000000000000000000" pitchFamily="2" charset="2"/>
              <a:buChar char="§"/>
            </a:pPr>
            <a:r>
              <a:rPr lang="en-US" sz="2400" dirty="0"/>
              <a:t>Cluster 2: B, D</a:t>
            </a:r>
          </a:p>
          <a:p>
            <a:pPr marL="0" indent="0">
              <a:buNone/>
            </a:pPr>
            <a:endParaRPr lang="en-US" dirty="0"/>
          </a:p>
          <a:p>
            <a:pPr marL="0" indent="0">
              <a:buNone/>
            </a:pPr>
            <a:r>
              <a:rPr lang="en-US" sz="2400" b="1" dirty="0"/>
              <a:t>👉 </a:t>
            </a:r>
            <a:r>
              <a:rPr lang="en-US" sz="2400" b="1" dirty="0">
                <a:solidFill>
                  <a:schemeClr val="tx2">
                    <a:lumMod val="75000"/>
                    <a:lumOff val="25000"/>
                  </a:schemeClr>
                </a:solidFill>
              </a:rPr>
              <a:t>Goal</a:t>
            </a:r>
            <a:r>
              <a:rPr lang="en-US" sz="2400" b="1" dirty="0"/>
              <a:t>: Compare Clustered Result with True Labels using ARI!</a:t>
            </a:r>
          </a:p>
          <a:p>
            <a:pPr marL="0" indent="0">
              <a:buNone/>
            </a:pPr>
            <a:endParaRPr lang="en-IN" sz="3200" dirty="0"/>
          </a:p>
        </p:txBody>
      </p:sp>
    </p:spTree>
    <p:extLst>
      <p:ext uri="{BB962C8B-B14F-4D97-AF65-F5344CB8AC3E}">
        <p14:creationId xmlns:p14="http://schemas.microsoft.com/office/powerpoint/2010/main" val="17368345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BC559-41B0-CCE4-0E7B-3D937BBA50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1FA15E-6FE9-5508-A217-8CD25AF5CED0}"/>
              </a:ext>
            </a:extLst>
          </p:cNvPr>
          <p:cNvSpPr>
            <a:spLocks noGrp="1"/>
          </p:cNvSpPr>
          <p:nvPr>
            <p:ph idx="1"/>
          </p:nvPr>
        </p:nvSpPr>
        <p:spPr>
          <a:xfrm>
            <a:off x="702853" y="478971"/>
            <a:ext cx="10900568" cy="6052458"/>
          </a:xfrm>
        </p:spPr>
        <p:txBody>
          <a:bodyPr>
            <a:normAutofit lnSpcReduction="10000"/>
          </a:bodyPr>
          <a:lstStyle/>
          <a:p>
            <a:pPr marL="0" indent="0">
              <a:buNone/>
            </a:pPr>
            <a:r>
              <a:rPr lang="en-IN" sz="2400" b="1" dirty="0"/>
              <a:t>All possible 2 student pairs:</a:t>
            </a:r>
          </a:p>
          <a:p>
            <a:pPr marL="0" indent="0">
              <a:buNone/>
            </a:pPr>
            <a:br>
              <a:rPr lang="en-IN" sz="2400" b="1" dirty="0"/>
            </a:br>
            <a:endParaRPr lang="en-IN" sz="24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r>
              <a:rPr lang="en-IN" sz="2800" b="1" dirty="0"/>
              <a:t>Total pairs = 6</a:t>
            </a:r>
          </a:p>
        </p:txBody>
      </p:sp>
      <p:graphicFrame>
        <p:nvGraphicFramePr>
          <p:cNvPr id="2" name="Table 1">
            <a:extLst>
              <a:ext uri="{FF2B5EF4-FFF2-40B4-BE49-F238E27FC236}">
                <a16:creationId xmlns:a16="http://schemas.microsoft.com/office/drawing/2014/main" id="{1C91B3F7-F3A9-A70D-B6EA-CF9A08DF3D5C}"/>
              </a:ext>
            </a:extLst>
          </p:cNvPr>
          <p:cNvGraphicFramePr>
            <a:graphicFrameLocks noGrp="1"/>
          </p:cNvGraphicFramePr>
          <p:nvPr>
            <p:extLst>
              <p:ext uri="{D42A27DB-BD31-4B8C-83A1-F6EECF244321}">
                <p14:modId xmlns:p14="http://schemas.microsoft.com/office/powerpoint/2010/main" val="1852417510"/>
              </p:ext>
            </p:extLst>
          </p:nvPr>
        </p:nvGraphicFramePr>
        <p:xfrm>
          <a:off x="806132" y="1164772"/>
          <a:ext cx="10057811" cy="4299859"/>
        </p:xfrm>
        <a:graphic>
          <a:graphicData uri="http://schemas.openxmlformats.org/drawingml/2006/table">
            <a:tbl>
              <a:tblPr firstRow="1" firstCol="1" bandRow="1">
                <a:tableStyleId>{5C22544A-7EE6-4342-B048-85BDC9FD1C3A}</a:tableStyleId>
              </a:tblPr>
              <a:tblGrid>
                <a:gridCol w="3352232">
                  <a:extLst>
                    <a:ext uri="{9D8B030D-6E8A-4147-A177-3AD203B41FA5}">
                      <a16:colId xmlns:a16="http://schemas.microsoft.com/office/drawing/2014/main" val="3611389032"/>
                    </a:ext>
                  </a:extLst>
                </a:gridCol>
                <a:gridCol w="3352232">
                  <a:extLst>
                    <a:ext uri="{9D8B030D-6E8A-4147-A177-3AD203B41FA5}">
                      <a16:colId xmlns:a16="http://schemas.microsoft.com/office/drawing/2014/main" val="609777505"/>
                    </a:ext>
                  </a:extLst>
                </a:gridCol>
                <a:gridCol w="3353347">
                  <a:extLst>
                    <a:ext uri="{9D8B030D-6E8A-4147-A177-3AD203B41FA5}">
                      <a16:colId xmlns:a16="http://schemas.microsoft.com/office/drawing/2014/main" val="3864479174"/>
                    </a:ext>
                  </a:extLst>
                </a:gridCol>
              </a:tblGrid>
              <a:tr h="613111">
                <a:tc>
                  <a:txBody>
                    <a:bodyPr/>
                    <a:lstStyle/>
                    <a:p>
                      <a:pPr>
                        <a:lnSpc>
                          <a:spcPct val="107000"/>
                        </a:lnSpc>
                        <a:spcAft>
                          <a:spcPts val="800"/>
                        </a:spcAft>
                        <a:buNone/>
                      </a:pPr>
                      <a:r>
                        <a:rPr lang="en-IN" sz="2800" kern="100" baseline="30000">
                          <a:effectLst/>
                        </a:rPr>
                        <a:t>Pair</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800" kern="100" baseline="30000" dirty="0">
                          <a:effectLst/>
                        </a:rPr>
                        <a:t>Same Group in True?</a:t>
                      </a:r>
                      <a:endParaRPr lang="en-IN" sz="28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800" kern="100" baseline="30000">
                          <a:effectLst/>
                        </a:rPr>
                        <a:t>Same Clustered Group?</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295854184"/>
                  </a:ext>
                </a:extLst>
              </a:tr>
              <a:tr h="614458">
                <a:tc>
                  <a:txBody>
                    <a:bodyPr/>
                    <a:lstStyle/>
                    <a:p>
                      <a:pPr>
                        <a:lnSpc>
                          <a:spcPct val="107000"/>
                        </a:lnSpc>
                        <a:spcAft>
                          <a:spcPts val="800"/>
                        </a:spcAft>
                        <a:buNone/>
                      </a:pPr>
                      <a:r>
                        <a:rPr lang="en-IN" sz="2800" kern="100" baseline="30000">
                          <a:effectLst/>
                        </a:rPr>
                        <a:t>A-B</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800" kern="100" baseline="30000">
                          <a:effectLst/>
                        </a:rPr>
                        <a:t>✅ Yes</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800" kern="100" baseline="30000">
                          <a:effectLst/>
                        </a:rPr>
                        <a:t>❌ No</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582901529"/>
                  </a:ext>
                </a:extLst>
              </a:tr>
              <a:tr h="614458">
                <a:tc>
                  <a:txBody>
                    <a:bodyPr/>
                    <a:lstStyle/>
                    <a:p>
                      <a:pPr>
                        <a:lnSpc>
                          <a:spcPct val="107000"/>
                        </a:lnSpc>
                        <a:spcAft>
                          <a:spcPts val="800"/>
                        </a:spcAft>
                        <a:buNone/>
                      </a:pPr>
                      <a:r>
                        <a:rPr lang="pt-BR" sz="2800" kern="100" baseline="30000">
                          <a:effectLst/>
                        </a:rPr>
                        <a:t>A-C</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800" kern="100" baseline="30000">
                          <a:effectLst/>
                        </a:rPr>
                        <a:t>❌ No</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800" kern="100" baseline="30000">
                          <a:effectLst/>
                        </a:rPr>
                        <a:t>✅ Yes</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437362430"/>
                  </a:ext>
                </a:extLst>
              </a:tr>
              <a:tr h="614458">
                <a:tc>
                  <a:txBody>
                    <a:bodyPr/>
                    <a:lstStyle/>
                    <a:p>
                      <a:pPr>
                        <a:lnSpc>
                          <a:spcPct val="107000"/>
                        </a:lnSpc>
                        <a:spcAft>
                          <a:spcPts val="800"/>
                        </a:spcAft>
                        <a:buNone/>
                      </a:pPr>
                      <a:r>
                        <a:rPr lang="pt-BR" sz="2800" kern="100" baseline="30000">
                          <a:effectLst/>
                        </a:rPr>
                        <a:t>A-D</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800" kern="100" baseline="30000" dirty="0">
                          <a:effectLst/>
                        </a:rPr>
                        <a:t>❌ No</a:t>
                      </a:r>
                      <a:endParaRPr lang="en-IN" sz="28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800" kern="100" baseline="30000">
                          <a:effectLst/>
                        </a:rPr>
                        <a:t>❌ No</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027983888"/>
                  </a:ext>
                </a:extLst>
              </a:tr>
              <a:tr h="614458">
                <a:tc>
                  <a:txBody>
                    <a:bodyPr/>
                    <a:lstStyle/>
                    <a:p>
                      <a:pPr>
                        <a:lnSpc>
                          <a:spcPct val="107000"/>
                        </a:lnSpc>
                        <a:spcAft>
                          <a:spcPts val="800"/>
                        </a:spcAft>
                        <a:buNone/>
                      </a:pPr>
                      <a:r>
                        <a:rPr lang="pt-BR" sz="2800" kern="100" baseline="30000">
                          <a:effectLst/>
                        </a:rPr>
                        <a:t>B-C</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800" kern="100" baseline="30000">
                          <a:effectLst/>
                        </a:rPr>
                        <a:t>❌ No</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800" kern="100" baseline="30000">
                          <a:effectLst/>
                        </a:rPr>
                        <a:t>❌ No</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745486664"/>
                  </a:ext>
                </a:extLst>
              </a:tr>
              <a:tr h="614458">
                <a:tc>
                  <a:txBody>
                    <a:bodyPr/>
                    <a:lstStyle/>
                    <a:p>
                      <a:pPr>
                        <a:lnSpc>
                          <a:spcPct val="107000"/>
                        </a:lnSpc>
                        <a:spcAft>
                          <a:spcPts val="800"/>
                        </a:spcAft>
                        <a:buNone/>
                      </a:pPr>
                      <a:r>
                        <a:rPr lang="pt-BR" sz="2800" kern="100" baseline="30000">
                          <a:effectLst/>
                        </a:rPr>
                        <a:t>B-D</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800" kern="100" baseline="30000">
                          <a:effectLst/>
                        </a:rPr>
                        <a:t>❌ No</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pt-BR" sz="2800" kern="100" baseline="30000">
                          <a:effectLst/>
                        </a:rPr>
                        <a:t>✅ Yes</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3625713285"/>
                  </a:ext>
                </a:extLst>
              </a:tr>
              <a:tr h="614458">
                <a:tc>
                  <a:txBody>
                    <a:bodyPr/>
                    <a:lstStyle/>
                    <a:p>
                      <a:pPr>
                        <a:lnSpc>
                          <a:spcPct val="107000"/>
                        </a:lnSpc>
                        <a:spcAft>
                          <a:spcPts val="800"/>
                        </a:spcAft>
                        <a:buNone/>
                      </a:pPr>
                      <a:r>
                        <a:rPr lang="en-IN" sz="2800" kern="100" baseline="30000">
                          <a:effectLst/>
                        </a:rPr>
                        <a:t>C-D</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800" kern="100" baseline="30000">
                          <a:effectLst/>
                        </a:rPr>
                        <a:t>✅ Yes</a:t>
                      </a:r>
                      <a:endParaRPr lang="en-IN" sz="2800" kern="10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tc>
                  <a:txBody>
                    <a:bodyPr/>
                    <a:lstStyle/>
                    <a:p>
                      <a:pPr>
                        <a:lnSpc>
                          <a:spcPct val="107000"/>
                        </a:lnSpc>
                        <a:spcAft>
                          <a:spcPts val="800"/>
                        </a:spcAft>
                        <a:buNone/>
                      </a:pPr>
                      <a:r>
                        <a:rPr lang="en-IN" sz="2800" kern="100" baseline="30000" dirty="0">
                          <a:effectLst/>
                        </a:rPr>
                        <a:t>❌ No</a:t>
                      </a:r>
                      <a:endParaRPr lang="en-IN" sz="2800" kern="100" dirty="0">
                        <a:effectLst/>
                        <a:latin typeface="Aptos" panose="020B0004020202020204" pitchFamily="34" charset="0"/>
                        <a:ea typeface="Aptos" panose="020B0004020202020204" pitchFamily="34" charset="0"/>
                        <a:cs typeface="Tunga" panose="020B0502040204020203" pitchFamily="34" charset="0"/>
                      </a:endParaRPr>
                    </a:p>
                  </a:txBody>
                  <a:tcPr marL="68580" marR="68580" marT="0" marB="0"/>
                </a:tc>
                <a:extLst>
                  <a:ext uri="{0D108BD9-81ED-4DB2-BD59-A6C34878D82A}">
                    <a16:rowId xmlns:a16="http://schemas.microsoft.com/office/drawing/2014/main" val="2016334121"/>
                  </a:ext>
                </a:extLst>
              </a:tr>
            </a:tbl>
          </a:graphicData>
        </a:graphic>
      </p:graphicFrame>
    </p:spTree>
    <p:extLst>
      <p:ext uri="{BB962C8B-B14F-4D97-AF65-F5344CB8AC3E}">
        <p14:creationId xmlns:p14="http://schemas.microsoft.com/office/powerpoint/2010/main" val="31602423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32DA-5F64-4470-5258-5529D93D3A3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91EF13-68A2-3CCF-BC20-48EA225E1E2C}"/>
              </a:ext>
            </a:extLst>
          </p:cNvPr>
          <p:cNvSpPr>
            <a:spLocks noGrp="1"/>
          </p:cNvSpPr>
          <p:nvPr>
            <p:ph idx="1"/>
          </p:nvPr>
        </p:nvSpPr>
        <p:spPr>
          <a:xfrm>
            <a:off x="702853" y="707571"/>
            <a:ext cx="10900568" cy="5486400"/>
          </a:xfrm>
        </p:spPr>
        <p:txBody>
          <a:bodyPr>
            <a:normAutofit/>
          </a:bodyPr>
          <a:lstStyle/>
          <a:p>
            <a:pPr marL="0" indent="0">
              <a:buNone/>
            </a:pPr>
            <a:r>
              <a:rPr lang="en-US" sz="2800" b="1" dirty="0"/>
              <a:t>Count the pairs:</a:t>
            </a:r>
          </a:p>
          <a:p>
            <a:r>
              <a:rPr lang="en-US" sz="2400" dirty="0"/>
              <a:t>✅ SS = </a:t>
            </a:r>
            <a:r>
              <a:rPr lang="en-US" sz="2400" b="1" dirty="0">
                <a:solidFill>
                  <a:schemeClr val="tx2">
                    <a:lumMod val="75000"/>
                    <a:lumOff val="25000"/>
                  </a:schemeClr>
                </a:solidFill>
              </a:rPr>
              <a:t>Same in both </a:t>
            </a:r>
            <a:r>
              <a:rPr lang="en-US" sz="2400" dirty="0"/>
              <a:t>→ 0 pairs</a:t>
            </a:r>
          </a:p>
          <a:p>
            <a:r>
              <a:rPr lang="en-US" sz="2400" dirty="0"/>
              <a:t>✅ DD = </a:t>
            </a:r>
            <a:r>
              <a:rPr lang="en-US" sz="2400" b="1" dirty="0">
                <a:solidFill>
                  <a:schemeClr val="tx2">
                    <a:lumMod val="75000"/>
                    <a:lumOff val="25000"/>
                  </a:schemeClr>
                </a:solidFill>
              </a:rPr>
              <a:t>Different in both </a:t>
            </a:r>
            <a:r>
              <a:rPr lang="en-US" sz="2400" dirty="0"/>
              <a:t>→ 2 pairs (A-D, B-C)</a:t>
            </a:r>
          </a:p>
          <a:p>
            <a:r>
              <a:rPr lang="en-US" sz="2400" dirty="0"/>
              <a:t>❌ SD / DS = </a:t>
            </a:r>
            <a:r>
              <a:rPr lang="en-US" sz="2400" b="1" dirty="0">
                <a:solidFill>
                  <a:schemeClr val="tx2">
                    <a:lumMod val="75000"/>
                    <a:lumOff val="25000"/>
                  </a:schemeClr>
                </a:solidFill>
              </a:rPr>
              <a:t>Mismatches</a:t>
            </a:r>
            <a:r>
              <a:rPr lang="en-US" sz="2400" dirty="0"/>
              <a:t> → 4 pairs</a:t>
            </a:r>
          </a:p>
          <a:p>
            <a:pPr marL="0" indent="0">
              <a:buNone/>
            </a:pPr>
            <a:endParaRPr lang="en-US" sz="2400" dirty="0"/>
          </a:p>
          <a:p>
            <a:pPr marL="0" indent="0">
              <a:buNone/>
            </a:pPr>
            <a:r>
              <a:rPr lang="en-US" sz="2400" dirty="0"/>
              <a:t>So, only </a:t>
            </a:r>
            <a:r>
              <a:rPr lang="en-US" sz="2400" b="1" dirty="0">
                <a:solidFill>
                  <a:schemeClr val="tx2">
                    <a:lumMod val="75000"/>
                    <a:lumOff val="25000"/>
                  </a:schemeClr>
                </a:solidFill>
              </a:rPr>
              <a:t>2 out of 6 pairs match </a:t>
            </a:r>
            <a:r>
              <a:rPr lang="en-US" sz="2400" dirty="0"/>
              <a:t>the real grouping.</a:t>
            </a:r>
          </a:p>
          <a:p>
            <a:pPr marL="0" indent="0">
              <a:buNone/>
            </a:pPr>
            <a:endParaRPr lang="en-IN" sz="2800" dirty="0"/>
          </a:p>
        </p:txBody>
      </p:sp>
    </p:spTree>
    <p:extLst>
      <p:ext uri="{BB962C8B-B14F-4D97-AF65-F5344CB8AC3E}">
        <p14:creationId xmlns:p14="http://schemas.microsoft.com/office/powerpoint/2010/main" val="20248771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AB1CB-F264-986D-3298-81ED19D478D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B63299-E217-09B1-36D8-ECD552F46EC4}"/>
              </a:ext>
            </a:extLst>
          </p:cNvPr>
          <p:cNvSpPr>
            <a:spLocks noGrp="1"/>
          </p:cNvSpPr>
          <p:nvPr>
            <p:ph idx="1"/>
          </p:nvPr>
        </p:nvSpPr>
        <p:spPr>
          <a:xfrm>
            <a:off x="702853" y="707571"/>
            <a:ext cx="10900568" cy="5486400"/>
          </a:xfrm>
        </p:spPr>
        <p:txBody>
          <a:bodyPr>
            <a:normAutofit/>
          </a:bodyPr>
          <a:lstStyle/>
          <a:p>
            <a:pPr marL="0" indent="0">
              <a:buNone/>
            </a:pPr>
            <a:r>
              <a:rPr lang="en-US" sz="2400" b="1" dirty="0"/>
              <a:t>Apply ARI Formula (Simplified)</a:t>
            </a:r>
          </a:p>
          <a:p>
            <a:r>
              <a:rPr lang="en-US" sz="2400" dirty="0"/>
              <a:t>The </a:t>
            </a:r>
            <a:r>
              <a:rPr lang="en-US" sz="2400" b="1" dirty="0">
                <a:solidFill>
                  <a:schemeClr val="tx2">
                    <a:lumMod val="75000"/>
                    <a:lumOff val="25000"/>
                  </a:schemeClr>
                </a:solidFill>
              </a:rPr>
              <a:t>ARI</a:t>
            </a:r>
            <a:r>
              <a:rPr lang="en-US" sz="2400" dirty="0"/>
              <a:t> formula is:</a:t>
            </a:r>
          </a:p>
          <a:p>
            <a:endParaRPr lang="en-US" sz="2400" dirty="0"/>
          </a:p>
          <a:p>
            <a:endParaRPr lang="en-US" sz="2400" dirty="0"/>
          </a:p>
          <a:p>
            <a:endParaRPr lang="en-US" sz="2400" dirty="0"/>
          </a:p>
          <a:p>
            <a:endParaRPr lang="en-US" sz="2400" dirty="0"/>
          </a:p>
          <a:p>
            <a:r>
              <a:rPr lang="en-US" sz="2400" dirty="0"/>
              <a:t>In basic cases, you can think of it as:</a:t>
            </a:r>
          </a:p>
          <a:p>
            <a:endParaRPr lang="en-US" sz="2200" dirty="0"/>
          </a:p>
          <a:p>
            <a:pPr marL="0" indent="0">
              <a:buNone/>
            </a:pPr>
            <a:endParaRPr lang="en-IN" sz="2800" dirty="0"/>
          </a:p>
        </p:txBody>
      </p:sp>
      <p:pic>
        <p:nvPicPr>
          <p:cNvPr id="4" name="Picture 3">
            <a:extLst>
              <a:ext uri="{FF2B5EF4-FFF2-40B4-BE49-F238E27FC236}">
                <a16:creationId xmlns:a16="http://schemas.microsoft.com/office/drawing/2014/main" id="{564FB859-DA37-6987-60F8-98785C0A4D3B}"/>
              </a:ext>
            </a:extLst>
          </p:cNvPr>
          <p:cNvPicPr>
            <a:picLocks noChangeAspect="1"/>
          </p:cNvPicPr>
          <p:nvPr/>
        </p:nvPicPr>
        <p:blipFill>
          <a:blip r:embed="rId2"/>
          <a:stretch>
            <a:fillRect/>
          </a:stretch>
        </p:blipFill>
        <p:spPr>
          <a:xfrm>
            <a:off x="2184438" y="1728200"/>
            <a:ext cx="6872477" cy="1297949"/>
          </a:xfrm>
          <a:prstGeom prst="rect">
            <a:avLst/>
          </a:prstGeom>
        </p:spPr>
      </p:pic>
      <p:pic>
        <p:nvPicPr>
          <p:cNvPr id="6" name="Picture 5">
            <a:extLst>
              <a:ext uri="{FF2B5EF4-FFF2-40B4-BE49-F238E27FC236}">
                <a16:creationId xmlns:a16="http://schemas.microsoft.com/office/drawing/2014/main" id="{C5210F56-167A-081E-3A36-B2F04CD0EC98}"/>
              </a:ext>
            </a:extLst>
          </p:cNvPr>
          <p:cNvPicPr>
            <a:picLocks noChangeAspect="1"/>
          </p:cNvPicPr>
          <p:nvPr/>
        </p:nvPicPr>
        <p:blipFill>
          <a:blip r:embed="rId3"/>
          <a:stretch>
            <a:fillRect/>
          </a:stretch>
        </p:blipFill>
        <p:spPr>
          <a:xfrm>
            <a:off x="1405518" y="4166600"/>
            <a:ext cx="9495238" cy="1485714"/>
          </a:xfrm>
          <a:prstGeom prst="rect">
            <a:avLst/>
          </a:prstGeom>
        </p:spPr>
      </p:pic>
    </p:spTree>
    <p:extLst>
      <p:ext uri="{BB962C8B-B14F-4D97-AF65-F5344CB8AC3E}">
        <p14:creationId xmlns:p14="http://schemas.microsoft.com/office/powerpoint/2010/main" val="30381322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1F798-B717-967F-17ED-13FB4F5EF5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97D6F2-7386-CE7E-BA8A-D12D23A658B8}"/>
              </a:ext>
            </a:extLst>
          </p:cNvPr>
          <p:cNvSpPr>
            <a:spLocks noGrp="1"/>
          </p:cNvSpPr>
          <p:nvPr>
            <p:ph idx="1"/>
          </p:nvPr>
        </p:nvSpPr>
        <p:spPr>
          <a:xfrm>
            <a:off x="702853" y="707571"/>
            <a:ext cx="10900568" cy="5486400"/>
          </a:xfrm>
        </p:spPr>
        <p:txBody>
          <a:bodyPr>
            <a:normAutofit fontScale="92500" lnSpcReduction="10000"/>
          </a:bodyPr>
          <a:lstStyle/>
          <a:p>
            <a:pPr marL="0" indent="0">
              <a:buNone/>
            </a:pPr>
            <a:r>
              <a:rPr lang="en-US" sz="2400" b="1" dirty="0"/>
              <a:t>Let’s say:</a:t>
            </a:r>
          </a:p>
          <a:p>
            <a:r>
              <a:rPr lang="en-US" sz="2400" b="1" dirty="0">
                <a:solidFill>
                  <a:schemeClr val="tx2">
                    <a:lumMod val="75000"/>
                    <a:lumOff val="25000"/>
                  </a:schemeClr>
                </a:solidFill>
              </a:rPr>
              <a:t>Agreements</a:t>
            </a:r>
            <a:r>
              <a:rPr lang="en-US" sz="2400" dirty="0"/>
              <a:t> = 2  (</a:t>
            </a:r>
            <a:r>
              <a:rPr lang="en-US" dirty="0"/>
              <a:t>The clustering algorithm and the true labels both agreed that the pair was either in the same group, or in different groups)</a:t>
            </a:r>
          </a:p>
          <a:p>
            <a:r>
              <a:rPr lang="en-US" sz="2400" b="1" dirty="0">
                <a:solidFill>
                  <a:schemeClr val="tx2">
                    <a:lumMod val="75000"/>
                    <a:lumOff val="25000"/>
                  </a:schemeClr>
                </a:solidFill>
              </a:rPr>
              <a:t>Expected</a:t>
            </a:r>
            <a:r>
              <a:rPr lang="en-US" sz="2400" dirty="0"/>
              <a:t> = 1.8 (</a:t>
            </a:r>
            <a:r>
              <a:rPr lang="en-US" dirty="0"/>
              <a:t>the number of agreements we’d expect by random chance </a:t>
            </a:r>
            <a:r>
              <a:rPr lang="en-US" sz="2400" dirty="0"/>
              <a:t>it’s close to the 2 actual agreements we got)</a:t>
            </a:r>
          </a:p>
          <a:p>
            <a:r>
              <a:rPr lang="en-US" sz="2400" dirty="0"/>
              <a:t>Total pairs = 6</a:t>
            </a:r>
          </a:p>
          <a:p>
            <a:pPr marL="0" indent="0">
              <a:buNone/>
            </a:pPr>
            <a:r>
              <a:rPr lang="en-US" sz="2400" b="1" dirty="0"/>
              <a:t>Then:</a:t>
            </a:r>
          </a:p>
          <a:p>
            <a:pPr marL="0" indent="0">
              <a:buNone/>
            </a:pPr>
            <a:endParaRPr lang="en-US" sz="2400" b="1" dirty="0"/>
          </a:p>
          <a:p>
            <a:pPr marL="0" indent="0">
              <a:buNone/>
            </a:pPr>
            <a:endParaRPr lang="en-US" sz="2400" b="1" dirty="0"/>
          </a:p>
          <a:p>
            <a:pPr marL="0" indent="0">
              <a:buNone/>
            </a:pPr>
            <a:endParaRPr lang="en-US" sz="2400" b="1" dirty="0"/>
          </a:p>
          <a:p>
            <a:pPr marL="0" indent="0">
              <a:buNone/>
            </a:pPr>
            <a:r>
              <a:rPr lang="en-US" b="1" dirty="0"/>
              <a:t>Final Interpretation:</a:t>
            </a:r>
          </a:p>
          <a:p>
            <a:r>
              <a:rPr lang="en-US" dirty="0"/>
              <a:t>ARI ≈ </a:t>
            </a:r>
            <a:r>
              <a:rPr lang="en-US" b="1" dirty="0">
                <a:solidFill>
                  <a:schemeClr val="tx2">
                    <a:lumMod val="75000"/>
                    <a:lumOff val="25000"/>
                  </a:schemeClr>
                </a:solidFill>
              </a:rPr>
              <a:t>0.047 </a:t>
            </a:r>
            <a:r>
              <a:rPr lang="en-US" dirty="0"/>
              <a:t>→ Very close to 0</a:t>
            </a:r>
          </a:p>
          <a:p>
            <a:r>
              <a:rPr lang="en-US" dirty="0"/>
              <a:t>This means the clustering is almost </a:t>
            </a:r>
            <a:r>
              <a:rPr lang="en-US" b="1" dirty="0">
                <a:solidFill>
                  <a:schemeClr val="tx2">
                    <a:lumMod val="75000"/>
                    <a:lumOff val="25000"/>
                  </a:schemeClr>
                </a:solidFill>
              </a:rPr>
              <a:t>random</a:t>
            </a:r>
            <a:r>
              <a:rPr lang="en-US" dirty="0"/>
              <a:t> ❌</a:t>
            </a:r>
          </a:p>
          <a:p>
            <a:r>
              <a:rPr lang="en-US" dirty="0"/>
              <a:t>If ARI was near 1, it would be perfect </a:t>
            </a:r>
            <a:endParaRPr lang="en-US" sz="2400" b="1" dirty="0"/>
          </a:p>
          <a:p>
            <a:pPr marL="0" indent="0">
              <a:buNone/>
            </a:pPr>
            <a:endParaRPr lang="en-IN" sz="2400" dirty="0"/>
          </a:p>
        </p:txBody>
      </p:sp>
      <p:pic>
        <p:nvPicPr>
          <p:cNvPr id="4" name="Picture 3">
            <a:extLst>
              <a:ext uri="{FF2B5EF4-FFF2-40B4-BE49-F238E27FC236}">
                <a16:creationId xmlns:a16="http://schemas.microsoft.com/office/drawing/2014/main" id="{509EE46B-7F94-C090-7E77-7BADAFEFF15C}"/>
              </a:ext>
            </a:extLst>
          </p:cNvPr>
          <p:cNvPicPr>
            <a:picLocks noChangeAspect="1"/>
          </p:cNvPicPr>
          <p:nvPr/>
        </p:nvPicPr>
        <p:blipFill>
          <a:blip r:embed="rId2"/>
          <a:srcRect t="15593"/>
          <a:stretch>
            <a:fillRect/>
          </a:stretch>
        </p:blipFill>
        <p:spPr>
          <a:xfrm>
            <a:off x="3179857" y="2481943"/>
            <a:ext cx="5832286" cy="1380366"/>
          </a:xfrm>
          <a:prstGeom prst="rect">
            <a:avLst/>
          </a:prstGeom>
        </p:spPr>
      </p:pic>
    </p:spTree>
    <p:extLst>
      <p:ext uri="{BB962C8B-B14F-4D97-AF65-F5344CB8AC3E}">
        <p14:creationId xmlns:p14="http://schemas.microsoft.com/office/powerpoint/2010/main" val="15644257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A7F37-AADC-0B1A-5080-691DCE6AA4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FAB684-9594-9344-F277-9CFB4B5DF2C1}"/>
              </a:ext>
            </a:extLst>
          </p:cNvPr>
          <p:cNvSpPr>
            <a:spLocks noGrp="1"/>
          </p:cNvSpPr>
          <p:nvPr>
            <p:ph idx="1"/>
          </p:nvPr>
        </p:nvSpPr>
        <p:spPr>
          <a:xfrm>
            <a:off x="702853" y="707571"/>
            <a:ext cx="10900568" cy="5486400"/>
          </a:xfrm>
        </p:spPr>
        <p:txBody>
          <a:bodyPr>
            <a:normAutofit/>
          </a:bodyPr>
          <a:lstStyle/>
          <a:p>
            <a:pPr marL="0" indent="0">
              <a:buNone/>
            </a:pPr>
            <a:r>
              <a:rPr lang="en-US" sz="2400" b="1" dirty="0"/>
              <a:t>Dimensionality Reduction:</a:t>
            </a:r>
          </a:p>
          <a:p>
            <a:pPr marL="0" indent="0">
              <a:buNone/>
            </a:pPr>
            <a:endParaRPr lang="en-IN" sz="2400" dirty="0"/>
          </a:p>
        </p:txBody>
      </p:sp>
    </p:spTree>
    <p:extLst>
      <p:ext uri="{BB962C8B-B14F-4D97-AF65-F5344CB8AC3E}">
        <p14:creationId xmlns:p14="http://schemas.microsoft.com/office/powerpoint/2010/main" val="9716744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CB578-9E14-2602-8E80-FECBE2ABF9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513252-8515-5192-5692-4098998FE324}"/>
              </a:ext>
            </a:extLst>
          </p:cNvPr>
          <p:cNvSpPr>
            <a:spLocks noGrp="1"/>
          </p:cNvSpPr>
          <p:nvPr>
            <p:ph idx="1"/>
          </p:nvPr>
        </p:nvSpPr>
        <p:spPr>
          <a:xfrm>
            <a:off x="743688" y="1088572"/>
            <a:ext cx="10900568" cy="4354286"/>
          </a:xfrm>
        </p:spPr>
        <p:txBody>
          <a:bodyPr>
            <a:normAutofit/>
          </a:bodyPr>
          <a:lstStyle/>
          <a:p>
            <a:pPr marL="0" indent="0">
              <a:buNone/>
            </a:pPr>
            <a:r>
              <a:rPr lang="en-US" sz="3200" b="1" dirty="0">
                <a:solidFill>
                  <a:srgbClr val="C00000"/>
                </a:solidFill>
              </a:rPr>
              <a:t>Module-3: </a:t>
            </a:r>
            <a:r>
              <a:rPr lang="en-US" sz="3200" b="1" dirty="0">
                <a:solidFill>
                  <a:schemeClr val="accent3">
                    <a:lumMod val="50000"/>
                  </a:schemeClr>
                </a:solidFill>
              </a:rPr>
              <a:t>Unsupervised Learning: </a:t>
            </a:r>
          </a:p>
          <a:p>
            <a:pPr marL="0" indent="0">
              <a:buNone/>
            </a:pPr>
            <a:r>
              <a:rPr lang="en-US" sz="3200" b="1" dirty="0"/>
              <a:t>Clustering: K-Means clustering</a:t>
            </a:r>
            <a:r>
              <a:rPr lang="en-US" sz="3200" dirty="0"/>
              <a:t>, </a:t>
            </a:r>
            <a:r>
              <a:rPr lang="en-US" sz="3200" b="1" dirty="0"/>
              <a:t>Hierarchical clustering</a:t>
            </a:r>
            <a:r>
              <a:rPr lang="en-US" sz="3200" dirty="0"/>
              <a:t>, </a:t>
            </a:r>
            <a:r>
              <a:rPr lang="en-US" sz="3200" b="1" dirty="0"/>
              <a:t>Evaluation of clustering results. </a:t>
            </a:r>
          </a:p>
          <a:p>
            <a:pPr marL="0" indent="0">
              <a:buNone/>
            </a:pPr>
            <a:r>
              <a:rPr lang="en-US" sz="3200" b="1" dirty="0"/>
              <a:t>Dimensionality Reduction: </a:t>
            </a:r>
            <a:r>
              <a:rPr lang="en-US" sz="3200" dirty="0"/>
              <a:t>Principal Component Analysis (PCA), Linear Discriminant Analysis (LDA) t-Distributed Stochastic Neighbor Embedding (t-SNE).  </a:t>
            </a:r>
          </a:p>
          <a:p>
            <a:pPr marL="0" indent="0">
              <a:buNone/>
            </a:pPr>
            <a:r>
              <a:rPr lang="en-US" sz="3200" b="1" dirty="0"/>
              <a:t>Association Rule Learning: </a:t>
            </a:r>
            <a:r>
              <a:rPr lang="en-US" sz="3200" dirty="0" err="1"/>
              <a:t>Apriori</a:t>
            </a:r>
            <a:r>
              <a:rPr lang="en-US" sz="3200" dirty="0"/>
              <a:t> algorithm, Market Basket Analysis, Evaluation metrics for association rules </a:t>
            </a:r>
            <a:endParaRPr lang="en-IN" sz="3200" dirty="0"/>
          </a:p>
        </p:txBody>
      </p:sp>
    </p:spTree>
    <p:extLst>
      <p:ext uri="{BB962C8B-B14F-4D97-AF65-F5344CB8AC3E}">
        <p14:creationId xmlns:p14="http://schemas.microsoft.com/office/powerpoint/2010/main" val="17881682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62071-CECF-69D3-C9FA-2066592042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A95F8D-4110-D599-3870-8A0A07F9A7AD}"/>
              </a:ext>
            </a:extLst>
          </p:cNvPr>
          <p:cNvSpPr>
            <a:spLocks noGrp="1"/>
          </p:cNvSpPr>
          <p:nvPr>
            <p:ph idx="1"/>
          </p:nvPr>
        </p:nvSpPr>
        <p:spPr>
          <a:xfrm>
            <a:off x="702853" y="707571"/>
            <a:ext cx="10900568" cy="5486400"/>
          </a:xfrm>
        </p:spPr>
        <p:txBody>
          <a:bodyPr>
            <a:normAutofit/>
          </a:bodyPr>
          <a:lstStyle/>
          <a:p>
            <a:pPr marL="0" indent="0">
              <a:buNone/>
            </a:pPr>
            <a:endParaRPr lang="en-IN" sz="2400" dirty="0"/>
          </a:p>
        </p:txBody>
      </p:sp>
    </p:spTree>
    <p:extLst>
      <p:ext uri="{BB962C8B-B14F-4D97-AF65-F5344CB8AC3E}">
        <p14:creationId xmlns:p14="http://schemas.microsoft.com/office/powerpoint/2010/main" val="11418854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7D591-311A-B7CD-E3B0-CC631B0B75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E25D29-6B6F-33B7-9FE9-18535FE12C7A}"/>
              </a:ext>
            </a:extLst>
          </p:cNvPr>
          <p:cNvSpPr>
            <a:spLocks noGrp="1"/>
          </p:cNvSpPr>
          <p:nvPr>
            <p:ph idx="1"/>
          </p:nvPr>
        </p:nvSpPr>
        <p:spPr>
          <a:xfrm>
            <a:off x="702853" y="707571"/>
            <a:ext cx="10900568" cy="5486400"/>
          </a:xfrm>
        </p:spPr>
        <p:txBody>
          <a:bodyPr>
            <a:normAutofit/>
          </a:bodyPr>
          <a:lstStyle/>
          <a:p>
            <a:pPr marL="0" indent="0">
              <a:buNone/>
            </a:pPr>
            <a:endParaRPr lang="en-IN" sz="2400" dirty="0"/>
          </a:p>
        </p:txBody>
      </p:sp>
    </p:spTree>
    <p:extLst>
      <p:ext uri="{BB962C8B-B14F-4D97-AF65-F5344CB8AC3E}">
        <p14:creationId xmlns:p14="http://schemas.microsoft.com/office/powerpoint/2010/main" val="37274501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A8377-7812-4BDD-30DE-DDF1BBD563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0D5B20-DC5C-1B61-A4C0-C7774F006B1A}"/>
              </a:ext>
            </a:extLst>
          </p:cNvPr>
          <p:cNvSpPr>
            <a:spLocks noGrp="1"/>
          </p:cNvSpPr>
          <p:nvPr>
            <p:ph idx="1"/>
          </p:nvPr>
        </p:nvSpPr>
        <p:spPr>
          <a:xfrm>
            <a:off x="702853" y="707571"/>
            <a:ext cx="10900568" cy="5486400"/>
          </a:xfrm>
        </p:spPr>
        <p:txBody>
          <a:bodyPr>
            <a:normAutofit/>
          </a:bodyPr>
          <a:lstStyle/>
          <a:p>
            <a:pPr marL="0" indent="0">
              <a:buNone/>
            </a:pPr>
            <a:endParaRPr lang="en-IN" sz="2400" dirty="0"/>
          </a:p>
        </p:txBody>
      </p:sp>
    </p:spTree>
    <p:extLst>
      <p:ext uri="{BB962C8B-B14F-4D97-AF65-F5344CB8AC3E}">
        <p14:creationId xmlns:p14="http://schemas.microsoft.com/office/powerpoint/2010/main" val="3802042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CE6FD-D251-340C-FECF-27BE36341A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B236B8-9AB4-D677-8457-4886B14F6DC1}"/>
              </a:ext>
            </a:extLst>
          </p:cNvPr>
          <p:cNvSpPr>
            <a:spLocks noGrp="1"/>
          </p:cNvSpPr>
          <p:nvPr>
            <p:ph idx="1"/>
          </p:nvPr>
        </p:nvSpPr>
        <p:spPr>
          <a:xfrm>
            <a:off x="702853" y="707571"/>
            <a:ext cx="10900568" cy="5486400"/>
          </a:xfrm>
        </p:spPr>
        <p:txBody>
          <a:bodyPr>
            <a:normAutofit/>
          </a:bodyPr>
          <a:lstStyle/>
          <a:p>
            <a:pPr marL="0" indent="0">
              <a:buNone/>
            </a:pPr>
            <a:endParaRPr lang="en-IN" sz="2400" dirty="0"/>
          </a:p>
        </p:txBody>
      </p:sp>
    </p:spTree>
    <p:extLst>
      <p:ext uri="{BB962C8B-B14F-4D97-AF65-F5344CB8AC3E}">
        <p14:creationId xmlns:p14="http://schemas.microsoft.com/office/powerpoint/2010/main" val="39018791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45D7C-7368-F04A-500E-7E58103ADA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99850B-89D1-B1DD-9CA0-5325B19F5C00}"/>
              </a:ext>
            </a:extLst>
          </p:cNvPr>
          <p:cNvSpPr>
            <a:spLocks noGrp="1"/>
          </p:cNvSpPr>
          <p:nvPr>
            <p:ph idx="1"/>
          </p:nvPr>
        </p:nvSpPr>
        <p:spPr>
          <a:xfrm>
            <a:off x="702853" y="707571"/>
            <a:ext cx="10900568" cy="5486400"/>
          </a:xfrm>
        </p:spPr>
        <p:txBody>
          <a:bodyPr>
            <a:normAutofit/>
          </a:bodyPr>
          <a:lstStyle/>
          <a:p>
            <a:pPr marL="0" indent="0">
              <a:buNone/>
            </a:pPr>
            <a:endParaRPr lang="en-IN" sz="2400" dirty="0"/>
          </a:p>
        </p:txBody>
      </p:sp>
    </p:spTree>
    <p:extLst>
      <p:ext uri="{BB962C8B-B14F-4D97-AF65-F5344CB8AC3E}">
        <p14:creationId xmlns:p14="http://schemas.microsoft.com/office/powerpoint/2010/main" val="23851985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BF8D7-CF2C-E274-D321-8E8D1F628F5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5439F9-7860-B787-7E26-C1399B3A7F05}"/>
              </a:ext>
            </a:extLst>
          </p:cNvPr>
          <p:cNvSpPr>
            <a:spLocks noGrp="1"/>
          </p:cNvSpPr>
          <p:nvPr>
            <p:ph idx="1"/>
          </p:nvPr>
        </p:nvSpPr>
        <p:spPr>
          <a:xfrm>
            <a:off x="702853" y="707571"/>
            <a:ext cx="10900568" cy="5486400"/>
          </a:xfrm>
        </p:spPr>
        <p:txBody>
          <a:bodyPr>
            <a:normAutofit/>
          </a:bodyPr>
          <a:lstStyle/>
          <a:p>
            <a:pPr marL="0" indent="0">
              <a:buNone/>
            </a:pPr>
            <a:endParaRPr lang="en-IN" sz="2400" dirty="0"/>
          </a:p>
        </p:txBody>
      </p:sp>
    </p:spTree>
    <p:extLst>
      <p:ext uri="{BB962C8B-B14F-4D97-AF65-F5344CB8AC3E}">
        <p14:creationId xmlns:p14="http://schemas.microsoft.com/office/powerpoint/2010/main" val="23680563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F620A-9028-9D71-BA6C-5BCF7539150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2CBF46-EA37-8B6A-392D-229161886391}"/>
              </a:ext>
            </a:extLst>
          </p:cNvPr>
          <p:cNvSpPr>
            <a:spLocks noGrp="1"/>
          </p:cNvSpPr>
          <p:nvPr>
            <p:ph idx="1"/>
          </p:nvPr>
        </p:nvSpPr>
        <p:spPr>
          <a:xfrm>
            <a:off x="702853" y="707571"/>
            <a:ext cx="10900568" cy="5486400"/>
          </a:xfrm>
        </p:spPr>
        <p:txBody>
          <a:bodyPr>
            <a:normAutofit/>
          </a:bodyPr>
          <a:lstStyle/>
          <a:p>
            <a:pPr marL="0" indent="0">
              <a:buNone/>
            </a:pPr>
            <a:endParaRPr lang="en-IN" sz="2400" dirty="0"/>
          </a:p>
        </p:txBody>
      </p:sp>
    </p:spTree>
    <p:extLst>
      <p:ext uri="{BB962C8B-B14F-4D97-AF65-F5344CB8AC3E}">
        <p14:creationId xmlns:p14="http://schemas.microsoft.com/office/powerpoint/2010/main" val="12652373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AE243-E3DD-DC42-90FE-01838628192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7B1D10-881C-1B16-43B7-F20DB7AC5E2E}"/>
              </a:ext>
            </a:extLst>
          </p:cNvPr>
          <p:cNvSpPr>
            <a:spLocks noGrp="1"/>
          </p:cNvSpPr>
          <p:nvPr>
            <p:ph idx="1"/>
          </p:nvPr>
        </p:nvSpPr>
        <p:spPr>
          <a:xfrm>
            <a:off x="702853" y="707571"/>
            <a:ext cx="10900568" cy="5486400"/>
          </a:xfrm>
        </p:spPr>
        <p:txBody>
          <a:bodyPr>
            <a:normAutofit/>
          </a:bodyPr>
          <a:lstStyle/>
          <a:p>
            <a:pPr marL="0" indent="0">
              <a:buNone/>
            </a:pPr>
            <a:endParaRPr lang="en-IN" sz="2400" dirty="0"/>
          </a:p>
        </p:txBody>
      </p:sp>
    </p:spTree>
    <p:extLst>
      <p:ext uri="{BB962C8B-B14F-4D97-AF65-F5344CB8AC3E}">
        <p14:creationId xmlns:p14="http://schemas.microsoft.com/office/powerpoint/2010/main" val="10537349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EB7DE-BB7F-0890-69CF-AE40EDF73C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7E18DF-55E6-3A7C-6BCF-9360BF36799E}"/>
              </a:ext>
            </a:extLst>
          </p:cNvPr>
          <p:cNvSpPr>
            <a:spLocks noGrp="1"/>
          </p:cNvSpPr>
          <p:nvPr>
            <p:ph idx="1"/>
          </p:nvPr>
        </p:nvSpPr>
        <p:spPr>
          <a:xfrm>
            <a:off x="702853" y="707571"/>
            <a:ext cx="10900568" cy="5486400"/>
          </a:xfrm>
        </p:spPr>
        <p:txBody>
          <a:bodyPr>
            <a:normAutofit/>
          </a:bodyPr>
          <a:lstStyle/>
          <a:p>
            <a:pPr marL="0" indent="0">
              <a:buNone/>
            </a:pPr>
            <a:endParaRPr lang="en-IN" sz="2400" dirty="0"/>
          </a:p>
        </p:txBody>
      </p:sp>
    </p:spTree>
    <p:extLst>
      <p:ext uri="{BB962C8B-B14F-4D97-AF65-F5344CB8AC3E}">
        <p14:creationId xmlns:p14="http://schemas.microsoft.com/office/powerpoint/2010/main" val="2916877025"/>
      </p:ext>
    </p:extLst>
  </p:cSld>
  <p:clrMapOvr>
    <a:masterClrMapping/>
  </p:clrMapOvr>
</p:sld>
</file>

<file path=ppt/theme/theme1.xml><?xml version="1.0" encoding="utf-8"?>
<a:theme xmlns:a="http://schemas.openxmlformats.org/drawingml/2006/main" name="Theme1">
  <a:themeElements>
    <a:clrScheme name="Custom 30">
      <a:dk1>
        <a:sysClr val="windowText" lastClr="000000"/>
      </a:dk1>
      <a:lt1>
        <a:sysClr val="window" lastClr="FFFFFF"/>
      </a:lt1>
      <a:dk2>
        <a:srgbClr val="420023"/>
      </a:dk2>
      <a:lt2>
        <a:srgbClr val="FDFBF9"/>
      </a:lt2>
      <a:accent1>
        <a:srgbClr val="97446E"/>
      </a:accent1>
      <a:accent2>
        <a:srgbClr val="A40056"/>
      </a:accent2>
      <a:accent3>
        <a:srgbClr val="24BEEE"/>
      </a:accent3>
      <a:accent4>
        <a:srgbClr val="91274F"/>
      </a:accent4>
      <a:accent5>
        <a:srgbClr val="F39E29"/>
      </a:accent5>
      <a:accent6>
        <a:srgbClr val="E87450"/>
      </a:accent6>
      <a:hlink>
        <a:srgbClr val="F55D5D"/>
      </a:hlink>
      <a:folHlink>
        <a:srgbClr val="EA3A60"/>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DD60039B-BC77-41DF-ACC8-C701D8198EB2}" vid="{DC443EE9-F046-42A5-BD1D-7585E7C79329}"/>
    </a:ext>
  </a:extLst>
</a:theme>
</file>

<file path=docProps/app.xml><?xml version="1.0" encoding="utf-8"?>
<Properties xmlns="http://schemas.openxmlformats.org/officeDocument/2006/extended-properties" xmlns:vt="http://schemas.openxmlformats.org/officeDocument/2006/docPropsVTypes">
  <Template>Theme1</Template>
  <TotalTime>560</TotalTime>
  <Words>4553</Words>
  <Application>Microsoft Office PowerPoint</Application>
  <PresentationFormat>Widescreen</PresentationFormat>
  <Paragraphs>495</Paragraphs>
  <Slides>67</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67</vt:i4>
      </vt:variant>
    </vt:vector>
  </HeadingPairs>
  <TitlesOfParts>
    <vt:vector size="78" baseType="lpstr">
      <vt:lpstr>Aptos</vt:lpstr>
      <vt:lpstr>Arial</vt:lpstr>
      <vt:lpstr>Calibri</vt:lpstr>
      <vt:lpstr>Calibri (Body)</vt:lpstr>
      <vt:lpstr>erdana</vt:lpstr>
      <vt:lpstr>Gill Sans Nova</vt:lpstr>
      <vt:lpstr>inter-regular</vt:lpstr>
      <vt:lpstr>Söhne</vt:lpstr>
      <vt:lpstr>Studio-Feixen-Sans</vt:lpstr>
      <vt:lpstr>Wingdings</vt:lpstr>
      <vt:lpstr>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Linkage Methods (How to measure distance between clusters):</vt:lpstr>
      <vt:lpstr>Dendrogram: The Tree of Clusters 🌳 </vt:lpstr>
      <vt:lpstr>PowerPoint Presentation</vt:lpstr>
      <vt:lpstr>PowerPoint Presentation</vt:lpstr>
      <vt:lpstr>Divisive Clustering: Step-by-Step Let’s say you have 5 animals, each described by their features (like weight and speed): </vt:lpstr>
      <vt:lpstr>PowerPoint Presentation</vt:lpstr>
      <vt:lpstr>Dendrogram: The Tree of Clusters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PRAMOD NAIK</dc:creator>
  <cp:lastModifiedBy>PRAMOD NAIK</cp:lastModifiedBy>
  <cp:revision>443</cp:revision>
  <dcterms:created xsi:type="dcterms:W3CDTF">2025-05-11T14:44:44Z</dcterms:created>
  <dcterms:modified xsi:type="dcterms:W3CDTF">2025-07-06T14:40:15Z</dcterms:modified>
</cp:coreProperties>
</file>