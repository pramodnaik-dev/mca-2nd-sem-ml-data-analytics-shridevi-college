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13"/>
  </p:notesMasterIdLst>
  <p:sldIdLst>
    <p:sldId id="426" r:id="rId2"/>
    <p:sldId id="272" r:id="rId3"/>
    <p:sldId id="280" r:id="rId4"/>
    <p:sldId id="258" r:id="rId5"/>
    <p:sldId id="427" r:id="rId6"/>
    <p:sldId id="428" r:id="rId7"/>
    <p:sldId id="429" r:id="rId8"/>
    <p:sldId id="430" r:id="rId9"/>
    <p:sldId id="422" r:id="rId10"/>
    <p:sldId id="423" r:id="rId11"/>
    <p:sldId id="43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 Naik" userId="ceb6df04-ef15-4d9b-a141-998a03559d75" providerId="ADAL" clId="{A3D4129C-72EA-45F2-AA77-F6ECFB27FD89}"/>
    <pc:docChg chg="modSld">
      <pc:chgData name="Pramod Naik" userId="ceb6df04-ef15-4d9b-a141-998a03559d75" providerId="ADAL" clId="{A3D4129C-72EA-45F2-AA77-F6ECFB27FD89}" dt="2025-07-19T10:57:35.360" v="0" actId="20577"/>
      <pc:docMkLst>
        <pc:docMk/>
      </pc:docMkLst>
      <pc:sldChg chg="modSp mod">
        <pc:chgData name="Pramod Naik" userId="ceb6df04-ef15-4d9b-a141-998a03559d75" providerId="ADAL" clId="{A3D4129C-72EA-45F2-AA77-F6ECFB27FD89}" dt="2025-07-19T10:57:35.360" v="0" actId="20577"/>
        <pc:sldMkLst>
          <pc:docMk/>
          <pc:sldMk cId="693359045" sldId="430"/>
        </pc:sldMkLst>
        <pc:spChg chg="mod">
          <ac:chgData name="Pramod Naik" userId="ceb6df04-ef15-4d9b-a141-998a03559d75" providerId="ADAL" clId="{A3D4129C-72EA-45F2-AA77-F6ECFB27FD89}" dt="2025-07-19T10:57:35.360" v="0" actId="20577"/>
          <ac:spMkLst>
            <pc:docMk/>
            <pc:sldMk cId="693359045" sldId="430"/>
            <ac:spMk id="3" creationId="{4F086CB9-AB03-31C2-A35E-EFD91E1BB1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532AF1-4615-4667-912A-829B12F8C4D2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8A8E6-D4B7-4286-B37C-5D755B8E2C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8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7/19/2025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2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8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30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7/19/2025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281849D-54CA-C13E-3D84-DB247AB9A268}"/>
              </a:ext>
            </a:extLst>
          </p:cNvPr>
          <p:cNvGrpSpPr/>
          <p:nvPr userDrawn="1"/>
        </p:nvGrpSpPr>
        <p:grpSpPr>
          <a:xfrm>
            <a:off x="130629" y="6291189"/>
            <a:ext cx="2743201" cy="495445"/>
            <a:chOff x="195943" y="6091967"/>
            <a:chExt cx="3506755" cy="62950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1CC4C-E0EC-38D2-F7AA-61FC22E4D90D}"/>
                </a:ext>
              </a:extLst>
            </p:cNvPr>
            <p:cNvSpPr/>
            <p:nvPr userDrawn="1"/>
          </p:nvSpPr>
          <p:spPr>
            <a:xfrm>
              <a:off x="195943" y="6091967"/>
              <a:ext cx="642257" cy="629508"/>
            </a:xfrm>
            <a:prstGeom prst="ellipse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75BEBF-DA68-8945-6205-DE7DE602B3BD}"/>
                </a:ext>
              </a:extLst>
            </p:cNvPr>
            <p:cNvSpPr txBox="1"/>
            <p:nvPr userDrawn="1"/>
          </p:nvSpPr>
          <p:spPr>
            <a:xfrm>
              <a:off x="838200" y="6163561"/>
              <a:ext cx="2864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PRAMOD NAIK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275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qtD5dpn9C8?si=LBep4HWaMFRrAPsD" TargetMode="External"/><Relationship Id="rId2" Type="http://schemas.openxmlformats.org/officeDocument/2006/relationships/hyperlink" Target="https://youtu.be/7eh4d6sabA0?si=JWHNJRVS6NhQOPY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4SJ7bEILPJk?si=5LurvjzUOuCew1W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Title 1">
            <a:extLst>
              <a:ext uri="{FF2B5EF4-FFF2-40B4-BE49-F238E27FC236}">
                <a16:creationId xmlns:a16="http://schemas.microsoft.com/office/drawing/2014/main" id="{B37B7D3C-E578-6073-826E-7DB6C6D5D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885" y="1122363"/>
            <a:ext cx="5047488" cy="2387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Machine learning and Data analytics using Python</a:t>
            </a:r>
            <a:endParaRPr lang="en-US" b="1" dirty="0"/>
          </a:p>
        </p:txBody>
      </p:sp>
      <p:pic>
        <p:nvPicPr>
          <p:cNvPr id="4" name="Picture 2" descr="Is Programming &amp; Coding a High-Income Skill? (Explored)">
            <a:extLst>
              <a:ext uri="{FF2B5EF4-FFF2-40B4-BE49-F238E27FC236}">
                <a16:creationId xmlns:a16="http://schemas.microsoft.com/office/drawing/2014/main" id="{BDF2ECCC-7647-B60F-BAA6-40EFB604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8" r="22433" b="2"/>
          <a:stretch/>
        </p:blipFill>
        <p:spPr bwMode="auto">
          <a:xfrm>
            <a:off x="1947780" y="1937783"/>
            <a:ext cx="3588262" cy="3588262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Python Coding? | Juni Learning">
            <a:extLst>
              <a:ext uri="{FF2B5EF4-FFF2-40B4-BE49-F238E27FC236}">
                <a16:creationId xmlns:a16="http://schemas.microsoft.com/office/drawing/2014/main" id="{0ACCF86E-E298-8310-C844-B4C43188F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-3"/>
          <a:stretch/>
        </p:blipFill>
        <p:spPr bwMode="auto">
          <a:xfrm>
            <a:off x="240377" y="433214"/>
            <a:ext cx="2255677" cy="2255677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ata analytics is the process of examining, cleaning, transforming, and  interpreting data in order to extract valuable insights and make informed  decisions. Python is a popular programming language for data analytics due">
            <a:extLst>
              <a:ext uri="{FF2B5EF4-FFF2-40B4-BE49-F238E27FC236}">
                <a16:creationId xmlns:a16="http://schemas.microsoft.com/office/drawing/2014/main" id="{3CE2C5A9-DC03-0154-B456-D33AE147FA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64"/>
          <a:stretch/>
        </p:blipFill>
        <p:spPr bwMode="auto">
          <a:xfrm>
            <a:off x="5622670" y="4016231"/>
            <a:ext cx="5715000" cy="223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uido van Rossum (@gvanrossum) / X">
            <a:extLst>
              <a:ext uri="{FF2B5EF4-FFF2-40B4-BE49-F238E27FC236}">
                <a16:creationId xmlns:a16="http://schemas.microsoft.com/office/drawing/2014/main" id="{03DE085D-56AE-FC98-521F-72EFE9BDB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/>
        </p:blipFill>
        <p:spPr bwMode="auto">
          <a:xfrm>
            <a:off x="4334521" y="424697"/>
            <a:ext cx="1571299" cy="1571299"/>
          </a:xfrm>
          <a:custGeom>
            <a:avLst/>
            <a:gdLst/>
            <a:ahLst/>
            <a:cxnLst/>
            <a:rect l="l" t="t" r="r" b="b"/>
            <a:pathLst>
              <a:path w="3111160" h="3111160">
                <a:moveTo>
                  <a:pt x="1555580" y="0"/>
                </a:moveTo>
                <a:cubicBezTo>
                  <a:pt x="2414703" y="0"/>
                  <a:pt x="3111160" y="696457"/>
                  <a:pt x="3111160" y="1555580"/>
                </a:cubicBezTo>
                <a:cubicBezTo>
                  <a:pt x="3111160" y="2414703"/>
                  <a:pt x="2414703" y="3111160"/>
                  <a:pt x="1555580" y="3111160"/>
                </a:cubicBezTo>
                <a:cubicBezTo>
                  <a:pt x="696457" y="3111160"/>
                  <a:pt x="0" y="2414703"/>
                  <a:pt x="0" y="1555580"/>
                </a:cubicBezTo>
                <a:cubicBezTo>
                  <a:pt x="0" y="696457"/>
                  <a:pt x="696457" y="0"/>
                  <a:pt x="155558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37445F-CBB1-E915-2A29-54AC525BB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21102"/>
            <a:ext cx="1892887" cy="5005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D72DB0-B6E1-E406-460E-F68A1D77F3CF}"/>
              </a:ext>
            </a:extLst>
          </p:cNvPr>
          <p:cNvSpPr txBox="1"/>
          <p:nvPr/>
        </p:nvSpPr>
        <p:spPr>
          <a:xfrm>
            <a:off x="4140837" y="63882"/>
            <a:ext cx="1958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2060"/>
                </a:solidFill>
                <a:effectLst/>
                <a:latin typeface="Google Sans"/>
              </a:rPr>
              <a:t>Guido Van Rossum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1026" name="Picture 2" descr="Machine Learning - Free technology icons">
            <a:extLst>
              <a:ext uri="{FF2B5EF4-FFF2-40B4-BE49-F238E27FC236}">
                <a16:creationId xmlns:a16="http://schemas.microsoft.com/office/drawing/2014/main" id="{23066FCD-C2C3-3F34-1F5E-2E2217511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61" y="4201440"/>
            <a:ext cx="1861152" cy="186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88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8E85-8426-4AB7-AD5A-5C275C24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1" y="2247900"/>
            <a:ext cx="10567219" cy="11811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3600" b="1" dirty="0">
                <a:solidFill>
                  <a:schemeClr val="accent6">
                    <a:lumMod val="50000"/>
                  </a:schemeClr>
                </a:solidFill>
              </a:rPr>
              <a:t>What is Programming?</a:t>
            </a:r>
          </a:p>
          <a:p>
            <a:pPr marL="0" indent="0" algn="ctr">
              <a:buNone/>
            </a:pPr>
            <a:r>
              <a:rPr lang="en-IN" sz="3600" b="1" dirty="0">
                <a:solidFill>
                  <a:schemeClr val="accent2">
                    <a:lumMod val="50000"/>
                  </a:schemeClr>
                </a:solidFill>
              </a:rPr>
              <a:t>What is Programming Language?</a:t>
            </a:r>
          </a:p>
        </p:txBody>
      </p:sp>
    </p:spTree>
    <p:extLst>
      <p:ext uri="{BB962C8B-B14F-4D97-AF65-F5344CB8AC3E}">
        <p14:creationId xmlns:p14="http://schemas.microsoft.com/office/powerpoint/2010/main" val="283386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8E85-8426-4AB7-AD5A-5C275C24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1" y="2247900"/>
            <a:ext cx="10567219" cy="11811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What is Programming? : </a:t>
            </a:r>
            <a:r>
              <a:rPr lang="en-IN" sz="3200" dirty="0"/>
              <a:t>Writing a Program</a:t>
            </a:r>
            <a:endParaRPr lang="en-IN"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IN" sz="3200" b="1" dirty="0">
                <a:solidFill>
                  <a:schemeClr val="accent2">
                    <a:lumMod val="50000"/>
                  </a:schemeClr>
                </a:solidFill>
              </a:rPr>
              <a:t>What is Programming Language? : </a:t>
            </a:r>
            <a:r>
              <a:rPr lang="en-IN" sz="3200" dirty="0"/>
              <a:t>Is a Collection of </a:t>
            </a:r>
            <a:r>
              <a:rPr lang="en-IN" sz="3200" b="1" dirty="0">
                <a:solidFill>
                  <a:srgbClr val="C00000"/>
                </a:solidFill>
              </a:rPr>
              <a:t>Tokens</a:t>
            </a:r>
            <a:r>
              <a:rPr lang="en-IN" sz="3200" dirty="0"/>
              <a:t>.</a:t>
            </a:r>
            <a:endParaRPr lang="en-IN"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735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8E85-8426-4AB7-AD5A-5C275C24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566057"/>
            <a:ext cx="10900568" cy="57258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Module-1: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Introduction to Machine Learning and Python:</a:t>
            </a:r>
            <a:endParaRPr lang="en-IN" sz="32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3200" b="1" dirty="0"/>
              <a:t>Introduction to Machine Learning: </a:t>
            </a:r>
            <a:r>
              <a:rPr lang="en-US" sz="3200" dirty="0"/>
              <a:t>Definition and importance of machine learning, Types of machine learning: Supervised, unsupervised, and reinforcement learning, Applications of machine learning in various domains. </a:t>
            </a:r>
          </a:p>
          <a:p>
            <a:pPr marL="0" indent="0">
              <a:buNone/>
            </a:pPr>
            <a:r>
              <a:rPr lang="en-US" sz="3200" b="1" dirty="0"/>
              <a:t>Python for Data Analysis: </a:t>
            </a:r>
            <a:r>
              <a:rPr lang="en-US" sz="3200" dirty="0"/>
              <a:t>Introduction to Python programming, Python libraries for data analysis: NumPy, Pandas, Matplotlib, Data manipulation and visualization using Pandas and Matplotlib. </a:t>
            </a:r>
          </a:p>
          <a:p>
            <a:pPr marL="0" indent="0">
              <a:buNone/>
            </a:pPr>
            <a:r>
              <a:rPr lang="en-US" sz="3200" b="1" dirty="0"/>
              <a:t>Data Preprocessing: </a:t>
            </a:r>
            <a:r>
              <a:rPr lang="en-US" sz="3200" dirty="0"/>
              <a:t>Data cleaning and transformation, Handling missing values </a:t>
            </a:r>
            <a:r>
              <a:rPr lang="en-US" sz="3200"/>
              <a:t>and outliers</a:t>
            </a:r>
            <a:r>
              <a:rPr lang="en-US" sz="3200" dirty="0"/>
              <a:t>, Feature scaling and normalization.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0759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75F3-C667-BC66-6B03-CEEC3CF6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BB8FB-38FB-E16A-A78A-0B03829BE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53" y="968829"/>
            <a:ext cx="10900568" cy="4931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Module-2: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Supervised Learning: </a:t>
            </a:r>
          </a:p>
          <a:p>
            <a:pPr marL="0" indent="0">
              <a:buNone/>
            </a:pPr>
            <a:r>
              <a:rPr lang="en-US" sz="3200" b="1" dirty="0"/>
              <a:t>Regression: </a:t>
            </a:r>
            <a:r>
              <a:rPr lang="en-US" sz="3200" dirty="0"/>
              <a:t>Linear regression, Polynomial regression, Model evaluation metrics: MAE, MSE, RMSE. </a:t>
            </a:r>
          </a:p>
          <a:p>
            <a:pPr marL="0" indent="0">
              <a:buNone/>
            </a:pPr>
            <a:r>
              <a:rPr lang="en-US" sz="3200" b="1" dirty="0"/>
              <a:t>Classification: </a:t>
            </a:r>
            <a:r>
              <a:rPr lang="en-US" sz="3200" dirty="0"/>
              <a:t>Logistic regression, K-Nearest Neighbors (KNN),  Decision Trees and Random Forests, Model evaluation metrics: Accuracy, precision, recall, F1-score, ROC-AUC.  </a:t>
            </a:r>
          </a:p>
          <a:p>
            <a:pPr marL="0" indent="0">
              <a:buNone/>
            </a:pPr>
            <a:r>
              <a:rPr lang="en-US" sz="3200" b="1" dirty="0"/>
              <a:t>Model Training and Evaluation: </a:t>
            </a:r>
            <a:r>
              <a:rPr lang="en-US" sz="3200" dirty="0"/>
              <a:t>Train-test split and cross-validation, Hyper parameter tuning using </a:t>
            </a:r>
            <a:r>
              <a:rPr lang="en-US" sz="3200" dirty="0" err="1"/>
              <a:t>GridSearchCV</a:t>
            </a:r>
            <a:r>
              <a:rPr lang="en-US" sz="3200" dirty="0"/>
              <a:t>, Overfitting and underfitting.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4807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6BFA8-DC09-0939-AAEC-E1F79339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923D-6429-9053-3B97-160F0D73F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88" y="1088572"/>
            <a:ext cx="10900568" cy="4354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Module-3: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Unsupervised Learning: </a:t>
            </a:r>
          </a:p>
          <a:p>
            <a:pPr marL="0" indent="0">
              <a:buNone/>
            </a:pPr>
            <a:r>
              <a:rPr lang="en-US" sz="3200" b="1" dirty="0"/>
              <a:t>Clustering: </a:t>
            </a:r>
            <a:r>
              <a:rPr lang="en-US" sz="3200" dirty="0"/>
              <a:t>K-Means clustering, Hierarchical clustering, Evaluation of clustering results. </a:t>
            </a:r>
          </a:p>
          <a:p>
            <a:pPr marL="0" indent="0">
              <a:buNone/>
            </a:pPr>
            <a:r>
              <a:rPr lang="en-US" sz="3200" b="1" dirty="0"/>
              <a:t>Dimensionality Reduction: </a:t>
            </a:r>
            <a:r>
              <a:rPr lang="en-US" sz="3200" dirty="0"/>
              <a:t>Principal Component Analysis (PCA), Linear Discriminant Analysis (LDA) t-Distributed Stochastic Neighbor Embedding (t-SNE).  </a:t>
            </a:r>
          </a:p>
          <a:p>
            <a:pPr marL="0" indent="0">
              <a:buNone/>
            </a:pPr>
            <a:r>
              <a:rPr lang="en-US" sz="3200" b="1" dirty="0"/>
              <a:t>Association Rule Learning: </a:t>
            </a:r>
            <a:r>
              <a:rPr lang="en-US" sz="3200" dirty="0" err="1"/>
              <a:t>Apriori</a:t>
            </a:r>
            <a:r>
              <a:rPr lang="en-US" sz="3200" dirty="0"/>
              <a:t> algorithm, Market Basket Analysis, Evaluation metrics for association rules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64504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4DF1-0630-4719-F705-1D5BCA20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8AC79-B066-BDFE-B540-761A3960D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88" y="1001485"/>
            <a:ext cx="10900568" cy="49747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Module-4: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Advanced Machine Learning Techniques: </a:t>
            </a:r>
          </a:p>
          <a:p>
            <a:pPr marL="0" indent="0">
              <a:buNone/>
            </a:pPr>
            <a:r>
              <a:rPr lang="en-US" sz="3200" b="1" dirty="0"/>
              <a:t>Ensemble Methods: </a:t>
            </a:r>
            <a:r>
              <a:rPr lang="en-US" sz="3200" dirty="0"/>
              <a:t>Bagging and Boosting, Gradient Boosting Machines (GBM), Extreme Gradient Boosting (</a:t>
            </a:r>
            <a:r>
              <a:rPr lang="en-US" sz="3200" dirty="0" err="1"/>
              <a:t>XGBoost</a:t>
            </a:r>
            <a:r>
              <a:rPr lang="en-US" sz="3200" dirty="0"/>
              <a:t>).  </a:t>
            </a:r>
          </a:p>
          <a:p>
            <a:pPr marL="0" indent="0">
              <a:buNone/>
            </a:pPr>
            <a:r>
              <a:rPr lang="en-US" sz="3200" b="1" dirty="0"/>
              <a:t>Support Vector Machines (SVM): </a:t>
            </a:r>
            <a:r>
              <a:rPr lang="en-US" sz="3200" dirty="0"/>
              <a:t>Linear and non-linear SVM, Kernel trick, Model evaluation and tuning.  </a:t>
            </a:r>
          </a:p>
          <a:p>
            <a:pPr marL="0" indent="0">
              <a:buNone/>
            </a:pPr>
            <a:r>
              <a:rPr lang="en-US" sz="3200" b="1" dirty="0"/>
              <a:t>Neural Networks and Deep Learning: </a:t>
            </a:r>
            <a:r>
              <a:rPr lang="en-US" sz="3200" dirty="0"/>
              <a:t>Introduction to neural networks, Building and training neural networks using TensorFlow and </a:t>
            </a:r>
            <a:r>
              <a:rPr lang="en-US" sz="3200" dirty="0" err="1"/>
              <a:t>Keras</a:t>
            </a:r>
            <a:r>
              <a:rPr lang="en-US" sz="3200" dirty="0"/>
              <a:t>, Convolutional Neural Networks (CNN) and Recurrent Neural Networks (RNN).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61953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6B1A5-EF17-EC4C-28B1-E806CF02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86CB9-AB03-31C2-A35E-EFD91E1BB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88" y="947057"/>
            <a:ext cx="10900568" cy="51924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Module-5: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Data Analytics and Real-World Applications: </a:t>
            </a:r>
          </a:p>
          <a:p>
            <a:pPr marL="0" indent="0">
              <a:buNone/>
            </a:pPr>
            <a:r>
              <a:rPr lang="en-US" sz="3200" b="1" dirty="0"/>
              <a:t>Exploratory Data Analysis (EDA): </a:t>
            </a:r>
            <a:r>
              <a:rPr lang="en-US" sz="3200" dirty="0"/>
              <a:t>Data visualization techniques, Statistical analysis and hypothesis testing, Identifying patterns and insights from data.  </a:t>
            </a:r>
          </a:p>
          <a:p>
            <a:pPr marL="0" indent="0">
              <a:buNone/>
            </a:pPr>
            <a:r>
              <a:rPr lang="en-US" sz="3200" b="1" dirty="0"/>
              <a:t>Time Series Analysis:  </a:t>
            </a:r>
            <a:r>
              <a:rPr lang="en-US" sz="3200" dirty="0"/>
              <a:t>Introduction to time series data, Time series forecasting using ARIMA and Prophet, Evaluating time series models.  </a:t>
            </a:r>
          </a:p>
          <a:p>
            <a:pPr marL="0" indent="0">
              <a:buNone/>
            </a:pPr>
            <a:r>
              <a:rPr lang="en-US" sz="3200" b="1" dirty="0"/>
              <a:t>Integrating Machine Learning Models: </a:t>
            </a:r>
            <a:r>
              <a:rPr lang="en-US" sz="3200" dirty="0"/>
              <a:t>Deployment of machine learning models, Building web applications with Flask and Django, Case studies on real-world applications of machine    learning.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93359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B707-FE8D-6C55-E955-6251D807F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70114"/>
            <a:ext cx="11225350" cy="61068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rgbClr val="C00000"/>
                </a:solidFill>
              </a:rPr>
              <a:t>Experiments or Lab Programs: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unga" panose="020B0502040204020203" pitchFamily="34" charset="0"/>
              </a:rPr>
              <a:t>Implement and demonstrate the FIND-S algorithm for finding the most specific hypothesis based on a given set of training data samples. Read the training data from a .CSV file.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unga" panose="020B0502040204020203" pitchFamily="34" charset="0"/>
              </a:rPr>
              <a:t>For a given set of training data examples stored in a .CSV file, implement and demonstrate the Candidate Elimination algorithm to output a description of the set of all hypotheses consistent with the training examples.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unga" panose="020B0502040204020203" pitchFamily="34" charset="0"/>
              </a:rPr>
              <a:t>Write a program to demonstrate the working of the decision tree  based  ID3 algorithm. Use an appropriate data set for building the decision tree and apply this knowledge to classify a new sample.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unga" panose="020B0502040204020203" pitchFamily="34" charset="0"/>
              </a:rPr>
              <a:t>Write a program to implement the naïve Bayesian classifier for a sample training  data set stored as a .CSV file. Compute the accuracy of the classifier, considering few test data sets.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unga" panose="020B0502040204020203" pitchFamily="34" charset="0"/>
              </a:rPr>
              <a:t>Write a program to implement k-Nearest Neighbour algorithm to classify the iris  data set. Print both correct and wrong predictions.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unga" panose="020B0502040204020203" pitchFamily="34" charset="0"/>
              </a:rPr>
              <a:t>Build an Artificial Neural Network by implementing the Backpropagation algorithm and test the same using appropriate data sets.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unga" panose="020B0502040204020203" pitchFamily="34" charset="0"/>
              </a:rPr>
              <a:t>Write a program to demonstrate Regression analysis with residual plots on a given data set.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unga" panose="020B0502040204020203" pitchFamily="34" charset="0"/>
              </a:rPr>
              <a:t>Write a program to compute summary statistics such as mean, median, mode, standard deviation and variance of the given different types of data.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unga" panose="020B0502040204020203" pitchFamily="34" charset="0"/>
              </a:rPr>
              <a:t>Write a program to implement k-Means clustering algorithm to cluster the set of data stored in .CSV file.</a:t>
            </a:r>
          </a:p>
        </p:txBody>
      </p:sp>
    </p:spTree>
    <p:extLst>
      <p:ext uri="{BB962C8B-B14F-4D97-AF65-F5344CB8AC3E}">
        <p14:creationId xmlns:p14="http://schemas.microsoft.com/office/powerpoint/2010/main" val="76943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B4E5-FB4E-FC4C-EB67-4372B5E09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39" y="947057"/>
            <a:ext cx="10970623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Suggested Learning Resources: </a:t>
            </a:r>
          </a:p>
          <a:p>
            <a:pPr marL="0" indent="0">
              <a:buNone/>
            </a:pPr>
            <a:r>
              <a:rPr lang="en-US" sz="2400" b="1" dirty="0"/>
              <a:t>Text Books:</a:t>
            </a:r>
          </a:p>
          <a:p>
            <a:pPr marL="914400" lvl="1" indent="-457200">
              <a:buAutoNum type="arabicPeriod"/>
            </a:pPr>
            <a:r>
              <a:rPr lang="en-US" sz="2400" dirty="0"/>
              <a:t>Practical Machine Learning for Data Analysis Using Python </a:t>
            </a:r>
            <a:r>
              <a:rPr lang="en-US" sz="2400" dirty="0" err="1"/>
              <a:t>Abdulhamit</a:t>
            </a:r>
            <a:r>
              <a:rPr lang="en-US" sz="2400" dirty="0"/>
              <a:t> Subasi. </a:t>
            </a:r>
          </a:p>
          <a:p>
            <a:pPr marL="914400" lvl="1" indent="-457200">
              <a:buAutoNum type="arabicPeriod"/>
            </a:pPr>
            <a:r>
              <a:rPr lang="en-US" sz="2400" dirty="0"/>
              <a:t>Advance Machine Learning with Python by John Hearty. </a:t>
            </a:r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Reference Textbooks: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"Python Machine Learning: Machine Learning and Deep Learning with Python, scikit learn, and Tensor Flow " by Sebastian Raschka and Vahid </a:t>
            </a:r>
            <a:r>
              <a:rPr lang="en-US" sz="2400" dirty="0" err="1"/>
              <a:t>Mirjalili</a:t>
            </a:r>
            <a:r>
              <a:rPr lang="en-US" sz="2400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"Hands-On Machine Learning with Scikit-Learn, </a:t>
            </a:r>
            <a:r>
              <a:rPr lang="en-US" sz="2400" dirty="0" err="1"/>
              <a:t>Keras</a:t>
            </a:r>
            <a:r>
              <a:rPr lang="en-US" sz="2400" dirty="0"/>
              <a:t>, and TensorFlow" by Aurélien </a:t>
            </a:r>
            <a:r>
              <a:rPr lang="en-US" sz="2400" dirty="0" err="1"/>
              <a:t>Géron</a:t>
            </a:r>
            <a:r>
              <a:rPr lang="en-US" sz="2400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 "Introduction to Machine Learning with Python".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28213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FE76C-6815-C26D-0979-7C49292D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6FF3A-2C30-B1D6-2F6D-8912F3D66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39" y="1262743"/>
            <a:ext cx="10970623" cy="46373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Web links and Video Lectures (e-Resources):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>
                <a:hlinkClick r:id="rId2"/>
              </a:rPr>
              <a:t>https://youtu.be/7eh4d6sabA0?si=JWHNJRVS6NhQOPYe</a:t>
            </a:r>
            <a:r>
              <a:rPr lang="en-US" sz="28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>
                <a:hlinkClick r:id="rId3"/>
              </a:rPr>
              <a:t>https://youtu.be/kqtD5dpn9C8?si=LBep4HWaMFRrAPsD</a:t>
            </a:r>
            <a:r>
              <a:rPr lang="en-US" sz="2800" dirty="0"/>
              <a:t>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>
                <a:hlinkClick r:id="rId4"/>
              </a:rPr>
              <a:t>https://youtu.be/4SJ7bEILPJk?si=5LurvjzUOuCew1W9</a:t>
            </a:r>
            <a:r>
              <a:rPr lang="en-US" sz="2800" dirty="0"/>
              <a:t> 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0281724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796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Gill Sans Nova</vt:lpstr>
      <vt:lpstr>Google Sans</vt:lpstr>
      <vt:lpstr>ConfettiVTI</vt:lpstr>
      <vt:lpstr>Machine learning and Data analytics using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NAIK</dc:creator>
  <cp:lastModifiedBy>Pramod Naik</cp:lastModifiedBy>
  <cp:revision>39</cp:revision>
  <dcterms:created xsi:type="dcterms:W3CDTF">2024-11-25T17:19:06Z</dcterms:created>
  <dcterms:modified xsi:type="dcterms:W3CDTF">2025-07-19T10:57:46Z</dcterms:modified>
</cp:coreProperties>
</file>