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94"/>
  </p:notesMasterIdLst>
  <p:sldIdLst>
    <p:sldId id="426" r:id="rId2"/>
    <p:sldId id="495" r:id="rId3"/>
    <p:sldId id="493" r:id="rId4"/>
    <p:sldId id="494" r:id="rId5"/>
    <p:sldId id="496" r:id="rId6"/>
    <p:sldId id="498" r:id="rId7"/>
    <p:sldId id="497" r:id="rId8"/>
    <p:sldId id="503" r:id="rId9"/>
    <p:sldId id="502" r:id="rId10"/>
    <p:sldId id="501" r:id="rId11"/>
    <p:sldId id="499" r:id="rId12"/>
    <p:sldId id="513" r:id="rId13"/>
    <p:sldId id="500" r:id="rId14"/>
    <p:sldId id="514" r:id="rId15"/>
    <p:sldId id="515" r:id="rId16"/>
    <p:sldId id="516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9" r:id="rId33"/>
    <p:sldId id="540" r:id="rId34"/>
    <p:sldId id="541" r:id="rId35"/>
    <p:sldId id="542" r:id="rId36"/>
    <p:sldId id="543" r:id="rId37"/>
    <p:sldId id="544" r:id="rId38"/>
    <p:sldId id="545" r:id="rId39"/>
    <p:sldId id="546" r:id="rId40"/>
    <p:sldId id="547" r:id="rId41"/>
    <p:sldId id="548" r:id="rId42"/>
    <p:sldId id="549" r:id="rId43"/>
    <p:sldId id="550" r:id="rId44"/>
    <p:sldId id="532" r:id="rId45"/>
    <p:sldId id="534" r:id="rId46"/>
    <p:sldId id="536" r:id="rId47"/>
    <p:sldId id="537" r:id="rId48"/>
    <p:sldId id="538" r:id="rId49"/>
    <p:sldId id="504" r:id="rId50"/>
    <p:sldId id="506" r:id="rId51"/>
    <p:sldId id="507" r:id="rId52"/>
    <p:sldId id="508" r:id="rId53"/>
    <p:sldId id="509" r:id="rId54"/>
    <p:sldId id="510" r:id="rId55"/>
    <p:sldId id="511" r:id="rId56"/>
    <p:sldId id="558" r:id="rId57"/>
    <p:sldId id="552" r:id="rId58"/>
    <p:sldId id="554" r:id="rId59"/>
    <p:sldId id="553" r:id="rId60"/>
    <p:sldId id="555" r:id="rId61"/>
    <p:sldId id="556" r:id="rId62"/>
    <p:sldId id="557" r:id="rId63"/>
    <p:sldId id="560" r:id="rId64"/>
    <p:sldId id="561" r:id="rId65"/>
    <p:sldId id="562" r:id="rId66"/>
    <p:sldId id="563" r:id="rId67"/>
    <p:sldId id="564" r:id="rId68"/>
    <p:sldId id="565" r:id="rId69"/>
    <p:sldId id="566" r:id="rId70"/>
    <p:sldId id="567" r:id="rId71"/>
    <p:sldId id="568" r:id="rId72"/>
    <p:sldId id="569" r:id="rId73"/>
    <p:sldId id="570" r:id="rId74"/>
    <p:sldId id="571" r:id="rId75"/>
    <p:sldId id="572" r:id="rId76"/>
    <p:sldId id="573" r:id="rId77"/>
    <p:sldId id="574" r:id="rId78"/>
    <p:sldId id="575" r:id="rId79"/>
    <p:sldId id="576" r:id="rId80"/>
    <p:sldId id="577" r:id="rId81"/>
    <p:sldId id="578" r:id="rId82"/>
    <p:sldId id="579" r:id="rId83"/>
    <p:sldId id="580" r:id="rId84"/>
    <p:sldId id="581" r:id="rId85"/>
    <p:sldId id="582" r:id="rId86"/>
    <p:sldId id="583" r:id="rId87"/>
    <p:sldId id="584" r:id="rId88"/>
    <p:sldId id="585" r:id="rId89"/>
    <p:sldId id="586" r:id="rId90"/>
    <p:sldId id="587" r:id="rId91"/>
    <p:sldId id="551" r:id="rId92"/>
    <p:sldId id="588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4/7/2025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8D48-CA2F-3E9B-A2BB-E38851E2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4B85-6599-79F9-1BEC-7FE431E48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25" y="1002166"/>
            <a:ext cx="10900568" cy="3656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Module-5: </a:t>
            </a:r>
            <a:r>
              <a:rPr lang="en-IN" sz="3200" b="1" dirty="0">
                <a:solidFill>
                  <a:srgbClr val="002060"/>
                </a:solidFill>
              </a:rPr>
              <a:t>Data Visualization with NumPy Arrays, Matplotlib, and Seaborn: </a:t>
            </a:r>
            <a:r>
              <a:rPr lang="en-IN" sz="3200" dirty="0"/>
              <a:t>Data Visualization: Matplotlib package – Plotting Graphs – Controlling Graph – Adding Text – More Graph Types – Getting and setting values – Patches. Advanced data visualization with Seaborn.- Time series analysis with Pandas. </a:t>
            </a:r>
          </a:p>
        </p:txBody>
      </p:sp>
    </p:spTree>
    <p:extLst>
      <p:ext uri="{BB962C8B-B14F-4D97-AF65-F5344CB8AC3E}">
        <p14:creationId xmlns:p14="http://schemas.microsoft.com/office/powerpoint/2010/main" val="68717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102E4-9730-F42D-11A6-0AD28E82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035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B7818AA9-82F7-46F6-8A83-1A6258163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10 Types of Data Visualization Made Simple (Graphs &amp; Charts)">
            <a:extLst>
              <a:ext uri="{FF2B5EF4-FFF2-40B4-BE49-F238E27FC236}">
                <a16:creationId xmlns:a16="http://schemas.microsoft.com/office/drawing/2014/main" id="{17F86FA2-5AEE-CD61-9968-545AFC8FEF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8" b="1192"/>
          <a:stretch/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FCEBDFAC-E3E5-4883-8BE7-B43474AE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0450" y="236341"/>
            <a:ext cx="11410891" cy="5901949"/>
            <a:chOff x="310450" y="236341"/>
            <a:chExt cx="11410891" cy="5901949"/>
          </a:xfrm>
        </p:grpSpPr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5328" y="1050301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0450" y="114446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7185" y="538093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98320" y="5269378"/>
              <a:ext cx="223021" cy="2230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9878" y="583251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86119" y="5492399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147B23C-373D-FE31-7BE5-6DB870E4F225}"/>
              </a:ext>
            </a:extLst>
          </p:cNvPr>
          <p:cNvSpPr txBox="1"/>
          <p:nvPr/>
        </p:nvSpPr>
        <p:spPr>
          <a:xfrm>
            <a:off x="2960914" y="3570905"/>
            <a:ext cx="35487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chemeClr val="bg1"/>
                </a:solidFill>
              </a:rPr>
              <a:t>Visualization 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45884-D165-01B9-674A-39E135654C39}"/>
              </a:ext>
            </a:extLst>
          </p:cNvPr>
          <p:cNvSpPr txBox="1"/>
          <p:nvPr/>
        </p:nvSpPr>
        <p:spPr>
          <a:xfrm>
            <a:off x="10614385" y="1746396"/>
            <a:ext cx="16144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Data</a:t>
            </a:r>
            <a:r>
              <a:rPr lang="en-IN" sz="4400" b="1" dirty="0">
                <a:solidFill>
                  <a:schemeClr val="bg1"/>
                </a:solidFill>
              </a:rPr>
              <a:t> </a:t>
            </a:r>
            <a:endParaRPr lang="en-IN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AD3A5-8444-48C5-31F9-F26722553FAC}"/>
              </a:ext>
            </a:extLst>
          </p:cNvPr>
          <p:cNvSpPr txBox="1"/>
          <p:nvPr/>
        </p:nvSpPr>
        <p:spPr>
          <a:xfrm>
            <a:off x="2088955" y="745769"/>
            <a:ext cx="1920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Numpy 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DFAF0-19FA-85E5-EF9F-A430420514A8}"/>
              </a:ext>
            </a:extLst>
          </p:cNvPr>
          <p:cNvSpPr txBox="1"/>
          <p:nvPr/>
        </p:nvSpPr>
        <p:spPr>
          <a:xfrm rot="16200000">
            <a:off x="-915118" y="3105833"/>
            <a:ext cx="2340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Matplotlib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19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46AE-0828-9BF0-A88E-80550150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3C51-40C2-3F37-6806-0939F94BA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002060"/>
                </a:solidFill>
              </a:rPr>
              <a:t>Data Visualization:</a:t>
            </a:r>
          </a:p>
          <a:p>
            <a:pPr marL="0" indent="0">
              <a:buNone/>
            </a:pPr>
            <a:r>
              <a:rPr lang="en-US" sz="2400" dirty="0"/>
              <a:t>Data Visualization is the </a:t>
            </a:r>
            <a:r>
              <a:rPr lang="en-US" sz="2400" b="1" dirty="0">
                <a:solidFill>
                  <a:srgbClr val="C00000"/>
                </a:solidFill>
              </a:rPr>
              <a:t>graphical representation </a:t>
            </a:r>
            <a:r>
              <a:rPr lang="en-US" sz="2400" dirty="0"/>
              <a:t>of </a:t>
            </a:r>
            <a:r>
              <a:rPr lang="en-US" sz="2400" b="1" dirty="0"/>
              <a:t>data</a:t>
            </a:r>
            <a:r>
              <a:rPr lang="en-US" sz="2400" dirty="0"/>
              <a:t> and </a:t>
            </a:r>
            <a:r>
              <a:rPr lang="en-US" sz="2400" b="1" dirty="0"/>
              <a:t>information</a:t>
            </a:r>
            <a:r>
              <a:rPr lang="en-US" sz="2400" dirty="0"/>
              <a:t>. It helps in identifying </a:t>
            </a:r>
            <a:r>
              <a:rPr lang="en-US" sz="2400" b="1" dirty="0">
                <a:solidFill>
                  <a:srgbClr val="002060"/>
                </a:solidFill>
              </a:rPr>
              <a:t>trends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patterns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2060"/>
                </a:solidFill>
              </a:rPr>
              <a:t>insights</a:t>
            </a:r>
            <a:r>
              <a:rPr lang="en-US" sz="2400" dirty="0"/>
              <a:t> in large datasets by using visual elements like </a:t>
            </a:r>
            <a:r>
              <a:rPr lang="en-US" sz="2400" b="1" dirty="0">
                <a:solidFill>
                  <a:srgbClr val="00B0F0"/>
                </a:solidFill>
              </a:rPr>
              <a:t>charts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B0F0"/>
                </a:solidFill>
              </a:rPr>
              <a:t>graphs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B0F0"/>
                </a:solidFill>
              </a:rPr>
              <a:t>maps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B0F0"/>
                </a:solidFill>
              </a:rPr>
              <a:t>dashboards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b="1" dirty="0"/>
              <a:t>Why is Data Visualization Important?</a:t>
            </a:r>
          </a:p>
          <a:p>
            <a:r>
              <a:rPr lang="en-US" sz="2400" b="1" dirty="0"/>
              <a:t>Better Data Understanding </a:t>
            </a:r>
            <a:r>
              <a:rPr lang="en-US" sz="2400" dirty="0"/>
              <a:t>– Makes </a:t>
            </a:r>
            <a:r>
              <a:rPr lang="en-US" sz="2400" b="1" dirty="0">
                <a:solidFill>
                  <a:srgbClr val="C00000"/>
                </a:solidFill>
              </a:rPr>
              <a:t>complex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easier to comprehend.</a:t>
            </a:r>
          </a:p>
          <a:p>
            <a:r>
              <a:rPr lang="en-US" sz="2400" b="1" dirty="0"/>
              <a:t>Identifies Trends and Patterns </a:t>
            </a:r>
            <a:r>
              <a:rPr lang="en-US" sz="2400" dirty="0"/>
              <a:t>– Helps </a:t>
            </a:r>
            <a:r>
              <a:rPr lang="en-US" sz="2400" b="1" dirty="0">
                <a:solidFill>
                  <a:srgbClr val="C00000"/>
                </a:solidFill>
              </a:rPr>
              <a:t>spot correlations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anomalies</a:t>
            </a:r>
            <a:r>
              <a:rPr lang="en-US" sz="2400" dirty="0"/>
              <a:t> quickly.</a:t>
            </a:r>
          </a:p>
          <a:p>
            <a:r>
              <a:rPr lang="en-US" sz="2400" b="1" dirty="0"/>
              <a:t>Improves Decision Making </a:t>
            </a:r>
            <a:r>
              <a:rPr lang="en-US" sz="2400" dirty="0"/>
              <a:t>– Supports </a:t>
            </a:r>
            <a:r>
              <a:rPr lang="en-US" sz="2400" b="1" dirty="0">
                <a:solidFill>
                  <a:srgbClr val="C00000"/>
                </a:solidFill>
              </a:rPr>
              <a:t>data-driven</a:t>
            </a:r>
            <a:r>
              <a:rPr lang="en-US" sz="2400" dirty="0"/>
              <a:t> business strategies.</a:t>
            </a:r>
          </a:p>
          <a:p>
            <a:r>
              <a:rPr lang="en-US" sz="2400" b="1" dirty="0"/>
              <a:t>Enhances Communication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rgbClr val="C00000"/>
                </a:solidFill>
              </a:rPr>
              <a:t>Presents</a:t>
            </a:r>
            <a:r>
              <a:rPr lang="en-US" sz="2400" dirty="0"/>
              <a:t> data effectively for both technical and non-technical audiences.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286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DC00-A536-9B5D-9C0B-4BB72B843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3BA16-3A9E-24DC-6954-BB75E0667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Common Data Visualization Types</a:t>
            </a:r>
          </a:p>
          <a:p>
            <a:r>
              <a:rPr lang="en-US" sz="2800" b="1" dirty="0"/>
              <a:t>Bar Chart </a:t>
            </a:r>
            <a:r>
              <a:rPr lang="en-US" sz="2800" dirty="0"/>
              <a:t>– Compares different categories.</a:t>
            </a:r>
          </a:p>
          <a:p>
            <a:r>
              <a:rPr lang="en-US" sz="2800" b="1" dirty="0"/>
              <a:t>Line Chart </a:t>
            </a:r>
            <a:r>
              <a:rPr lang="en-US" sz="2800" dirty="0"/>
              <a:t>– Shows trends over time.</a:t>
            </a:r>
          </a:p>
          <a:p>
            <a:r>
              <a:rPr lang="en-US" sz="2800" b="1" dirty="0"/>
              <a:t>Pie Chart </a:t>
            </a:r>
            <a:r>
              <a:rPr lang="en-US" sz="2800" dirty="0"/>
              <a:t>– Represents proportions.</a:t>
            </a:r>
          </a:p>
          <a:p>
            <a:r>
              <a:rPr lang="en-US" sz="2800" b="1" dirty="0"/>
              <a:t>Scatter Plot </a:t>
            </a:r>
            <a:r>
              <a:rPr lang="en-US" sz="2800" dirty="0"/>
              <a:t>– Displays relationships between variables.</a:t>
            </a:r>
          </a:p>
          <a:p>
            <a:r>
              <a:rPr lang="en-US" sz="2800" b="1" dirty="0"/>
              <a:t>Heatmap</a:t>
            </a:r>
            <a:r>
              <a:rPr lang="en-US" sz="2800" dirty="0"/>
              <a:t> – Highlights data intensity with color variations.</a:t>
            </a:r>
          </a:p>
          <a:p>
            <a:r>
              <a:rPr lang="en-US" sz="2800" b="1" dirty="0"/>
              <a:t>Histogram</a:t>
            </a:r>
            <a:r>
              <a:rPr lang="en-US" sz="2800" dirty="0"/>
              <a:t> – Represents frequency distribution.</a:t>
            </a:r>
          </a:p>
          <a:p>
            <a:r>
              <a:rPr lang="en-US" sz="2800" b="1" dirty="0"/>
              <a:t>Dashboard</a:t>
            </a:r>
            <a:r>
              <a:rPr lang="en-US" sz="2800" dirty="0"/>
              <a:t> – Combines multiple visualizations for an overview.</a:t>
            </a:r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6080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9E7-D447-F512-FE8E-5424E155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CB03B-FFDE-593C-07B4-D62975E9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32113"/>
            <a:ext cx="10659110" cy="5044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Popular Data Visualization Tools</a:t>
            </a:r>
          </a:p>
          <a:p>
            <a:r>
              <a:rPr lang="en-IN" sz="3200" dirty="0"/>
              <a:t>Tableau</a:t>
            </a:r>
          </a:p>
          <a:p>
            <a:r>
              <a:rPr lang="en-IN" sz="3200" dirty="0"/>
              <a:t>Power BI</a:t>
            </a:r>
          </a:p>
          <a:p>
            <a:r>
              <a:rPr lang="en-IN" sz="3200" b="1" dirty="0">
                <a:solidFill>
                  <a:srgbClr val="C00000"/>
                </a:solidFill>
              </a:rPr>
              <a:t>Matplotlib &amp; Seaborn (Python)</a:t>
            </a:r>
          </a:p>
          <a:p>
            <a:r>
              <a:rPr lang="en-IN" sz="3200" dirty="0"/>
              <a:t>D3.js (JavaScript)</a:t>
            </a:r>
          </a:p>
          <a:p>
            <a:r>
              <a:rPr lang="en-IN" sz="3200" dirty="0"/>
              <a:t>Google Data Studio</a:t>
            </a:r>
          </a:p>
        </p:txBody>
      </p:sp>
    </p:spTree>
    <p:extLst>
      <p:ext uri="{BB962C8B-B14F-4D97-AF65-F5344CB8AC3E}">
        <p14:creationId xmlns:p14="http://schemas.microsoft.com/office/powerpoint/2010/main" val="382972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10A3C-0AB3-E09F-145E-A0F01DDA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7818AA9-82F7-46F6-8A83-1A6258163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 descr="A group of pie charts and graphs&#10;&#10;AI-generated content may be incorrect.">
            <a:extLst>
              <a:ext uri="{FF2B5EF4-FFF2-40B4-BE49-F238E27FC236}">
                <a16:creationId xmlns:a16="http://schemas.microsoft.com/office/drawing/2014/main" id="{E3A98F4E-1C6D-F3B8-3CB5-16CA09098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l="5402" r="7930" b="-1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CEBDFAC-E3E5-4883-8BE7-B43474AE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0450" y="236341"/>
            <a:ext cx="11410891" cy="5901949"/>
            <a:chOff x="310450" y="236341"/>
            <a:chExt cx="11410891" cy="5901949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5328" y="1050301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0450" y="114446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7185" y="538093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98320" y="5269378"/>
              <a:ext cx="223021" cy="2230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9878" y="583251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86119" y="5492399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028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052A-A5DC-0B45-5FC8-55DB79BF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330A-BB87-17E7-810F-6D095C836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Matplotlib</a:t>
            </a:r>
          </a:p>
          <a:p>
            <a:pPr marL="0" indent="0">
              <a:buNone/>
            </a:pPr>
            <a:r>
              <a:rPr lang="en-US" sz="2400" dirty="0"/>
              <a:t>Matplotlib is one of the </a:t>
            </a:r>
            <a:r>
              <a:rPr lang="en-US" sz="2400" b="1" dirty="0">
                <a:solidFill>
                  <a:srgbClr val="C00000"/>
                </a:solidFill>
              </a:rPr>
              <a:t>most widely used </a:t>
            </a:r>
            <a:r>
              <a:rPr lang="en-US" sz="2400" b="1" dirty="0"/>
              <a:t>Python</a:t>
            </a:r>
            <a:r>
              <a:rPr lang="en-US" sz="2400" dirty="0"/>
              <a:t> </a:t>
            </a:r>
            <a:r>
              <a:rPr lang="en-US" sz="2400" b="1" dirty="0"/>
              <a:t>libraries</a:t>
            </a:r>
            <a:r>
              <a:rPr lang="en-US" sz="2400" dirty="0"/>
              <a:t> for </a:t>
            </a:r>
            <a:r>
              <a:rPr lang="en-US" sz="2400" b="1" dirty="0"/>
              <a:t>data visualization</a:t>
            </a:r>
            <a:r>
              <a:rPr lang="en-US" sz="2400" dirty="0"/>
              <a:t>. It provides tools to </a:t>
            </a:r>
            <a:r>
              <a:rPr lang="en-US" sz="2400" b="1" dirty="0"/>
              <a:t>create</a:t>
            </a:r>
            <a:r>
              <a:rPr lang="en-US" sz="2400" dirty="0"/>
              <a:t> </a:t>
            </a:r>
            <a:r>
              <a:rPr lang="en-US" sz="2400" b="1" dirty="0"/>
              <a:t>static</a:t>
            </a:r>
            <a:r>
              <a:rPr lang="en-US" sz="2400" dirty="0"/>
              <a:t>, </a:t>
            </a:r>
            <a:r>
              <a:rPr lang="en-US" sz="2400" b="1" dirty="0"/>
              <a:t>animated</a:t>
            </a:r>
            <a:r>
              <a:rPr lang="en-US" sz="2400" dirty="0"/>
              <a:t>, and </a:t>
            </a:r>
            <a:r>
              <a:rPr lang="en-US" sz="2400" b="1" dirty="0"/>
              <a:t>interactive</a:t>
            </a:r>
            <a:r>
              <a:rPr lang="en-US" sz="2400" dirty="0"/>
              <a:t> </a:t>
            </a:r>
            <a:r>
              <a:rPr lang="en-US" sz="2400" b="1" dirty="0"/>
              <a:t>plots</a:t>
            </a:r>
            <a:r>
              <a:rPr lang="en-US" sz="2400" dirty="0"/>
              <a:t> with a high degree of customization. It is particularly useful for plotting datasets in a variety of formats.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b="1" dirty="0"/>
              <a:t>Installation: </a:t>
            </a:r>
            <a:r>
              <a:rPr lang="en-US" sz="2400" dirty="0"/>
              <a:t>You can install Matplotlib using </a:t>
            </a:r>
            <a:r>
              <a:rPr lang="en-US" sz="2400" b="1" dirty="0">
                <a:solidFill>
                  <a:srgbClr val="C00000"/>
                </a:solidFill>
              </a:rPr>
              <a:t>pip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Importing Matplotlib: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CC5B4-DDE4-7701-9B89-8E6F84190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67" y="3202781"/>
            <a:ext cx="4946476" cy="749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F8FAEE-9CCE-894B-E4CE-5AC86A3D1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10" y="4836029"/>
            <a:ext cx="7780952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2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2430-7E6D-9160-B3AF-C6AFAE0E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EB9C-5EAD-D443-6A5B-2C88EF7D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Matplotlib Package:</a:t>
            </a:r>
          </a:p>
          <a:p>
            <a:pPr marL="0" indent="0">
              <a:buNone/>
            </a:pPr>
            <a:r>
              <a:rPr lang="en-US" sz="2400" dirty="0"/>
              <a:t>Matplotlib provides functionalities to create various types of charts, graphs, and plots to visualize data effectively. It is particularly useful for </a:t>
            </a:r>
            <a:r>
              <a:rPr lang="en-US" sz="2400" b="1" dirty="0">
                <a:solidFill>
                  <a:srgbClr val="C00000"/>
                </a:solidFill>
              </a:rPr>
              <a:t>scientific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computing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machine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learning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statistical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analysis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b="1" dirty="0"/>
              <a:t>Key Features of Matplotlib:</a:t>
            </a:r>
          </a:p>
          <a:p>
            <a:pPr marL="0" indent="0">
              <a:buNone/>
            </a:pPr>
            <a:r>
              <a:rPr lang="en-US" sz="2400" dirty="0"/>
              <a:t>✅ Supports </a:t>
            </a:r>
            <a:r>
              <a:rPr lang="en-US" sz="2400" b="1" dirty="0">
                <a:solidFill>
                  <a:srgbClr val="002060"/>
                </a:solidFill>
              </a:rPr>
              <a:t>line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plots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bar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charts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histograms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scatter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plots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pie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charts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3D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plots</a:t>
            </a:r>
            <a:r>
              <a:rPr lang="en-US" sz="2400" dirty="0"/>
              <a:t>, and more.</a:t>
            </a:r>
          </a:p>
          <a:p>
            <a:pPr marL="0" indent="0">
              <a:buNone/>
            </a:pPr>
            <a:r>
              <a:rPr lang="en-US" sz="2400" dirty="0"/>
              <a:t>✅ Customizable plots with </a:t>
            </a:r>
            <a:r>
              <a:rPr lang="en-US" sz="2400" b="1" dirty="0">
                <a:solidFill>
                  <a:srgbClr val="002060"/>
                </a:solidFill>
              </a:rPr>
              <a:t>labels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legends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colors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styles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2060"/>
                </a:solidFill>
              </a:rPr>
              <a:t>annotations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✅ Can </a:t>
            </a:r>
            <a:r>
              <a:rPr lang="en-US" sz="2400" b="1" dirty="0">
                <a:solidFill>
                  <a:srgbClr val="002060"/>
                </a:solidFill>
              </a:rPr>
              <a:t>save plots </a:t>
            </a:r>
            <a:r>
              <a:rPr lang="en-US" sz="2400" dirty="0"/>
              <a:t>in PNG, JPG, PDF, SVG, etc.</a:t>
            </a:r>
          </a:p>
          <a:p>
            <a:pPr marL="0" indent="0">
              <a:buNone/>
            </a:pPr>
            <a:r>
              <a:rPr lang="en-US" sz="2400" dirty="0"/>
              <a:t>✅ Works well with </a:t>
            </a:r>
            <a:r>
              <a:rPr lang="en-US" sz="2400" b="1" dirty="0">
                <a:solidFill>
                  <a:srgbClr val="002060"/>
                </a:solidFill>
              </a:rPr>
              <a:t>NumPy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Pandas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2060"/>
                </a:solidFill>
              </a:rPr>
              <a:t>SciPy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✅ Allows interactive plotting using </a:t>
            </a:r>
            <a:r>
              <a:rPr lang="en-US" sz="2400" b="1" dirty="0" err="1">
                <a:solidFill>
                  <a:srgbClr val="002060"/>
                </a:solidFill>
              </a:rPr>
              <a:t>plt</a:t>
            </a:r>
            <a:r>
              <a:rPr lang="en-US" sz="2400" dirty="0" err="1"/>
              <a:t>.</a:t>
            </a:r>
            <a:r>
              <a:rPr lang="en-US" sz="2400" b="1" dirty="0" err="1">
                <a:solidFill>
                  <a:srgbClr val="002060"/>
                </a:solidFill>
              </a:rPr>
              <a:t>ion</a:t>
            </a:r>
            <a:r>
              <a:rPr lang="en-US" sz="2400" dirty="0"/>
              <a:t>().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4431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D9A55-EDCE-4784-9FFB-6A9E7F92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436D-519C-5904-18AE-562E49A3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12371"/>
            <a:ext cx="10659110" cy="5164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Basic Structure of a Matplotlib Plot</a:t>
            </a:r>
          </a:p>
          <a:p>
            <a:pPr marL="0" indent="0">
              <a:buNone/>
            </a:pPr>
            <a:r>
              <a:rPr lang="en-IN" sz="2400" dirty="0"/>
              <a:t>Every Matplotlib plot consists of the following core components:</a:t>
            </a:r>
          </a:p>
          <a:p>
            <a:r>
              <a:rPr lang="en-IN" sz="2400" b="1" dirty="0"/>
              <a:t>Figure (Figure): </a:t>
            </a:r>
            <a:r>
              <a:rPr lang="en-IN" sz="2400" dirty="0"/>
              <a:t>The </a:t>
            </a:r>
            <a:r>
              <a:rPr lang="en-IN" sz="2400" b="1" dirty="0">
                <a:solidFill>
                  <a:srgbClr val="002060"/>
                </a:solidFill>
              </a:rPr>
              <a:t>entire canvas</a:t>
            </a:r>
            <a:r>
              <a:rPr lang="en-IN" sz="2400" dirty="0">
                <a:solidFill>
                  <a:srgbClr val="002060"/>
                </a:solidFill>
              </a:rPr>
              <a:t> </a:t>
            </a:r>
            <a:r>
              <a:rPr lang="en-IN" sz="2400" dirty="0"/>
              <a:t>or </a:t>
            </a:r>
            <a:r>
              <a:rPr lang="en-IN" sz="2400" b="1" dirty="0">
                <a:solidFill>
                  <a:srgbClr val="002060"/>
                </a:solidFill>
              </a:rPr>
              <a:t>window</a:t>
            </a:r>
            <a:r>
              <a:rPr lang="en-IN" sz="2400" dirty="0"/>
              <a:t> where graphs are drawn.</a:t>
            </a:r>
          </a:p>
          <a:p>
            <a:r>
              <a:rPr lang="en-IN" sz="2400" b="1" dirty="0"/>
              <a:t>Axes (Axes):</a:t>
            </a:r>
            <a:r>
              <a:rPr lang="en-IN" sz="2400" dirty="0"/>
              <a:t> A </a:t>
            </a:r>
            <a:r>
              <a:rPr lang="en-IN" sz="2400" b="1" dirty="0">
                <a:solidFill>
                  <a:srgbClr val="002060"/>
                </a:solidFill>
              </a:rPr>
              <a:t>subplot</a:t>
            </a:r>
            <a:r>
              <a:rPr lang="en-IN" sz="2400" dirty="0"/>
              <a:t> or </a:t>
            </a:r>
            <a:r>
              <a:rPr lang="en-IN" sz="2400" b="1" dirty="0">
                <a:solidFill>
                  <a:srgbClr val="002060"/>
                </a:solidFill>
              </a:rPr>
              <a:t>graph</a:t>
            </a:r>
            <a:r>
              <a:rPr lang="en-IN" sz="2400" dirty="0"/>
              <a:t> area inside the figure.</a:t>
            </a:r>
          </a:p>
          <a:p>
            <a:r>
              <a:rPr lang="en-IN" sz="2400" b="1" dirty="0"/>
              <a:t>X-axis &amp; Y-axis: </a:t>
            </a:r>
            <a:r>
              <a:rPr lang="en-IN" sz="2400" b="1" dirty="0">
                <a:solidFill>
                  <a:srgbClr val="002060"/>
                </a:solidFill>
              </a:rPr>
              <a:t>Coordinate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002060"/>
                </a:solidFill>
              </a:rPr>
              <a:t>axes</a:t>
            </a:r>
            <a:r>
              <a:rPr lang="en-IN" sz="2400" dirty="0"/>
              <a:t> for plotting data.</a:t>
            </a:r>
          </a:p>
          <a:p>
            <a:r>
              <a:rPr lang="en-IN" sz="2400" b="1" dirty="0"/>
              <a:t>Plot (plot()): </a:t>
            </a:r>
            <a:r>
              <a:rPr lang="en-IN" sz="2400" dirty="0"/>
              <a:t>The </a:t>
            </a:r>
            <a:r>
              <a:rPr lang="en-IN" sz="2400" b="1" dirty="0"/>
              <a:t>graphical</a:t>
            </a:r>
            <a:r>
              <a:rPr lang="en-IN" sz="2400" dirty="0"/>
              <a:t> </a:t>
            </a:r>
            <a:r>
              <a:rPr lang="en-IN" sz="2400" b="1" dirty="0"/>
              <a:t>representation</a:t>
            </a:r>
            <a:r>
              <a:rPr lang="en-IN" sz="2400" dirty="0"/>
              <a:t> of data.</a:t>
            </a:r>
          </a:p>
          <a:p>
            <a:r>
              <a:rPr lang="en-IN" sz="2400" b="1" dirty="0"/>
              <a:t>Labels &amp; Titles (</a:t>
            </a:r>
            <a:r>
              <a:rPr lang="en-IN" sz="2400" b="1" dirty="0" err="1"/>
              <a:t>xlabel</a:t>
            </a:r>
            <a:r>
              <a:rPr lang="en-IN" sz="2400" b="1" dirty="0"/>
              <a:t>(), </a:t>
            </a:r>
            <a:r>
              <a:rPr lang="en-IN" sz="2400" b="1" dirty="0" err="1"/>
              <a:t>ylabel</a:t>
            </a:r>
            <a:r>
              <a:rPr lang="en-IN" sz="2400" b="1" dirty="0"/>
              <a:t>(), title()): </a:t>
            </a:r>
            <a:r>
              <a:rPr lang="en-IN" sz="2400" dirty="0"/>
              <a:t>Used for descriptive elements.</a:t>
            </a:r>
          </a:p>
          <a:p>
            <a:r>
              <a:rPr lang="en-IN" sz="2400" b="1" dirty="0"/>
              <a:t>Legend (legend()): </a:t>
            </a:r>
            <a:r>
              <a:rPr lang="en-IN" sz="2400" dirty="0"/>
              <a:t>Displays the </a:t>
            </a:r>
            <a:r>
              <a:rPr lang="en-IN" sz="2400" b="1" dirty="0">
                <a:solidFill>
                  <a:srgbClr val="002060"/>
                </a:solidFill>
              </a:rPr>
              <a:t>label</a:t>
            </a:r>
            <a:r>
              <a:rPr lang="en-IN" sz="2400" dirty="0"/>
              <a:t> for each plotted dataset.</a:t>
            </a:r>
          </a:p>
          <a:p>
            <a:r>
              <a:rPr lang="en-IN" sz="2400" b="1" dirty="0"/>
              <a:t>Grid (grid()): </a:t>
            </a:r>
            <a:r>
              <a:rPr lang="en-IN" sz="2400" dirty="0"/>
              <a:t>Adds a reference </a:t>
            </a:r>
            <a:r>
              <a:rPr lang="en-IN" sz="2400" b="1" dirty="0">
                <a:solidFill>
                  <a:srgbClr val="002060"/>
                </a:solidFill>
              </a:rPr>
              <a:t>grid</a:t>
            </a:r>
            <a:r>
              <a:rPr lang="en-IN" sz="2400" dirty="0"/>
              <a:t> to the plot.</a:t>
            </a:r>
          </a:p>
          <a:p>
            <a:r>
              <a:rPr lang="en-IN" sz="2400" b="1" dirty="0"/>
              <a:t>Ticks &amp; Tick Labels (</a:t>
            </a:r>
            <a:r>
              <a:rPr lang="en-IN" sz="2400" b="1" dirty="0" err="1"/>
              <a:t>xticks</a:t>
            </a:r>
            <a:r>
              <a:rPr lang="en-IN" sz="2400" b="1" dirty="0"/>
              <a:t>(), </a:t>
            </a:r>
            <a:r>
              <a:rPr lang="en-IN" sz="2400" b="1" dirty="0" err="1"/>
              <a:t>yticks</a:t>
            </a:r>
            <a:r>
              <a:rPr lang="en-IN" sz="2400" b="1" dirty="0"/>
              <a:t>()): </a:t>
            </a:r>
            <a:r>
              <a:rPr lang="en-IN" sz="2400" b="1" dirty="0">
                <a:solidFill>
                  <a:srgbClr val="002060"/>
                </a:solidFill>
              </a:rPr>
              <a:t>Customizes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002060"/>
                </a:solidFill>
              </a:rPr>
              <a:t>axis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002060"/>
                </a:solidFill>
              </a:rPr>
              <a:t>labels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136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995D-838E-DBD0-0C5C-C5D8E0C7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C4025-F798-2012-892D-45D880893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513114"/>
            <a:ext cx="10659110" cy="3831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Plotting Graphs:</a:t>
            </a:r>
          </a:p>
          <a:p>
            <a:pPr marL="0" indent="0">
              <a:buNone/>
            </a:pPr>
            <a:r>
              <a:rPr lang="en-US" sz="2800" dirty="0"/>
              <a:t>Matplotlib is a powerful Python library used for </a:t>
            </a:r>
            <a:r>
              <a:rPr lang="en-US" sz="2800" b="1" dirty="0">
                <a:solidFill>
                  <a:srgbClr val="C00000"/>
                </a:solidFill>
              </a:rPr>
              <a:t>data visualization</a:t>
            </a:r>
            <a:r>
              <a:rPr lang="en-US" sz="2800" dirty="0"/>
              <a:t>. It allows us to create various types of </a:t>
            </a:r>
            <a:r>
              <a:rPr lang="en-US" sz="2800" b="1" dirty="0">
                <a:solidFill>
                  <a:srgbClr val="C00000"/>
                </a:solidFill>
              </a:rPr>
              <a:t>plots</a:t>
            </a:r>
            <a:r>
              <a:rPr lang="en-US" sz="2800" dirty="0"/>
              <a:t>, including line </a:t>
            </a:r>
            <a:r>
              <a:rPr lang="en-US" sz="2800" b="1" dirty="0">
                <a:solidFill>
                  <a:srgbClr val="C00000"/>
                </a:solidFill>
              </a:rPr>
              <a:t>graphs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bar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charts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histograms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scatter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plots</a:t>
            </a:r>
            <a:r>
              <a:rPr lang="en-US" sz="2800" dirty="0"/>
              <a:t>, and more.</a:t>
            </a:r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4646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EE9D-A356-5D4A-8099-557FBB99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E6610-F2FE-5017-18CB-5B700D3C0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957943"/>
            <a:ext cx="3560403" cy="213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Basic Plotting: </a:t>
            </a:r>
          </a:p>
          <a:p>
            <a:pPr marL="0" indent="0">
              <a:buNone/>
            </a:pPr>
            <a:r>
              <a:rPr lang="en-US" sz="2800" dirty="0"/>
              <a:t>A simple example to create a line plot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35CD6-D5D5-0661-B623-A90EFBD3E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574" y="0"/>
            <a:ext cx="8076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A24B3249-E2DD-9C23-CBC2-C71CA791F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522514"/>
            <a:ext cx="7750629" cy="58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49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0577C-9D93-51CF-CC1E-AE24CD8F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62426-D9B7-C48C-80C2-36AC9720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468086"/>
            <a:ext cx="10659110" cy="59653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/>
              <a:t>Syntax Explanation:</a:t>
            </a:r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endParaRPr lang="en-IN" sz="800" b="1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 err="1"/>
              <a:t>plt.plot</a:t>
            </a:r>
            <a:r>
              <a:rPr lang="en-US" sz="2400" b="1" dirty="0"/>
              <a:t>() </a:t>
            </a:r>
            <a:r>
              <a:rPr lang="en-US" sz="2400" dirty="0"/>
              <a:t>function is used to create </a:t>
            </a:r>
            <a:r>
              <a:rPr lang="en-US" sz="2400" b="1" dirty="0">
                <a:solidFill>
                  <a:srgbClr val="C00000"/>
                </a:solidFill>
              </a:rPr>
              <a:t>line plots </a:t>
            </a:r>
            <a:r>
              <a:rPr lang="en-US" sz="2400" dirty="0"/>
              <a:t>in Matplotlib. It takes various arguments to control how the plot appears.</a:t>
            </a:r>
          </a:p>
          <a:p>
            <a:pPr marL="457200" indent="-457200">
              <a:buAutoNum type="arabicPeriod"/>
            </a:pPr>
            <a:r>
              <a:rPr lang="en-US" sz="2400" dirty="0"/>
              <a:t>x, y: These are the data points for the x-axis and y-axis, respectively. Matplotlib connects these points with a line.</a:t>
            </a:r>
          </a:p>
          <a:p>
            <a:pPr marL="457200" indent="-457200">
              <a:buAutoNum type="arabicPeriod"/>
            </a:pPr>
            <a:r>
              <a:rPr lang="en-US" sz="2400" b="1" dirty="0"/>
              <a:t>marker='o': </a:t>
            </a:r>
            <a:r>
              <a:rPr lang="en-US" sz="2400" dirty="0"/>
              <a:t>Specifies the marker style for each data point. 'o' represents circular markers.</a:t>
            </a:r>
          </a:p>
          <a:p>
            <a:pPr marL="457200" indent="-457200">
              <a:buAutoNum type="arabicPeriod"/>
            </a:pPr>
            <a:r>
              <a:rPr lang="en-US" sz="2400" b="1" dirty="0"/>
              <a:t>Other common marker styles: </a:t>
            </a:r>
            <a:r>
              <a:rPr lang="en-US" sz="2400" dirty="0"/>
              <a:t>'s' → Square, '^' → Triangle, 'x' → Cross, 'd' → Diamond, '*' → Star</a:t>
            </a:r>
          </a:p>
          <a:p>
            <a:pPr marL="457200" indent="-457200">
              <a:buAutoNum type="arabicPeriod"/>
            </a:pPr>
            <a:r>
              <a:rPr lang="en-US" sz="2400" b="1" dirty="0" err="1"/>
              <a:t>linestyle</a:t>
            </a:r>
            <a:r>
              <a:rPr lang="en-US" sz="2400" b="1" dirty="0"/>
              <a:t>='-':  </a:t>
            </a:r>
            <a:r>
              <a:rPr lang="en-US" sz="2400" dirty="0"/>
              <a:t>Defines the style of the line connecting data points. Common styles: '-' → Solid line, '--' → Dashed line, ':' → Dotted line, '-.' → Dash-dot line</a:t>
            </a:r>
          </a:p>
          <a:p>
            <a:pPr marL="457200" indent="-457200">
              <a:buAutoNum type="arabicPeriod"/>
            </a:pPr>
            <a:r>
              <a:rPr lang="en-IN" sz="2400" dirty="0" err="1"/>
              <a:t>color</a:t>
            </a:r>
            <a:r>
              <a:rPr lang="en-IN" sz="2400" dirty="0"/>
              <a:t>='b': Sets the line </a:t>
            </a:r>
            <a:r>
              <a:rPr lang="en-IN" sz="2400" dirty="0" err="1"/>
              <a:t>color</a:t>
            </a:r>
            <a:r>
              <a:rPr lang="en-IN" sz="2400" dirty="0"/>
              <a:t>. 'b' stands for blue. Other </a:t>
            </a:r>
            <a:r>
              <a:rPr lang="en-IN" sz="2400" dirty="0" err="1"/>
              <a:t>color</a:t>
            </a:r>
            <a:r>
              <a:rPr lang="en-IN" sz="2400" dirty="0"/>
              <a:t> codes: 'r' → Red, 'g' → Green, 'y' → Yellow, 'k' → Black, 'c' → Cyan, 'm' → Magenta, You can also use hex codes like </a:t>
            </a:r>
            <a:r>
              <a:rPr lang="en-IN" sz="2400" dirty="0" err="1"/>
              <a:t>color</a:t>
            </a:r>
            <a:r>
              <a:rPr lang="en-IN" sz="2400" dirty="0"/>
              <a:t>='#ff5733'.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149D6-5D74-847F-7EF5-79E6901C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018101"/>
            <a:ext cx="10874829" cy="5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3C43-A054-2CF9-F3FF-82FD1DA6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027E-D918-3BBF-EB9C-7AF62F4A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03513"/>
            <a:ext cx="10659110" cy="5273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Controlling Graphs in Matplotlib</a:t>
            </a:r>
          </a:p>
          <a:p>
            <a:pPr marL="0" indent="0">
              <a:buNone/>
            </a:pPr>
            <a:r>
              <a:rPr lang="en-US" sz="2600" dirty="0"/>
              <a:t>Matplotlib provides various ways to </a:t>
            </a:r>
            <a:r>
              <a:rPr lang="en-US" sz="2600" b="1" dirty="0">
                <a:solidFill>
                  <a:srgbClr val="C00000"/>
                </a:solidFill>
              </a:rPr>
              <a:t>control</a:t>
            </a:r>
            <a:r>
              <a:rPr lang="en-US" sz="2600" b="1" dirty="0"/>
              <a:t> and </a:t>
            </a:r>
            <a:r>
              <a:rPr lang="en-US" sz="2600" b="1" dirty="0">
                <a:solidFill>
                  <a:srgbClr val="C00000"/>
                </a:solidFill>
              </a:rPr>
              <a:t>customize</a:t>
            </a:r>
            <a:r>
              <a:rPr lang="en-US" sz="2600" b="1" dirty="0"/>
              <a:t> graphs</a:t>
            </a:r>
            <a:r>
              <a:rPr lang="en-US" sz="2600" dirty="0"/>
              <a:t>. You can modify figure size, line styles, colors, axes, legends, grids, and more.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Figure Size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Line Style, Color, and Markers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Axis Range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Grid Lines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Ticks and Labels</a:t>
            </a:r>
          </a:p>
          <a:p>
            <a:pPr marL="457200" indent="-457200">
              <a:buAutoNum type="arabicPeriod"/>
            </a:pPr>
            <a:r>
              <a:rPr lang="en-US" sz="2600" dirty="0"/>
              <a:t>Controlling Legends</a:t>
            </a:r>
          </a:p>
          <a:p>
            <a:pPr marL="457200" indent="-457200">
              <a:buAutoNum type="arabicPeriod"/>
            </a:pPr>
            <a:r>
              <a:rPr lang="en-US" sz="2600" dirty="0"/>
              <a:t>Adding Annotations to Graphs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007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1364-3B18-BF3D-609F-1A6588A7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6CA6-C3AA-1617-0FB0-28CB28CD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 Controlling Figure Size</a:t>
            </a:r>
          </a:p>
          <a:p>
            <a:pPr marL="0" indent="0">
              <a:buNone/>
            </a:pPr>
            <a:r>
              <a:rPr lang="en-US" sz="2800" dirty="0"/>
              <a:t>You can adjust the size of the figure using </a:t>
            </a:r>
            <a:r>
              <a:rPr lang="en-US" sz="2800" dirty="0" err="1"/>
              <a:t>figsize</a:t>
            </a:r>
            <a:r>
              <a:rPr lang="en-US" sz="2800" dirty="0"/>
              <a:t> inside </a:t>
            </a:r>
            <a:r>
              <a:rPr lang="en-US" sz="2800" dirty="0" err="1"/>
              <a:t>plt.figure</a:t>
            </a:r>
            <a:r>
              <a:rPr lang="en-US" sz="2800" dirty="0"/>
              <a:t>() or </a:t>
            </a:r>
            <a:r>
              <a:rPr lang="en-US" sz="2800" dirty="0" err="1"/>
              <a:t>plt.subplots</a:t>
            </a:r>
            <a:r>
              <a:rPr lang="en-US" sz="2800" dirty="0"/>
              <a:t>().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🔹 </a:t>
            </a:r>
            <a:r>
              <a:rPr lang="en-US" sz="2800" dirty="0" err="1"/>
              <a:t>figsize</a:t>
            </a:r>
            <a:r>
              <a:rPr lang="en-US" sz="2800" dirty="0"/>
              <a:t>=(8,6) sets the figure width to 8 inches and height to 6 </a:t>
            </a:r>
            <a:r>
              <a:rPr lang="en-US" sz="2800" b="1" dirty="0">
                <a:solidFill>
                  <a:srgbClr val="FF0000"/>
                </a:solidFill>
              </a:rPr>
              <a:t>inches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9840AB-7EA0-FB71-F85E-1D302014F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09" y="2800095"/>
            <a:ext cx="10228571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7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7F7F-A9F8-C759-B3D4-FE1CE6C87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80E61-D6EF-8EB4-80EB-B3C205BB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489857"/>
            <a:ext cx="10659110" cy="60415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2. Controlling </a:t>
            </a:r>
            <a:r>
              <a:rPr lang="en-US" sz="2800" b="1" dirty="0">
                <a:solidFill>
                  <a:srgbClr val="002060"/>
                </a:solidFill>
              </a:rPr>
              <a:t>Line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Style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2060"/>
                </a:solidFill>
              </a:rPr>
              <a:t>Color</a:t>
            </a:r>
            <a:r>
              <a:rPr lang="en-US" sz="2800" b="1" dirty="0"/>
              <a:t>, and </a:t>
            </a:r>
            <a:r>
              <a:rPr lang="en-US" sz="2800" b="1" dirty="0">
                <a:solidFill>
                  <a:srgbClr val="002060"/>
                </a:solidFill>
              </a:rPr>
              <a:t>Markers</a:t>
            </a:r>
          </a:p>
          <a:p>
            <a:pPr marL="0" indent="0">
              <a:buNone/>
            </a:pPr>
            <a:r>
              <a:rPr lang="en-US" sz="2800" dirty="0"/>
              <a:t>Matplotlib allows you to modify line color, style, and markers.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IN" sz="2800" b="1" dirty="0"/>
          </a:p>
          <a:p>
            <a:pPr marL="0" indent="0">
              <a:buNone/>
            </a:pPr>
            <a:r>
              <a:rPr lang="en-IN" sz="2400" b="1" dirty="0"/>
              <a:t>🔹 Customizations Used:</a:t>
            </a:r>
          </a:p>
          <a:p>
            <a:pPr marL="0" indent="0">
              <a:buNone/>
            </a:pPr>
            <a:r>
              <a:rPr lang="en-IN" sz="2400" b="1" dirty="0" err="1"/>
              <a:t>linestyle</a:t>
            </a:r>
            <a:r>
              <a:rPr lang="en-IN" sz="2400" b="1" dirty="0"/>
              <a:t>='-' → Solid line</a:t>
            </a:r>
          </a:p>
          <a:p>
            <a:pPr marL="0" indent="0">
              <a:buNone/>
            </a:pPr>
            <a:r>
              <a:rPr lang="en-IN" sz="2400" b="1" dirty="0" err="1"/>
              <a:t>linestyle</a:t>
            </a:r>
            <a:r>
              <a:rPr lang="en-IN" sz="2400" b="1" dirty="0"/>
              <a:t>='--' → Dashed line</a:t>
            </a:r>
          </a:p>
          <a:p>
            <a:pPr marL="0" indent="0">
              <a:buNone/>
            </a:pPr>
            <a:r>
              <a:rPr lang="en-IN" sz="2400" b="1" dirty="0" err="1"/>
              <a:t>color</a:t>
            </a:r>
            <a:r>
              <a:rPr lang="en-IN" sz="2400" b="1" dirty="0"/>
              <a:t>='b' → Blue </a:t>
            </a:r>
            <a:r>
              <a:rPr lang="en-IN" sz="2400" b="1" dirty="0" err="1"/>
              <a:t>color</a:t>
            </a:r>
            <a:endParaRPr lang="en-IN" sz="2400" b="1" dirty="0"/>
          </a:p>
          <a:p>
            <a:pPr marL="0" indent="0">
              <a:buNone/>
            </a:pPr>
            <a:r>
              <a:rPr lang="en-IN" sz="2400" b="1" dirty="0" err="1"/>
              <a:t>color</a:t>
            </a:r>
            <a:r>
              <a:rPr lang="en-IN" sz="2400" b="1" dirty="0"/>
              <a:t>='r' → Red </a:t>
            </a:r>
            <a:r>
              <a:rPr lang="en-IN" sz="2400" b="1" dirty="0" err="1"/>
              <a:t>color</a:t>
            </a: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marker='o' → Circle markers</a:t>
            </a:r>
          </a:p>
          <a:p>
            <a:pPr marL="0" indent="0">
              <a:buNone/>
            </a:pPr>
            <a:r>
              <a:rPr lang="en-IN" sz="2400" b="1" dirty="0"/>
              <a:t>marker='s' → Square markers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C6DC1-8EE5-9D5C-B3B6-BDC250FB1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50" y="1758262"/>
            <a:ext cx="10600000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38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0252-E056-7C59-FC52-A022F5FC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7A6EA-7DA2-4164-4A8D-091E775A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Controlling Axis Range</a:t>
            </a:r>
          </a:p>
          <a:p>
            <a:pPr marL="0" indent="0">
              <a:buNone/>
            </a:pPr>
            <a:r>
              <a:rPr lang="en-US" sz="2400" dirty="0"/>
              <a:t>You can manually set the </a:t>
            </a:r>
            <a:r>
              <a:rPr lang="en-US" sz="2400" b="1" dirty="0">
                <a:solidFill>
                  <a:srgbClr val="C00000"/>
                </a:solidFill>
              </a:rPr>
              <a:t>x-axis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y-axis</a:t>
            </a:r>
            <a:r>
              <a:rPr lang="en-US" sz="2400" dirty="0"/>
              <a:t> limits using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002060"/>
                </a:solidFill>
              </a:rPr>
              <a:t>xlim</a:t>
            </a:r>
            <a:r>
              <a:rPr lang="en-US" sz="2400" dirty="0"/>
              <a:t>() and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002060"/>
                </a:solidFill>
              </a:rPr>
              <a:t>ylim</a:t>
            </a:r>
            <a:r>
              <a:rPr lang="en-US" sz="2400" dirty="0"/>
              <a:t>().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Customizations Used:</a:t>
            </a:r>
          </a:p>
          <a:p>
            <a:r>
              <a:rPr lang="en-US" sz="2400" b="1" dirty="0" err="1"/>
              <a:t>plt.xlim</a:t>
            </a:r>
            <a:r>
              <a:rPr lang="en-US" sz="2400" b="1" dirty="0"/>
              <a:t>(0, 6) → X-axis from 0 to 6</a:t>
            </a:r>
          </a:p>
          <a:p>
            <a:r>
              <a:rPr lang="en-US" sz="2400" b="1" dirty="0" err="1"/>
              <a:t>plt.ylim</a:t>
            </a:r>
            <a:r>
              <a:rPr lang="en-US" sz="2400" b="1" dirty="0"/>
              <a:t>(0, 10) → Y-axis from 0 to 10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68DC1-CB13-C697-30B8-9FFA752F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21" y="2202262"/>
            <a:ext cx="6093546" cy="200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6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CBA1-0422-D23B-2486-AA7758C5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647B-19F1-6DFD-2BE8-3BF96ADCB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4. Controlling Grid Lines</a:t>
            </a:r>
          </a:p>
          <a:p>
            <a:pPr marL="0" indent="0">
              <a:buNone/>
            </a:pPr>
            <a:r>
              <a:rPr lang="en-US" sz="2400" dirty="0"/>
              <a:t>You can enable or modify grid lines using </a:t>
            </a:r>
            <a:r>
              <a:rPr lang="en-US" sz="2400" dirty="0" err="1"/>
              <a:t>plt.grid</a:t>
            </a:r>
            <a:r>
              <a:rPr lang="en-US" sz="2400" dirty="0"/>
              <a:t>().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Customizations Used:</a:t>
            </a:r>
          </a:p>
          <a:p>
            <a:r>
              <a:rPr lang="en-US" sz="2400" b="1" dirty="0" err="1"/>
              <a:t>plt.grid</a:t>
            </a:r>
            <a:r>
              <a:rPr lang="en-US" sz="2400" b="1" dirty="0"/>
              <a:t>(True) → </a:t>
            </a:r>
            <a:r>
              <a:rPr lang="en-US" sz="2400" dirty="0"/>
              <a:t>Enables grid</a:t>
            </a:r>
          </a:p>
          <a:p>
            <a:r>
              <a:rPr lang="en-US" sz="2400" b="1" dirty="0" err="1"/>
              <a:t>linestyle</a:t>
            </a:r>
            <a:r>
              <a:rPr lang="en-US" sz="2400" b="1" dirty="0"/>
              <a:t>='--' </a:t>
            </a:r>
            <a:r>
              <a:rPr lang="en-US" sz="2400" dirty="0"/>
              <a:t>→ Dashed grid lines</a:t>
            </a:r>
          </a:p>
          <a:p>
            <a:r>
              <a:rPr lang="en-US" sz="2400" b="1" dirty="0"/>
              <a:t>linewidth=0.5 </a:t>
            </a:r>
            <a:r>
              <a:rPr lang="en-US" sz="2400" dirty="0"/>
              <a:t>→ Thin grid lines</a:t>
            </a:r>
          </a:p>
          <a:p>
            <a:r>
              <a:rPr lang="en-US" sz="2400" b="1" dirty="0"/>
              <a:t>color='gray' </a:t>
            </a:r>
            <a:r>
              <a:rPr lang="en-US" sz="2400" dirty="0"/>
              <a:t>→ Gray-colored grid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C5606-B605-A399-8ECC-7B9120B53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28" y="2195575"/>
            <a:ext cx="10179732" cy="129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9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26A3-CBDB-EC23-AF5D-FCF46675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E7E9-4BE4-022B-9A55-34A26333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5. Controlling </a:t>
            </a:r>
            <a:r>
              <a:rPr lang="en-US" sz="2400" b="1" dirty="0">
                <a:solidFill>
                  <a:srgbClr val="C00000"/>
                </a:solidFill>
              </a:rPr>
              <a:t>Ticks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Labels</a:t>
            </a:r>
          </a:p>
          <a:p>
            <a:pPr marL="0" indent="0">
              <a:buNone/>
            </a:pPr>
            <a:r>
              <a:rPr lang="en-US" sz="2400" dirty="0"/>
              <a:t>You can control ticks, rotation, and format using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xticks</a:t>
            </a:r>
            <a:r>
              <a:rPr lang="en-US" sz="2400" dirty="0"/>
              <a:t>() and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yticks</a:t>
            </a:r>
            <a:r>
              <a:rPr lang="en-US" sz="2400" dirty="0"/>
              <a:t>().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Customizations Used:</a:t>
            </a:r>
          </a:p>
          <a:p>
            <a:r>
              <a:rPr lang="en-US" sz="2400" b="1" dirty="0" err="1"/>
              <a:t>plt.xticks</a:t>
            </a:r>
            <a:r>
              <a:rPr lang="en-US" sz="2400" b="1" dirty="0"/>
              <a:t>([1,2,3,4,5], labels=["</a:t>
            </a:r>
            <a:r>
              <a:rPr lang="en-US" sz="2400" b="1" dirty="0" err="1"/>
              <a:t>One","Two","Three","Four","Five</a:t>
            </a:r>
            <a:r>
              <a:rPr lang="en-US" sz="2400" b="1" dirty="0"/>
              <a:t>"]) </a:t>
            </a:r>
            <a:r>
              <a:rPr lang="en-US" sz="2400" dirty="0"/>
              <a:t>→ Custom x-axis labels.</a:t>
            </a:r>
          </a:p>
          <a:p>
            <a:r>
              <a:rPr lang="en-US" sz="2400" b="1" dirty="0"/>
              <a:t>rotation=45 </a:t>
            </a:r>
            <a:r>
              <a:rPr lang="en-US" sz="2400" dirty="0"/>
              <a:t>→ Rotates x-axis labels.</a:t>
            </a:r>
            <a:endParaRPr lang="en-IN" sz="2400" dirty="0"/>
          </a:p>
        </p:txBody>
      </p:sp>
      <p:pic>
        <p:nvPicPr>
          <p:cNvPr id="4" name="Picture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E6EA6FAC-3E5D-FFBE-EAB6-2B917A50A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" t="15873" r="16106" b="18377"/>
          <a:stretch/>
        </p:blipFill>
        <p:spPr>
          <a:xfrm>
            <a:off x="414670" y="2328530"/>
            <a:ext cx="11546046" cy="13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55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6. Controlling Legends</a:t>
            </a:r>
          </a:p>
          <a:p>
            <a:pPr marL="0" indent="0">
              <a:buNone/>
            </a:pPr>
            <a:r>
              <a:rPr lang="en-US" sz="2400" dirty="0"/>
              <a:t>Legends help differentiate multiple plots in a graph.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Customizations Used:</a:t>
            </a:r>
          </a:p>
          <a:p>
            <a:r>
              <a:rPr lang="en-US" sz="2400" b="1" dirty="0" err="1"/>
              <a:t>plt.legend</a:t>
            </a:r>
            <a:r>
              <a:rPr lang="en-US" sz="2400" b="1" dirty="0"/>
              <a:t>(loc='upper right') </a:t>
            </a:r>
            <a:r>
              <a:rPr lang="en-US" sz="2400" dirty="0"/>
              <a:t>→ Places legend at the upper-right.</a:t>
            </a:r>
          </a:p>
          <a:p>
            <a:r>
              <a:rPr lang="en-US" sz="2400" b="1" dirty="0" err="1"/>
              <a:t>fontsize</a:t>
            </a:r>
            <a:r>
              <a:rPr lang="en-US" sz="2400" b="1" dirty="0"/>
              <a:t>=12 → </a:t>
            </a:r>
            <a:r>
              <a:rPr lang="en-US" sz="2400" dirty="0"/>
              <a:t>Sets font size.</a:t>
            </a:r>
          </a:p>
          <a:p>
            <a:r>
              <a:rPr lang="en-US" sz="2400" b="1" dirty="0"/>
              <a:t>title="Legend" </a:t>
            </a:r>
            <a:r>
              <a:rPr lang="en-US" sz="2400" dirty="0"/>
              <a:t>→ Adds a title to the legend.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562FC-5CFE-A828-B51D-4B1DA2C42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31" y="2458680"/>
            <a:ext cx="9947194" cy="115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21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7. Adding Annotations to Graphs:</a:t>
            </a:r>
          </a:p>
          <a:p>
            <a:pPr marL="0" indent="0">
              <a:buNone/>
            </a:pPr>
            <a:r>
              <a:rPr lang="en-US" sz="2400" dirty="0"/>
              <a:t>You can add text or arrows to highlight important points using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annotate</a:t>
            </a:r>
            <a:r>
              <a:rPr lang="en-US" sz="2400" dirty="0"/>
              <a:t>().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Customizations Used: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plt.annotate</a:t>
            </a:r>
            <a:r>
              <a:rPr lang="en-US" sz="2400" dirty="0"/>
              <a:t>("Peak", </a:t>
            </a:r>
            <a:r>
              <a:rPr lang="en-US" sz="2400" dirty="0" err="1"/>
              <a:t>xy</a:t>
            </a:r>
            <a:r>
              <a:rPr lang="en-US" sz="2400" dirty="0"/>
              <a:t>=(4,8), </a:t>
            </a:r>
            <a:r>
              <a:rPr lang="en-US" sz="2400" dirty="0" err="1"/>
              <a:t>xytext</a:t>
            </a:r>
            <a:r>
              <a:rPr lang="en-US" sz="2400" dirty="0"/>
              <a:t>=(3,9), </a:t>
            </a:r>
            <a:r>
              <a:rPr lang="en-US" sz="2400" dirty="0" err="1"/>
              <a:t>arrowprops</a:t>
            </a:r>
            <a:r>
              <a:rPr lang="en-US" sz="2400" dirty="0"/>
              <a:t>=</a:t>
            </a:r>
            <a:r>
              <a:rPr lang="en-US" sz="2400" dirty="0" err="1"/>
              <a:t>dict</a:t>
            </a:r>
            <a:r>
              <a:rPr lang="en-US" sz="2400" dirty="0"/>
              <a:t>(</a:t>
            </a:r>
            <a:r>
              <a:rPr lang="en-US" sz="2400" dirty="0" err="1"/>
              <a:t>facecolor</a:t>
            </a:r>
            <a:r>
              <a:rPr lang="en-US" sz="2400" dirty="0"/>
              <a:t>='red', </a:t>
            </a:r>
            <a:r>
              <a:rPr lang="en-US" sz="2400" dirty="0" err="1"/>
              <a:t>arrowstyle</a:t>
            </a:r>
            <a:r>
              <a:rPr lang="en-US" sz="2400" dirty="0"/>
              <a:t>='-&gt;')) → Annotates point (4,8) with an arrow.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7E5A1-DA9F-3A77-9B80-B66DDC050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68" y="2221636"/>
            <a:ext cx="9380952" cy="1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70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80213"/>
            <a:ext cx="10659110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Adding Text in Matplotlib 📊📝</a:t>
            </a:r>
          </a:p>
          <a:p>
            <a:pPr marL="0" indent="0">
              <a:buNone/>
            </a:pPr>
            <a:r>
              <a:rPr lang="en-IN" sz="2800" dirty="0"/>
              <a:t>In Matplotlib, you can add text annotations to plots using different methods:</a:t>
            </a:r>
          </a:p>
          <a:p>
            <a:pPr marL="0" indent="0">
              <a:buNone/>
            </a:pPr>
            <a:endParaRPr lang="en-IN" sz="2800" dirty="0"/>
          </a:p>
          <a:p>
            <a:pPr marL="457200" indent="-457200">
              <a:buFont typeface="+mj-lt"/>
              <a:buAutoNum type="arabicPeriod"/>
            </a:pPr>
            <a:r>
              <a:rPr lang="en-IN" sz="2800" b="1" dirty="0" err="1"/>
              <a:t>plt.text</a:t>
            </a:r>
            <a:r>
              <a:rPr lang="en-IN" sz="2800" b="1" dirty="0"/>
              <a:t>() </a:t>
            </a:r>
            <a:r>
              <a:rPr lang="en-IN" sz="2800" dirty="0"/>
              <a:t>→ Adds text at a specific location in the plot.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b="1" dirty="0" err="1"/>
              <a:t>plt.annotate</a:t>
            </a:r>
            <a:r>
              <a:rPr lang="en-IN" sz="2800" b="1" dirty="0"/>
              <a:t>() </a:t>
            </a:r>
            <a:r>
              <a:rPr lang="en-IN" sz="2800" dirty="0"/>
              <a:t>→ Adds text with an arrow pointing to a specific data point.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b="1" dirty="0" err="1"/>
              <a:t>plt.title</a:t>
            </a:r>
            <a:r>
              <a:rPr lang="en-IN" sz="2800" b="1" dirty="0"/>
              <a:t>(), </a:t>
            </a:r>
            <a:r>
              <a:rPr lang="en-IN" sz="2800" b="1" dirty="0" err="1"/>
              <a:t>plt.xlabel</a:t>
            </a:r>
            <a:r>
              <a:rPr lang="en-IN" sz="2800" b="1" dirty="0"/>
              <a:t>(), </a:t>
            </a:r>
            <a:r>
              <a:rPr lang="en-IN" sz="2800" b="1" dirty="0" err="1"/>
              <a:t>plt.ylabel</a:t>
            </a:r>
            <a:r>
              <a:rPr lang="en-IN" sz="2800" b="1" dirty="0"/>
              <a:t>() </a:t>
            </a:r>
            <a:r>
              <a:rPr lang="en-IN" sz="2800" dirty="0"/>
              <a:t>→ Adds titles and axis labels.</a:t>
            </a:r>
          </a:p>
        </p:txBody>
      </p:sp>
    </p:spTree>
    <p:extLst>
      <p:ext uri="{BB962C8B-B14F-4D97-AF65-F5344CB8AC3E}">
        <p14:creationId xmlns:p14="http://schemas.microsoft.com/office/powerpoint/2010/main" val="4168536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1️⃣ Adding Text Using </a:t>
            </a:r>
            <a:r>
              <a:rPr lang="en-US" sz="2400" b="1" dirty="0" err="1"/>
              <a:t>plt.text</a:t>
            </a:r>
            <a:r>
              <a:rPr lang="en-US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plt.text</a:t>
            </a:r>
            <a:r>
              <a:rPr lang="en-US" sz="2400" dirty="0"/>
              <a:t>(x, y, "Text") function allows you to </a:t>
            </a:r>
            <a:r>
              <a:rPr lang="en-US" sz="2400" b="1" dirty="0">
                <a:solidFill>
                  <a:srgbClr val="C00000"/>
                </a:solidFill>
              </a:rPr>
              <a:t>place text anywhere </a:t>
            </a:r>
            <a:r>
              <a:rPr lang="en-US" sz="2400" dirty="0"/>
              <a:t>in the graph.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IN" sz="2400" b="1" dirty="0"/>
              <a:t>🔹 Explanation:</a:t>
            </a:r>
          </a:p>
          <a:p>
            <a:pPr marL="0" indent="0">
              <a:buNone/>
            </a:pPr>
            <a:r>
              <a:rPr lang="en-IN" sz="2400" b="1" dirty="0"/>
              <a:t>✅ </a:t>
            </a:r>
            <a:r>
              <a:rPr lang="en-IN" sz="2400" b="1" dirty="0" err="1"/>
              <a:t>plt.text</a:t>
            </a:r>
            <a:r>
              <a:rPr lang="en-IN" sz="2400" b="1" dirty="0"/>
              <a:t>(2, 20, "This is Point (2,20)") </a:t>
            </a:r>
            <a:r>
              <a:rPr lang="en-IN" sz="2400" dirty="0"/>
              <a:t>→ Adds text at (x=2, y=20).</a:t>
            </a:r>
          </a:p>
          <a:p>
            <a:pPr marL="0" indent="0">
              <a:buNone/>
            </a:pPr>
            <a:r>
              <a:rPr lang="en-IN" sz="2400" b="1" dirty="0"/>
              <a:t>✅ </a:t>
            </a:r>
            <a:r>
              <a:rPr lang="en-IN" sz="2400" b="1" dirty="0" err="1"/>
              <a:t>fontsize</a:t>
            </a:r>
            <a:r>
              <a:rPr lang="en-IN" sz="2400" b="1" dirty="0"/>
              <a:t>=12 </a:t>
            </a:r>
            <a:r>
              <a:rPr lang="en-IN" sz="2400" dirty="0"/>
              <a:t>→ Sets font size.</a:t>
            </a:r>
          </a:p>
          <a:p>
            <a:pPr marL="0" indent="0">
              <a:buNone/>
            </a:pPr>
            <a:r>
              <a:rPr lang="en-IN" sz="2400" b="1" dirty="0"/>
              <a:t>✅ </a:t>
            </a:r>
            <a:r>
              <a:rPr lang="en-IN" sz="2400" b="1" dirty="0" err="1"/>
              <a:t>color</a:t>
            </a:r>
            <a:r>
              <a:rPr lang="en-IN" sz="2400" b="1" dirty="0"/>
              <a:t>='red' </a:t>
            </a:r>
            <a:r>
              <a:rPr lang="en-IN" sz="2400" dirty="0"/>
              <a:t>→ Changes text </a:t>
            </a:r>
            <a:r>
              <a:rPr lang="en-IN" sz="2400" dirty="0" err="1"/>
              <a:t>color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BBA18-03C8-1836-312F-4A67954E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10" y="2327657"/>
            <a:ext cx="10639589" cy="119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38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2️⃣ Adding Annotations Using </a:t>
            </a:r>
            <a:r>
              <a:rPr lang="en-US" sz="2400" b="1" dirty="0" err="1"/>
              <a:t>plt.annotate</a:t>
            </a:r>
            <a:r>
              <a:rPr lang="en-US" sz="24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annotate</a:t>
            </a:r>
            <a:r>
              <a:rPr lang="en-US" sz="2400" dirty="0"/>
              <a:t>() function is useful for </a:t>
            </a:r>
            <a:r>
              <a:rPr lang="en-US" sz="2400" b="1" dirty="0">
                <a:solidFill>
                  <a:srgbClr val="C00000"/>
                </a:solidFill>
              </a:rPr>
              <a:t>adding text with arrows </a:t>
            </a:r>
            <a:r>
              <a:rPr lang="en-US" sz="2400" dirty="0"/>
              <a:t>to highlight specific points.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FCE19-F7CD-2E6F-D152-C1B36E0B0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76" y="2652611"/>
            <a:ext cx="10288947" cy="21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03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10" y="847820"/>
            <a:ext cx="1097280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🔹 Explanation: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xy</a:t>
            </a:r>
            <a:r>
              <a:rPr lang="en-IN" sz="2800" dirty="0"/>
              <a:t>=(4, 25) → Arrow points to (4,25).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xytext</a:t>
            </a:r>
            <a:r>
              <a:rPr lang="en-IN" sz="2800" dirty="0"/>
              <a:t>=(3, 28) → Text is placed at (3,28).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arrowprops</a:t>
            </a:r>
            <a:r>
              <a:rPr lang="en-IN" sz="2800" dirty="0"/>
              <a:t>=</a:t>
            </a:r>
            <a:r>
              <a:rPr lang="en-IN" sz="2800" dirty="0" err="1"/>
              <a:t>dict</a:t>
            </a:r>
            <a:r>
              <a:rPr lang="en-IN" sz="2800" dirty="0"/>
              <a:t>(</a:t>
            </a:r>
            <a:r>
              <a:rPr lang="en-IN" sz="2800" dirty="0" err="1"/>
              <a:t>facecolor</a:t>
            </a:r>
            <a:r>
              <a:rPr lang="en-IN" sz="2800" dirty="0"/>
              <a:t>='blue', </a:t>
            </a:r>
            <a:r>
              <a:rPr lang="en-IN" sz="2800" dirty="0" err="1"/>
              <a:t>arrowstyle</a:t>
            </a:r>
            <a:r>
              <a:rPr lang="en-IN" sz="2800" dirty="0"/>
              <a:t>='-&gt;') → Creates a blue arrow.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fontsize</a:t>
            </a:r>
            <a:r>
              <a:rPr lang="en-IN" sz="2800" dirty="0"/>
              <a:t>=12, </a:t>
            </a:r>
            <a:r>
              <a:rPr lang="en-IN" sz="2800" dirty="0" err="1"/>
              <a:t>color</a:t>
            </a:r>
            <a:r>
              <a:rPr lang="en-IN" sz="2800" dirty="0"/>
              <a:t>='blue' → Sets font size and </a:t>
            </a:r>
            <a:r>
              <a:rPr lang="en-IN" sz="2800" dirty="0" err="1"/>
              <a:t>color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779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3️⃣ Adding Titles and Labels:</a:t>
            </a:r>
          </a:p>
          <a:p>
            <a:pPr marL="0" indent="0">
              <a:buNone/>
            </a:pPr>
            <a:r>
              <a:rPr lang="en-US" sz="2800" dirty="0"/>
              <a:t>You can add a title, x-axis label, and y-axis label using: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plt.title</a:t>
            </a:r>
            <a:r>
              <a:rPr lang="en-US" sz="2800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plt.xlabel</a:t>
            </a:r>
            <a:r>
              <a:rPr lang="en-US" sz="2800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plt.ylabel</a:t>
            </a:r>
            <a:r>
              <a:rPr lang="en-US" sz="2800" dirty="0"/>
              <a:t>()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Example: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36158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🔹 Explanation: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dirty="0" err="1"/>
              <a:t>plt.</a:t>
            </a:r>
            <a:r>
              <a:rPr lang="en-IN" sz="2400" b="1" dirty="0" err="1">
                <a:solidFill>
                  <a:srgbClr val="C00000"/>
                </a:solidFill>
              </a:rPr>
              <a:t>title</a:t>
            </a:r>
            <a:r>
              <a:rPr lang="en-IN" sz="2400" dirty="0"/>
              <a:t>("Graph with Titles and Labels", </a:t>
            </a:r>
            <a:r>
              <a:rPr lang="en-IN" sz="2400" dirty="0" err="1"/>
              <a:t>fontsize</a:t>
            </a:r>
            <a:r>
              <a:rPr lang="en-IN" sz="2400" dirty="0"/>
              <a:t>=14, </a:t>
            </a:r>
            <a:r>
              <a:rPr lang="en-IN" sz="2400" dirty="0" err="1"/>
              <a:t>fontweight</a:t>
            </a:r>
            <a:r>
              <a:rPr lang="en-IN" sz="2400" dirty="0"/>
              <a:t>='bold') → Adds bold title.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dirty="0" err="1"/>
              <a:t>plt.</a:t>
            </a:r>
            <a:r>
              <a:rPr lang="en-IN" sz="2400" b="1" dirty="0" err="1">
                <a:solidFill>
                  <a:srgbClr val="C00000"/>
                </a:solidFill>
              </a:rPr>
              <a:t>xlabel</a:t>
            </a:r>
            <a:r>
              <a:rPr lang="en-IN" sz="2400" dirty="0"/>
              <a:t>("Time (seconds)", </a:t>
            </a:r>
            <a:r>
              <a:rPr lang="en-IN" sz="2400" dirty="0" err="1"/>
              <a:t>fontsize</a:t>
            </a:r>
            <a:r>
              <a:rPr lang="en-IN" sz="2400" dirty="0"/>
              <a:t>=12) → Labels x-axis.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dirty="0" err="1"/>
              <a:t>plt.</a:t>
            </a:r>
            <a:r>
              <a:rPr lang="en-IN" sz="2400" b="1" dirty="0" err="1">
                <a:solidFill>
                  <a:srgbClr val="C00000"/>
                </a:solidFill>
              </a:rPr>
              <a:t>ylabel</a:t>
            </a:r>
            <a:r>
              <a:rPr lang="en-IN" sz="2400" dirty="0"/>
              <a:t>("Speed (m/s)", </a:t>
            </a:r>
            <a:r>
              <a:rPr lang="en-IN" sz="2400" dirty="0" err="1"/>
              <a:t>fontsize</a:t>
            </a:r>
            <a:r>
              <a:rPr lang="en-IN" sz="2400" dirty="0"/>
              <a:t>=12) → Labels y-axis.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5A343-0AF5-B5B3-F0C1-7557AA75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46" y="1017087"/>
            <a:ext cx="10971708" cy="209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08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4️⃣ Adding Multi-line Text</a:t>
            </a:r>
          </a:p>
          <a:p>
            <a:pPr marL="0" indent="0">
              <a:buNone/>
            </a:pPr>
            <a:r>
              <a:rPr lang="en-US" sz="2400" dirty="0"/>
              <a:t>If you need multi-line text, use \n (newline character) inside </a:t>
            </a:r>
            <a:r>
              <a:rPr lang="en-US" sz="2400" dirty="0" err="1"/>
              <a:t>plt.text</a:t>
            </a:r>
            <a:r>
              <a:rPr lang="en-US" sz="2400" dirty="0"/>
              <a:t>().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D4E55-6B5B-CEF1-91CC-01F9D339F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37486"/>
            <a:ext cx="10838095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50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Different Graph Types in Matplotlib 🎨📊</a:t>
            </a:r>
          </a:p>
          <a:p>
            <a:pPr marL="0" indent="0">
              <a:buNone/>
            </a:pPr>
            <a:r>
              <a:rPr lang="en-IN" sz="2800" dirty="0"/>
              <a:t>Matplotlib provides </a:t>
            </a:r>
            <a:r>
              <a:rPr lang="en-IN" sz="2800" b="1" dirty="0"/>
              <a:t>various types </a:t>
            </a:r>
            <a:r>
              <a:rPr lang="en-IN" sz="2800" dirty="0"/>
              <a:t>of graphs for visualizing data. The most commonly used graph types include:</a:t>
            </a:r>
          </a:p>
          <a:p>
            <a:pPr marL="0" indent="0">
              <a:buNone/>
            </a:pPr>
            <a:r>
              <a:rPr lang="en-IN" sz="2800" b="1" dirty="0"/>
              <a:t>1️⃣ Line Graph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plot</a:t>
            </a:r>
            <a:r>
              <a:rPr lang="en-IN" sz="2800" dirty="0"/>
              <a:t>()</a:t>
            </a:r>
          </a:p>
          <a:p>
            <a:pPr marL="0" indent="0">
              <a:buNone/>
            </a:pPr>
            <a:r>
              <a:rPr lang="en-IN" sz="2800" b="1" dirty="0"/>
              <a:t>2️⃣ Bar Chart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bar</a:t>
            </a:r>
            <a:r>
              <a:rPr lang="en-IN" sz="2800" dirty="0"/>
              <a:t>() (vertical) &amp;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barh</a:t>
            </a:r>
            <a:r>
              <a:rPr lang="en-IN" sz="2800" dirty="0"/>
              <a:t>() (horizontal)</a:t>
            </a:r>
          </a:p>
          <a:p>
            <a:pPr marL="0" indent="0">
              <a:buNone/>
            </a:pPr>
            <a:r>
              <a:rPr lang="en-IN" sz="2800" b="1" dirty="0"/>
              <a:t>3️⃣ Histogram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hist</a:t>
            </a:r>
            <a:r>
              <a:rPr lang="en-IN" sz="2800" dirty="0"/>
              <a:t>()</a:t>
            </a:r>
          </a:p>
          <a:p>
            <a:pPr marL="0" indent="0">
              <a:buNone/>
            </a:pPr>
            <a:r>
              <a:rPr lang="en-IN" sz="2800" b="1" dirty="0"/>
              <a:t>4️⃣ Scatter Plot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scatter</a:t>
            </a:r>
            <a:r>
              <a:rPr lang="en-IN" sz="2800" dirty="0"/>
              <a:t>()</a:t>
            </a:r>
          </a:p>
          <a:p>
            <a:pPr marL="0" indent="0">
              <a:buNone/>
            </a:pPr>
            <a:r>
              <a:rPr lang="en-IN" sz="2800" b="1" dirty="0"/>
              <a:t>5️⃣ Pie Chart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pie</a:t>
            </a:r>
            <a:r>
              <a:rPr lang="en-IN" sz="2800" dirty="0"/>
              <a:t>()</a:t>
            </a:r>
          </a:p>
          <a:p>
            <a:pPr marL="0" indent="0">
              <a:buNone/>
            </a:pPr>
            <a:r>
              <a:rPr lang="en-IN" sz="2800" b="1" dirty="0"/>
              <a:t>6️⃣ Box Plot (Box-and-Whisker Plot) </a:t>
            </a:r>
            <a:r>
              <a:rPr lang="en-IN" sz="2800" dirty="0"/>
              <a:t>→ </a:t>
            </a:r>
            <a:r>
              <a:rPr lang="en-IN" sz="2800" dirty="0" err="1"/>
              <a:t>plt.</a:t>
            </a:r>
            <a:r>
              <a:rPr lang="en-IN" sz="2800" b="1" dirty="0" err="1">
                <a:solidFill>
                  <a:srgbClr val="C00000"/>
                </a:solidFill>
              </a:rPr>
              <a:t>boxplot</a:t>
            </a:r>
            <a:r>
              <a:rPr lang="en-IN" sz="2800"/>
              <a:t>()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4117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613904"/>
            <a:ext cx="10659110" cy="1416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1️⃣ Line Graph (</a:t>
            </a:r>
            <a:r>
              <a:rPr lang="en-US" sz="2400" b="1" dirty="0" err="1"/>
              <a:t>plt.plot</a:t>
            </a:r>
            <a:r>
              <a:rPr lang="en-US" sz="2400" b="1" dirty="0"/>
              <a:t>):</a:t>
            </a:r>
          </a:p>
          <a:p>
            <a:pPr marL="0" indent="0">
              <a:buNone/>
            </a:pPr>
            <a:r>
              <a:rPr lang="en-US" sz="2400" dirty="0"/>
              <a:t>Used to visualize trends over time.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CD0E1941-4FE2-C878-204F-2113A41116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5891" r="3317" b="11588"/>
          <a:stretch/>
        </p:blipFill>
        <p:spPr>
          <a:xfrm>
            <a:off x="3147239" y="1492480"/>
            <a:ext cx="8864312" cy="518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89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27051"/>
            <a:ext cx="10659110" cy="5049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🔹 Explanation:</a:t>
            </a:r>
          </a:p>
          <a:p>
            <a:pPr marL="0" indent="0">
              <a:buNone/>
            </a:pPr>
            <a:r>
              <a:rPr lang="en-IN" sz="2800" dirty="0"/>
              <a:t>✅ marker='o' → Adds dots at each data point.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linestyle</a:t>
            </a:r>
            <a:r>
              <a:rPr lang="en-IN" sz="2800" dirty="0"/>
              <a:t>='-' → Connects points with a line.</a:t>
            </a:r>
          </a:p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dirty="0" err="1"/>
              <a:t>plt.grid</a:t>
            </a:r>
            <a:r>
              <a:rPr lang="en-IN" sz="2800" dirty="0"/>
              <a:t>(True) → Adds grid for better readability.</a:t>
            </a:r>
          </a:p>
        </p:txBody>
      </p:sp>
    </p:spTree>
    <p:extLst>
      <p:ext uri="{BB962C8B-B14F-4D97-AF65-F5344CB8AC3E}">
        <p14:creationId xmlns:p14="http://schemas.microsoft.com/office/powerpoint/2010/main" val="1378477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a line">
            <a:extLst>
              <a:ext uri="{FF2B5EF4-FFF2-40B4-BE49-F238E27FC236}">
                <a16:creationId xmlns:a16="http://schemas.microsoft.com/office/drawing/2014/main" id="{D1201098-EEDF-B0AB-A5BF-5DC179659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643" y="538982"/>
            <a:ext cx="7706713" cy="5780035"/>
          </a:xfrm>
        </p:spPr>
      </p:pic>
    </p:spTree>
    <p:extLst>
      <p:ext uri="{BB962C8B-B14F-4D97-AF65-F5344CB8AC3E}">
        <p14:creationId xmlns:p14="http://schemas.microsoft.com/office/powerpoint/2010/main" val="2248095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2️⃣ Bar Chart (</a:t>
            </a:r>
            <a:r>
              <a:rPr lang="en-US" sz="2400" b="1" dirty="0" err="1"/>
              <a:t>plt.bar</a:t>
            </a:r>
            <a:r>
              <a:rPr lang="en-US" sz="2400" b="1" dirty="0"/>
              <a:t> &amp; </a:t>
            </a:r>
            <a:r>
              <a:rPr lang="en-US" sz="2400" b="1" dirty="0" err="1"/>
              <a:t>plt.barh</a:t>
            </a:r>
            <a:r>
              <a:rPr lang="en-US" sz="2400" b="1" dirty="0"/>
              <a:t>): </a:t>
            </a:r>
            <a:r>
              <a:rPr lang="en-US" sz="2400" dirty="0"/>
              <a:t>Used to compare </a:t>
            </a:r>
            <a:r>
              <a:rPr lang="en-US" sz="2400" b="1" dirty="0">
                <a:solidFill>
                  <a:srgbClr val="C00000"/>
                </a:solidFill>
              </a:rPr>
              <a:t>categories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 (</a:t>
            </a:r>
            <a:r>
              <a:rPr lang="en-US" sz="2400" b="1" dirty="0">
                <a:solidFill>
                  <a:srgbClr val="C00000"/>
                </a:solidFill>
              </a:rPr>
              <a:t>Vertical</a:t>
            </a:r>
            <a:r>
              <a:rPr lang="en-US" sz="2400" b="1" dirty="0"/>
              <a:t> Bar Chart):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✅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bar</a:t>
            </a:r>
            <a:r>
              <a:rPr lang="en-US" sz="2400" dirty="0"/>
              <a:t>() → </a:t>
            </a:r>
            <a:r>
              <a:rPr lang="en-US" sz="2400" b="1" dirty="0"/>
              <a:t>Vertical</a:t>
            </a:r>
            <a:r>
              <a:rPr lang="en-US" sz="2400" dirty="0"/>
              <a:t> bars.</a:t>
            </a:r>
          </a:p>
          <a:p>
            <a:pPr marL="0" indent="0">
              <a:buNone/>
            </a:pPr>
            <a:r>
              <a:rPr lang="en-US" sz="2400" dirty="0"/>
              <a:t>✅ </a:t>
            </a:r>
            <a:r>
              <a:rPr lang="en-US" sz="2400" dirty="0" err="1"/>
              <a:t>plt.</a:t>
            </a:r>
            <a:r>
              <a:rPr lang="en-US" sz="2400" b="1" dirty="0" err="1">
                <a:solidFill>
                  <a:srgbClr val="C00000"/>
                </a:solidFill>
              </a:rPr>
              <a:t>barh</a:t>
            </a:r>
            <a:r>
              <a:rPr lang="en-US" sz="2400" dirty="0"/>
              <a:t>() → </a:t>
            </a:r>
            <a:r>
              <a:rPr lang="en-US" sz="2400" b="1" dirty="0"/>
              <a:t>Horizontal</a:t>
            </a:r>
            <a:r>
              <a:rPr lang="en-US" sz="2400" dirty="0"/>
              <a:t> bars.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CECDEB06-DCA5-E8B1-88EA-84FACD850A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5" t="6512" r="4650" b="5271"/>
          <a:stretch/>
        </p:blipFill>
        <p:spPr>
          <a:xfrm>
            <a:off x="4890977" y="1368815"/>
            <a:ext cx="7081284" cy="532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92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green bars&#10;&#10;Description automatically generated with medium confidence">
            <a:extLst>
              <a:ext uri="{FF2B5EF4-FFF2-40B4-BE49-F238E27FC236}">
                <a16:creationId xmlns:a16="http://schemas.microsoft.com/office/drawing/2014/main" id="{37481FDD-1DB6-EC7B-459A-1704D00B3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617" y="566712"/>
            <a:ext cx="7632766" cy="57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19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 (Horizontal Bar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FA861-D331-B60D-FAF1-CE9DC170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04" y="1508530"/>
            <a:ext cx="7894576" cy="285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45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AB6663FD-8866-29DF-E591-93F70AFEC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50" y="557940"/>
            <a:ext cx="7440900" cy="55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19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20" y="284295"/>
            <a:ext cx="10323152" cy="1278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3️⃣ Histogram (</a:t>
            </a:r>
            <a:r>
              <a:rPr lang="en-US" sz="2400" b="1" dirty="0" err="1"/>
              <a:t>plt.hist</a:t>
            </a:r>
            <a:r>
              <a:rPr lang="en-US" sz="2400" b="1" dirty="0"/>
              <a:t>): </a:t>
            </a:r>
            <a:r>
              <a:rPr lang="en-US" sz="2400" dirty="0"/>
              <a:t>Used to visualize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distribution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C3B28D0-DFD3-C09B-212A-56A2E0EAEB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5" t="5736" r="4952" b="6822"/>
          <a:stretch/>
        </p:blipFill>
        <p:spPr>
          <a:xfrm>
            <a:off x="4051003" y="681037"/>
            <a:ext cx="7846829" cy="5996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6CCC87-1F02-37E6-0707-D4CF6156BBF9}"/>
              </a:ext>
            </a:extLst>
          </p:cNvPr>
          <p:cNvSpPr txBox="1"/>
          <p:nvPr/>
        </p:nvSpPr>
        <p:spPr>
          <a:xfrm>
            <a:off x="156830" y="1808111"/>
            <a:ext cx="38941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/>
              <a:t>🔹 Explanation:</a:t>
            </a:r>
          </a:p>
          <a:p>
            <a:pPr marL="0" indent="0">
              <a:buNone/>
            </a:pPr>
            <a:r>
              <a:rPr lang="en-IN" sz="2400" dirty="0"/>
              <a:t>✅ bins=20 → Defines the number of bars (bins).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dirty="0" err="1"/>
              <a:t>np.random.randn</a:t>
            </a:r>
            <a:r>
              <a:rPr lang="en-IN" sz="2400" dirty="0"/>
              <a:t>(1000) → Generates 1000 random numbers.</a:t>
            </a:r>
          </a:p>
        </p:txBody>
      </p:sp>
    </p:spTree>
    <p:extLst>
      <p:ext uri="{BB962C8B-B14F-4D97-AF65-F5344CB8AC3E}">
        <p14:creationId xmlns:p14="http://schemas.microsoft.com/office/powerpoint/2010/main" val="3575964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E3D833CF-2750-A4A5-ED3A-091C742A5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80" y="435135"/>
            <a:ext cx="7983640" cy="598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87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4️⃣ Scatter Plot (</a:t>
            </a:r>
            <a:r>
              <a:rPr lang="en-US" sz="2400" b="1" dirty="0" err="1"/>
              <a:t>plt.scatter</a:t>
            </a:r>
            <a:r>
              <a:rPr lang="en-US" sz="2400" b="1" dirty="0"/>
              <a:t>) </a:t>
            </a:r>
            <a:r>
              <a:rPr lang="en-US" sz="2400" dirty="0"/>
              <a:t>Used to show the </a:t>
            </a:r>
            <a:r>
              <a:rPr lang="en-US" sz="2400" b="1" dirty="0">
                <a:solidFill>
                  <a:srgbClr val="C00000"/>
                </a:solidFill>
              </a:rPr>
              <a:t>relationship</a:t>
            </a:r>
            <a:r>
              <a:rPr lang="en-US" sz="2400" dirty="0"/>
              <a:t> between two variables.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A44ED596-D155-49FD-9FD6-B25A41BA72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" t="16891" r="4286" b="7753"/>
          <a:stretch/>
        </p:blipFill>
        <p:spPr>
          <a:xfrm>
            <a:off x="3136604" y="1467293"/>
            <a:ext cx="8771861" cy="516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12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red dots">
            <a:extLst>
              <a:ext uri="{FF2B5EF4-FFF2-40B4-BE49-F238E27FC236}">
                <a16:creationId xmlns:a16="http://schemas.microsoft.com/office/drawing/2014/main" id="{E8E2F647-76E5-6692-EA35-7BA69C28D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69" y="618726"/>
            <a:ext cx="7494062" cy="5620547"/>
          </a:xfrm>
        </p:spPr>
      </p:pic>
    </p:spTree>
    <p:extLst>
      <p:ext uri="{BB962C8B-B14F-4D97-AF65-F5344CB8AC3E}">
        <p14:creationId xmlns:p14="http://schemas.microsoft.com/office/powerpoint/2010/main" val="3381961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5️⃣ Pie Chart (</a:t>
            </a:r>
            <a:r>
              <a:rPr lang="en-US" sz="2400" b="1" dirty="0" err="1"/>
              <a:t>plt.pie</a:t>
            </a:r>
            <a:r>
              <a:rPr lang="en-US" sz="2400" b="1" dirty="0"/>
              <a:t>): </a:t>
            </a:r>
            <a:r>
              <a:rPr lang="en-US" sz="2400" dirty="0"/>
              <a:t>Used for </a:t>
            </a:r>
            <a:r>
              <a:rPr lang="en-US" sz="2400" b="1" dirty="0">
                <a:solidFill>
                  <a:srgbClr val="C00000"/>
                </a:solidFill>
              </a:rPr>
              <a:t>percentage-based</a:t>
            </a:r>
            <a:r>
              <a:rPr lang="en-US" sz="2400" dirty="0"/>
              <a:t> data.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IN" sz="2400" b="1" dirty="0"/>
              <a:t>✅ </a:t>
            </a:r>
            <a:r>
              <a:rPr lang="en-IN" sz="2400" b="1" dirty="0" err="1"/>
              <a:t>autopct</a:t>
            </a:r>
            <a:r>
              <a:rPr lang="en-IN" sz="2400" b="1" dirty="0"/>
              <a:t>='%1.1f%%’ → </a:t>
            </a:r>
          </a:p>
          <a:p>
            <a:pPr marL="0" indent="0">
              <a:buNone/>
            </a:pPr>
            <a:r>
              <a:rPr lang="en-IN" sz="2400" dirty="0"/>
              <a:t>Displays percentage values.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082BDE6-C350-6243-9907-648B3FF178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" t="5891" r="5211" b="15626"/>
          <a:stretch/>
        </p:blipFill>
        <p:spPr>
          <a:xfrm>
            <a:off x="4561368" y="1297171"/>
            <a:ext cx="7336466" cy="538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681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ie chart with different colored circles">
            <a:extLst>
              <a:ext uri="{FF2B5EF4-FFF2-40B4-BE49-F238E27FC236}">
                <a16:creationId xmlns:a16="http://schemas.microsoft.com/office/drawing/2014/main" id="{6CBD7EBB-BAA3-6872-7824-AC2435735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728" y="685530"/>
            <a:ext cx="7557858" cy="5668394"/>
          </a:xfrm>
        </p:spPr>
      </p:pic>
    </p:spTree>
    <p:extLst>
      <p:ext uri="{BB962C8B-B14F-4D97-AF65-F5344CB8AC3E}">
        <p14:creationId xmlns:p14="http://schemas.microsoft.com/office/powerpoint/2010/main" val="1718683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411885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6️⃣ Box Plot (</a:t>
            </a:r>
            <a:r>
              <a:rPr lang="en-US" sz="2400" b="1" dirty="0" err="1"/>
              <a:t>plt.boxplot</a:t>
            </a:r>
            <a:r>
              <a:rPr lang="en-US" sz="2400" b="1" dirty="0"/>
              <a:t>): </a:t>
            </a:r>
            <a:r>
              <a:rPr lang="en-US" sz="2400" dirty="0"/>
              <a:t>Used to show the </a:t>
            </a:r>
            <a:r>
              <a:rPr lang="en-US" sz="2400" b="1" dirty="0">
                <a:solidFill>
                  <a:srgbClr val="C00000"/>
                </a:solidFill>
              </a:rPr>
              <a:t>distribution</a:t>
            </a:r>
            <a:r>
              <a:rPr lang="en-US" sz="2400" dirty="0"/>
              <a:t> of data.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88EDB87-51AA-F728-B7AB-367A15C84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t="8222" r="5529" b="10458"/>
          <a:stretch/>
        </p:blipFill>
        <p:spPr>
          <a:xfrm>
            <a:off x="987218" y="1464509"/>
            <a:ext cx="10239154" cy="512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34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box plot&#10;&#10;Description automatically generated">
            <a:extLst>
              <a:ext uri="{FF2B5EF4-FFF2-40B4-BE49-F238E27FC236}">
                <a16:creationId xmlns:a16="http://schemas.microsoft.com/office/drawing/2014/main" id="{327D4542-82D9-676F-7116-D02A56EDA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794" y="642469"/>
            <a:ext cx="7430747" cy="5573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395E0-551C-0900-2E66-85FB2449AA43}"/>
              </a:ext>
            </a:extLst>
          </p:cNvPr>
          <p:cNvSpPr txBox="1"/>
          <p:nvPr/>
        </p:nvSpPr>
        <p:spPr>
          <a:xfrm>
            <a:off x="295053" y="1553482"/>
            <a:ext cx="3649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🔹 Explanation:</a:t>
            </a:r>
          </a:p>
          <a:p>
            <a:r>
              <a:rPr lang="en-US" sz="2800" dirty="0"/>
              <a:t>✅ Box plot shows </a:t>
            </a:r>
            <a:r>
              <a:rPr lang="en-US" sz="2800" b="1" dirty="0">
                <a:solidFill>
                  <a:srgbClr val="C00000"/>
                </a:solidFill>
              </a:rPr>
              <a:t>median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quartiles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C00000"/>
                </a:solidFill>
              </a:rPr>
              <a:t>outliers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90636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502229"/>
            <a:ext cx="10659110" cy="4674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rgbClr val="002060"/>
                </a:solidFill>
              </a:rPr>
              <a:t>Getting and setting values:</a:t>
            </a:r>
          </a:p>
          <a:p>
            <a:pPr marL="0" indent="0">
              <a:buNone/>
            </a:pPr>
            <a:r>
              <a:rPr lang="en-US" sz="2800" dirty="0"/>
              <a:t>In Matplotlib, we often want to:</a:t>
            </a:r>
          </a:p>
          <a:p>
            <a:pPr marL="0" indent="0">
              <a:buNone/>
            </a:pPr>
            <a:r>
              <a:rPr lang="en-US" sz="2800" dirty="0"/>
              <a:t>✅ </a:t>
            </a:r>
            <a:r>
              <a:rPr lang="en-US" sz="2800" b="1" dirty="0">
                <a:solidFill>
                  <a:srgbClr val="C00000"/>
                </a:solidFill>
              </a:rPr>
              <a:t>Get</a:t>
            </a:r>
            <a:r>
              <a:rPr lang="en-US" sz="2800" dirty="0"/>
              <a:t> values (like current x/y limits, labels, titles, etc.)</a:t>
            </a:r>
          </a:p>
          <a:p>
            <a:pPr marL="0" indent="0">
              <a:buNone/>
            </a:pPr>
            <a:r>
              <a:rPr lang="en-US" sz="2800" dirty="0"/>
              <a:t>✅ </a:t>
            </a:r>
            <a:r>
              <a:rPr lang="en-US" sz="2800" b="1" dirty="0">
                <a:solidFill>
                  <a:srgbClr val="C00000"/>
                </a:solidFill>
              </a:rPr>
              <a:t>Set</a:t>
            </a:r>
            <a:r>
              <a:rPr lang="en-US" sz="2800" dirty="0"/>
              <a:t> values (like changing axis labels, limits, tick marks, titles, etc.)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84588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435429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✅ 1. Setting Values (Using Setter Methods)</a:t>
            </a:r>
          </a:p>
          <a:p>
            <a:pPr marL="0" indent="0">
              <a:buNone/>
            </a:pPr>
            <a:r>
              <a:rPr lang="en-US" sz="2400" b="1" dirty="0"/>
              <a:t>➤ 1.1 Set </a:t>
            </a:r>
            <a:r>
              <a:rPr lang="en-US" sz="2400" b="1" dirty="0">
                <a:solidFill>
                  <a:srgbClr val="C00000"/>
                </a:solidFill>
              </a:rPr>
              <a:t>Title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Labels</a:t>
            </a:r>
            <a:r>
              <a:rPr lang="en-US" sz="2400" b="1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Legend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1D957-7590-A343-C4D2-B38F014A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53" y="1392381"/>
            <a:ext cx="7782734" cy="521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921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➤ 1.2 Set </a:t>
            </a:r>
            <a:r>
              <a:rPr lang="en-US" sz="2800" b="1" dirty="0">
                <a:solidFill>
                  <a:srgbClr val="C00000"/>
                </a:solidFill>
              </a:rPr>
              <a:t>X</a:t>
            </a:r>
            <a:r>
              <a:rPr lang="en-US" sz="2800" b="1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Y</a:t>
            </a:r>
            <a:r>
              <a:rPr lang="en-US" sz="2800" b="1" dirty="0"/>
              <a:t> Limits: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C4626-6A91-7B43-7636-23288F0E2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" y="1701283"/>
            <a:ext cx="11168743" cy="23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59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/>
              <a:t>➤ </a:t>
            </a:r>
            <a:r>
              <a:rPr lang="en-IN" sz="2800" b="1"/>
              <a:t>1.3 Set </a:t>
            </a:r>
            <a:r>
              <a:rPr lang="en-IN" sz="2800" b="1">
                <a:solidFill>
                  <a:srgbClr val="C00000"/>
                </a:solidFill>
              </a:rPr>
              <a:t>Ticks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6A317-4F73-805B-A5B3-033F88C55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23" y="2044701"/>
            <a:ext cx="11016343" cy="23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93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3C43-A054-2CF9-F3FF-82FD1DA6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027E-D918-3BBF-EB9C-7AF62F4A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349829"/>
            <a:ext cx="10659110" cy="4827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✅ 2. Getting Values (Using </a:t>
            </a:r>
            <a:r>
              <a:rPr lang="en-US" sz="3200" b="1" dirty="0">
                <a:solidFill>
                  <a:srgbClr val="C00000"/>
                </a:solidFill>
              </a:rPr>
              <a:t>Getter</a:t>
            </a:r>
            <a:r>
              <a:rPr lang="en-US" sz="3200" b="1" dirty="0"/>
              <a:t> Methods)</a:t>
            </a:r>
          </a:p>
          <a:p>
            <a:pPr marL="0" indent="0">
              <a:buNone/>
            </a:pPr>
            <a:r>
              <a:rPr lang="en-US" sz="3200" dirty="0"/>
              <a:t>Once you've created a plot, you might want to </a:t>
            </a:r>
            <a:r>
              <a:rPr lang="en-US" sz="3200" b="1" dirty="0">
                <a:solidFill>
                  <a:srgbClr val="C00000"/>
                </a:solidFill>
              </a:rPr>
              <a:t>get current settings </a:t>
            </a:r>
            <a:r>
              <a:rPr lang="en-US" sz="3200" dirty="0"/>
              <a:t>like title, labels, limits, etc.</a:t>
            </a:r>
          </a:p>
        </p:txBody>
      </p:sp>
    </p:spTree>
    <p:extLst>
      <p:ext uri="{BB962C8B-B14F-4D97-AF65-F5344CB8AC3E}">
        <p14:creationId xmlns:p14="http://schemas.microsoft.com/office/powerpoint/2010/main" val="10999179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1364-3B18-BF3D-609F-1A6588A7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6CA6-C3AA-1617-0FB0-28CB28CD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25286"/>
            <a:ext cx="5866813" cy="5246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➤ 2.1 Getting </a:t>
            </a:r>
            <a:r>
              <a:rPr lang="en-US" sz="2800" b="1" dirty="0">
                <a:solidFill>
                  <a:srgbClr val="C00000"/>
                </a:solidFill>
              </a:rPr>
              <a:t>Title</a:t>
            </a:r>
            <a:r>
              <a:rPr lang="en-US" sz="2800" b="1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Labels</a:t>
            </a:r>
          </a:p>
          <a:p>
            <a:r>
              <a:rPr lang="en-US" sz="2600" b="1" dirty="0">
                <a:solidFill>
                  <a:schemeClr val="tx1"/>
                </a:solidFill>
              </a:rPr>
              <a:t>fig, ax = </a:t>
            </a:r>
            <a:r>
              <a:rPr lang="en-US" sz="2600" b="1" dirty="0" err="1">
                <a:solidFill>
                  <a:schemeClr val="tx1"/>
                </a:solidFill>
              </a:rPr>
              <a:t>plt.subplots</a:t>
            </a:r>
            <a:r>
              <a:rPr lang="en-US" sz="2600" b="1" dirty="0">
                <a:solidFill>
                  <a:schemeClr val="tx1"/>
                </a:solidFill>
              </a:rPr>
              <a:t>() – </a:t>
            </a:r>
            <a:r>
              <a:rPr lang="en-US" sz="2600" b="1" dirty="0">
                <a:solidFill>
                  <a:srgbClr val="C00000"/>
                </a:solidFill>
              </a:rPr>
              <a:t>Object-Oriented Interface</a:t>
            </a:r>
          </a:p>
          <a:p>
            <a:r>
              <a:rPr lang="en-US" sz="2600" dirty="0"/>
              <a:t>This is the object-oriented (OO) approach, where:</a:t>
            </a:r>
          </a:p>
          <a:p>
            <a:r>
              <a:rPr lang="en-US" sz="2600" dirty="0"/>
              <a:t>fig → represents the </a:t>
            </a:r>
            <a:r>
              <a:rPr lang="en-US" sz="2600" b="1" dirty="0">
                <a:solidFill>
                  <a:srgbClr val="C00000"/>
                </a:solidFill>
              </a:rPr>
              <a:t>whole figure </a:t>
            </a:r>
            <a:r>
              <a:rPr lang="en-US" sz="2600" dirty="0"/>
              <a:t>(canvas).</a:t>
            </a:r>
          </a:p>
          <a:p>
            <a:r>
              <a:rPr lang="en-US" sz="2600" dirty="0"/>
              <a:t>ax → represents a </a:t>
            </a:r>
            <a:r>
              <a:rPr lang="en-US" sz="2600" b="1" dirty="0">
                <a:solidFill>
                  <a:srgbClr val="C00000"/>
                </a:solidFill>
              </a:rPr>
              <a:t>single plot </a:t>
            </a:r>
            <a:r>
              <a:rPr lang="en-US" sz="2600" dirty="0"/>
              <a:t>(subplot).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sz="2600" dirty="0"/>
              <a:t>🔸 It gives you more control, better customization, and is great when you work with multiple plots.</a:t>
            </a:r>
            <a:endParaRPr lang="en-IN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041ED-67BC-D96B-C589-21AAD4FD1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53" y="0"/>
            <a:ext cx="5547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48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7F7F-A9F8-C759-B3D4-FE1CE6C87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80E61-D6EF-8EB4-80EB-B3C205BB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8" y="968828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➤ 2.2 Getting Axis Limits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BC02F-7C25-6CDB-E751-A27C8E9E3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570" y="0"/>
            <a:ext cx="7197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21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0252-E056-7C59-FC52-A022F5FC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7A6EA-7DA2-4164-4A8D-091E775A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36913"/>
            <a:ext cx="5046617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➤ </a:t>
            </a:r>
            <a:r>
              <a:rPr lang="en-US" sz="2800" b="1" dirty="0"/>
              <a:t>2.3 Getting Ticks and Tick Labels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4FC32-E7BA-39EB-9A8F-233496D8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353" y="424582"/>
            <a:ext cx="6009524" cy="5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84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6CBA1-0422-D23B-2486-AA7758C5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07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9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4110" name="Oval 4109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Oval 4110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2" name="Oval 4111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3" name="Oval 4112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4" name="Oval 4113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5" name="Oval 4114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6" name="Oval 4115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7" name="Oval 4116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patches — Matplotlib 2.0.2 documentation">
            <a:extLst>
              <a:ext uri="{FF2B5EF4-FFF2-40B4-BE49-F238E27FC236}">
                <a16:creationId xmlns:a16="http://schemas.microsoft.com/office/drawing/2014/main" id="{A50B0567-3724-E80E-8793-1A7977B09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3826" r="3354" b="4852"/>
          <a:stretch/>
        </p:blipFill>
        <p:spPr bwMode="auto">
          <a:xfrm>
            <a:off x="7563308" y="1491343"/>
            <a:ext cx="3618232" cy="370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C5C0CC-638D-CFB9-7EFE-4AE3D0C76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05" y="711666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🧩 Patches in Matplotlib?</a:t>
            </a:r>
          </a:p>
          <a:p>
            <a:pPr marL="0" indent="0">
              <a:buNone/>
            </a:pPr>
            <a:r>
              <a:rPr lang="en-US" sz="2400" dirty="0"/>
              <a:t>In Matplotlib, a Patch is a </a:t>
            </a:r>
            <a:r>
              <a:rPr lang="en-US" sz="2400" b="1" dirty="0">
                <a:solidFill>
                  <a:srgbClr val="C00000"/>
                </a:solidFill>
              </a:rPr>
              <a:t>2D shape </a:t>
            </a:r>
            <a:r>
              <a:rPr lang="en-US" sz="2400" dirty="0"/>
              <a:t>used to draw things like:</a:t>
            </a:r>
          </a:p>
          <a:p>
            <a:pPr marL="0" indent="0">
              <a:buNone/>
            </a:pPr>
            <a:r>
              <a:rPr lang="en-US" sz="2400" dirty="0"/>
              <a:t>✅ Circles</a:t>
            </a:r>
          </a:p>
          <a:p>
            <a:pPr marL="0" indent="0">
              <a:buNone/>
            </a:pPr>
            <a:r>
              <a:rPr lang="en-US" sz="2400" dirty="0"/>
              <a:t>✅ Rectangles</a:t>
            </a:r>
          </a:p>
          <a:p>
            <a:pPr marL="0" indent="0">
              <a:buNone/>
            </a:pPr>
            <a:r>
              <a:rPr lang="en-US" sz="2400" dirty="0"/>
              <a:t>✅ Polygons</a:t>
            </a:r>
          </a:p>
          <a:p>
            <a:pPr marL="0" indent="0">
              <a:buNone/>
            </a:pPr>
            <a:r>
              <a:rPr lang="en-US" sz="2400" dirty="0"/>
              <a:t>✅ Ellipses</a:t>
            </a:r>
          </a:p>
          <a:p>
            <a:pPr marL="0" indent="0">
              <a:buNone/>
            </a:pPr>
            <a:r>
              <a:rPr lang="en-US" sz="2400" dirty="0"/>
              <a:t>✅ Arrows</a:t>
            </a:r>
          </a:p>
          <a:p>
            <a:pPr marL="0" indent="0">
              <a:buNone/>
            </a:pPr>
            <a:r>
              <a:rPr lang="en-US" sz="2400" dirty="0"/>
              <a:t>✅ Wedges (like pie chart slices)</a:t>
            </a:r>
          </a:p>
          <a:p>
            <a:pPr marL="0" indent="0">
              <a:buNone/>
            </a:pPr>
            <a:r>
              <a:rPr lang="en-US" sz="2400" dirty="0"/>
              <a:t>... and more.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dirty="0"/>
              <a:t>They are part of the </a:t>
            </a:r>
            <a:r>
              <a:rPr lang="en-US" sz="2400" b="1" dirty="0" err="1"/>
              <a:t>matplotlib.</a:t>
            </a:r>
            <a:r>
              <a:rPr lang="en-US" sz="2400" b="1" dirty="0" err="1">
                <a:solidFill>
                  <a:srgbClr val="C00000"/>
                </a:solidFill>
              </a:rPr>
              <a:t>patches</a:t>
            </a:r>
            <a:r>
              <a:rPr lang="en-US" sz="2400" b="1" dirty="0"/>
              <a:t> </a:t>
            </a:r>
            <a:r>
              <a:rPr lang="en-US" sz="2400" dirty="0"/>
              <a:t>module and are used to manually draw shapes on a plot or figure.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326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26A3-CBDB-EC23-AF5D-FCF46675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E7E9-4BE4-022B-9A55-34A26333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4" y="1153885"/>
            <a:ext cx="10151836" cy="5023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🔧 Why Use Patches?</a:t>
            </a:r>
          </a:p>
          <a:p>
            <a:pPr marL="0" indent="0">
              <a:buNone/>
            </a:pPr>
            <a:r>
              <a:rPr lang="en-US" sz="2800" dirty="0"/>
              <a:t>Patches are helpful when you want to: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Highlight</a:t>
            </a:r>
            <a:r>
              <a:rPr lang="en-US" sz="2800" dirty="0"/>
              <a:t> a specific region.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Overlay</a:t>
            </a:r>
            <a:r>
              <a:rPr lang="en-US" sz="2800" dirty="0"/>
              <a:t> custom shapes.</a:t>
            </a:r>
          </a:p>
          <a:p>
            <a:r>
              <a:rPr lang="en-US" sz="2800" dirty="0"/>
              <a:t>Create </a:t>
            </a:r>
            <a:r>
              <a:rPr lang="en-US" sz="2800" b="1" dirty="0">
                <a:solidFill>
                  <a:srgbClr val="C00000"/>
                </a:solidFill>
              </a:rPr>
              <a:t>custom</a:t>
            </a:r>
            <a:r>
              <a:rPr lang="en-US" sz="2800" dirty="0"/>
              <a:t> legends or markers.</a:t>
            </a:r>
          </a:p>
          <a:p>
            <a:r>
              <a:rPr lang="en-US" sz="2800" dirty="0"/>
              <a:t>Make </a:t>
            </a:r>
            <a:r>
              <a:rPr lang="en-US" sz="2800" b="1" dirty="0">
                <a:solidFill>
                  <a:srgbClr val="C00000"/>
                </a:solidFill>
              </a:rPr>
              <a:t>geometric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art</a:t>
            </a:r>
            <a:r>
              <a:rPr lang="en-US" sz="2800" dirty="0"/>
              <a:t> or annotate specific points.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548205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50D2-D9C9-FB99-4DB1-D91426D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5283-887D-8BB2-77AB-71A16399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435429"/>
            <a:ext cx="10659110" cy="583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🧪 Example: Drawing a </a:t>
            </a:r>
            <a:r>
              <a:rPr lang="en-US" sz="2400" b="1" dirty="0">
                <a:solidFill>
                  <a:srgbClr val="C00000"/>
                </a:solidFill>
              </a:rPr>
              <a:t>Rectangle</a:t>
            </a:r>
            <a:r>
              <a:rPr lang="en-US" sz="2400" b="1" dirty="0"/>
              <a:t> with Patch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3AC79-3198-4C67-FDFD-475130C2F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909" y="942292"/>
            <a:ext cx="9108809" cy="56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37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AB7A-0EF5-E87D-70CA-599A5468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3942-801C-D590-A10A-D59331959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54" y="794657"/>
            <a:ext cx="11093496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Where ,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🎨 So this rectangle </a:t>
            </a:r>
            <a:r>
              <a:rPr lang="en-US" sz="2400" b="1" dirty="0">
                <a:solidFill>
                  <a:srgbClr val="C00000"/>
                </a:solidFill>
              </a:rPr>
              <a:t>starts</a:t>
            </a:r>
            <a:r>
              <a:rPr lang="en-US" sz="2400" b="1" dirty="0"/>
              <a:t> at point </a:t>
            </a:r>
            <a:r>
              <a:rPr lang="en-US" sz="2400" dirty="0"/>
              <a:t>(1,1), goes </a:t>
            </a:r>
            <a:r>
              <a:rPr lang="en-US" sz="2400" b="1" dirty="0"/>
              <a:t>2 units to the </a:t>
            </a:r>
            <a:r>
              <a:rPr lang="en-US" sz="2400" b="1" dirty="0">
                <a:solidFill>
                  <a:srgbClr val="C00000"/>
                </a:solidFill>
              </a:rPr>
              <a:t>right</a:t>
            </a:r>
            <a:r>
              <a:rPr lang="en-US" sz="2400" dirty="0"/>
              <a:t>, and </a:t>
            </a:r>
            <a:r>
              <a:rPr lang="en-US" sz="2400" b="1" dirty="0"/>
              <a:t>3 units </a:t>
            </a:r>
            <a:r>
              <a:rPr lang="en-US" sz="2400" b="1" dirty="0">
                <a:solidFill>
                  <a:srgbClr val="C00000"/>
                </a:solidFill>
              </a:rPr>
              <a:t>up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DC4E2-09F8-D4E5-EE41-0273BFEE6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4" y="794657"/>
            <a:ext cx="11506291" cy="62056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215702-9D1A-C3A3-857D-74283A9FA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616117"/>
              </p:ext>
            </p:extLst>
          </p:nvPr>
        </p:nvGraphicFramePr>
        <p:xfrm>
          <a:off x="1698760" y="1856420"/>
          <a:ext cx="9339354" cy="26394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5383">
                  <a:extLst>
                    <a:ext uri="{9D8B030D-6E8A-4147-A177-3AD203B41FA5}">
                      <a16:colId xmlns:a16="http://schemas.microsoft.com/office/drawing/2014/main" val="43982339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161864434"/>
                    </a:ext>
                  </a:extLst>
                </a:gridCol>
              </a:tblGrid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Argument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Meaning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1379387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(1, 1)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Bottom-left corner of the rectangle (x=1, y=1)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641234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Width of the rectangle (along x-axis)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9927668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3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Height of the rectangle (along y-axis)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494735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linewidth=2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Border thickness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744557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edgecolor='r'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Border color is red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2475338"/>
                  </a:ext>
                </a:extLst>
              </a:tr>
              <a:tr h="30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facecolor='blue'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Fill </a:t>
                      </a:r>
                      <a:r>
                        <a:rPr lang="en-IN" sz="2400" kern="100" dirty="0" err="1">
                          <a:effectLst/>
                        </a:rPr>
                        <a:t>color</a:t>
                      </a:r>
                      <a:r>
                        <a:rPr lang="en-IN" sz="2400" kern="100" dirty="0">
                          <a:effectLst/>
                        </a:rPr>
                        <a:t> is blue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621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0614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637A-A191-4B54-38AE-A7E15403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611546-1B68-0FEE-07BD-C7FF61731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84" y="523413"/>
            <a:ext cx="7748231" cy="5811173"/>
          </a:xfrm>
        </p:spPr>
      </p:pic>
    </p:spTree>
    <p:extLst>
      <p:ext uri="{BB962C8B-B14F-4D97-AF65-F5344CB8AC3E}">
        <p14:creationId xmlns:p14="http://schemas.microsoft.com/office/powerpoint/2010/main" val="24766589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0E3B-00AE-75D1-17BF-5C471C54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A3B4-2DA3-1101-0A41-4BF2D7149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✅ Commonly Used Patches:</a:t>
            </a:r>
          </a:p>
          <a:p>
            <a:pPr marL="0" indent="0">
              <a:buNone/>
            </a:pP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813C62-19EA-5302-591E-266748753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427109"/>
              </p:ext>
            </p:extLst>
          </p:nvPr>
        </p:nvGraphicFramePr>
        <p:xfrm>
          <a:off x="947647" y="1631511"/>
          <a:ext cx="10046925" cy="39093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5240">
                  <a:extLst>
                    <a:ext uri="{9D8B030D-6E8A-4147-A177-3AD203B41FA5}">
                      <a16:colId xmlns:a16="http://schemas.microsoft.com/office/drawing/2014/main" val="209835058"/>
                    </a:ext>
                  </a:extLst>
                </a:gridCol>
                <a:gridCol w="3981967">
                  <a:extLst>
                    <a:ext uri="{9D8B030D-6E8A-4147-A177-3AD203B41FA5}">
                      <a16:colId xmlns:a16="http://schemas.microsoft.com/office/drawing/2014/main" val="1356762529"/>
                    </a:ext>
                  </a:extLst>
                </a:gridCol>
                <a:gridCol w="3349718">
                  <a:extLst>
                    <a:ext uri="{9D8B030D-6E8A-4147-A177-3AD203B41FA5}">
                      <a16:colId xmlns:a16="http://schemas.microsoft.com/office/drawing/2014/main" val="3395634909"/>
                    </a:ext>
                  </a:extLst>
                </a:gridCol>
              </a:tblGrid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/>
                        </a:rPr>
                        <a:t>Patch Type</a:t>
                      </a:r>
                      <a:endParaRPr lang="en-IN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Class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Use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6283621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Rectangle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patches.Rectangle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Boxes, bars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2327295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Circle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patches.Circle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Dots, bubbles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141188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Ellipse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patches.Ellipse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Ovals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7541769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Polygon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patches.Polygon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Custom closed shapes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3760290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FancyArrow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patches.FancyArrow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Arrows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981887"/>
                  </a:ext>
                </a:extLst>
              </a:tr>
              <a:tr h="5584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Wedge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>
                          <a:effectLst/>
                        </a:rPr>
                        <a:t>patches.Wedge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/>
                        </a:rPr>
                        <a:t>Pie chart slices</a:t>
                      </a:r>
                      <a:endParaRPr lang="en-IN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195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1341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762A-38B4-4486-47D8-EBDF8421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D7021-E4A9-60FF-F041-3BAB45FBF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🔄 Example: Circle and Ellipse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C4380-9AA5-8611-B5AE-AA3C5967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38" y="1703867"/>
            <a:ext cx="11114314" cy="239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46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FF01-D5BC-8565-4B61-18B8D070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9E749B-12F7-A253-8740-DC3F9FF6D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253" y="388071"/>
            <a:ext cx="7541403" cy="5656052"/>
          </a:xfrm>
        </p:spPr>
      </p:pic>
    </p:spTree>
    <p:extLst>
      <p:ext uri="{BB962C8B-B14F-4D97-AF65-F5344CB8AC3E}">
        <p14:creationId xmlns:p14="http://schemas.microsoft.com/office/powerpoint/2010/main" val="33994008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738F-D124-3CA7-9987-B762939C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39778-B829-446C-316C-8B6E2BD9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🎯 </a:t>
            </a:r>
            <a:r>
              <a:rPr lang="en-US" sz="2800" b="1" dirty="0"/>
              <a:t>Real Use Case: </a:t>
            </a:r>
            <a:r>
              <a:rPr lang="en-US" sz="2800" b="1" dirty="0">
                <a:solidFill>
                  <a:srgbClr val="C00000"/>
                </a:solidFill>
              </a:rPr>
              <a:t>Highlight a Region</a:t>
            </a:r>
            <a:endParaRPr lang="en-US" sz="2800" b="1" dirty="0"/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F5EDB-8C58-0967-39E5-C90D850E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5" y="1457578"/>
            <a:ext cx="11436350" cy="369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146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381C-DF15-62CD-9B4F-C0017D6F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E67064-B8A3-0ED2-F8C3-5BDC91B14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00" y="602250"/>
            <a:ext cx="7538000" cy="5653500"/>
          </a:xfrm>
        </p:spPr>
      </p:pic>
    </p:spTree>
    <p:extLst>
      <p:ext uri="{BB962C8B-B14F-4D97-AF65-F5344CB8AC3E}">
        <p14:creationId xmlns:p14="http://schemas.microsoft.com/office/powerpoint/2010/main" val="31465251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249C3-D427-C701-E9DB-D7656BC8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181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83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7184" name="Oval 7183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5" name="Oval 7184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6" name="Oval 7185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7" name="Oval 7186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8" name="Oval 7187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9" name="Oval 7188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0" name="Oval 7189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1" name="Oval 7190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172" name="Picture 4" descr="Announcing the release of seaborn 0.11 | by Michael Waskom | Medium">
            <a:extLst>
              <a:ext uri="{FF2B5EF4-FFF2-40B4-BE49-F238E27FC236}">
                <a16:creationId xmlns:a16="http://schemas.microsoft.com/office/drawing/2014/main" id="{780832FC-0FB7-F999-EAB8-FEB20B008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3269" y="2696177"/>
            <a:ext cx="5388707" cy="154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4DC5EF-0FDD-D9F2-2135-6ADF8473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48" y="1187302"/>
            <a:ext cx="10443536" cy="4543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🌊 What is Seaborn?</a:t>
            </a:r>
          </a:p>
          <a:p>
            <a:pPr marL="0" indent="0">
              <a:buNone/>
            </a:pPr>
            <a:r>
              <a:rPr lang="en-US" sz="2400" dirty="0"/>
              <a:t>Seaborn is a Python </a:t>
            </a:r>
            <a:r>
              <a:rPr lang="en-US" sz="2400" b="1" dirty="0"/>
              <a:t>visualization library </a:t>
            </a:r>
            <a:r>
              <a:rPr lang="en-US" sz="2400" b="1" dirty="0">
                <a:solidFill>
                  <a:srgbClr val="C00000"/>
                </a:solidFill>
              </a:rPr>
              <a:t>built on top of </a:t>
            </a:r>
            <a:r>
              <a:rPr lang="en-US" sz="2400" b="1" dirty="0"/>
              <a:t>Matplotlib</a:t>
            </a:r>
            <a:r>
              <a:rPr lang="en-US" sz="2400" dirty="0"/>
              <a:t>. It integrates closely with </a:t>
            </a:r>
            <a:r>
              <a:rPr lang="en-US" sz="2400" b="1" dirty="0">
                <a:solidFill>
                  <a:srgbClr val="C00000"/>
                </a:solidFill>
              </a:rPr>
              <a:t>Pandas</a:t>
            </a:r>
            <a:r>
              <a:rPr lang="en-US" sz="2400" dirty="0"/>
              <a:t> and is designed for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statistical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data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visualization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✅ Why Use Seaborn?</a:t>
            </a:r>
          </a:p>
          <a:p>
            <a:r>
              <a:rPr lang="en-US" sz="2400" dirty="0"/>
              <a:t>High-level </a:t>
            </a:r>
            <a:r>
              <a:rPr lang="en-US" sz="4400" b="1" dirty="0">
                <a:solidFill>
                  <a:srgbClr val="00B050"/>
                </a:solidFill>
              </a:rPr>
              <a:t>API</a:t>
            </a:r>
            <a:r>
              <a:rPr lang="en-US" sz="2400" dirty="0"/>
              <a:t> for </a:t>
            </a:r>
            <a:r>
              <a:rPr lang="en-US" sz="2400" b="1" dirty="0">
                <a:solidFill>
                  <a:srgbClr val="C00000"/>
                </a:solidFill>
              </a:rPr>
              <a:t>complex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plots</a:t>
            </a:r>
          </a:p>
          <a:p>
            <a:r>
              <a:rPr lang="en-US" sz="2400" dirty="0"/>
              <a:t>Built-in </a:t>
            </a:r>
            <a:r>
              <a:rPr lang="en-US" sz="2400" b="1" dirty="0">
                <a:solidFill>
                  <a:srgbClr val="C00000"/>
                </a:solidFill>
              </a:rPr>
              <a:t>themes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color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palettes</a:t>
            </a:r>
          </a:p>
          <a:p>
            <a:r>
              <a:rPr lang="en-US" sz="2400" dirty="0"/>
              <a:t>Easy integration with </a:t>
            </a:r>
            <a:r>
              <a:rPr lang="en-US" sz="2400" b="1" dirty="0">
                <a:solidFill>
                  <a:srgbClr val="C00000"/>
                </a:solidFill>
              </a:rPr>
              <a:t>Pandas </a:t>
            </a:r>
            <a:r>
              <a:rPr lang="en-US" sz="2400" b="1" dirty="0" err="1">
                <a:solidFill>
                  <a:srgbClr val="C00000"/>
                </a:solidFill>
              </a:rPr>
              <a:t>DataFrames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/>
              <a:t>Automatic handling of </a:t>
            </a:r>
            <a:r>
              <a:rPr lang="en-US" sz="2400" b="1" dirty="0">
                <a:solidFill>
                  <a:srgbClr val="C00000"/>
                </a:solidFill>
              </a:rPr>
              <a:t>grouping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aggregation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statistical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estimation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227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DADD-FE6F-6156-7DA1-3105083F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A758-BA93-0192-4B83-67BFA720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🔧 Setup: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2E98A-11A0-E389-9523-9F38F1825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619" y="1688696"/>
            <a:ext cx="4152381" cy="7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3CB946-D0A6-FCDC-7D61-1F235DD3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619" y="3429000"/>
            <a:ext cx="7438095" cy="2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952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1F19-E966-2B31-C9A8-A78FB169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79C6-378F-B13A-E5ED-BF4466A8B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🧠 Advanced Seaborn Features:</a:t>
            </a:r>
          </a:p>
          <a:p>
            <a:pPr marL="0" indent="0">
              <a:buNone/>
            </a:pPr>
            <a:r>
              <a:rPr lang="en-US" sz="2800" b="1" dirty="0"/>
              <a:t>1. Categorical Plots – </a:t>
            </a:r>
            <a:r>
              <a:rPr lang="en-US" sz="2800" dirty="0"/>
              <a:t>Visualize </a:t>
            </a:r>
            <a:r>
              <a:rPr lang="en-US" sz="2800" b="1" dirty="0">
                <a:solidFill>
                  <a:srgbClr val="C00000"/>
                </a:solidFill>
              </a:rPr>
              <a:t>relationships</a:t>
            </a:r>
            <a:r>
              <a:rPr lang="en-US" sz="2800" dirty="0"/>
              <a:t> between </a:t>
            </a:r>
            <a:r>
              <a:rPr lang="en-US" sz="2800" b="1" dirty="0"/>
              <a:t>categorical</a:t>
            </a:r>
            <a:r>
              <a:rPr lang="en-US" sz="2800" dirty="0"/>
              <a:t> and </a:t>
            </a:r>
            <a:r>
              <a:rPr lang="en-US" sz="2800" b="1" dirty="0"/>
              <a:t>numerical</a:t>
            </a:r>
            <a:r>
              <a:rPr lang="en-US" sz="2800" dirty="0"/>
              <a:t> variables</a:t>
            </a:r>
          </a:p>
          <a:p>
            <a:pPr marL="0" indent="0">
              <a:buNone/>
            </a:pPr>
            <a:r>
              <a:rPr lang="en-US" sz="2800" b="1" dirty="0"/>
              <a:t>📌 a) boxplot():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6F3A7-199E-A514-66F9-78607AA04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429000"/>
            <a:ext cx="10493829" cy="144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037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11BE-9ADA-1059-6C9F-E5986852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151EB-B0AE-648C-04C0-96577F22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Output: </a:t>
            </a:r>
            <a:endParaRPr lang="en-IN" sz="2800" b="1" dirty="0"/>
          </a:p>
        </p:txBody>
      </p:sp>
      <p:pic>
        <p:nvPicPr>
          <p:cNvPr id="4" name="Picture 3" descr="A diagram of a box diagram">
            <a:extLst>
              <a:ext uri="{FF2B5EF4-FFF2-40B4-BE49-F238E27FC236}">
                <a16:creationId xmlns:a16="http://schemas.microsoft.com/office/drawing/2014/main" id="{8DFD11B3-F6BE-FAD4-9B51-B22BD3853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14" y="681036"/>
            <a:ext cx="7510236" cy="56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329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832D0-5B0E-F0B8-CC58-8AD0354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C3347-71E0-C8D3-2A21-C1FD81DBD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📌 b) </a:t>
            </a:r>
            <a:r>
              <a:rPr lang="en-IN" sz="2800" b="1" dirty="0" err="1"/>
              <a:t>violinplot</a:t>
            </a:r>
            <a:r>
              <a:rPr lang="en-IN" sz="2800" b="1" dirty="0"/>
              <a:t>():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5" name="Picture 4" descr="A diagram of different species">
            <a:extLst>
              <a:ext uri="{FF2B5EF4-FFF2-40B4-BE49-F238E27FC236}">
                <a16:creationId xmlns:a16="http://schemas.microsoft.com/office/drawing/2014/main" id="{EF36ACAC-D0EB-C864-E1FA-E816CC5B7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114" y="1288863"/>
            <a:ext cx="6873972" cy="515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584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25F7-A2AD-55B1-0316-37E01139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E2B78-D732-51ED-9D8A-C0A47633A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1️⃣ Categorical Plots: </a:t>
            </a:r>
            <a:r>
              <a:rPr lang="en-US" sz="2800" b="1" dirty="0" err="1">
                <a:solidFill>
                  <a:srgbClr val="C00000"/>
                </a:solidFill>
              </a:rPr>
              <a:t>barplot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boxplot</a:t>
            </a:r>
            <a:r>
              <a:rPr lang="en-US" sz="2800" b="1" dirty="0"/>
              <a:t>, </a:t>
            </a:r>
            <a:r>
              <a:rPr lang="en-US" sz="2800" b="1" dirty="0" err="1">
                <a:solidFill>
                  <a:srgbClr val="C00000"/>
                </a:solidFill>
              </a:rPr>
              <a:t>violinplot</a:t>
            </a: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b="1" dirty="0"/>
              <a:t>📊 Example: </a:t>
            </a:r>
            <a:r>
              <a:rPr lang="en-US" sz="2800" dirty="0"/>
              <a:t>Student Scores in Subjects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05B1D-8D3C-38CE-ECB0-BBD406A7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61"/>
          <a:stretch/>
        </p:blipFill>
        <p:spPr>
          <a:xfrm>
            <a:off x="1484970" y="1878152"/>
            <a:ext cx="7288915" cy="441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034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5713-6FA0-FC5B-C60E-7730DE79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5492-6BE6-0A61-1D50-59DD07DC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794657"/>
            <a:ext cx="5747657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Output: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✅ What It Shows:</a:t>
            </a:r>
          </a:p>
          <a:p>
            <a:r>
              <a:rPr lang="en-US" sz="2400" b="1" dirty="0"/>
              <a:t>X-axis: </a:t>
            </a:r>
            <a:r>
              <a:rPr lang="en-US" sz="2400" dirty="0"/>
              <a:t>Subjects</a:t>
            </a:r>
          </a:p>
          <a:p>
            <a:r>
              <a:rPr lang="en-US" sz="2400" b="1" dirty="0"/>
              <a:t>Y-axis: </a:t>
            </a:r>
            <a:r>
              <a:rPr lang="en-US" sz="2400" dirty="0"/>
              <a:t>Marks scored</a:t>
            </a:r>
          </a:p>
          <a:p>
            <a:r>
              <a:rPr lang="en-US" sz="2400" dirty="0"/>
              <a:t>Each bar represents how much the student </a:t>
            </a:r>
            <a:r>
              <a:rPr lang="en-US" sz="2400" b="1" dirty="0">
                <a:solidFill>
                  <a:srgbClr val="C00000"/>
                </a:solidFill>
              </a:rPr>
              <a:t>scored</a:t>
            </a:r>
            <a:r>
              <a:rPr lang="en-US" sz="2400" dirty="0"/>
              <a:t> in that subject.</a:t>
            </a:r>
          </a:p>
          <a:p>
            <a:r>
              <a:rPr lang="en-US" sz="2400" b="1" dirty="0"/>
              <a:t>🟦 Tallest bar </a:t>
            </a:r>
            <a:r>
              <a:rPr lang="en-US" sz="2400" dirty="0"/>
              <a:t>= Highest marks → English (92)</a:t>
            </a:r>
          </a:p>
        </p:txBody>
      </p:sp>
      <p:pic>
        <p:nvPicPr>
          <p:cNvPr id="4" name="Picture 3" descr="A graph of a student marks&#10;&#10;AI-generated content may be incorrect.">
            <a:extLst>
              <a:ext uri="{FF2B5EF4-FFF2-40B4-BE49-F238E27FC236}">
                <a16:creationId xmlns:a16="http://schemas.microsoft.com/office/drawing/2014/main" id="{2814CCA1-D695-E49D-D071-422654240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99" y="1068974"/>
            <a:ext cx="6293401" cy="472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8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F5F8-8E99-29FE-ED32-8121DA7C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F431-EF7A-FC44-A22E-A47F8E2F4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2️⃣ Histogram + KDE </a:t>
            </a:r>
            <a:r>
              <a:rPr lang="en-US" sz="2800" dirty="0"/>
              <a:t>(</a:t>
            </a:r>
            <a:r>
              <a:rPr lang="en-IN" sz="2400" b="1" i="0" dirty="0">
                <a:solidFill>
                  <a:srgbClr val="00B0F0"/>
                </a:solidFill>
                <a:effectLst/>
                <a:latin typeface="Google Sans"/>
              </a:rPr>
              <a:t>Kernel Density Estimation</a:t>
            </a:r>
            <a:r>
              <a:rPr lang="en-IN" sz="2400" b="0" i="0" dirty="0">
                <a:solidFill>
                  <a:srgbClr val="001D35"/>
                </a:solidFill>
                <a:effectLst/>
                <a:latin typeface="Google Sans"/>
              </a:rPr>
              <a:t>)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🍕 Example: </a:t>
            </a:r>
            <a:r>
              <a:rPr lang="en-US" sz="2800" b="1" dirty="0">
                <a:solidFill>
                  <a:srgbClr val="C00000"/>
                </a:solidFill>
              </a:rPr>
              <a:t>Pizza Delivery Times</a:t>
            </a:r>
            <a:r>
              <a:rPr lang="en-US" sz="2800" b="1" dirty="0"/>
              <a:t> (in minutes)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E84A6-4582-C725-688E-016997AA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033880"/>
            <a:ext cx="11414760" cy="393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044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A1692-B037-A1E2-7B04-D019ED05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8DDF1-6674-E5AB-9E25-1E744ECD2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1066799"/>
            <a:ext cx="5891343" cy="511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dirty="0"/>
              <a:t>Groups delivery times into </a:t>
            </a:r>
            <a:r>
              <a:rPr lang="en-US" sz="2800" b="1" dirty="0">
                <a:solidFill>
                  <a:srgbClr val="C00000"/>
                </a:solidFill>
              </a:rPr>
              <a:t>ranges</a:t>
            </a:r>
            <a:r>
              <a:rPr lang="en-US" sz="2800" dirty="0"/>
              <a:t> (</a:t>
            </a:r>
            <a:r>
              <a:rPr lang="en-US" sz="2800" b="1" dirty="0"/>
              <a:t>bins</a:t>
            </a:r>
            <a:r>
              <a:rPr lang="en-US" sz="2800" dirty="0"/>
              <a:t>) like 28–30, 31–33, etc.</a:t>
            </a:r>
          </a:p>
          <a:p>
            <a:r>
              <a:rPr lang="en-US" sz="2800" b="1" dirty="0"/>
              <a:t>KDE</a:t>
            </a:r>
            <a:r>
              <a:rPr lang="en-US" sz="2800" dirty="0"/>
              <a:t> line shows the smooth distribution.</a:t>
            </a:r>
          </a:p>
          <a:p>
            <a:r>
              <a:rPr lang="en-US" sz="2800" dirty="0"/>
              <a:t>Most deliveries take around 30–32 minutes.</a:t>
            </a:r>
            <a:endParaRPr lang="en-IN" sz="2800" dirty="0"/>
          </a:p>
        </p:txBody>
      </p:sp>
      <p:pic>
        <p:nvPicPr>
          <p:cNvPr id="4" name="Picture 3" descr="A graph of a pizza delivery&#10;&#10;AI-generated content may be incorrect.">
            <a:extLst>
              <a:ext uri="{FF2B5EF4-FFF2-40B4-BE49-F238E27FC236}">
                <a16:creationId xmlns:a16="http://schemas.microsoft.com/office/drawing/2014/main" id="{6CCAB00B-B989-EA6E-27C2-02B5CCE2A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743" y="794657"/>
            <a:ext cx="6328229" cy="474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266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EA357-4665-2939-6DFC-F32A3C57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8867-94EA-4FAE-83D2-4CB419C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3️⃣ Box Plot: </a:t>
            </a:r>
          </a:p>
          <a:p>
            <a:pPr marL="0" indent="0">
              <a:buNone/>
            </a:pPr>
            <a:r>
              <a:rPr lang="en-US" sz="2800" b="1" dirty="0"/>
              <a:t>🧪 Example: </a:t>
            </a:r>
            <a:r>
              <a:rPr lang="en-US" sz="2800" b="1" dirty="0">
                <a:solidFill>
                  <a:srgbClr val="C00000"/>
                </a:solidFill>
              </a:rPr>
              <a:t>Test Scores </a:t>
            </a:r>
            <a:r>
              <a:rPr lang="en-US" sz="2800" dirty="0"/>
              <a:t>in Two Classes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EB345-7796-557E-67C3-D6BE4488A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912115"/>
            <a:ext cx="10421020" cy="46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804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0101-BA65-4B70-66F3-51F2C7AF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00B3-1A8A-17A8-B5CE-4A67F93DE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469" y="1066800"/>
            <a:ext cx="5562588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dirty="0"/>
              <a:t>Box = 50% of scores (middle range)</a:t>
            </a:r>
          </a:p>
          <a:p>
            <a:r>
              <a:rPr lang="en-US" sz="2800" dirty="0"/>
              <a:t>Line inside = Median</a:t>
            </a:r>
          </a:p>
          <a:p>
            <a:r>
              <a:rPr lang="en-US" sz="2800" dirty="0"/>
              <a:t>Dots outside = Outliers</a:t>
            </a:r>
          </a:p>
          <a:p>
            <a:r>
              <a:rPr lang="en-US" sz="2800" dirty="0"/>
              <a:t>Class A has higher scores and less variation than Class B</a:t>
            </a:r>
            <a:endParaRPr lang="en-IN" sz="2800" dirty="0"/>
          </a:p>
        </p:txBody>
      </p:sp>
      <p:pic>
        <p:nvPicPr>
          <p:cNvPr id="4" name="Picture 3" descr="A diagram of a test score">
            <a:extLst>
              <a:ext uri="{FF2B5EF4-FFF2-40B4-BE49-F238E27FC236}">
                <a16:creationId xmlns:a16="http://schemas.microsoft.com/office/drawing/2014/main" id="{AD64D592-4DC7-D086-4446-4302CA8ED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970" y="690149"/>
            <a:ext cx="6424029" cy="481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754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03E2-838C-C223-8CEE-214D721C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DB1B-3710-9FC8-A9B0-48B234DA6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4️⃣ Violin Plot: </a:t>
            </a:r>
          </a:p>
          <a:p>
            <a:pPr marL="0" indent="0">
              <a:buNone/>
            </a:pPr>
            <a:r>
              <a:rPr lang="en-US" sz="2800" dirty="0"/>
              <a:t>Same data as box plot, but </a:t>
            </a:r>
            <a:r>
              <a:rPr lang="en-US" sz="2800" b="1" dirty="0"/>
              <a:t>prettier</a:t>
            </a:r>
            <a:r>
              <a:rPr lang="en-US" sz="2800" dirty="0"/>
              <a:t> and </a:t>
            </a:r>
            <a:r>
              <a:rPr lang="en-US" sz="2800" b="1" dirty="0"/>
              <a:t>shows</a:t>
            </a:r>
            <a:r>
              <a:rPr lang="en-US" sz="2800" dirty="0"/>
              <a:t> </a:t>
            </a:r>
            <a:r>
              <a:rPr lang="en-US" sz="2800" b="1" dirty="0"/>
              <a:t>data</a:t>
            </a:r>
            <a:r>
              <a:rPr lang="en-US" sz="2800" dirty="0"/>
              <a:t> </a:t>
            </a:r>
            <a:r>
              <a:rPr lang="en-US" sz="2800" b="1" dirty="0"/>
              <a:t>distribution</a:t>
            </a:r>
            <a:r>
              <a:rPr lang="en-US" sz="2800" dirty="0"/>
              <a:t>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65D6E-3378-3B28-594B-0FEE71A8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52" y="2551467"/>
            <a:ext cx="10009524" cy="2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064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2046-7E5F-80F0-BD80-A52F5163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2D04-E111-9F73-DAF8-BCAC61A4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97" y="1088571"/>
            <a:ext cx="5667103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b="1" dirty="0"/>
              <a:t>Wider parts </a:t>
            </a:r>
            <a:r>
              <a:rPr lang="en-US" sz="2800" dirty="0"/>
              <a:t>= more students scored in that range</a:t>
            </a:r>
          </a:p>
          <a:p>
            <a:r>
              <a:rPr lang="en-US" sz="2800" b="1" dirty="0"/>
              <a:t>Smarter</a:t>
            </a:r>
            <a:r>
              <a:rPr lang="en-US" sz="2800" dirty="0"/>
              <a:t> </a:t>
            </a:r>
            <a:r>
              <a:rPr lang="en-US" sz="2800" b="1" dirty="0"/>
              <a:t>alternative</a:t>
            </a:r>
            <a:r>
              <a:rPr lang="en-US" sz="2800" dirty="0"/>
              <a:t> to box plot when data is small</a:t>
            </a:r>
            <a:endParaRPr lang="en-IN" sz="2800" dirty="0"/>
          </a:p>
        </p:txBody>
      </p:sp>
      <p:pic>
        <p:nvPicPr>
          <p:cNvPr id="4" name="Picture 3" descr="A diagram of a violin plot">
            <a:extLst>
              <a:ext uri="{FF2B5EF4-FFF2-40B4-BE49-F238E27FC236}">
                <a16:creationId xmlns:a16="http://schemas.microsoft.com/office/drawing/2014/main" id="{8D306664-213C-A604-21F3-5D7CD7387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857" y="794657"/>
            <a:ext cx="6241143" cy="46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424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B661-33BE-39ED-DD2C-060F277B4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8A42A-0EE5-428F-32D8-65F2EE50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5️⃣ Scatter Plot + Line Plot</a:t>
            </a:r>
          </a:p>
          <a:p>
            <a:r>
              <a:rPr lang="en-US" sz="2400" b="1" dirty="0"/>
              <a:t>📚 Real-life Example: Study Hours vs Marks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04FA4-43AB-F034-4CC1-B5C841F8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08868"/>
            <a:ext cx="10659110" cy="448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404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ED32-4B47-D9A4-2461-4FCA4C45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FC59-3A25-C329-EDC5-5D020F71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697" y="1012371"/>
            <a:ext cx="5449389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dirty="0"/>
              <a:t>Each dot = a student</a:t>
            </a:r>
          </a:p>
          <a:p>
            <a:r>
              <a:rPr lang="en-US" sz="2800" dirty="0"/>
              <a:t>Clear positive relationship: more hours → higher marks</a:t>
            </a:r>
          </a:p>
          <a:p>
            <a:r>
              <a:rPr lang="en-US" sz="2800" dirty="0"/>
              <a:t>Line helps visualize trend</a:t>
            </a:r>
            <a:endParaRPr lang="en-IN" sz="2800" dirty="0"/>
          </a:p>
        </p:txBody>
      </p:sp>
      <p:pic>
        <p:nvPicPr>
          <p:cNvPr id="4" name="Picture 3" descr="A graph with a line and a green line">
            <a:extLst>
              <a:ext uri="{FF2B5EF4-FFF2-40B4-BE49-F238E27FC236}">
                <a16:creationId xmlns:a16="http://schemas.microsoft.com/office/drawing/2014/main" id="{8E90F133-7BE0-BBCE-0110-5CEF755C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764" y="681037"/>
            <a:ext cx="6494236" cy="487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139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D8E28-22C3-6C6C-0CAD-EBEAEF0A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3BAFD-ECCB-0FE3-0F94-50B0F772C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6️⃣ </a:t>
            </a:r>
            <a:r>
              <a:rPr lang="en-US" sz="2800" b="1" dirty="0" err="1"/>
              <a:t>Catplot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☕ Example: </a:t>
            </a:r>
            <a:r>
              <a:rPr lang="en-US" sz="2800" b="1" dirty="0">
                <a:solidFill>
                  <a:srgbClr val="C00000"/>
                </a:solidFill>
              </a:rPr>
              <a:t>Coffee Sales </a:t>
            </a:r>
            <a:r>
              <a:rPr lang="en-US" sz="2800" dirty="0"/>
              <a:t>by Day and Cup Size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6DCC7-9007-BD0A-B09E-4CF7DB84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015495"/>
            <a:ext cx="10657143" cy="4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449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1D3BD-2CFA-53D2-B241-F7FF24B4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DA9D-1CF4-CCAE-B899-085BEE27E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763485"/>
            <a:ext cx="6342017" cy="4413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dirty="0"/>
              <a:t>Bars grouped by day and cup size</a:t>
            </a:r>
          </a:p>
          <a:p>
            <a:r>
              <a:rPr lang="en-US" sz="2800" dirty="0"/>
              <a:t>Large cups are more popular every day!</a:t>
            </a:r>
            <a:endParaRPr lang="en-IN" sz="2800" dirty="0"/>
          </a:p>
        </p:txBody>
      </p:sp>
      <p:pic>
        <p:nvPicPr>
          <p:cNvPr id="4" name="Picture 3" descr="A graph of a bar chart&#10;&#10;AI-generated content may be incorrect.">
            <a:extLst>
              <a:ext uri="{FF2B5EF4-FFF2-40B4-BE49-F238E27FC236}">
                <a16:creationId xmlns:a16="http://schemas.microsoft.com/office/drawing/2014/main" id="{64A850BF-0C3F-3C8A-F7D8-B7F5A10F2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543" y="1216316"/>
            <a:ext cx="5290457" cy="44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685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040D-40E7-BD35-5659-63CC97D1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A4EA8-508C-9B77-4803-0E71EDE5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7️⃣ Heatmap:</a:t>
            </a:r>
          </a:p>
          <a:p>
            <a:pPr marL="0" indent="0">
              <a:buNone/>
            </a:pPr>
            <a:r>
              <a:rPr lang="en-US" sz="2800" b="1" dirty="0"/>
              <a:t>📋 Example: </a:t>
            </a:r>
            <a:r>
              <a:rPr lang="en-US" sz="2800" dirty="0"/>
              <a:t>Student </a:t>
            </a:r>
            <a:r>
              <a:rPr lang="en-US" sz="2800" b="1" dirty="0">
                <a:solidFill>
                  <a:srgbClr val="C00000"/>
                </a:solidFill>
              </a:rPr>
              <a:t>Marksheet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8D9CE-8289-9CB8-064E-4F2B0646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24" y="1782171"/>
            <a:ext cx="8554220" cy="456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0257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D67D-B038-CBE0-6E6F-819399A2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D57EB-5130-B4FA-8433-2DA9D2D2F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346" y="1023257"/>
            <a:ext cx="5419454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What It Shows:</a:t>
            </a:r>
          </a:p>
          <a:p>
            <a:r>
              <a:rPr lang="en-US" sz="2800" b="1" dirty="0"/>
              <a:t>Grid view: </a:t>
            </a:r>
            <a:r>
              <a:rPr lang="en-US" sz="2800" dirty="0"/>
              <a:t>subjects vs students</a:t>
            </a:r>
          </a:p>
          <a:p>
            <a:r>
              <a:rPr lang="en-US" sz="2800" dirty="0"/>
              <a:t>Colors show marks → darker = higher</a:t>
            </a:r>
          </a:p>
          <a:p>
            <a:r>
              <a:rPr lang="en-US" sz="2800" dirty="0"/>
              <a:t>Student C scored highest in Math &amp; English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24008-D434-6501-6FF8-00F8226FA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92" y="681037"/>
            <a:ext cx="6871608" cy="515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824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3AE9-9EDE-BE91-81B8-6169C8DD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63C9-437C-AADE-53BB-EFDF37607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10343"/>
            <a:ext cx="10659110" cy="5066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>
                <a:solidFill>
                  <a:srgbClr val="002060"/>
                </a:solidFill>
              </a:rPr>
              <a:t>Time series analysis with Pandas:</a:t>
            </a:r>
          </a:p>
          <a:p>
            <a:pPr marL="0" indent="0">
              <a:buNone/>
            </a:pPr>
            <a:r>
              <a:rPr lang="en-US" sz="2800" b="1" dirty="0"/>
              <a:t>🕰️ What is Time Series Analysis?</a:t>
            </a:r>
          </a:p>
          <a:p>
            <a:pPr marL="0" indent="0">
              <a:buNone/>
            </a:pPr>
            <a:r>
              <a:rPr lang="en-US" sz="2800" dirty="0"/>
              <a:t>Time Series is a </a:t>
            </a:r>
            <a:r>
              <a:rPr lang="en-US" sz="2800" b="1" dirty="0">
                <a:solidFill>
                  <a:srgbClr val="C00000"/>
                </a:solidFill>
              </a:rPr>
              <a:t>series of data points </a:t>
            </a:r>
            <a:r>
              <a:rPr lang="en-US" sz="2800" dirty="0"/>
              <a:t>collected or recorded at </a:t>
            </a:r>
            <a:r>
              <a:rPr lang="en-US" sz="2800" b="1" dirty="0">
                <a:solidFill>
                  <a:srgbClr val="C00000"/>
                </a:solidFill>
              </a:rPr>
              <a:t>regular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time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intervals</a:t>
            </a:r>
            <a:r>
              <a:rPr lang="en-US" sz="2800" dirty="0"/>
              <a:t> (</a:t>
            </a:r>
            <a:r>
              <a:rPr lang="en-US" sz="2800" b="1" dirty="0"/>
              <a:t>daily</a:t>
            </a:r>
            <a:r>
              <a:rPr lang="en-US" sz="2800" dirty="0"/>
              <a:t>, </a:t>
            </a:r>
            <a:r>
              <a:rPr lang="en-US" sz="2800" b="1" dirty="0"/>
              <a:t>monthly</a:t>
            </a:r>
            <a:r>
              <a:rPr lang="en-US" sz="2800" dirty="0"/>
              <a:t>, </a:t>
            </a:r>
            <a:r>
              <a:rPr lang="en-US" sz="2800" b="1" dirty="0"/>
              <a:t>yearly</a:t>
            </a:r>
            <a:r>
              <a:rPr lang="en-US" sz="2800" dirty="0"/>
              <a:t>).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</a:p>
          <a:p>
            <a:r>
              <a:rPr lang="en-US" sz="2800" dirty="0"/>
              <a:t>Daily temperature</a:t>
            </a:r>
          </a:p>
          <a:p>
            <a:r>
              <a:rPr lang="en-US" sz="2800" dirty="0"/>
              <a:t>Monthly sales</a:t>
            </a:r>
          </a:p>
          <a:p>
            <a:r>
              <a:rPr lang="en-US" sz="2800" dirty="0"/>
              <a:t>Hourly website visitors</a:t>
            </a:r>
          </a:p>
        </p:txBody>
      </p:sp>
    </p:spTree>
    <p:extLst>
      <p:ext uri="{BB962C8B-B14F-4D97-AF65-F5344CB8AC3E}">
        <p14:creationId xmlns:p14="http://schemas.microsoft.com/office/powerpoint/2010/main" val="42643428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F2EA-CE9F-0E61-1AD4-CC452A19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227C-873F-98D9-06A9-9E3634F82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328057"/>
            <a:ext cx="10659110" cy="4848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📦 Why Use Pandas?</a:t>
            </a:r>
          </a:p>
          <a:p>
            <a:pPr marL="0" indent="0">
              <a:buNone/>
            </a:pPr>
            <a:r>
              <a:rPr lang="en-US" sz="3200" b="1" dirty="0"/>
              <a:t>Pandas makes time series analysis easy by:</a:t>
            </a:r>
          </a:p>
          <a:p>
            <a:r>
              <a:rPr lang="en-US" sz="3200" dirty="0"/>
              <a:t>Handling </a:t>
            </a:r>
            <a:r>
              <a:rPr lang="en-US" sz="3200" b="1" dirty="0"/>
              <a:t>dates</a:t>
            </a:r>
            <a:r>
              <a:rPr lang="en-US" sz="3200" dirty="0"/>
              <a:t> as index</a:t>
            </a:r>
          </a:p>
          <a:p>
            <a:r>
              <a:rPr lang="en-US" sz="3200" dirty="0"/>
              <a:t>Providing tools for </a:t>
            </a:r>
            <a:r>
              <a:rPr lang="en-US" sz="3200" b="1" dirty="0"/>
              <a:t>resampling</a:t>
            </a:r>
            <a:r>
              <a:rPr lang="en-US" sz="3200" dirty="0"/>
              <a:t>, </a:t>
            </a:r>
            <a:r>
              <a:rPr lang="en-US" sz="3200" b="1" dirty="0"/>
              <a:t>shifting</a:t>
            </a:r>
            <a:r>
              <a:rPr lang="en-US" sz="3200" dirty="0"/>
              <a:t>, </a:t>
            </a:r>
            <a:r>
              <a:rPr lang="en-US" sz="3200" b="1" dirty="0"/>
              <a:t>rolling</a:t>
            </a:r>
            <a:r>
              <a:rPr lang="en-US" sz="3200" dirty="0"/>
              <a:t> </a:t>
            </a:r>
            <a:r>
              <a:rPr lang="en-US" sz="3200" b="1" dirty="0"/>
              <a:t>averages</a:t>
            </a:r>
            <a:r>
              <a:rPr lang="en-US" sz="3200" dirty="0"/>
              <a:t>, etc.</a:t>
            </a:r>
          </a:p>
          <a:p>
            <a:r>
              <a:rPr lang="en-US" sz="3200" dirty="0"/>
              <a:t>Handling </a:t>
            </a:r>
            <a:r>
              <a:rPr lang="en-US" sz="3200" b="1" dirty="0"/>
              <a:t>missing dates </a:t>
            </a:r>
            <a:r>
              <a:rPr lang="en-US" sz="3200" dirty="0"/>
              <a:t>or </a:t>
            </a:r>
            <a:r>
              <a:rPr lang="en-US" sz="3200" b="1" dirty="0"/>
              <a:t>time</a:t>
            </a:r>
            <a:r>
              <a:rPr lang="en-US" sz="3200" dirty="0"/>
              <a:t> </a:t>
            </a:r>
            <a:r>
              <a:rPr lang="en-US" sz="3200" b="1" dirty="0"/>
              <a:t>gaps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3194112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51E2-9805-01B0-DED3-8928BC63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AFA3-61A6-0D65-94EB-6D1B0C26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897" y="250371"/>
            <a:ext cx="6603274" cy="642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✅ Example: </a:t>
            </a:r>
            <a:r>
              <a:rPr lang="en-US" sz="2800" b="1" dirty="0">
                <a:solidFill>
                  <a:srgbClr val="002060"/>
                </a:solidFill>
              </a:rPr>
              <a:t>Daily Sales Over 10 Days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ADC86-36ED-9091-A363-BF26FFE3F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486" y="738888"/>
            <a:ext cx="7960342" cy="5868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517FE-7267-6127-864B-C061137DA8E0}"/>
              </a:ext>
            </a:extLst>
          </p:cNvPr>
          <p:cNvSpPr txBox="1"/>
          <p:nvPr/>
        </p:nvSpPr>
        <p:spPr>
          <a:xfrm>
            <a:off x="0" y="1633248"/>
            <a:ext cx="40574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/>
              <a:t>🔧 Step 1: </a:t>
            </a:r>
            <a:r>
              <a:rPr lang="en-US" sz="2800" dirty="0"/>
              <a:t>Import Libraries &amp; Create Data</a:t>
            </a:r>
          </a:p>
        </p:txBody>
      </p:sp>
    </p:spTree>
    <p:extLst>
      <p:ext uri="{BB962C8B-B14F-4D97-AF65-F5344CB8AC3E}">
        <p14:creationId xmlns:p14="http://schemas.microsoft.com/office/powerpoint/2010/main" val="27213946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9C12-9324-63C3-5645-51116DE1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0319-9EC1-8CCA-8022-15FD17BC9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424543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📈 Step 2: </a:t>
            </a:r>
            <a:r>
              <a:rPr lang="en-US" sz="2800" b="1" dirty="0">
                <a:solidFill>
                  <a:srgbClr val="C00000"/>
                </a:solidFill>
              </a:rPr>
              <a:t>Plot</a:t>
            </a:r>
            <a:r>
              <a:rPr lang="en-US" sz="2800" b="1" dirty="0"/>
              <a:t> the Time Series</a:t>
            </a:r>
            <a:endParaRPr lang="en-IN" sz="2800" b="1" dirty="0"/>
          </a:p>
        </p:txBody>
      </p:sp>
      <p:pic>
        <p:nvPicPr>
          <p:cNvPr id="4" name="Picture 3" descr="A graph with a line going up">
            <a:extLst>
              <a:ext uri="{FF2B5EF4-FFF2-40B4-BE49-F238E27FC236}">
                <a16:creationId xmlns:a16="http://schemas.microsoft.com/office/drawing/2014/main" id="{35609805-CF71-48E7-DCE1-F1E140D53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612" y="937531"/>
            <a:ext cx="7327901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01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ABAD2-AD49-AFA0-2F62-3CF41643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D5B7-D84C-F006-98C3-5512B257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🔁 Step 3: Resampling (e.g., </a:t>
            </a:r>
            <a:r>
              <a:rPr lang="en-US" sz="2800" b="1" dirty="0">
                <a:solidFill>
                  <a:srgbClr val="C00000"/>
                </a:solidFill>
              </a:rPr>
              <a:t>Weekly Sales </a:t>
            </a:r>
            <a:r>
              <a:rPr lang="en-US" sz="2800" b="1" dirty="0"/>
              <a:t>Total)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44CAD-538A-68E6-02F1-3F369490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571152"/>
            <a:ext cx="6671348" cy="3490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335C3B-5530-51C2-E315-5FCA9E33CEB2}"/>
              </a:ext>
            </a:extLst>
          </p:cNvPr>
          <p:cNvSpPr txBox="1"/>
          <p:nvPr/>
        </p:nvSpPr>
        <p:spPr>
          <a:xfrm>
            <a:off x="7820297" y="1839176"/>
            <a:ext cx="4371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🟢 Explanation: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'W' stands for </a:t>
            </a:r>
            <a:r>
              <a:rPr lang="en-IN" sz="2400" b="1" dirty="0">
                <a:solidFill>
                  <a:srgbClr val="C00000"/>
                </a:solidFill>
              </a:rPr>
              <a:t>Weekly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C00000"/>
                </a:solidFill>
              </a:rPr>
              <a:t>Adds</a:t>
            </a: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up</a:t>
            </a:r>
            <a:r>
              <a:rPr lang="en-IN" sz="2400" dirty="0"/>
              <a:t> all sales in each week</a:t>
            </a:r>
          </a:p>
        </p:txBody>
      </p:sp>
    </p:spTree>
    <p:extLst>
      <p:ext uri="{BB962C8B-B14F-4D97-AF65-F5344CB8AC3E}">
        <p14:creationId xmlns:p14="http://schemas.microsoft.com/office/powerpoint/2010/main" val="2112881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118E-E08A-0FB4-3DC7-3AAAC968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669C-0B5B-777D-E433-3C3F0135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🎯 Step 4: Rolling Mean (Moving Average)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44FB6-068D-1644-D8FE-17992E86E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57" y="1673200"/>
            <a:ext cx="10228571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517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B3DC-B9D4-D224-BB25-2360DA79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7F825-E07D-D861-FCED-966B960EF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7457"/>
            <a:ext cx="10659110" cy="5839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🟢 Explanation:</a:t>
            </a:r>
          </a:p>
          <a:p>
            <a:r>
              <a:rPr lang="en-US" sz="2800" dirty="0"/>
              <a:t>Smoother curve that helps find </a:t>
            </a:r>
            <a:r>
              <a:rPr lang="en-US" sz="2800" b="1" dirty="0">
                <a:solidFill>
                  <a:srgbClr val="C00000"/>
                </a:solidFill>
              </a:rPr>
              <a:t>trends</a:t>
            </a:r>
          </a:p>
          <a:p>
            <a:r>
              <a:rPr lang="en-US" sz="2800" dirty="0"/>
              <a:t>A 3-day rolling average shows </a:t>
            </a:r>
            <a:r>
              <a:rPr lang="en-US" sz="2800" b="1" dirty="0">
                <a:solidFill>
                  <a:srgbClr val="C00000"/>
                </a:solidFill>
              </a:rPr>
              <a:t>average of the last 3 days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graph with blue and orange lines">
            <a:extLst>
              <a:ext uri="{FF2B5EF4-FFF2-40B4-BE49-F238E27FC236}">
                <a16:creationId xmlns:a16="http://schemas.microsoft.com/office/drawing/2014/main" id="{450F5964-D0D4-8279-7D8E-A63408D12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317" y="1865809"/>
            <a:ext cx="6162769" cy="46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054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A6611-7C12-8640-7E80-ECBDB724C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DE6B-C565-6324-A2D9-E918D17D9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🕒 Step 5: Time Shifting (Forecast Simulation)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shift</a:t>
            </a:r>
            <a:r>
              <a:rPr lang="en-US" sz="2800" dirty="0"/>
              <a:t>(1) moves values forward</a:t>
            </a:r>
          </a:p>
          <a:p>
            <a:r>
              <a:rPr lang="en-US" sz="2800" dirty="0"/>
              <a:t>Helps </a:t>
            </a:r>
            <a:r>
              <a:rPr lang="en-US" sz="2800" b="1" dirty="0">
                <a:solidFill>
                  <a:srgbClr val="C00000"/>
                </a:solidFill>
              </a:rPr>
              <a:t>compare</a:t>
            </a:r>
            <a:r>
              <a:rPr lang="en-US" sz="2800" dirty="0"/>
              <a:t> </a:t>
            </a:r>
            <a:r>
              <a:rPr lang="en-US" sz="2800" b="1" dirty="0"/>
              <a:t>today's</a:t>
            </a:r>
            <a:r>
              <a:rPr lang="en-US" sz="2800" dirty="0"/>
              <a:t> </a:t>
            </a:r>
            <a:r>
              <a:rPr lang="en-US" sz="2800" b="1" dirty="0"/>
              <a:t>sales</a:t>
            </a:r>
            <a:r>
              <a:rPr lang="en-US" sz="2800" dirty="0"/>
              <a:t> vs </a:t>
            </a:r>
            <a:r>
              <a:rPr lang="en-US" sz="2800" b="1" dirty="0"/>
              <a:t>yesterday’s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9D8DD-FB54-B51D-5BBE-812308FEB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000" y="1413285"/>
            <a:ext cx="8200000" cy="2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803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C00C-153D-C646-C0DB-42D5E5A3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03B9-2DCE-9F7E-DE09-A3807062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Output: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 descr="A graph with blue and orange lines">
            <a:extLst>
              <a:ext uri="{FF2B5EF4-FFF2-40B4-BE49-F238E27FC236}">
                <a16:creationId xmlns:a16="http://schemas.microsoft.com/office/drawing/2014/main" id="{06FD7471-A356-9A89-D582-FF977B519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591" y="522514"/>
            <a:ext cx="7176408" cy="538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165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8936-C22F-3883-C0B8-7166640D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89DCA-12C5-593E-FCE3-0A6A4623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25" y="1002166"/>
            <a:ext cx="10900568" cy="3656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Module-5: </a:t>
            </a:r>
            <a:r>
              <a:rPr lang="en-IN" sz="3200" b="1" dirty="0">
                <a:solidFill>
                  <a:srgbClr val="002060"/>
                </a:solidFill>
              </a:rPr>
              <a:t>Data Visualization with NumPy Arrays, Matplotlib, and Seaborn: </a:t>
            </a:r>
            <a:r>
              <a:rPr lang="en-IN" sz="3200" b="1" dirty="0"/>
              <a:t>Data Visualization</a:t>
            </a:r>
            <a:r>
              <a:rPr lang="en-IN" sz="3200" dirty="0"/>
              <a:t>: </a:t>
            </a:r>
            <a:r>
              <a:rPr lang="en-IN" sz="3200" b="1" dirty="0"/>
              <a:t>Matplotlib package </a:t>
            </a:r>
            <a:r>
              <a:rPr lang="en-IN" sz="3200" dirty="0"/>
              <a:t>– </a:t>
            </a:r>
            <a:r>
              <a:rPr lang="en-IN" sz="3200" b="1" dirty="0"/>
              <a:t>Plotting Graphs</a:t>
            </a:r>
            <a:r>
              <a:rPr lang="en-IN" sz="3200" dirty="0"/>
              <a:t> – </a:t>
            </a:r>
            <a:r>
              <a:rPr lang="en-IN" sz="3200" b="1" dirty="0"/>
              <a:t>Controlling Graph </a:t>
            </a:r>
            <a:r>
              <a:rPr lang="en-IN" sz="3200" dirty="0"/>
              <a:t>– </a:t>
            </a:r>
            <a:r>
              <a:rPr lang="en-IN" sz="3200" b="1" dirty="0"/>
              <a:t>Adding Text </a:t>
            </a:r>
            <a:r>
              <a:rPr lang="en-IN" sz="3200" dirty="0"/>
              <a:t>– </a:t>
            </a:r>
            <a:r>
              <a:rPr lang="en-IN" sz="3200" b="1" dirty="0"/>
              <a:t>More Graph Types </a:t>
            </a:r>
            <a:r>
              <a:rPr lang="en-IN" sz="3200" dirty="0"/>
              <a:t>– </a:t>
            </a:r>
            <a:r>
              <a:rPr lang="en-IN" sz="3200" b="1" dirty="0"/>
              <a:t>Getting and setting values </a:t>
            </a:r>
            <a:r>
              <a:rPr lang="en-IN" sz="3200" dirty="0"/>
              <a:t>– </a:t>
            </a:r>
            <a:r>
              <a:rPr lang="en-IN" sz="3200" b="1" dirty="0"/>
              <a:t>Patches</a:t>
            </a:r>
            <a:r>
              <a:rPr lang="en-IN" sz="3200" dirty="0"/>
              <a:t>. </a:t>
            </a:r>
            <a:r>
              <a:rPr lang="en-IN" sz="3200" b="1" dirty="0"/>
              <a:t>Advanced data visualization with Seaborn.</a:t>
            </a:r>
            <a:r>
              <a:rPr lang="en-IN" sz="3200" dirty="0"/>
              <a:t>- Time series analysis with Pandas. </a:t>
            </a:r>
          </a:p>
        </p:txBody>
      </p:sp>
    </p:spTree>
    <p:extLst>
      <p:ext uri="{BB962C8B-B14F-4D97-AF65-F5344CB8AC3E}">
        <p14:creationId xmlns:p14="http://schemas.microsoft.com/office/powerpoint/2010/main" val="30547815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F630-EF19-50A3-0410-EB8CFF64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9E17-6A8E-FE2D-6ED5-6DCDBC5A8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94657"/>
            <a:ext cx="10659110" cy="5382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6348787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2969</Words>
  <Application>Microsoft Office PowerPoint</Application>
  <PresentationFormat>Widescreen</PresentationFormat>
  <Paragraphs>415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8" baseType="lpstr">
      <vt:lpstr>Aptos</vt:lpstr>
      <vt:lpstr>Arial</vt:lpstr>
      <vt:lpstr>Calibri</vt:lpstr>
      <vt:lpstr>Gill Sans Nova</vt:lpstr>
      <vt:lpstr>Google Sans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219</cp:revision>
  <dcterms:created xsi:type="dcterms:W3CDTF">2024-11-25T17:19:06Z</dcterms:created>
  <dcterms:modified xsi:type="dcterms:W3CDTF">2025-04-07T04:13:22Z</dcterms:modified>
</cp:coreProperties>
</file>